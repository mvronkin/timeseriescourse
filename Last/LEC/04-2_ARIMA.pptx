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75" r:id="rId3"/>
    <p:sldId id="257" r:id="rId4"/>
    <p:sldId id="259" r:id="rId5"/>
    <p:sldId id="258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09" r:id="rId20"/>
    <p:sldId id="274" r:id="rId21"/>
    <p:sldId id="278" r:id="rId22"/>
    <p:sldId id="285" r:id="rId23"/>
    <p:sldId id="286" r:id="rId24"/>
    <p:sldId id="287" r:id="rId25"/>
    <p:sldId id="288" r:id="rId26"/>
    <p:sldId id="290" r:id="rId27"/>
    <p:sldId id="291" r:id="rId28"/>
    <p:sldId id="292" r:id="rId29"/>
    <p:sldId id="293" r:id="rId30"/>
    <p:sldId id="294" r:id="rId31"/>
    <p:sldId id="300" r:id="rId32"/>
    <p:sldId id="296" r:id="rId33"/>
    <p:sldId id="297" r:id="rId34"/>
    <p:sldId id="298" r:id="rId35"/>
    <p:sldId id="299" r:id="rId36"/>
    <p:sldId id="311" r:id="rId37"/>
    <p:sldId id="310" r:id="rId38"/>
    <p:sldId id="312" r:id="rId39"/>
    <p:sldId id="301" r:id="rId40"/>
    <p:sldId id="295" r:id="rId41"/>
    <p:sldId id="289" r:id="rId42"/>
    <p:sldId id="277" r:id="rId43"/>
    <p:sldId id="276" r:id="rId44"/>
    <p:sldId id="279" r:id="rId45"/>
    <p:sldId id="280" r:id="rId46"/>
    <p:sldId id="281" r:id="rId47"/>
    <p:sldId id="282" r:id="rId48"/>
    <p:sldId id="283" r:id="rId49"/>
    <p:sldId id="284" r:id="rId50"/>
    <p:sldId id="302" r:id="rId51"/>
    <p:sldId id="303" r:id="rId52"/>
    <p:sldId id="304" r:id="rId53"/>
    <p:sldId id="305" r:id="rId54"/>
    <p:sldId id="306" r:id="rId55"/>
    <p:sldId id="307" r:id="rId56"/>
    <p:sldId id="308" r:id="rId5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67" autoAdjust="0"/>
    <p:restoredTop sz="94660"/>
  </p:normalViewPr>
  <p:slideViewPr>
    <p:cSldViewPr snapToGrid="0">
      <p:cViewPr>
        <p:scale>
          <a:sx n="75" d="100"/>
          <a:sy n="75" d="100"/>
        </p:scale>
        <p:origin x="1182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A791E-3BEE-4FA4-92EA-DD1554F20F42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1B714-63CF-496C-A10C-DD60334701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58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77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93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74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23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9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71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9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36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79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09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7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4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0CE0D-1E76-43C5-ADFF-ABD674A6E61D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37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2000619?casa_token=_kq9_DpRfkMAAAAA:tFFZ6b6zIhnpGAWF-JEjH1FDtNURWWC745UegHJNJKKqZAq2eTgV-s7dM6-aE05Uw1uuupC9VOM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3.png"/><Relationship Id="rId5" Type="http://schemas.openxmlformats.org/officeDocument/2006/relationships/image" Target="../media/image58.png"/><Relationship Id="rId10" Type="http://schemas.openxmlformats.org/officeDocument/2006/relationships/image" Target="../media/image160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и</a:t>
            </a:r>
            <a:r>
              <a:rPr lang="en-US" b="1" dirty="0"/>
              <a:t> </a:t>
            </a:r>
            <a:br>
              <a:rPr lang="en-US" b="1" dirty="0"/>
            </a:b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</a:t>
            </a:r>
            <a:r>
              <a:rPr lang="en-US" b="1" dirty="0"/>
              <a:t>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78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9128" y="-125111"/>
            <a:ext cx="11039475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М</a:t>
            </a:r>
            <a:r>
              <a:rPr lang="en-US" sz="4000" b="1" dirty="0" err="1"/>
              <a:t>одели</a:t>
            </a:r>
            <a:r>
              <a:rPr lang="en-US" sz="4000" b="1" dirty="0"/>
              <a:t> </a:t>
            </a:r>
            <a:r>
              <a:rPr lang="ru-RU" sz="4000" b="1" dirty="0"/>
              <a:t>а</a:t>
            </a:r>
            <a:r>
              <a:rPr lang="en-US" sz="4000" b="1" dirty="0" err="1"/>
              <a:t>вторегресси</a:t>
            </a:r>
            <a:r>
              <a:rPr lang="ru-RU" sz="4000" b="1" dirty="0"/>
              <a:t>и</a:t>
            </a:r>
            <a:r>
              <a:rPr lang="en-US" sz="4000" b="1" dirty="0"/>
              <a:t> </a:t>
            </a:r>
            <a:r>
              <a:rPr lang="ru-RU" sz="4000" b="1" dirty="0"/>
              <a:t>с</a:t>
            </a:r>
            <a:r>
              <a:rPr lang="en-US" sz="4000" b="1" dirty="0" err="1"/>
              <a:t>кользящ</a:t>
            </a:r>
            <a:r>
              <a:rPr lang="ru-RU" sz="4000" b="1" dirty="0"/>
              <a:t>его</a:t>
            </a:r>
            <a:r>
              <a:rPr lang="en-US" sz="4000" b="1" dirty="0"/>
              <a:t> </a:t>
            </a:r>
            <a:r>
              <a:rPr lang="en-US" sz="4000" b="1" dirty="0" err="1"/>
              <a:t>средн</a:t>
            </a:r>
            <a:r>
              <a:rPr lang="ru-RU" sz="4000" b="1" dirty="0"/>
              <a:t>его</a:t>
            </a:r>
            <a:r>
              <a:rPr lang="en-US" sz="4000" b="1" dirty="0"/>
              <a:t> 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775" y="86327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М</a:t>
            </a:r>
            <a:r>
              <a:rPr lang="en-US" sz="2400" b="1" dirty="0" err="1"/>
              <a:t>одели</a:t>
            </a:r>
            <a:r>
              <a:rPr lang="en-US" sz="2400" b="1" dirty="0"/>
              <a:t> </a:t>
            </a:r>
            <a:r>
              <a:rPr lang="ru-RU" sz="2400" b="1" dirty="0"/>
              <a:t>а</a:t>
            </a:r>
            <a:r>
              <a:rPr lang="en-US" sz="2400" b="1" dirty="0" err="1"/>
              <a:t>вторегресси</a:t>
            </a:r>
            <a:r>
              <a:rPr lang="ru-RU" sz="2400" b="1" dirty="0"/>
              <a:t>и</a:t>
            </a:r>
            <a:r>
              <a:rPr lang="en-US" sz="2400" b="1" dirty="0"/>
              <a:t> </a:t>
            </a:r>
            <a:r>
              <a:rPr lang="ru-RU" sz="2400" b="1" dirty="0"/>
              <a:t>с</a:t>
            </a:r>
            <a:r>
              <a:rPr lang="en-US" sz="2400" b="1" dirty="0" err="1"/>
              <a:t>кользящ</a:t>
            </a:r>
            <a:r>
              <a:rPr lang="ru-RU" sz="2400" b="1" dirty="0"/>
              <a:t>его</a:t>
            </a:r>
            <a:r>
              <a:rPr lang="en-US" sz="2400" b="1" dirty="0"/>
              <a:t> </a:t>
            </a:r>
            <a:r>
              <a:rPr lang="en-US" sz="2400" b="1" dirty="0" err="1"/>
              <a:t>средн</a:t>
            </a:r>
            <a:r>
              <a:rPr lang="ru-RU" sz="2400" b="1" dirty="0"/>
              <a:t>его </a:t>
            </a:r>
            <a:r>
              <a:rPr lang="en-US" sz="2400" b="1" dirty="0"/>
              <a:t>(AR(I)MA) </a:t>
            </a:r>
            <a:r>
              <a:rPr lang="ru-RU" sz="2400" b="1" dirty="0"/>
              <a:t>остаются главным </a:t>
            </a:r>
            <a:r>
              <a:rPr lang="ru-RU" sz="2400" b="1" dirty="0" err="1"/>
              <a:t>бейзлайном</a:t>
            </a:r>
            <a:r>
              <a:rPr lang="ru-RU" sz="2400" b="1" dirty="0"/>
              <a:t> в задачах предсказания</a:t>
            </a:r>
            <a:endParaRPr lang="ru-RU" sz="2400" dirty="0"/>
          </a:p>
        </p:txBody>
      </p:sp>
      <p:pic>
        <p:nvPicPr>
          <p:cNvPr id="8194" name="Picture 2" descr="Types of Autoregressive Integrated Moving Average (ARIMA)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95249"/>
            <a:ext cx="6013450" cy="276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1647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A.AR – ARIMA – </a:t>
            </a:r>
            <a:r>
              <a:rPr lang="ru-RU" dirty="0"/>
              <a:t>имеет </a:t>
            </a:r>
            <a:r>
              <a:rPr lang="en-US" dirty="0"/>
              <a:t>MAPE</a:t>
            </a:r>
            <a:r>
              <a:rPr lang="ru-RU" dirty="0"/>
              <a:t> близкую к </a:t>
            </a:r>
            <a:r>
              <a:rPr lang="en-US" dirty="0"/>
              <a:t>LLM </a:t>
            </a:r>
            <a:r>
              <a:rPr lang="en-US" dirty="0" err="1"/>
              <a:t>Chronos</a:t>
            </a:r>
            <a:r>
              <a:rPr lang="en-US" dirty="0"/>
              <a:t> </a:t>
            </a:r>
            <a:r>
              <a:rPr lang="ru-RU" dirty="0"/>
              <a:t>на</a:t>
            </a:r>
            <a:r>
              <a:rPr lang="en-US" dirty="0"/>
              <a:t> </a:t>
            </a:r>
            <a:r>
              <a:rPr lang="ru-RU" dirty="0" err="1"/>
              <a:t>бенчмарке</a:t>
            </a:r>
            <a:r>
              <a:rPr lang="ru-RU" dirty="0"/>
              <a:t> </a:t>
            </a:r>
            <a:r>
              <a:rPr lang="en-US" dirty="0"/>
              <a:t>GIFT-EVAL</a:t>
            </a:r>
            <a:endParaRPr lang="ru-RU" dirty="0"/>
          </a:p>
        </p:txBody>
      </p:sp>
      <p:pic>
        <p:nvPicPr>
          <p:cNvPr id="8196" name="Picture 4" descr="https://www.salesforce.com/blog/wp-content/uploads/sites/2/2024/11/image_df344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774748"/>
            <a:ext cx="11857990" cy="434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828866" y="650325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https://www.salesforce.com/blog/gift-eval-time-series-benchmark/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19680" y="2686050"/>
            <a:ext cx="528320" cy="33566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97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263525"/>
            <a:ext cx="11719560" cy="854075"/>
          </a:xfrm>
        </p:spPr>
        <p:txBody>
          <a:bodyPr/>
          <a:lstStyle/>
          <a:p>
            <a:pPr algn="ctr"/>
            <a:r>
              <a:rPr lang="ru-RU" dirty="0"/>
              <a:t>Модель ВР как процесса авторегрессии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200" y="934720"/>
            <a:ext cx="11719560" cy="4937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Пусть ВР инертен – каждое значение ВР зависит от предыдущих отчетов.</a:t>
            </a:r>
          </a:p>
          <a:p>
            <a:pPr lvl="1"/>
            <a:r>
              <a:rPr lang="ru-RU" sz="2000" dirty="0"/>
              <a:t>Сегодняшняя температура редко отличается резко от вчерашней.</a:t>
            </a:r>
          </a:p>
          <a:p>
            <a:pPr lvl="1"/>
            <a:r>
              <a:rPr lang="ru-RU" sz="2000" dirty="0"/>
              <a:t>Спрос на товар завтра зависит от того, сколько его покупали сегодня.</a:t>
            </a:r>
          </a:p>
          <a:p>
            <a:pPr lvl="1"/>
            <a:r>
              <a:rPr lang="ru-RU" sz="2000" dirty="0"/>
              <a:t>Потребление энергии в 9:00 похоже на потребление в 8:00 и 7:00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Многие временные ряды инертны — текущее значение зависит от прошлых . </a:t>
            </a:r>
            <a:endParaRPr lang="ru-RU" sz="2000" dirty="0"/>
          </a:p>
        </p:txBody>
      </p:sp>
      <p:pic>
        <p:nvPicPr>
          <p:cNvPr id="1026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92" b="66447"/>
          <a:stretch/>
        </p:blipFill>
        <p:spPr bwMode="auto">
          <a:xfrm>
            <a:off x="96679" y="3225277"/>
            <a:ext cx="3796030" cy="26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32959" r="33996" b="36307"/>
          <a:stretch/>
        </p:blipFill>
        <p:spPr bwMode="auto">
          <a:xfrm>
            <a:off x="4093844" y="3337933"/>
            <a:ext cx="3512185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3" t="66234" r="32471" b="1999"/>
          <a:stretch/>
        </p:blipFill>
        <p:spPr bwMode="auto">
          <a:xfrm>
            <a:off x="8008302" y="3368040"/>
            <a:ext cx="3512185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749433" y="6223357"/>
            <a:ext cx="4089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https://otexts.com/fpp3/stationarity.html</a:t>
            </a:r>
          </a:p>
        </p:txBody>
      </p:sp>
    </p:spTree>
    <p:extLst>
      <p:ext uri="{BB962C8B-B14F-4D97-AF65-F5344CB8AC3E}">
        <p14:creationId xmlns:p14="http://schemas.microsoft.com/office/powerpoint/2010/main" val="287374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263525"/>
            <a:ext cx="11719560" cy="854075"/>
          </a:xfrm>
        </p:spPr>
        <p:txBody>
          <a:bodyPr/>
          <a:lstStyle/>
          <a:p>
            <a:pPr algn="ctr"/>
            <a:r>
              <a:rPr lang="ru-RU" dirty="0"/>
              <a:t>Модель ВР как процесса авторегрессии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620" y="934720"/>
                <a:ext cx="11856720" cy="493776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Пусть ВР инертен Каждое значение ВР – это линейная комбинация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предыдущих отсчетов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200" dirty="0"/>
                  <a:t>для стационарного ВР  такую </a:t>
                </a:r>
                <a:r>
                  <a:rPr lang="ru-RU" sz="2200" dirty="0" err="1"/>
                  <a:t>комбинанцию</a:t>
                </a:r>
                <a:r>
                  <a:rPr lang="ru-RU" sz="2200" dirty="0"/>
                  <a:t> будем называть  </a:t>
                </a:r>
                <a:r>
                  <a:rPr lang="en-US" sz="2200" b="1" dirty="0" err="1"/>
                  <a:t>Авторегрессия</a:t>
                </a:r>
                <a:r>
                  <a:rPr lang="en-US" sz="2200" b="1" dirty="0"/>
                  <a:t>, </a:t>
                </a:r>
                <a:r>
                  <a:rPr lang="ru-RU" sz="2200" b="1" dirty="0"/>
                  <a:t>(</a:t>
                </a:r>
                <a:r>
                  <a:rPr lang="en-US" sz="2200" b="1" dirty="0"/>
                  <a:t>АR</a:t>
                </a:r>
                <a:r>
                  <a:rPr lang="en-US" sz="2200" dirty="0"/>
                  <a:t>)</a:t>
                </a:r>
                <a:r>
                  <a:rPr lang="ru-RU" sz="2200" dirty="0"/>
                  <a:t>: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00" dirty="0"/>
                  <a:t> предсказание значения</a:t>
                </a:r>
                <a:r>
                  <a:rPr lang="en-US" sz="2200" dirty="0"/>
                  <a:t> 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>
                    <a:latin typeface="+mj-lt"/>
                  </a:rPr>
                  <a:t> </a:t>
                </a:r>
                <a:r>
                  <a:rPr lang="ru-RU" sz="2200" dirty="0"/>
                  <a:t>весовые коэффициенты,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ru-RU" sz="2200" dirty="0"/>
                  <a:t> – порядок авторегрессии.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На практике всегда можно сделать 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ru-R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ru-RU" sz="2200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Другими словами инертность – это эффект </a:t>
                </a:r>
                <a:r>
                  <a:rPr lang="ru-RU" sz="2000" b="1" dirty="0"/>
                  <a:t>памяти. </a:t>
                </a:r>
                <a:endParaRPr lang="en-US" sz="2000" b="1" dirty="0"/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600" b="1" dirty="0"/>
                  <a:t>Обычно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b="1" dirty="0"/>
                  <a:t> убывают, то есть эффект похож на скользящее сглаживание, но с более сложными весовыми коэффициентами.</a:t>
                </a:r>
                <a:endParaRPr lang="en-US" sz="1600" b="1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endParaRPr lang="ru-RU" sz="18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620" y="934720"/>
                <a:ext cx="11856720" cy="4937760"/>
              </a:xfrm>
              <a:blipFill>
                <a:blip r:embed="rId2"/>
                <a:stretch>
                  <a:fillRect l="-6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b="54534"/>
          <a:stretch/>
        </p:blipFill>
        <p:spPr>
          <a:xfrm>
            <a:off x="387927" y="4511439"/>
            <a:ext cx="5208385" cy="23465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l="-1194" t="575" r="1194" b="54860"/>
          <a:stretch/>
        </p:blipFill>
        <p:spPr>
          <a:xfrm>
            <a:off x="6456219" y="4400608"/>
            <a:ext cx="5306291" cy="245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7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0"/>
            <a:ext cx="11719560" cy="782955"/>
          </a:xfrm>
        </p:spPr>
        <p:txBody>
          <a:bodyPr/>
          <a:lstStyle/>
          <a:p>
            <a:pPr algn="ctr"/>
            <a:r>
              <a:rPr lang="ru-RU" b="1" dirty="0"/>
              <a:t>Скользящее среднее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1920" y="670262"/>
                <a:ext cx="11892280" cy="570858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Если ряд процессов можно описать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+....</m:t>
                    </m:r>
                  </m:oMath>
                </a14:m>
                <a:endParaRPr lang="en-US" sz="2200" dirty="0"/>
              </a:p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Тогда  зададим невязку предсказания как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228600" lvl="1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18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- </a:t>
                </a:r>
                <a:r>
                  <a:rPr lang="ru-RU" sz="1800" dirty="0"/>
                  <a:t>остатки предсказаний модели (флуктуации, шоки и </a:t>
                </a:r>
                <a:r>
                  <a:rPr lang="ru-RU" sz="1800" dirty="0" err="1"/>
                  <a:t>тд</a:t>
                </a:r>
                <a:r>
                  <a:rPr lang="ru-RU" sz="1800" dirty="0"/>
                  <a:t>), в идеале белый шум (иногда называют инновации)</a:t>
                </a:r>
              </a:p>
              <a:p>
                <a:pPr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400" dirty="0"/>
                  <a:t>Ряд инертен – если </a:t>
                </a:r>
                <a:r>
                  <a:rPr lang="ru-RU" sz="2400" dirty="0" err="1"/>
                  <a:t>невзяка</a:t>
                </a:r>
                <a:r>
                  <a:rPr lang="ru-RU" sz="2400" dirty="0"/>
                  <a:t> содержит информацию – она тоже инертна</a:t>
                </a:r>
              </a:p>
              <a:p>
                <a:pPr lvl="1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300" dirty="0"/>
                  <a:t>Ошибки частично зависимы! (например, </a:t>
                </a:r>
                <a:r>
                  <a:rPr lang="ru-RU" sz="2300" dirty="0" err="1"/>
                  <a:t>недооценность</a:t>
                </a:r>
                <a:r>
                  <a:rPr lang="ru-RU" sz="2300" dirty="0"/>
                  <a:t> продаж сегодня вероятно приведет к переоценке продаж завтра) – </a:t>
                </a:r>
                <a:r>
                  <a:rPr lang="ru-RU" sz="2300" b="1" dirty="0"/>
                  <a:t>эффект случайного блуждания с дрейфом.</a:t>
                </a:r>
              </a:p>
              <a:p>
                <a:pPr algn="just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200" b="1" dirty="0"/>
                  <a:t>Теорема </a:t>
                </a:r>
                <a:r>
                  <a:rPr lang="ru-RU" sz="2200" b="1" dirty="0" err="1"/>
                  <a:t>Вольда</a:t>
                </a:r>
                <a:r>
                  <a:rPr lang="ru-RU" sz="2200" b="1" dirty="0"/>
                  <a:t>.</a:t>
                </a:r>
                <a:r>
                  <a:rPr lang="en-US" sz="2200" b="1" dirty="0"/>
                  <a:t> </a:t>
                </a:r>
                <a:r>
                  <a:rPr lang="ru-RU" sz="2200" dirty="0"/>
                  <a:t>Недетерминированный </a:t>
                </a:r>
                <a:r>
                  <a:rPr lang="en-US" sz="2200" dirty="0"/>
                  <a:t>TS-</a:t>
                </a:r>
                <a:r>
                  <a:rPr lang="ru-RU" sz="2200" dirty="0"/>
                  <a:t>стационарный процесс может быть представлен моделью случайного </a:t>
                </a:r>
                <a:r>
                  <a:rPr lang="ru-RU" sz="2200" dirty="0" err="1"/>
                  <a:t>булждания</a:t>
                </a:r>
                <a:r>
                  <a:rPr lang="ru-RU" sz="2200" dirty="0"/>
                  <a:t> - как стохастический процесс </a:t>
                </a:r>
                <a:r>
                  <a:rPr lang="ru-RU" sz="2200" i="1" dirty="0"/>
                  <a:t>МА</a:t>
                </a:r>
                <a:r>
                  <a:rPr lang="ru-RU" sz="2200" dirty="0"/>
                  <a:t>(q), в предельном случае бесконечного порядка</a:t>
                </a:r>
                <a:r>
                  <a:rPr lang="ru-RU" sz="2100" dirty="0"/>
                  <a:t>.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ru-RU" sz="1800" dirty="0"/>
                  <a:t>в предельном случае q будет бесконечным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ru-RU" sz="1800" dirty="0"/>
                  <a:t>с – постоянная (дрейф, глобальный тренд).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/>
                  <a:t>– весовые коэффициенты.</a:t>
                </a:r>
              </a:p>
              <a:p>
                <a:pPr marL="457200" lvl="1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1800" b="1" u="sng" dirty="0"/>
                  <a:t>Такой процесс будем называть Скользящее среднее </a:t>
                </a:r>
                <a:r>
                  <a:rPr lang="en-US" sz="1800" b="1" u="sng" dirty="0"/>
                  <a:t>(Moving Average)</a:t>
                </a:r>
                <a:endParaRPr lang="ru-RU" sz="1800" b="1" u="sng" dirty="0"/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400" b="1" dirty="0"/>
                  <a:t>Как следствие, 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400" b="1" dirty="0"/>
                  <a:t>пусть </a:t>
                </a:r>
                <a:r>
                  <a:rPr lang="en-US" sz="2400" b="1" dirty="0"/>
                  <a:t>q – </a:t>
                </a:r>
                <a:r>
                  <a:rPr lang="ru-RU" sz="2400" b="1" dirty="0"/>
                  <a:t>конечно, тогда каким будет остаток вида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ru-RU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400" b="1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𝒒</m:t>
                        </m:r>
                      </m:sup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ru-RU" sz="2400" b="1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400" b="1" dirty="0"/>
                  <a:t> </a:t>
                </a:r>
                <a:endParaRPr lang="ru-RU" sz="24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" y="670262"/>
                <a:ext cx="11892280" cy="5708580"/>
              </a:xfrm>
              <a:blipFill>
                <a:blip r:embed="rId2"/>
                <a:stretch>
                  <a:fillRect l="-564" t="-427" r="-513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7366000" y="63655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https://education.yandex.ru/handbook/ml/article/modeli-vida-arima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2580" y="7478236"/>
            <a:ext cx="116916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Зачем нужны инновации? Предсказуемые компоненты вашего временного ряда удалены, поэтому то, что осталось, кажется единственной неизвестной вещью. Таким образом, это было названо “инновацией”.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48224" y="6550223"/>
            <a:ext cx="81629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https://xiaorui.site/Forecasting-and-Time-Series-Methods/Lecture/2_AR_MA.html</a:t>
            </a:r>
          </a:p>
        </p:txBody>
      </p:sp>
    </p:spTree>
    <p:extLst>
      <p:ext uri="{BB962C8B-B14F-4D97-AF65-F5344CB8AC3E}">
        <p14:creationId xmlns:p14="http://schemas.microsoft.com/office/powerpoint/2010/main" val="200584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2" y="175848"/>
            <a:ext cx="11331388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711" y="878569"/>
                <a:ext cx="11786249" cy="574765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Пусть ВР стационарен, инертен и содержит флуктуации (</a:t>
                </a:r>
                <a:r>
                  <a:rPr lang="ru-RU" sz="2400" dirty="0" err="1"/>
                  <a:t>хаотичвеская</a:t>
                </a:r>
                <a:r>
                  <a:rPr lang="ru-RU" sz="2400" dirty="0"/>
                  <a:t> модель с памятью), тогда динамику такой модели можно записать как комбинацию </a:t>
                </a:r>
                <a:r>
                  <a:rPr lang="en-US" sz="2400" dirty="0"/>
                  <a:t>AR </a:t>
                </a:r>
                <a:r>
                  <a:rPr lang="ru-RU" sz="2400" dirty="0"/>
                  <a:t>и </a:t>
                </a:r>
                <a:r>
                  <a:rPr lang="en-US" sz="2400" dirty="0"/>
                  <a:t>MA :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</a:t>
                </a: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и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- весовые </a:t>
                </a:r>
                <a:r>
                  <a:rPr lang="en-US" sz="2400" dirty="0" err="1"/>
                  <a:t>коэффициенты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модели</a:t>
                </a:r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порядки модели</a:t>
                </a:r>
                <a:r>
                  <a:rPr lang="en-US" sz="2400" dirty="0"/>
                  <a:t>. </a:t>
                </a:r>
              </a:p>
              <a:p>
                <a:pPr marL="457200" lvl="1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u="sng" dirty="0"/>
                  <a:t>Эту модель будем называть </a:t>
                </a:r>
                <a:r>
                  <a:rPr lang="ru-RU" sz="2200" b="1" u="sng" dirty="0"/>
                  <a:t>М</a:t>
                </a:r>
                <a:r>
                  <a:rPr lang="en-US" sz="2200" b="1" u="sng" dirty="0" err="1"/>
                  <a:t>одел</a:t>
                </a:r>
                <a:r>
                  <a:rPr lang="ru-RU" sz="2200" b="1" u="sng" dirty="0"/>
                  <a:t>ь</a:t>
                </a:r>
                <a:r>
                  <a:rPr lang="en-US" sz="2200" b="1" u="sng" dirty="0"/>
                  <a:t> </a:t>
                </a:r>
                <a:r>
                  <a:rPr lang="ru-RU" sz="2200" b="1" u="sng" dirty="0"/>
                  <a:t>а</a:t>
                </a:r>
                <a:r>
                  <a:rPr lang="en-US" sz="2200" b="1" u="sng" dirty="0" err="1"/>
                  <a:t>вторегресси</a:t>
                </a:r>
                <a:r>
                  <a:rPr lang="ru-RU" sz="2200" b="1" u="sng" dirty="0"/>
                  <a:t> -</a:t>
                </a:r>
                <a:r>
                  <a:rPr lang="en-US" sz="2200" b="1" u="sng" dirty="0"/>
                  <a:t> </a:t>
                </a:r>
                <a:r>
                  <a:rPr lang="ru-RU" sz="2200" b="1" u="sng" dirty="0"/>
                  <a:t>с</a:t>
                </a:r>
                <a:r>
                  <a:rPr lang="en-US" sz="2200" b="1" u="sng" dirty="0" err="1"/>
                  <a:t>кользящ</a:t>
                </a:r>
                <a:r>
                  <a:rPr lang="ru-RU" sz="2200" b="1" u="sng" dirty="0"/>
                  <a:t>его</a:t>
                </a:r>
                <a:r>
                  <a:rPr lang="en-US" sz="2200" b="1" u="sng" dirty="0"/>
                  <a:t> </a:t>
                </a:r>
                <a:r>
                  <a:rPr lang="en-US" sz="2200" b="1" u="sng" dirty="0" err="1"/>
                  <a:t>средн</a:t>
                </a:r>
                <a:r>
                  <a:rPr lang="ru-RU" sz="2200" b="1" u="sng" dirty="0"/>
                  <a:t>его </a:t>
                </a:r>
                <a:r>
                  <a:rPr lang="en-US" sz="2200" b="1" u="sng" dirty="0"/>
                  <a:t>(ARMA</a:t>
                </a:r>
                <a:r>
                  <a:rPr lang="ru-RU" sz="2200" b="1" u="sng" dirty="0"/>
                  <a:t>, АРСС</a:t>
                </a:r>
                <a:r>
                  <a:rPr lang="en-US" sz="2200" b="1" u="sng" dirty="0"/>
                  <a:t>)</a:t>
                </a:r>
                <a:endParaRPr lang="ru-RU" sz="2200" b="1" u="sng" dirty="0"/>
              </a:p>
              <a:p>
                <a:pPr marL="457200" lvl="1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i="1" dirty="0"/>
                  <a:t>Мы хотим сказать, сто предсказание модели должно завесить от предыдущих значений (память) и от предыдущих ошибок предсказания </a:t>
                </a:r>
                <a:r>
                  <a:rPr lang="en-US" sz="2200" i="1" dirty="0"/>
                  <a:t>(MA)</a:t>
                </a:r>
                <a:endParaRPr lang="ru-RU" sz="2200" i="1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Пусть мы делаем предсказание температуры: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Предположим, что температура сегодня зависит от температуры вчера и </a:t>
                </a:r>
                <a:r>
                  <a:rPr lang="ru-RU" sz="2000" dirty="0" err="1"/>
                  <a:t>позовчера</a:t>
                </a:r>
                <a:r>
                  <a:rPr lang="ru-RU" sz="2000" dirty="0"/>
                  <a:t>,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Вчера модель предсказал 20°C, а было 18°C — ошибка в 2°C. </a:t>
                </a:r>
                <a:br>
                  <a:rPr lang="ru-RU" sz="2000" dirty="0"/>
                </a:br>
                <a:r>
                  <a:rPr lang="ru-RU" sz="2000" i="1" dirty="0"/>
                  <a:t>Вчера переоценили — давай сегодня немного снизим прогноз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i="1" dirty="0"/>
                  <a:t>Система не идеальна, но исправляет прошлые ошибки</a:t>
                </a:r>
                <a:endParaRPr lang="ru-RU" sz="20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711" y="878569"/>
                <a:ext cx="11786249" cy="5747656"/>
              </a:xfrm>
              <a:blipFill>
                <a:blip r:embed="rId2"/>
                <a:stretch>
                  <a:fillRect l="-931" t="-530" r="-6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66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644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41" y="1372394"/>
            <a:ext cx="5505450" cy="53054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18187"/>
            <a:ext cx="54864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2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60" y="100965"/>
            <a:ext cx="10515600" cy="827181"/>
          </a:xfrm>
        </p:spPr>
        <p:txBody>
          <a:bodyPr>
            <a:norm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846" y="816385"/>
                <a:ext cx="11513073" cy="5746377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Реальное значение ВР на шаге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dirty="0"/>
                  <a:t> тогда можно представить как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Таким образом </a:t>
                </a:r>
                <a:r>
                  <a:rPr lang="en-US" dirty="0" err="1"/>
                  <a:t>Задача</a:t>
                </a:r>
                <a:r>
                  <a:rPr lang="en-US" dirty="0"/>
                  <a:t> ARMA-</a:t>
                </a:r>
                <a:r>
                  <a:rPr lang="en-US" dirty="0" err="1"/>
                  <a:t>аппроксимации</a:t>
                </a:r>
                <a:r>
                  <a:rPr lang="ru-RU" dirty="0"/>
                  <a:t> (построения АРСС модели)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оценить их</a:t>
                </a:r>
                <a:r>
                  <a:rPr lang="en-US" dirty="0"/>
                  <a:t> </a:t>
                </a:r>
                <a:r>
                  <a:rPr lang="en-US" dirty="0" err="1"/>
                  <a:t>порядки</a:t>
                </a:r>
                <a:r>
                  <a:rPr lang="ru-RU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)</a:t>
                </a:r>
                <a:r>
                  <a:rPr lang="ru-RU" dirty="0"/>
                  <a:t> 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 err="1"/>
                  <a:t>найти</a:t>
                </a:r>
                <a:r>
                  <a:rPr lang="en-US" dirty="0"/>
                  <a:t> </a:t>
                </a:r>
                <a:r>
                  <a:rPr lang="ru-RU" dirty="0"/>
                  <a:t>оптимальные </a:t>
                </a:r>
                <a:r>
                  <a:rPr lang="en-US" dirty="0" err="1"/>
                  <a:t>весовые</a:t>
                </a:r>
                <a:r>
                  <a:rPr lang="en-US" dirty="0"/>
                  <a:t> 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 err="1"/>
                  <a:t>Как</a:t>
                </a:r>
                <a:r>
                  <a:rPr lang="en-US" dirty="0"/>
                  <a:t> правило,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ru-RU" dirty="0"/>
                  <a:t>найти</a:t>
                </a:r>
                <a:r>
                  <a:rPr lang="en-US" dirty="0"/>
                  <a:t> регрессионными </a:t>
                </a:r>
                <a:r>
                  <a:rPr lang="en-US" dirty="0" err="1"/>
                  <a:t>методами</a:t>
                </a:r>
                <a:r>
                  <a:rPr lang="en-US" dirty="0"/>
                  <a:t>.</a:t>
                </a:r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При этом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/>
                  <a:t> – это </a:t>
                </a:r>
                <a:r>
                  <a:rPr lang="ru-RU" dirty="0" err="1"/>
                  <a:t>гиперпараметры</a:t>
                </a:r>
                <a:r>
                  <a:rPr lang="ru-RU" dirty="0"/>
                  <a:t> и их выбор не очевиден.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Можно оценить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/>
                  <a:t> путем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000" dirty="0"/>
                  <a:t> как авторегрессию порядка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тогда коэффициенты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/>
                  <a:t> найдем как регрессию  для</a:t>
                </a:r>
                <a:r>
                  <a:rPr lang="en-US" sz="2000" dirty="0"/>
                  <a:t> </a:t>
                </a:r>
                <a:r>
                  <a:rPr lang="ru-RU" sz="2000" dirty="0"/>
                  <a:t>остатка вида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Можно оценить оба параметра путем </a:t>
                </a:r>
                <a:r>
                  <a:rPr lang="ru-RU" sz="2000" dirty="0" err="1"/>
                  <a:t>минмизации</a:t>
                </a:r>
                <a:r>
                  <a:rPr lang="ru-RU" sz="2000" dirty="0"/>
                  <a:t> квадрата невязки.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846" y="816385"/>
                <a:ext cx="11513073" cy="5746377"/>
              </a:xfrm>
              <a:blipFill>
                <a:blip r:embed="rId2"/>
                <a:stretch>
                  <a:fillRect l="-953" t="-1060" r="-9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297364" y="4106284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9759" y="5950196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028062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711835"/>
          </a:xfrm>
        </p:spPr>
        <p:txBody>
          <a:bodyPr/>
          <a:lstStyle/>
          <a:p>
            <a:pPr algn="ctr"/>
            <a:r>
              <a:rPr lang="ru-RU" dirty="0"/>
              <a:t>Связь </a:t>
            </a:r>
            <a:r>
              <a:rPr lang="en-US" dirty="0"/>
              <a:t>ARIMA c ACF </a:t>
            </a:r>
            <a:r>
              <a:rPr lang="ru-RU" dirty="0"/>
              <a:t>и </a:t>
            </a:r>
            <a:r>
              <a:rPr lang="en-US" dirty="0"/>
              <a:t>PACF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1076960"/>
                <a:ext cx="12192000" cy="5293360"/>
              </a:xfrm>
            </p:spPr>
            <p:txBody>
              <a:bodyPr>
                <a:normAutofit/>
              </a:bodyPr>
              <a:lstStyle/>
              <a:p>
                <a:r>
                  <a:rPr lang="ru-RU" sz="2000" dirty="0"/>
                  <a:t>Процесс авторегрессии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ru-RU" sz="2000" dirty="0"/>
                  <a:t> предполагает, что текущее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/>
                  <a:t> имеет корреляцию с предыдущими значениями.</a:t>
                </a:r>
              </a:p>
              <a:p>
                <a:pPr lvl="1"/>
                <a:r>
                  <a:rPr lang="ru-RU" sz="2000" dirty="0"/>
                  <a:t>Можно показать, что если процесс описывается предыдущими значениями до лага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то на графике </a:t>
                </a:r>
                <a:r>
                  <a:rPr lang="en-US" sz="2000" dirty="0"/>
                  <a:t>PACF </a:t>
                </a:r>
                <a:r>
                  <a:rPr lang="ru-RU" sz="2000" dirty="0"/>
                  <a:t> не будет значимых лагов выше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ru-RU" sz="2000" dirty="0"/>
              </a:p>
              <a:p>
                <a:pPr lvl="2"/>
                <a:r>
                  <a:rPr lang="en-US" sz="1800" dirty="0"/>
                  <a:t>PACF </a:t>
                </a:r>
                <a:r>
                  <a:rPr lang="ru-RU" sz="1800" dirty="0"/>
                  <a:t>корреляцию между </a:t>
                </a:r>
                <a:r>
                  <a:rPr lang="en-US" sz="1800" i="1" dirty="0" err="1"/>
                  <a:t>yt</a:t>
                </a:r>
                <a:r>
                  <a:rPr lang="en-US" sz="1800" dirty="0"/>
                  <a:t>​ </a:t>
                </a:r>
                <a:r>
                  <a:rPr lang="ru-RU" sz="1800" dirty="0"/>
                  <a:t>и </a:t>
                </a:r>
                <a:r>
                  <a:rPr lang="en-US" sz="1800" dirty="0"/>
                  <a:t>y </a:t>
                </a:r>
                <a:r>
                  <a:rPr lang="en-US" sz="1800" i="1" dirty="0" err="1"/>
                  <a:t>yt</a:t>
                </a:r>
                <a:r>
                  <a:rPr lang="en-US" sz="1800" dirty="0"/>
                  <a:t>−</a:t>
                </a:r>
                <a:r>
                  <a:rPr lang="en-US" sz="1800" i="1" dirty="0"/>
                  <a:t>k</a:t>
                </a:r>
                <a:r>
                  <a:rPr lang="en-US" sz="1800" dirty="0"/>
                  <a:t>​, </a:t>
                </a:r>
                <a:r>
                  <a:rPr lang="ru-RU" sz="1800" b="1" dirty="0"/>
                  <a:t>удалив влияние промежуточных лагов</a:t>
                </a:r>
                <a:r>
                  <a:rPr lang="ru-RU" sz="1800" dirty="0"/>
                  <a:t> (</a:t>
                </a:r>
                <a:r>
                  <a:rPr lang="en-US" sz="1800" dirty="0"/>
                  <a:t>y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/>
                  <a:t>,</a:t>
                </a:r>
                <a:r>
                  <a:rPr lang="ru-RU" sz="1800" dirty="0"/>
                  <a:t> </a:t>
                </a:r>
                <a:r>
                  <a:rPr lang="en-US" sz="1800" dirty="0"/>
                  <a:t>yt−2,…,yt−k+1​). – </a:t>
                </a:r>
                <a:r>
                  <a:rPr lang="ru-RU" sz="1800" dirty="0"/>
                  <a:t>то есть лаги выше не несут новой информации.</a:t>
                </a:r>
                <a:endParaRPr lang="en-US" sz="1800" dirty="0"/>
              </a:p>
              <a:p>
                <a:r>
                  <a:rPr lang="ru-RU" sz="2000" dirty="0"/>
                  <a:t> Если процесс включает скользящее среднее до лага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можно показать, что на графике </a:t>
                </a:r>
                <a:r>
                  <a:rPr lang="en-US" sz="2000" dirty="0"/>
                  <a:t>ACF </a:t>
                </a:r>
                <a:r>
                  <a:rPr lang="ru-RU" sz="2000" dirty="0"/>
                  <a:t> не будет значимых лагов выше </a:t>
                </a:r>
                <a:r>
                  <a:rPr lang="en-US" sz="2000" dirty="0"/>
                  <a:t>Q</a:t>
                </a:r>
                <a:endParaRPr lang="ru-RU" sz="2000" dirty="0"/>
              </a:p>
              <a:p>
                <a:pPr lvl="1"/>
                <a:r>
                  <a:rPr lang="en-US" sz="2000" dirty="0"/>
                  <a:t>A</a:t>
                </a:r>
                <a:r>
                  <a:rPr lang="ru-RU" sz="2000" dirty="0"/>
                  <a:t>CF измеряет </a:t>
                </a:r>
                <a:r>
                  <a:rPr lang="ru-RU" sz="2000" b="1" dirty="0"/>
                  <a:t>непосредственную корреляцию</a:t>
                </a:r>
                <a:r>
                  <a:rPr lang="ru-RU" sz="2000" dirty="0"/>
                  <a:t> между </a:t>
                </a:r>
                <a:r>
                  <a:rPr lang="ru-RU" sz="2000" dirty="0" err="1"/>
                  <a:t>yt</a:t>
                </a:r>
                <a:r>
                  <a:rPr lang="ru-RU" sz="2000" dirty="0"/>
                  <a:t>​ и </a:t>
                </a:r>
                <a:r>
                  <a:rPr lang="ru-RU" sz="2000" dirty="0" err="1"/>
                  <a:t>yt</a:t>
                </a:r>
                <a:r>
                  <a:rPr lang="ru-RU" sz="2000" dirty="0"/>
                  <a:t>−k​.</a:t>
                </a:r>
              </a:p>
              <a:p>
                <a:pPr lvl="2"/>
                <a:r>
                  <a:rPr lang="ru-RU" sz="1800" dirty="0"/>
                  <a:t>В MA(Q) процесс зависит только от последних Q шумов, поэтому корреляция </a:t>
                </a:r>
                <a:r>
                  <a:rPr lang="ru-RU" sz="1800" b="1" dirty="0"/>
                  <a:t>исчезает после лага Q</a:t>
                </a:r>
                <a:endParaRPr lang="ru-RU" sz="18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76960"/>
                <a:ext cx="12192000" cy="5293360"/>
              </a:xfrm>
              <a:blipFill>
                <a:blip r:embed="rId2"/>
                <a:stretch>
                  <a:fillRect l="-450" t="-1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../../../_images/examples_notebooks_generated_tsa_arma_0_8_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145" y="4227483"/>
            <a:ext cx="3594135" cy="240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../../../_images/examples_notebooks_generated_tsa_arma_0_9_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4227483"/>
            <a:ext cx="3494404" cy="237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4320" y="6629648"/>
            <a:ext cx="8636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https://www.statsmodels.org/stable/examples/notebooks/generated/tsa_arma_0.html</a:t>
            </a:r>
          </a:p>
        </p:txBody>
      </p:sp>
    </p:spTree>
    <p:extLst>
      <p:ext uri="{BB962C8B-B14F-4D97-AF65-F5344CB8AC3E}">
        <p14:creationId xmlns:p14="http://schemas.microsoft.com/office/powerpoint/2010/main" val="324862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28" y="678330"/>
            <a:ext cx="11932241" cy="687001"/>
          </a:xfrm>
        </p:spPr>
        <p:txBody>
          <a:bodyPr>
            <a:normAutofit lnSpcReduction="10000"/>
          </a:bodyPr>
          <a:lstStyle/>
          <a:p>
            <a:pPr marL="0" indent="0" algn="l" rtl="0">
              <a:buNone/>
            </a:pPr>
            <a:r>
              <a:rPr lang="ru-RU" sz="2200" dirty="0"/>
              <a:t>Эмпирические правила для выбора порядка </a:t>
            </a:r>
            <a:r>
              <a:rPr lang="en-US" sz="2200" dirty="0"/>
              <a:t>ARMA </a:t>
            </a:r>
            <a:r>
              <a:rPr lang="ru-RU" sz="2200" dirty="0"/>
              <a:t>моделей на основе вида графиков автокорреляции и частичной автокорреляции. </a:t>
            </a:r>
            <a:endParaRPr lang="en-US" sz="2200" dirty="0"/>
          </a:p>
          <a:p>
            <a:pPr algn="l" rtl="0"/>
            <a:endParaRPr lang="en-US" sz="24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8679285-94BC-45E3-AB5C-3D14E13D5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89971"/>
              </p:ext>
            </p:extLst>
          </p:nvPr>
        </p:nvGraphicFramePr>
        <p:xfrm>
          <a:off x="168428" y="1290358"/>
          <a:ext cx="11854143" cy="4505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96922">
                  <a:extLst>
                    <a:ext uri="{9D8B030D-6E8A-4147-A177-3AD203B41FA5}">
                      <a16:colId xmlns:a16="http://schemas.microsoft.com/office/drawing/2014/main" val="3810330014"/>
                    </a:ext>
                  </a:extLst>
                </a:gridCol>
                <a:gridCol w="2411725">
                  <a:extLst>
                    <a:ext uri="{9D8B030D-6E8A-4147-A177-3AD203B41FA5}">
                      <a16:colId xmlns:a16="http://schemas.microsoft.com/office/drawing/2014/main" val="928333261"/>
                    </a:ext>
                  </a:extLst>
                </a:gridCol>
                <a:gridCol w="4945496">
                  <a:extLst>
                    <a:ext uri="{9D8B030D-6E8A-4147-A177-3AD203B41FA5}">
                      <a16:colId xmlns:a16="http://schemas.microsoft.com/office/drawing/2014/main" val="2644834403"/>
                    </a:ext>
                  </a:extLst>
                </a:gridCol>
              </a:tblGrid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PACF обрывается после лага  p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 =  номер последнего значимого лага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 AR(p) — прямая зависимость от  p  прошлых значений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0986974"/>
                  </a:ext>
                </a:extLst>
              </a:tr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ACF обрывается после лага  q 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 =  номер последнего значимого лага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 MA(q) — влияние ошибок исчезает после  q  шагов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9842672"/>
                  </a:ext>
                </a:extLst>
              </a:tr>
              <a:tr h="3131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P</a:t>
                      </a:r>
                      <a:r>
                        <a:rPr lang="ru-RU" sz="2000" b="0" u="none" strike="noStrike" dirty="0">
                          <a:effectLst/>
                        </a:rPr>
                        <a:t>ACF затухает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ru-RU" sz="2000" b="0" u="none" strike="noStrike" dirty="0">
                          <a:effectLst/>
                        </a:rPr>
                        <a:t>медленно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P =1 </a:t>
                      </a:r>
                      <a:r>
                        <a:rPr lang="ru-RU" sz="2000" u="none" strike="noStrike" dirty="0">
                          <a:effectLst/>
                        </a:rPr>
                        <a:t>или</a:t>
                      </a:r>
                      <a:r>
                        <a:rPr lang="ru-RU" sz="2000" u="none" strike="noStrike" baseline="0" dirty="0">
                          <a:effectLst/>
                        </a:rPr>
                        <a:t> 2</a:t>
                      </a:r>
                      <a:r>
                        <a:rPr lang="en-US" sz="2000" u="none" strike="noStrike" baseline="0" dirty="0">
                          <a:effectLst/>
                        </a:rPr>
                        <a:t> ++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AR</a:t>
                      </a:r>
                      <a:r>
                        <a:rPr lang="en-US" sz="2000" b="1" u="none" strike="noStrike" dirty="0">
                          <a:effectLst/>
                        </a:rPr>
                        <a:t>-</a:t>
                      </a:r>
                      <a:r>
                        <a:rPr lang="ru-RU" sz="2000" b="0" u="none" strike="noStrike" dirty="0">
                          <a:effectLst/>
                        </a:rPr>
                        <a:t>эффект слабый </a:t>
                      </a:r>
                      <a:r>
                        <a:rPr lang="ru-RU" sz="2000" b="1" u="none" strike="noStrike" dirty="0">
                          <a:effectLst/>
                        </a:rPr>
                        <a:t/>
                      </a:r>
                      <a:br>
                        <a:rPr lang="ru-RU" sz="2000" b="1" u="none" strike="noStrike" dirty="0">
                          <a:effectLst/>
                        </a:rPr>
                      </a:b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Долгая "память", но без чёткой структуры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0229302"/>
                  </a:ext>
                </a:extLst>
              </a:tr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0" u="none" strike="noStrike" dirty="0">
                          <a:effectLst/>
                        </a:rPr>
                        <a:t>ACF затухает плавно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ru-RU" sz="2000" b="0" u="none" strike="noStrike" dirty="0">
                          <a:effectLst/>
                        </a:rPr>
                        <a:t>(экспоненциально или волнообразно)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q  = 1 </a:t>
                      </a:r>
                      <a:r>
                        <a:rPr lang="ru-RU" sz="2000" u="none" strike="noStrike" dirty="0">
                          <a:effectLst/>
                        </a:rPr>
                        <a:t>или</a:t>
                      </a:r>
                      <a:r>
                        <a:rPr lang="ru-RU" sz="2000" u="none" strike="noStrike" baseline="0" dirty="0">
                          <a:effectLst/>
                        </a:rPr>
                        <a:t> 2</a:t>
                      </a:r>
                      <a:r>
                        <a:rPr lang="en-US" sz="2000" u="none" strike="noStrike" baseline="0" dirty="0">
                          <a:effectLst/>
                        </a:rPr>
                        <a:t> ++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MA-</a:t>
                      </a:r>
                      <a:r>
                        <a:rPr lang="ru-RU" sz="2000" b="0" u="none" strike="noStrike" dirty="0">
                          <a:effectLst/>
                        </a:rPr>
                        <a:t>эффект слабый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7765168"/>
                  </a:ext>
                </a:extLst>
              </a:tr>
              <a:tr h="29697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ACF и PACF затухают медленно, есть сильная сезонность или нет явного паттерна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i="1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p,q</a:t>
                      </a:r>
                      <a:r>
                        <a:rPr lang="en-US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большие</a:t>
                      </a:r>
                      <a:r>
                        <a:rPr lang="ru-RU" sz="2000" b="0" i="1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значения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i="1" u="none" strike="noStrike" dirty="0">
                          <a:effectLst/>
                        </a:rPr>
                        <a:t>Лучше</a:t>
                      </a:r>
                      <a:r>
                        <a:rPr lang="ru-RU" sz="2000" i="1" u="none" strike="noStrike" baseline="0" dirty="0">
                          <a:effectLst/>
                        </a:rPr>
                        <a:t> свести ряд к стационарному!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1503096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Нет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существенных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корреляций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i="1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p,q</a:t>
                      </a:r>
                      <a:r>
                        <a:rPr lang="en-US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= (0,0)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Случайн</a:t>
                      </a:r>
                      <a:r>
                        <a:rPr lang="ru-RU" sz="2000" u="none" strike="noStrike" dirty="0" err="1">
                          <a:effectLst/>
                        </a:rPr>
                        <a:t>ый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ru-RU" sz="2000" u="none" strike="noStrike" dirty="0">
                          <a:effectLst/>
                        </a:rPr>
                        <a:t>ряд</a:t>
                      </a:r>
                      <a:r>
                        <a:rPr lang="en-US" sz="2000" u="none" strike="noStrike" dirty="0">
                          <a:effectLst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3632095"/>
                  </a:ext>
                </a:extLst>
              </a:tr>
              <a:tr h="29697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Резкие но редкие выбросы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MA-часть фильтрует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гасит) одноразовые воздействия (нештатные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ситуации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4989113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инертен, напр. температура, давление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часть учитывает "инерцию" системы (память)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2518114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зашумлен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MA-часть фильтрует</a:t>
                      </a:r>
                      <a:r>
                        <a:rPr lang="ru-RU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шумы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10809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168428" y="5795683"/>
                <a:ext cx="11383309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1D1D20"/>
                    </a:solidFill>
                  </a:rPr>
                  <a:t>Простые модели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≤(2,2)</m:t>
                    </m:r>
                  </m:oMath>
                </a14:m>
                <a:r>
                  <a:rPr lang="ru-RU" sz="2000" dirty="0">
                    <a:solidFill>
                      <a:srgbClr val="1D1D20"/>
                    </a:solidFill>
                  </a:rPr>
                  <a:t>) часто дают лучшую точность и меньше переобучаются</a:t>
                </a:r>
                <a:r>
                  <a:rPr lang="en-US" sz="2000" dirty="0">
                    <a:solidFill>
                      <a:srgbClr val="1D1D20"/>
                    </a:solidFill>
                  </a:rPr>
                  <a:t> </a:t>
                </a:r>
                <a:r>
                  <a:rPr lang="ru-RU" sz="2000" dirty="0">
                    <a:solidFill>
                      <a:srgbClr val="1D1D20"/>
                    </a:solidFill>
                  </a:rPr>
                  <a:t>на небольших данных и краткосрочных прогнозах, также такие модели легче интерпретировать</a:t>
                </a:r>
              </a:p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1D1D20"/>
                    </a:solidFill>
                  </a:rPr>
                  <a:t>Чем меньше горизонт прогнозирования, тем меньше требования к стационарности ВР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28" y="5795683"/>
                <a:ext cx="11383309" cy="1015663"/>
              </a:xfrm>
              <a:prstGeom prst="rect">
                <a:avLst/>
              </a:prstGeom>
              <a:blipFill>
                <a:blip r:embed="rId2"/>
                <a:stretch>
                  <a:fillRect l="-482" t="-3614" r="-268" b="-10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6967896"/>
            <a:ext cx="5319712" cy="127599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43000" y="71730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https://xiaorui.site/Forecasting-and-Time-Series-Methods/Lecture/2_AR_MA.html</a:t>
            </a:r>
          </a:p>
        </p:txBody>
      </p:sp>
    </p:spTree>
    <p:extLst>
      <p:ext uri="{BB962C8B-B14F-4D97-AF65-F5344CB8AC3E}">
        <p14:creationId xmlns:p14="http://schemas.microsoft.com/office/powerpoint/2010/main" val="1818749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678330"/>
            <a:ext cx="11932241" cy="5853952"/>
          </a:xfrm>
        </p:spPr>
        <p:txBody>
          <a:bodyPr>
            <a:normAutofit/>
          </a:bodyPr>
          <a:lstStyle/>
          <a:p>
            <a:pPr algn="l" rtl="0"/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882" y="6316837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  <p:pic>
        <p:nvPicPr>
          <p:cNvPr id="3076" name="Picture 4" descr="AR(1) process with $\phi_1=0.9$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82" y="678330"/>
            <a:ext cx="6302375" cy="450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94341" y="6029114"/>
            <a:ext cx="4801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https://openforecast.org/adam/BJApproach.html</a:t>
            </a:r>
          </a:p>
        </p:txBody>
      </p:sp>
      <p:pic>
        <p:nvPicPr>
          <p:cNvPr id="3078" name="Picture 6" descr="AR(2) process with $\phi_1=0.9$ and $\phi_2=-0.4$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903" y="1047662"/>
            <a:ext cx="5159375" cy="368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48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678330"/>
            <a:ext cx="11932241" cy="5853952"/>
          </a:xfrm>
        </p:spPr>
        <p:txBody>
          <a:bodyPr>
            <a:normAutofit/>
          </a:bodyPr>
          <a:lstStyle/>
          <a:p>
            <a:pPr algn="l" rtl="0"/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882" y="6316837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94341" y="6029114"/>
            <a:ext cx="4801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https://openforecast.org/adam/BJApproach.html</a:t>
            </a:r>
          </a:p>
        </p:txBody>
      </p:sp>
      <p:pic>
        <p:nvPicPr>
          <p:cNvPr id="6146" name="Picture 2" descr="MA(2) process with $\theta_1=-0.9$ and $\theta_2=0.8$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28" y="1069222"/>
            <a:ext cx="5438775" cy="388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RMA(2,2) process with $\phi_1=0.9, \phi_2=-0.4$, $\theta_1=-0.9$ and $\theta_2=0.8$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20" y="1069222"/>
            <a:ext cx="6106432" cy="436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6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ряда </a:t>
            </a:r>
            <a:r>
              <a:rPr lang="en-US" dirty="0"/>
              <a:t>ARMA(1,2)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98" y="1593135"/>
            <a:ext cx="5640421" cy="51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80" y="1439694"/>
            <a:ext cx="5301322" cy="51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946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изначального выбора </a:t>
                </a:r>
                <a:r>
                  <a:rPr lang="en-US" sz="2200" dirty="0"/>
                  <a:t>ARAM </a:t>
                </a:r>
                <a:r>
                  <a:rPr lang="ru-RU" sz="2200" dirty="0"/>
                  <a:t>коэффициентов следует </a:t>
                </a:r>
                <a:r>
                  <a:rPr lang="ru-RU" sz="2200" dirty="0" err="1"/>
                  <a:t>дообучить</a:t>
                </a:r>
                <a:r>
                  <a:rPr lang="ru-RU" sz="2200" dirty="0"/>
                  <a:t> модель</a:t>
                </a:r>
                <a:r>
                  <a:rPr lang="en-US" sz="2200" dirty="0"/>
                  <a:t> </a:t>
                </a:r>
                <a:r>
                  <a:rPr lang="ru-RU" sz="2200" dirty="0"/>
                  <a:t>(т.е. взять несколько моделей и сравнить их).</a:t>
                </a:r>
              </a:p>
              <a:p>
                <a:r>
                  <a:rPr lang="ru-RU" sz="2200" dirty="0"/>
                  <a:t>Для сравнения моделей на тренировочной выборке часто используют информационный критерий</a:t>
                </a:r>
                <a:endParaRPr lang="en-US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Информационный критерий </a:t>
                </a:r>
                <a:r>
                  <a:rPr lang="ru-RU" sz="2200" dirty="0" err="1"/>
                  <a:t>Акайке</a:t>
                </a:r>
                <a:endParaRPr lang="en-US" sz="2200" dirty="0"/>
              </a:p>
              <a:p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200" dirty="0"/>
                  <a:t>  </a:t>
                </a:r>
                <a:r>
                  <a:rPr lang="ru-RU" sz="2200" dirty="0"/>
                  <a:t>оценка правдоподобия модели</a:t>
                </a:r>
                <a:r>
                  <a:rPr lang="en-US" sz="2200" dirty="0"/>
                  <a:t>; </a:t>
                </a:r>
                <a:endParaRPr lang="ru-RU" sz="2200" dirty="0"/>
              </a:p>
              <a:p>
                <a:pPr lvl="1"/>
                <a:r>
                  <a:rPr lang="ru-RU" sz="2200" dirty="0"/>
                  <a:t>На самом деле формула справедлива только если остаток – белый шум</a:t>
                </a:r>
                <a:r>
                  <a:rPr lang="en-US" sz="2200" dirty="0"/>
                  <a:t>, </a:t>
                </a:r>
                <a:endParaRPr lang="ru-RU" sz="2200" dirty="0"/>
              </a:p>
              <a:p>
                <a:pPr lvl="1"/>
                <a:r>
                  <a:rPr lang="ru-RU" sz="2200" i="1" dirty="0"/>
                  <a:t>Для других случаев </a:t>
                </a:r>
                <a:r>
                  <a:rPr lang="ru-RU" sz="2200" i="1" dirty="0" err="1"/>
                  <a:t>формуы</a:t>
                </a:r>
                <a:r>
                  <a:rPr lang="ru-RU" sz="2200" i="1" dirty="0"/>
                  <a:t> будут иметь другой вид!</a:t>
                </a:r>
              </a:p>
              <a:p>
                <a:pPr lvl="2"/>
                <a:r>
                  <a:rPr lang="ru-RU" sz="2200" i="1" dirty="0"/>
                  <a:t>Общий вид: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i="1" dirty="0"/>
                  <a:t>, </a:t>
                </a:r>
                <a:r>
                  <a:rPr lang="ru-RU" sz="2200" i="1" dirty="0"/>
                  <a:t>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/>
                  <a:t>логогфим функции правдоподобия.</a:t>
                </a:r>
                <a:endParaRPr lang="ru-RU" sz="22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корень суммы квадратов ошибки,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200" dirty="0"/>
                  <a:t>. </a:t>
                </a:r>
                <a:endParaRPr lang="ru-RU" sz="2200" dirty="0"/>
              </a:p>
              <a:p>
                <a:r>
                  <a:rPr lang="en-US" sz="2200" dirty="0"/>
                  <a:t>k </a:t>
                </a:r>
                <a:r>
                  <a:rPr lang="ru-RU" sz="2200" dirty="0"/>
                  <a:t>число параметров, например для </a:t>
                </a:r>
                <a:r>
                  <a:rPr lang="en-US" sz="2200" dirty="0"/>
                  <a:t> ARMA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</a:t>
                </a:r>
                <a:br>
                  <a:rPr lang="en-US" sz="2200" dirty="0"/>
                </a:br>
                <a:r>
                  <a:rPr lang="ru-RU" sz="2200" dirty="0"/>
                  <a:t>или с константой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200" dirty="0"/>
                  <a:t>; </a:t>
                </a:r>
              </a:p>
              <a:p>
                <a:pPr lvl="1"/>
                <a:r>
                  <a:rPr lang="ru-RU" sz="2200" dirty="0"/>
                  <a:t>Могут быть и другие выражения 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200" dirty="0"/>
                  <a:t> в зависимости о числа параметров в модели.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1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78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pPr marL="228600" lvl="1">
                  <a:spcBef>
                    <a:spcPts val="1000"/>
                  </a:spcBef>
                </a:pPr>
                <a:r>
                  <a:rPr lang="ru-RU" sz="2800" dirty="0"/>
                  <a:t>Разные критерии штрафуют по разному.</a:t>
                </a:r>
                <a:endParaRPr lang="en-US" sz="2800" dirty="0"/>
              </a:p>
              <a:p>
                <a:r>
                  <a:rPr lang="ru-RU" dirty="0"/>
                  <a:t>Есть несколько популярных критериев: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Для </a:t>
                </a:r>
                <a:r>
                  <a:rPr lang="en-US" dirty="0"/>
                  <a:t>ARMA </a:t>
                </a:r>
                <a:r>
                  <a:rPr lang="ru-RU" dirty="0"/>
                  <a:t>процесса может несколько завышать число параметров.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Байесовский Информационный критерий</a:t>
                </a:r>
              </a:p>
              <a:p>
                <a:pPr lvl="1"/>
                <a:r>
                  <a:rPr lang="ru-RU" dirty="0"/>
                  <a:t>Штрафует сильнее, чем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</m:oMath>
                </a14:m>
                <a:r>
                  <a:rPr lang="ru-RU" dirty="0"/>
                  <a:t> (оценка снизу), но работает для больших выборок.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модифицированный 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Рекомендуется при небольших выборках.</a:t>
                </a:r>
              </a:p>
              <a:p>
                <a:r>
                  <a:rPr lang="ru-RU" sz="2000" dirty="0"/>
                  <a:t>Большая выборка или нет определяется по </a:t>
                </a:r>
                <a:r>
                  <a:rPr lang="ru-RU" sz="2000" dirty="0" err="1"/>
                  <a:t>теор</a:t>
                </a:r>
                <a:r>
                  <a:rPr lang="ru-RU" sz="2000" dirty="0"/>
                  <a:t>. Котельникова.</a:t>
                </a:r>
              </a:p>
              <a:p>
                <a:pPr lvl="1"/>
                <a:r>
                  <a:rPr lang="ru-RU" sz="1800" dirty="0"/>
                  <a:t>Можно искусственно сделать выборку большой, но от этого она больше информации содержать не будет. </a:t>
                </a:r>
              </a:p>
              <a:p>
                <a:pPr lvl="1"/>
                <a:r>
                  <a:rPr lang="ru-RU" sz="1800" dirty="0"/>
                  <a:t>Можно </a:t>
                </a:r>
                <a:r>
                  <a:rPr lang="ru-RU" sz="1800" dirty="0" err="1"/>
                  <a:t>децимировать</a:t>
                </a:r>
                <a:r>
                  <a:rPr lang="ru-RU" sz="1800" dirty="0"/>
                  <a:t> выборку, но только если </a:t>
                </a:r>
                <a:r>
                  <a:rPr lang="ru-RU" sz="1800" dirty="0" err="1"/>
                  <a:t>теор</a:t>
                </a:r>
                <a:r>
                  <a:rPr lang="ru-RU" sz="1800" dirty="0"/>
                  <a:t>. Котельникова позволяет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948" t="-1763" r="-11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0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1325563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ARMA </a:t>
            </a:r>
            <a:r>
              <a:rPr lang="ru-RU" dirty="0"/>
              <a:t>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2634" y="1284051"/>
            <a:ext cx="11200582" cy="51966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Модель работает для слабо-стационарного ряда (без явного тренда и сезонности)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2000" u="sng" dirty="0"/>
              <a:t>Если есть тренд и сезонность их надо убрать.</a:t>
            </a:r>
          </a:p>
          <a:p>
            <a:pPr marL="1428750" lvl="2" indent="-514350">
              <a:buFont typeface="+mj-lt"/>
              <a:buAutoNum type="arabicPeriod"/>
            </a:pPr>
            <a:r>
              <a:rPr lang="ru-RU" sz="2200" u="sng" dirty="0"/>
              <a:t>Можно не убирать, но тогда порядки модели будут очень большие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Чем менее стационарен ряд, тем меньше горизонт точного прогнозирования.</a:t>
            </a:r>
          </a:p>
          <a:p>
            <a:pPr lvl="1"/>
            <a:r>
              <a:rPr lang="ru-RU" u="sng" dirty="0"/>
              <a:t> тем ниже обобщающая способность.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тренировочной и </a:t>
            </a:r>
            <a:r>
              <a:rPr lang="ru-RU" sz="2400" u="sng" dirty="0" err="1"/>
              <a:t>валидационной</a:t>
            </a:r>
            <a:r>
              <a:rPr lang="ru-RU" sz="2400" u="sng" dirty="0"/>
              <a:t> выборки.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изначальных параметров модели по АКФ и ЧАКФ.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Варьирование параметров моделей с целью минимизации </a:t>
            </a:r>
            <a:r>
              <a:rPr lang="en-US" sz="2400" u="sng" dirty="0"/>
              <a:t>BIC </a:t>
            </a:r>
            <a:r>
              <a:rPr lang="ru-RU" sz="2400" u="sng" dirty="0"/>
              <a:t>или</a:t>
            </a:r>
            <a:r>
              <a:rPr lang="en-US" sz="2400" u="sng" dirty="0"/>
              <a:t> </a:t>
            </a:r>
            <a:r>
              <a:rPr lang="en-US" sz="2400" u="sng" dirty="0" err="1"/>
              <a:t>AICc</a:t>
            </a:r>
            <a:r>
              <a:rPr lang="en-US" sz="2400" u="sng" dirty="0"/>
              <a:t> </a:t>
            </a:r>
            <a:r>
              <a:rPr lang="ru-RU" sz="2400" u="sng" dirty="0"/>
              <a:t>критериев на тренировочной выборке.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Проверка остатков для модели </a:t>
            </a:r>
            <a:r>
              <a:rPr lang="en-US" sz="2400" u="sng" dirty="0"/>
              <a:t>(</a:t>
            </a:r>
            <a:r>
              <a:rPr lang="ru-RU" sz="2400" u="sng" dirty="0"/>
              <a:t>на предмет стационарного БГШ</a:t>
            </a:r>
            <a:r>
              <a:rPr lang="en-US" sz="2400" u="sng" dirty="0"/>
              <a:t>)</a:t>
            </a:r>
            <a:r>
              <a:rPr lang="ru-RU" sz="2400" u="sng" dirty="0"/>
              <a:t>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Кросс-</a:t>
            </a:r>
            <a:r>
              <a:rPr lang="ru-RU" sz="2400" u="sng" dirty="0" err="1"/>
              <a:t>Валидация</a:t>
            </a:r>
            <a:r>
              <a:rPr lang="ru-RU" sz="2400" u="sng" dirty="0"/>
              <a:t>, проверка точности по известным метрикам</a:t>
            </a:r>
            <a:r>
              <a:rPr lang="ru-RU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6408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777875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 err="1"/>
              <a:t>AutoARMA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idx="1"/>
              </p:nvPr>
            </p:nvSpPr>
            <p:spPr>
              <a:xfrm>
                <a:off x="238125" y="914399"/>
                <a:ext cx="11534775" cy="5553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Процесс подбора </a:t>
                </a:r>
                <a:r>
                  <a:rPr lang="ru-RU" sz="2200" dirty="0" err="1"/>
                  <a:t>гиперпараметров</a:t>
                </a:r>
                <a:r>
                  <a:rPr lang="ru-RU" sz="2200" dirty="0"/>
                  <a:t> модели </a:t>
                </a:r>
                <a:r>
                  <a:rPr lang="en-US" sz="2200" dirty="0"/>
                  <a:t>P, Q </a:t>
                </a:r>
                <a:r>
                  <a:rPr lang="ru-RU" sz="2200" dirty="0"/>
                  <a:t>можно </a:t>
                </a:r>
                <a:r>
                  <a:rPr lang="ru-RU" sz="2200" dirty="0" err="1"/>
                  <a:t>алгоримитризировать</a:t>
                </a:r>
                <a:r>
                  <a:rPr lang="ru-RU" sz="2200" dirty="0"/>
                  <a:t>.</a:t>
                </a:r>
              </a:p>
              <a:p>
                <a:pPr marL="0" indent="0">
                  <a:buNone/>
                </a:pPr>
                <a:r>
                  <a:rPr lang="ru-RU" sz="2200" dirty="0"/>
                  <a:t>Наиболее простой алгоритм поиска </a:t>
                </a:r>
                <a:r>
                  <a:rPr lang="en-US" sz="2200" dirty="0"/>
                  <a:t>Hyndman-</a:t>
                </a:r>
                <a:r>
                  <a:rPr lang="en-US" sz="2200" dirty="0" err="1"/>
                  <a:t>Khandakar</a:t>
                </a:r>
                <a:r>
                  <a:rPr lang="en-US" sz="2200" dirty="0"/>
                  <a:t> algorithm </a:t>
                </a:r>
                <a:endParaRPr lang="ru-RU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Задаются начальные значения </a:t>
                </a:r>
                <a:r>
                  <a:rPr lang="en-US" sz="2200" dirty="0"/>
                  <a:t>P, Q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Строится </a:t>
                </a:r>
                <a:r>
                  <a:rPr lang="en-US" sz="2200" dirty="0"/>
                  <a:t>5</a:t>
                </a:r>
                <a:r>
                  <a:rPr lang="ru-RU" sz="2200" dirty="0"/>
                  <a:t> моделей </a:t>
                </a:r>
                <a:r>
                  <a:rPr lang="en-US" sz="2200" dirty="0"/>
                  <a:t>ARMA (P-1,Q), ARMA (P,Q-1)</a:t>
                </a:r>
                <a:r>
                  <a:rPr lang="ru-RU" sz="2200" dirty="0"/>
                  <a:t>, </a:t>
                </a:r>
                <a:r>
                  <a:rPr lang="en-US" sz="2200" dirty="0"/>
                  <a:t>ARMA (P,Q)</a:t>
                </a:r>
                <a:r>
                  <a:rPr lang="ru-RU" sz="2200" dirty="0"/>
                  <a:t>, </a:t>
                </a:r>
                <a:r>
                  <a:rPr lang="en-US" sz="2200" dirty="0"/>
                  <a:t>ARMA (P</a:t>
                </a:r>
                <a:r>
                  <a:rPr lang="ru-RU" sz="2200" dirty="0"/>
                  <a:t>+1</a:t>
                </a:r>
                <a:r>
                  <a:rPr lang="en-US" sz="2200" dirty="0"/>
                  <a:t>,Q), ARMA (P,Q</a:t>
                </a:r>
                <a:r>
                  <a:rPr lang="ru-RU" sz="2200" dirty="0"/>
                  <a:t>+</a:t>
                </a:r>
                <a:r>
                  <a:rPr lang="en-US" sz="2200" dirty="0"/>
                  <a:t>1)</a:t>
                </a:r>
                <a:r>
                  <a:rPr lang="ru-RU" sz="2200" dirty="0"/>
                  <a:t>, могут также модели с константой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Рассчитываются </a:t>
                </a:r>
                <a:r>
                  <a:rPr lang="en-US" sz="2200" dirty="0" err="1"/>
                  <a:t>AICc</a:t>
                </a:r>
                <a:r>
                  <a:rPr lang="en-US" sz="2200" dirty="0"/>
                  <a:t> </a:t>
                </a:r>
                <a:r>
                  <a:rPr lang="ru-RU" sz="2200" dirty="0"/>
                  <a:t>для всех случаев.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Для лучшей модели </a:t>
                </a:r>
                <a:r>
                  <a:rPr lang="en-US" sz="2200" dirty="0"/>
                  <a:t>(</a:t>
                </a:r>
                <a:r>
                  <a:rPr lang="en-US" sz="2200" dirty="0" err="1"/>
                  <a:t>AICc</a:t>
                </a:r>
                <a:r>
                  <a:rPr lang="en-US" sz="2200" dirty="0"/>
                  <a:t> </a:t>
                </a:r>
                <a:r>
                  <a:rPr lang="ru-RU" sz="2200" dirty="0"/>
                  <a:t>минимальный) обновляются </a:t>
                </a:r>
                <a:r>
                  <a:rPr lang="en-US" sz="2200" dirty="0"/>
                  <a:t>P, Q</a:t>
                </a:r>
                <a:endParaRPr lang="ru-RU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Процесс повторяется с шага 2 (до сходимости).</a:t>
                </a:r>
              </a:p>
              <a:p>
                <a:pPr marL="0" indent="0">
                  <a:buNone/>
                </a:pPr>
                <a:r>
                  <a:rPr lang="ru-RU" sz="2200" dirty="0"/>
                  <a:t>Если несколько комбинаций </a:t>
                </a:r>
                <a:r>
                  <a:rPr lang="en-US" sz="2200" dirty="0"/>
                  <a:t>P, Q</a:t>
                </a:r>
                <a:r>
                  <a:rPr lang="ru-RU" sz="2200" dirty="0"/>
                  <a:t> имеют стат. неразличимые </a:t>
                </a:r>
                <a:br>
                  <a:rPr lang="ru-RU" sz="2200" dirty="0"/>
                </a:br>
                <a:r>
                  <a:rPr lang="en-US" sz="2200" dirty="0" err="1"/>
                  <a:t>AICc</a:t>
                </a:r>
                <a:r>
                  <a:rPr lang="ru-RU" sz="2200" dirty="0"/>
                  <a:t> – лучше проверить все.</a:t>
                </a:r>
              </a:p>
              <a:p>
                <a:pPr marL="0" indent="0">
                  <a:buNone/>
                </a:pPr>
                <a:r>
                  <a:rPr lang="ru-RU" sz="2200" dirty="0"/>
                  <a:t>Процесс выполняется на тренировочных данных.</a:t>
                </a:r>
              </a:p>
              <a:p>
                <a:pPr marL="0" indent="0">
                  <a:buNone/>
                </a:pPr>
                <a:r>
                  <a:rPr lang="ru-RU" sz="2200" dirty="0"/>
                  <a:t>После получения модели рекомендуется проверить остатки на БГШ</a:t>
                </a:r>
              </a:p>
              <a:p>
                <a:pPr marL="0" indent="0">
                  <a:buNone/>
                </a:pPr>
                <a:r>
                  <a:rPr lang="ru-RU" sz="2200" dirty="0"/>
                  <a:t>На тесте возможно варьирование </a:t>
                </a:r>
                <a:r>
                  <a:rPr lang="en-US" sz="2200" dirty="0"/>
                  <a:t>P, Q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200" dirty="0"/>
                  <a:t>1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endParaRPr lang="ru-RU" sz="2200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914399"/>
                <a:ext cx="11534775" cy="5553075"/>
              </a:xfrm>
              <a:blipFill>
                <a:blip r:embed="rId2"/>
                <a:stretch>
                  <a:fillRect l="-687" t="-1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2" name="Picture 4" descr="https://otexts.com/fpppy/nbs/09-arima_files/figure-html/fig-armagridsearch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2962275"/>
            <a:ext cx="36385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38125" y="646747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https://otexts.com/fpppy/nbs/09-arima.html#sec-arima-estimation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5510" y="6226372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93836" y="655468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https://mlcourse.ai/book/topic09/assignment09_time_series_solution.html</a:t>
            </a:r>
          </a:p>
        </p:txBody>
      </p:sp>
    </p:spTree>
    <p:extLst>
      <p:ext uri="{BB962C8B-B14F-4D97-AF65-F5344CB8AC3E}">
        <p14:creationId xmlns:p14="http://schemas.microsoft.com/office/powerpoint/2010/main" val="2107321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777875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 err="1"/>
              <a:t>AutoARMA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8125" y="646747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https://alkaline-ml.com/pmdarima/auto_examples/example_pipeline.html</a:t>
            </a:r>
            <a:endParaRPr lang="ru-RU" sz="1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37123"/>
          <a:stretch/>
        </p:blipFill>
        <p:spPr>
          <a:xfrm>
            <a:off x="5981700" y="2508049"/>
            <a:ext cx="5823307" cy="41719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t="63451" r="29012"/>
          <a:stretch/>
        </p:blipFill>
        <p:spPr>
          <a:xfrm>
            <a:off x="122312" y="914400"/>
            <a:ext cx="5765652" cy="338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5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927DB-2D68-371E-6095-B0BCC985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9EA16-6C23-643F-657E-B633D6038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интегрированной а</a:t>
            </a:r>
            <a:r>
              <a:rPr lang="en-US" sz="4000" dirty="0" err="1"/>
              <a:t>вторегресси</a:t>
            </a:r>
            <a:r>
              <a:rPr lang="ru-RU" sz="4000" dirty="0"/>
              <a:t>и</a:t>
            </a:r>
            <a:r>
              <a:rPr lang="en-US" sz="4000" dirty="0"/>
              <a:t>-</a:t>
            </a:r>
            <a:r>
              <a:rPr lang="ru-RU" sz="4000" dirty="0"/>
              <a:t>с</a:t>
            </a:r>
            <a:r>
              <a:rPr lang="en-US" sz="4000" dirty="0" err="1"/>
              <a:t>кользящ</a:t>
            </a:r>
            <a:r>
              <a:rPr lang="ru-RU" sz="4000" dirty="0"/>
              <a:t>его</a:t>
            </a:r>
            <a:r>
              <a:rPr lang="en-US" sz="4000" dirty="0"/>
              <a:t> </a:t>
            </a:r>
            <a:r>
              <a:rPr lang="en-US" sz="4000" dirty="0" err="1"/>
              <a:t>средн</a:t>
            </a:r>
            <a:r>
              <a:rPr lang="ru-RU" sz="4000" dirty="0"/>
              <a:t>его</a:t>
            </a:r>
            <a:r>
              <a:rPr lang="en-US" sz="4000" dirty="0"/>
              <a:t> ARIMA </a:t>
            </a:r>
            <a:r>
              <a:rPr lang="ru-RU" sz="4000" dirty="0"/>
              <a:t> </a:t>
            </a:r>
            <a:endParaRPr lang="en-US" sz="4000" dirty="0"/>
          </a:p>
          <a:p>
            <a:r>
              <a:rPr lang="ru-RU" sz="4000" dirty="0"/>
              <a:t>и сезонной </a:t>
            </a:r>
            <a:r>
              <a:rPr lang="en-US" sz="4000" dirty="0"/>
              <a:t>ARIMA -SARIMA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175393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365125"/>
            <a:ext cx="11077575" cy="82718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5920" y="1279188"/>
                <a:ext cx="11336468" cy="5324812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en-US" sz="2400" dirty="0"/>
                  <a:t>ARMA </a:t>
                </a:r>
                <a:r>
                  <a:rPr lang="ru-RU" sz="2400" dirty="0"/>
                  <a:t>работает для стационарных ВР.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Если ВР </a:t>
                </a:r>
                <a:r>
                  <a:rPr lang="ru-RU" sz="2400" dirty="0" err="1"/>
                  <a:t>нестационарен</a:t>
                </a:r>
                <a:r>
                  <a:rPr lang="ru-RU" sz="2400" dirty="0"/>
                  <a:t> по отношению к тренду или сезонности – потребуется очень большой порядок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модели.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dirty="0"/>
                  <a:t>При этом качество прогноза не гарантируется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Нестационарный ВР не гарантирует что паттерны </a:t>
                </a:r>
                <a:r>
                  <a:rPr lang="ru-RU" dirty="0" err="1"/>
                  <a:t>трейн</a:t>
                </a:r>
                <a:r>
                  <a:rPr lang="ru-RU" dirty="0"/>
                  <a:t> регулярны.</a:t>
                </a:r>
              </a:p>
              <a:p>
                <a:pPr lvl="3">
                  <a:lnSpc>
                    <a:spcPct val="100000"/>
                  </a:lnSpc>
                </a:pPr>
                <a:r>
                  <a:rPr lang="ru-RU" sz="2000" dirty="0"/>
                  <a:t>Следующее значение всегда задается набором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p,q</a:t>
                </a:r>
                <a:r>
                  <a:rPr lang="en-US" sz="2000" dirty="0"/>
                  <a:t>) </a:t>
                </a:r>
                <a:r>
                  <a:rPr lang="ru-RU" sz="2000" dirty="0"/>
                  <a:t>предыдущих значений и их ошибок. Это значит что паттерны во ВР всегда должны быть одни и тоже.</a:t>
                </a:r>
                <a:endParaRPr lang="en-US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Чем менее стационарный ряд – тем больше ошибка и тем больше она растет при увеличении горизонта прогнозирования.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Если ряд </a:t>
                </a:r>
                <a:r>
                  <a:rPr lang="en-US" sz="2400" dirty="0"/>
                  <a:t>TS-</a:t>
                </a:r>
                <a:r>
                  <a:rPr lang="ru-RU" sz="2400" dirty="0"/>
                  <a:t>стационарный (по </a:t>
                </a:r>
                <a:r>
                  <a:rPr lang="ru-RU" sz="2400" dirty="0" err="1"/>
                  <a:t>отн</a:t>
                </a:r>
                <a:r>
                  <a:rPr lang="ru-RU" sz="2400" dirty="0"/>
                  <a:t>. К тренду и сезонности), то можно попытаться их убрать и аппроксимировать то что осталось </a:t>
                </a:r>
                <a:r>
                  <a:rPr lang="en-US" sz="2400" dirty="0"/>
                  <a:t>ARMA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400" dirty="0"/>
                  <a:t>Если ряд </a:t>
                </a:r>
                <a:r>
                  <a:rPr lang="en-US" sz="2400" dirty="0"/>
                  <a:t>DS-</a:t>
                </a:r>
                <a:r>
                  <a:rPr lang="ru-RU" sz="2400" dirty="0"/>
                  <a:t>стационарный (разности стационарны), то можно попытаться встроить этот процесс в модель </a:t>
                </a:r>
                <a:r>
                  <a:rPr lang="en-US" sz="2400" dirty="0"/>
                  <a:t>ARMA</a:t>
                </a:r>
                <a:r>
                  <a:rPr lang="ru-RU" sz="2400" dirty="0"/>
                  <a:t> </a:t>
                </a:r>
                <a:endParaRPr lang="en-US" sz="2400" dirty="0"/>
              </a:p>
              <a:p>
                <a:pPr algn="l" rtl="0">
                  <a:lnSpc>
                    <a:spcPct val="10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5920" y="1279188"/>
                <a:ext cx="11336468" cy="5324812"/>
              </a:xfrm>
              <a:blipFill>
                <a:blip r:embed="rId2"/>
                <a:stretch>
                  <a:fillRect l="-671" t="-952" r="-11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655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440" y="273685"/>
            <a:ext cx="11008360" cy="91503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9540" y="1188720"/>
                <a:ext cx="11681460" cy="4843780"/>
              </a:xfrm>
            </p:spPr>
            <p:txBody>
              <a:bodyPr/>
              <a:lstStyle/>
              <a:p>
                <a:r>
                  <a:rPr lang="ru-RU" dirty="0"/>
                  <a:t>Чем меньше порядок модели </a:t>
                </a:r>
              </a:p>
              <a:p>
                <a:pPr lvl="1"/>
                <a:r>
                  <a:rPr lang="ru-RU" dirty="0"/>
                  <a:t>тем модель устойчивей к переобучению.</a:t>
                </a:r>
              </a:p>
              <a:p>
                <a:pPr lvl="1"/>
                <a:r>
                  <a:rPr lang="ru-RU" dirty="0"/>
                  <a:t>Дальше доступный горизонт предсказания.</a:t>
                </a:r>
              </a:p>
              <a:p>
                <a:pPr lvl="1"/>
                <a:r>
                  <a:rPr lang="ru-RU" dirty="0"/>
                  <a:t>Но Выше требования к стационарности (меньше паттернов описывается моделью) – нужно сводить модель к стационарной</a:t>
                </a:r>
              </a:p>
              <a:p>
                <a:r>
                  <a:rPr lang="ru-RU" dirty="0"/>
                  <a:t>Для модели с трендом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ru-RU" dirty="0"/>
              </a:p>
              <a:p>
                <a:r>
                  <a:rPr lang="ru-RU" dirty="0"/>
                  <a:t>Для модели с сезонностью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" y="1188720"/>
                <a:ext cx="11681460" cy="4843780"/>
              </a:xfrm>
              <a:blipFill>
                <a:blip r:embed="rId2"/>
                <a:stretch>
                  <a:fillRect l="-939" t="-2013" r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../../_images/docs_time_series_sarima_4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67"/>
          <a:stretch/>
        </p:blipFill>
        <p:spPr bwMode="auto">
          <a:xfrm>
            <a:off x="209671" y="4480659"/>
            <a:ext cx="5698377" cy="165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../../_images/docs_time_series_sarima_4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26"/>
          <a:stretch/>
        </p:blipFill>
        <p:spPr bwMode="auto">
          <a:xfrm>
            <a:off x="6060448" y="4610100"/>
            <a:ext cx="5902952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10200" y="6433235"/>
            <a:ext cx="7747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https://ming-zhao.github.io/Business-Analytics/html/docs/time_series/sarima.html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09671" y="6371680"/>
            <a:ext cx="4413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https://otexts.com/fpppy/nbs/09-arima.html</a:t>
            </a:r>
          </a:p>
        </p:txBody>
      </p:sp>
    </p:spTree>
    <p:extLst>
      <p:ext uri="{BB962C8B-B14F-4D97-AF65-F5344CB8AC3E}">
        <p14:creationId xmlns:p14="http://schemas.microsoft.com/office/powerpoint/2010/main" val="444208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435100"/>
                <a:ext cx="11569700" cy="49450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2400" dirty="0"/>
                  <a:t>Для модели с трендом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400" dirty="0"/>
                  <a:t> </a:t>
                </a:r>
                <a:endParaRPr lang="en-US" sz="2400" dirty="0"/>
              </a:p>
              <a:p>
                <a:r>
                  <a:rPr lang="ru-RU" sz="2400" dirty="0"/>
                  <a:t>тогда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численная производная порядка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ru-RU" sz="2400" dirty="0"/>
              </a:p>
              <a:p>
                <a:r>
                  <a:rPr lang="ru-RU" b="1" dirty="0"/>
                  <a:t>Модель интегрированной </a:t>
                </a:r>
                <a:r>
                  <a:rPr lang="ru-RU" b="1" dirty="0" err="1"/>
                  <a:t>авторегессии</a:t>
                </a:r>
                <a:r>
                  <a:rPr lang="ru-RU" b="1" dirty="0"/>
                  <a:t> </a:t>
                </a:r>
                <a:r>
                  <a:rPr lang="en-US" b="1" dirty="0"/>
                  <a:t>(ARI)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r>
                  <a:rPr lang="ru-RU" b="1" dirty="0"/>
                  <a:t>Модель</a:t>
                </a:r>
                <a:r>
                  <a:rPr lang="en-US" b="1" dirty="0"/>
                  <a:t> </a:t>
                </a:r>
                <a:r>
                  <a:rPr lang="ru-RU" b="1" dirty="0"/>
                  <a:t>интегрированного скользящего среднего</a:t>
                </a:r>
                <a:r>
                  <a:rPr lang="en-US" b="1" dirty="0"/>
                  <a:t> (MAI)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sz="2400" dirty="0"/>
                  <a:t> </a:t>
                </a:r>
              </a:p>
              <a:p>
                <a:r>
                  <a:rPr lang="ru-RU" b="1" dirty="0"/>
                  <a:t>Объединяем в модель </a:t>
                </a:r>
                <a:r>
                  <a:rPr lang="en-US" b="1" dirty="0"/>
                  <a:t>ARIMA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266700" lvl="1" indent="-266700"/>
                <a:r>
                  <a:rPr lang="ru-RU" u="sng" dirty="0"/>
                  <a:t>Модель </a:t>
                </a:r>
                <a14:m>
                  <m:oMath xmlns:m="http://schemas.openxmlformats.org/officeDocument/2006/math"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𝐴𝑅𝐼𝑀𝐴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u="sng" dirty="0"/>
                  <a:t>– </a:t>
                </a:r>
                <a:r>
                  <a:rPr lang="ru-RU" u="sng" dirty="0"/>
                  <a:t>Имеет 3 порядка!</a:t>
                </a:r>
                <a:endParaRPr lang="en-US" u="sng" dirty="0"/>
              </a:p>
              <a:p>
                <a:pPr marL="457200" lvl="1" indent="0">
                  <a:buNone/>
                </a:pPr>
                <a:r>
                  <a:rPr lang="ru-RU" sz="2000" i="1" dirty="0"/>
                  <a:t>Обратите </a:t>
                </a:r>
                <a:r>
                  <a:rPr lang="ru-RU" sz="2000" i="1" dirty="0" err="1"/>
                  <a:t>внмание</a:t>
                </a:r>
                <a:r>
                  <a:rPr lang="ru-RU" sz="2000" i="1" dirty="0"/>
                  <a:t>, ошибка не </a:t>
                </a:r>
                <a:r>
                  <a:rPr lang="ru-RU" sz="2000" i="1" dirty="0" err="1"/>
                  <a:t>диффренцируется</a:t>
                </a:r>
                <a:endParaRPr lang="ru-RU" sz="2000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435100"/>
                <a:ext cx="11569700" cy="4945063"/>
              </a:xfrm>
              <a:blipFill>
                <a:blip r:embed="rId2"/>
                <a:stretch>
                  <a:fillRect l="-948" t="-2340" b="-9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969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83268"/>
                <a:ext cx="11633200" cy="4945063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Для модели с сезоном 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r>
                  <a:rPr lang="ru-RU" dirty="0"/>
                  <a:t>тогда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численная производная порядка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ru-RU" dirty="0"/>
              </a:p>
              <a:p>
                <a:r>
                  <a:rPr lang="ru-RU" b="1" dirty="0"/>
                  <a:t>Модель сезонной </a:t>
                </a:r>
                <a:r>
                  <a:rPr lang="ru-RU" b="1" dirty="0" err="1"/>
                  <a:t>авторегессии</a:t>
                </a:r>
                <a:r>
                  <a:rPr lang="ru-RU" b="1" dirty="0"/>
                  <a:t> </a:t>
                </a:r>
                <a:r>
                  <a:rPr lang="en-US" b="1" dirty="0"/>
                  <a:t>(SAR)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lvl="1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сезонный коэффициент (коэффициент сезонной авторегрессии)</a:t>
                </a:r>
                <a:r>
                  <a:rPr lang="en-US" dirty="0"/>
                  <a:t> </a:t>
                </a:r>
                <a:r>
                  <a:rPr lang="ru-RU" dirty="0"/>
                  <a:t>порядка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значит что лаги с шагом в сезон.</a:t>
                </a:r>
                <a:endParaRPr lang="en-US" dirty="0"/>
              </a:p>
              <a:p>
                <a:r>
                  <a:rPr lang="ru-RU" b="1" dirty="0"/>
                  <a:t>Модель сезонного скользящего среднего </a:t>
                </a:r>
                <a:r>
                  <a:rPr lang="en-US" b="1" dirty="0"/>
                  <a:t>(SMA)</a:t>
                </a:r>
                <a:r>
                  <a:rPr lang="ru-RU" b="1" dirty="0"/>
                  <a:t> 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lvl="1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сезонный коэффициент (коэффициент сезонной авторегрессии)</a:t>
                </a:r>
                <a:r>
                  <a:rPr lang="en-US" dirty="0"/>
                  <a:t> </a:t>
                </a:r>
                <a:r>
                  <a:rPr lang="ru-RU" dirty="0"/>
                  <a:t>порядка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- </a:t>
                </a:r>
                <a:r>
                  <a:rPr lang="ru-RU" dirty="0"/>
                  <a:t>значит что остатки с шагом в сезон.</a:t>
                </a:r>
                <a:endParaRPr lang="en-US" dirty="0"/>
              </a:p>
              <a:p>
                <a:pPr marL="0" indent="0" algn="ctr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83268"/>
                <a:ext cx="11633200" cy="4945063"/>
              </a:xfrm>
              <a:blipFill>
                <a:blip r:embed="rId2"/>
                <a:stretch>
                  <a:fillRect l="-943" t="-20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6328331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1926818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83268"/>
                <a:ext cx="11633200" cy="5351361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Для модели с сезоном и трендов 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b="1" dirty="0"/>
                  <a:t>Тогда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b="1" dirty="0"/>
                  <a:t> - </a:t>
                </a:r>
                <a:r>
                  <a:rPr lang="ru-RU" sz="2400" b="1" dirty="0"/>
                  <a:t>комбинация численной обычной и сезонной производных.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Тогда</a:t>
                </a:r>
                <a:r>
                  <a:rPr lang="en-US" sz="2400" dirty="0"/>
                  <a:t> SARI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Тогда </a:t>
                </a:r>
                <a:r>
                  <a:rPr lang="en-US" sz="2400" dirty="0"/>
                  <a:t>SMAI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400" b="1" u="sng" dirty="0"/>
                  <a:t>Тогда полная модель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sz="2400" b="1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dirty="0"/>
                  <a:t>Обратите внимание на перемножение коэффициентов!</a:t>
                </a:r>
                <a:endParaRPr lang="en-US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en-US" dirty="0"/>
                  <a:t>	</a:t>
                </a:r>
                <a:r>
                  <a:rPr lang="ru-RU" sz="2200" dirty="0"/>
                  <a:t>перемножение описывает влияние </a:t>
                </a:r>
                <a:r>
                  <a:rPr lang="en-US" sz="2200" dirty="0"/>
                  <a:t>AR </a:t>
                </a:r>
                <a:r>
                  <a:rPr lang="ru-RU" sz="2200" dirty="0"/>
                  <a:t>и </a:t>
                </a:r>
                <a:r>
                  <a:rPr lang="en-US" sz="2200" dirty="0"/>
                  <a:t>SAR </a:t>
                </a:r>
                <a:r>
                  <a:rPr lang="ru-RU" sz="2200" dirty="0"/>
                  <a:t>эффектов в модели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иногда делают неполную модель </a:t>
                </a:r>
                <a:r>
                  <a:rPr lang="en-US" sz="2200" dirty="0"/>
                  <a:t>– </a:t>
                </a:r>
                <a:r>
                  <a:rPr lang="ru-RU" sz="2200" dirty="0"/>
                  <a:t>только аддитивную,  однако это не рекомендуется!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83268"/>
                <a:ext cx="11633200" cy="5351361"/>
              </a:xfrm>
              <a:blipFill>
                <a:blip r:embed="rId2"/>
                <a:stretch>
                  <a:fillRect l="-981" t="-1418" b="-42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6488668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4227002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8654" y="150379"/>
            <a:ext cx="11693237" cy="122814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0109" y="1494594"/>
                <a:ext cx="11831782" cy="485955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На самом деле модель правильней записать</a:t>
                </a:r>
                <a:r>
                  <a:rPr lang="en-US" sz="2000" dirty="0"/>
                  <a:t> </a:t>
                </a:r>
                <a:r>
                  <a:rPr lang="en-US" sz="2000" b="1" dirty="0"/>
                  <a:t>SARIMA</a:t>
                </a:r>
                <a:r>
                  <a:rPr lang="ru-RU" sz="2000" b="1" dirty="0"/>
                  <a:t> в операторной форме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ru-RU" dirty="0"/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000" dirty="0"/>
                  <a:t> - оператор задержки,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оператор задержки</a:t>
                </a:r>
                <a:r>
                  <a:rPr lang="en-US" sz="2000" dirty="0"/>
                  <a:t> </a:t>
                </a:r>
                <a:r>
                  <a:rPr lang="ru-RU" sz="2000" dirty="0"/>
                  <a:t>на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2000" dirty="0"/>
                  <a:t> шагов.</a:t>
                </a:r>
                <a:r>
                  <a:rPr lang="en-US" sz="2000" dirty="0"/>
                  <a:t> 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Обратите внимание, что дифференцируется только </a:t>
                </a:r>
                <a:r>
                  <a:rPr lang="en-US" sz="2000" dirty="0"/>
                  <a:t>SAR (AR) </a:t>
                </a:r>
                <a:r>
                  <a:rPr lang="ru-RU" sz="2000" dirty="0"/>
                  <a:t>часть!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Выражение мультипликативное относительно сезонной части!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>
                    <a:ea typeface="Cambria" panose="02040503050406030204" pitchFamily="18" charset="0"/>
                    <a:cs typeface="Times New Roman" panose="02020603050405020304" pitchFamily="18" charset="0"/>
                  </a:rPr>
                  <a:t>Заметим также,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≡1,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≡1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Например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2000" b="1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имеет полный вид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ru-RU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=(1+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Перепишем в нормальный вид</a:t>
                </a:r>
                <a:r>
                  <a:rPr lang="en-US" sz="2000" dirty="0"/>
                  <a:t> (</a:t>
                </a:r>
                <a:r>
                  <a:rPr lang="ru-RU" sz="2000" dirty="0"/>
                  <a:t>покажем почему операторная форма удобнее)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109" y="1494594"/>
                <a:ext cx="11831782" cy="4859553"/>
              </a:xfrm>
              <a:blipFill>
                <a:blip r:embed="rId2"/>
                <a:stretch>
                  <a:fillRect l="-515" t="-6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08638" y="6460114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822177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E6772E34-6CDA-45BF-852F-2AB616785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9" b="52288"/>
          <a:stretch/>
        </p:blipFill>
        <p:spPr bwMode="auto">
          <a:xfrm>
            <a:off x="397631" y="1222860"/>
            <a:ext cx="11535688" cy="341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00979" y="5140171"/>
            <a:ext cx="4613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Видно явная сезонность в </a:t>
            </a:r>
            <a:r>
              <a:rPr lang="ru-RU" dirty="0" err="1"/>
              <a:t>нестационарности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2126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0" b="26618"/>
          <a:stretch/>
        </p:blipFill>
        <p:spPr bwMode="auto">
          <a:xfrm>
            <a:off x="386228" y="810526"/>
            <a:ext cx="11107272" cy="427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63301" y="5459767"/>
            <a:ext cx="7659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Видно, что есть </a:t>
            </a:r>
            <a:r>
              <a:rPr lang="en-US" dirty="0"/>
              <a:t>AR 2 </a:t>
            </a:r>
            <a:r>
              <a:rPr lang="ru-RU" dirty="0"/>
              <a:t>порядка, видно что есть какое-то </a:t>
            </a:r>
            <a:r>
              <a:rPr lang="en-US" dirty="0"/>
              <a:t>MA, </a:t>
            </a:r>
            <a:r>
              <a:rPr lang="ru-RU" dirty="0"/>
              <a:t>пусть 1 порядка, </a:t>
            </a:r>
            <a:br>
              <a:rPr lang="ru-RU" dirty="0"/>
            </a:br>
            <a:r>
              <a:rPr lang="ru-RU" dirty="0"/>
              <a:t>по выбросам АКФ можно сказать об одной </a:t>
            </a:r>
            <a:r>
              <a:rPr lang="en-US" dirty="0"/>
              <a:t>SAR </a:t>
            </a:r>
            <a:r>
              <a:rPr lang="ru-RU" dirty="0"/>
              <a:t>составляющей – 1 выброс,</a:t>
            </a:r>
          </a:p>
          <a:p>
            <a:r>
              <a:rPr lang="ru-RU" dirty="0"/>
              <a:t>По выбросам ЧАКФ можно сказать что мин. 2 </a:t>
            </a:r>
            <a:r>
              <a:rPr lang="en-US" dirty="0"/>
              <a:t>SMA </a:t>
            </a:r>
            <a:r>
              <a:rPr lang="ru-RU" dirty="0"/>
              <a:t>составляющих. </a:t>
            </a:r>
          </a:p>
        </p:txBody>
      </p:sp>
    </p:spTree>
    <p:extLst>
      <p:ext uri="{BB962C8B-B14F-4D97-AF65-F5344CB8AC3E}">
        <p14:creationId xmlns:p14="http://schemas.microsoft.com/office/powerpoint/2010/main" val="1249519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31" b="1"/>
          <a:stretch/>
        </p:blipFill>
        <p:spPr bwMode="auto">
          <a:xfrm>
            <a:off x="246528" y="1137660"/>
            <a:ext cx="11551154" cy="476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488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CB29E92-B795-4F44-A577-A4EBC753A5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12028"/>
              </a:xfrm>
            </p:spPr>
            <p:txBody>
              <a:bodyPr>
                <a:noAutofit/>
              </a:bodyPr>
              <a:lstStyle/>
              <a:p>
                <a:r>
                  <a:rPr lang="en-US" sz="3200" b="1" dirty="0"/>
                  <a:t>Алгоритм подбора модели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3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3200" b="1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2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32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CB29E92-B795-4F44-A577-A4EBC753A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12028"/>
              </a:xfrm>
              <a:blipFill>
                <a:blip r:embed="rId2"/>
                <a:stretch>
                  <a:fillRect l="-1507" t="-13000" b="-2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5"/>
                <a:ext cx="11837895" cy="5665693"/>
              </a:xfrm>
            </p:spPr>
            <p:txBody>
              <a:bodyPr>
                <a:normAutofit lnSpcReduction="10000"/>
              </a:bodyPr>
              <a:lstStyle/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порядка </a:t>
                </a:r>
                <a:r>
                  <a:rPr lang="en-US" sz="2300" dirty="0" err="1"/>
                  <a:t>обычного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дифференцирования</a:t>
                </a:r>
                <a:r>
                  <a:rPr lang="en-US" sz="2300" dirty="0"/>
                  <a:t> (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300" dirty="0"/>
                  <a:t>),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sz="2300" dirty="0" err="1"/>
                  <a:t>необходимо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для</a:t>
                </a:r>
                <a:r>
                  <a:rPr lang="en-US" sz="2300" dirty="0"/>
                  <a:t> </a:t>
                </a:r>
                <a:r>
                  <a:rPr lang="ru-RU" sz="2300" dirty="0"/>
                  <a:t>приведения ряда к стационарно</a:t>
                </a:r>
                <a:r>
                  <a:rPr lang="en-US" sz="2300" dirty="0"/>
                  <a:t>c</a:t>
                </a:r>
                <a:r>
                  <a:rPr lang="ru-RU" sz="2300" dirty="0" err="1"/>
                  <a:t>ти</a:t>
                </a:r>
                <a:r>
                  <a:rPr lang="en-US" sz="2300" dirty="0"/>
                  <a:t> (чтобы исключить тренд).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ru-RU" sz="2300" dirty="0"/>
                  <a:t>Определение основной сезонности</a:t>
                </a:r>
                <a:r>
                  <a:rPr lang="en-US" sz="2300" dirty="0"/>
                  <a:t> (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300" dirty="0"/>
                  <a:t>)</a:t>
                </a:r>
                <a:r>
                  <a:rPr lang="ru-RU" sz="2300" dirty="0"/>
                  <a:t>.</a:t>
                </a:r>
                <a:endParaRPr lang="en-US" sz="2300" dirty="0"/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Если сезонностей несколько –нужно выбирать максимальную!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Проверка</a:t>
                </a:r>
                <a:r>
                  <a:rPr lang="en-US" sz="2300" dirty="0"/>
                  <a:t> влияния сезонной составляющей и, возможно, </a:t>
                </a:r>
                <a:r>
                  <a:rPr lang="en-US" sz="2300" dirty="0" err="1"/>
                  <a:t>устранение</a:t>
                </a:r>
                <a:r>
                  <a:rPr lang="ru-RU" sz="2300" dirty="0"/>
                  <a:t> сильной</a:t>
                </a:r>
                <a:r>
                  <a:rPr lang="en-US" sz="2300" dirty="0"/>
                  <a:t> </a:t>
                </a:r>
                <a:r>
                  <a:rPr lang="en-US" sz="2300" dirty="0" err="1"/>
                  <a:t>сезонности</a:t>
                </a:r>
                <a:r>
                  <a:rPr lang="en-US" sz="2300" dirty="0"/>
                  <a:t> </a:t>
                </a:r>
                <a:r>
                  <a:rPr lang="ru-RU" sz="2300" dirty="0"/>
                  <a:t>путем сезонного дифференцирования порядка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порядк</a:t>
                </a:r>
                <a:r>
                  <a:rPr lang="ru-RU" sz="2300" dirty="0" err="1"/>
                  <a:t>ов</a:t>
                </a:r>
                <a:r>
                  <a:rPr lang="ru-RU" sz="2300" dirty="0"/>
                  <a:t> начальных </a:t>
                </a:r>
                <a:r>
                  <a:rPr lang="ru-RU" sz="2300" dirty="0" err="1"/>
                  <a:t>значенй</a:t>
                </a:r>
                <a:r>
                  <a:rPr lang="en-US" sz="2300" dirty="0"/>
                  <a:t> AR и MA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Определение по первым лагам </a:t>
                </a:r>
                <a:r>
                  <a:rPr lang="en-US" sz="1900" dirty="0"/>
                  <a:t>PACF </a:t>
                </a:r>
                <a:r>
                  <a:rPr lang="ru-RU" sz="1900" dirty="0"/>
                  <a:t>и </a:t>
                </a:r>
                <a:r>
                  <a:rPr lang="en-US" sz="1900" dirty="0"/>
                  <a:t>AFC </a:t>
                </a:r>
                <a:r>
                  <a:rPr lang="ru-RU" sz="1900" dirty="0"/>
                  <a:t>соответственно</a:t>
                </a:r>
              </a:p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порядк</a:t>
                </a:r>
                <a:r>
                  <a:rPr lang="ru-RU" sz="2300" dirty="0" err="1"/>
                  <a:t>ов</a:t>
                </a:r>
                <a:r>
                  <a:rPr lang="ru-RU" sz="2300" dirty="0"/>
                  <a:t> начальных значений сезонных</a:t>
                </a:r>
                <a:r>
                  <a:rPr lang="en-US" sz="2300" dirty="0"/>
                  <a:t> SAR и SMA</a:t>
                </a:r>
                <a:r>
                  <a:rPr lang="ru-RU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  <a:endParaRPr lang="ru-RU" sz="2300" dirty="0"/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Определение по числу всплесков на значениях сезонности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Расчет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коэффициентов</a:t>
                </a:r>
                <a:r>
                  <a:rPr lang="ru-RU" sz="2300" dirty="0"/>
                  <a:t> регрессионным способом</a:t>
                </a:r>
                <a:r>
                  <a:rPr lang="en-US" sz="2300" dirty="0"/>
                  <a:t>.</a:t>
                </a:r>
                <a:endParaRPr lang="ru-RU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ru-RU" sz="2300" dirty="0"/>
                  <a:t>Варьирование порядков модели по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𝐴𝐼𝐶𝑐</m:t>
                    </m:r>
                  </m:oMath>
                </a14:m>
                <a:r>
                  <a:rPr lang="en-US" sz="2300" dirty="0"/>
                  <a:t> </a:t>
                </a:r>
                <a:r>
                  <a:rPr lang="ru-RU" sz="2300" dirty="0"/>
                  <a:t>или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𝐵𝐼𝐶</m:t>
                    </m:r>
                  </m:oMath>
                </a14:m>
                <a:r>
                  <a:rPr lang="en-US" sz="2300" dirty="0"/>
                  <a:t> </a:t>
                </a:r>
                <a:r>
                  <a:rPr lang="ru-RU" sz="2300" dirty="0"/>
                  <a:t>на тренировочной выборке</a:t>
                </a:r>
                <a:endParaRPr lang="en-US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Проверка</a:t>
                </a:r>
                <a:r>
                  <a:rPr lang="en-US" sz="2300" dirty="0"/>
                  <a:t> </a:t>
                </a:r>
                <a:r>
                  <a:rPr lang="en-US" sz="2300" dirty="0" err="1"/>
                  <a:t>результатов</a:t>
                </a:r>
                <a:r>
                  <a:rPr lang="en-US" sz="2300" dirty="0"/>
                  <a:t> </a:t>
                </a:r>
                <a:r>
                  <a:rPr lang="ru-RU" sz="2300" dirty="0"/>
                  <a:t>на </a:t>
                </a:r>
                <a:r>
                  <a:rPr lang="en-US" sz="2300" dirty="0" err="1"/>
                  <a:t>валидационн</a:t>
                </a:r>
                <a:r>
                  <a:rPr lang="ru-RU" sz="2300" dirty="0"/>
                  <a:t>ой</a:t>
                </a:r>
                <a:r>
                  <a:rPr lang="en-US" sz="2300" dirty="0"/>
                  <a:t> </a:t>
                </a:r>
                <a:r>
                  <a:rPr lang="ru-RU" sz="2300" dirty="0"/>
                  <a:t>выборке, анализ остатков, </a:t>
                </a:r>
                <a:r>
                  <a:rPr lang="ru-RU" sz="2300" dirty="0" err="1"/>
                  <a:t>дисепрсии</a:t>
                </a:r>
                <a:r>
                  <a:rPr lang="ru-RU" sz="2300" dirty="0"/>
                  <a:t> и </a:t>
                </a:r>
                <a:r>
                  <a:rPr lang="ru-RU" sz="2300" dirty="0" err="1"/>
                  <a:t>тд</a:t>
                </a:r>
                <a:r>
                  <a:rPr lang="en-US" sz="2300" dirty="0"/>
                  <a:t>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endParaRPr lang="en-US" sz="2300" dirty="0"/>
              </a:p>
              <a:p>
                <a:pPr algn="l" rtl="0">
                  <a:lnSpc>
                    <a:spcPct val="12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5"/>
                <a:ext cx="11837895" cy="5665693"/>
              </a:xfrm>
              <a:blipFill>
                <a:blip r:embed="rId3"/>
                <a:stretch>
                  <a:fillRect t="-753" b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826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27" y="19865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порядка. Замечания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731" y="808985"/>
                <a:ext cx="11756785" cy="5665693"/>
              </a:xfrm>
            </p:spPr>
            <p:txBody>
              <a:bodyPr>
                <a:noAutofit/>
              </a:bodyPr>
              <a:lstStyle/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/>
                </a:pPr>
                <a:r>
                  <a:rPr lang="en-US" altLang="en-US" sz="2400" b="1" dirty="0" err="1">
                    <a:solidFill>
                      <a:srgbClr val="000000"/>
                    </a:solidFill>
                  </a:rPr>
                  <a:t>Правильный</a:t>
                </a:r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b="1" dirty="0" err="1">
                    <a:solidFill>
                      <a:srgbClr val="000000"/>
                    </a:solidFill>
                  </a:rPr>
                  <a:t>порядок</a:t>
                </a:r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это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порядок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разности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, который делает 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ВР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шумоподобным</a:t>
                </a:r>
                <a:endParaRPr lang="en-US" altLang="en-US" sz="2400" dirty="0">
                  <a:solidFill>
                    <a:srgbClr val="000000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т.е. 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>значения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колеблется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около четко определенного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среднего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/>
                </a:r>
                <a:br>
                  <a:rPr lang="ru-RU" altLang="en-US" dirty="0">
                    <a:solidFill>
                      <a:srgbClr val="000000"/>
                    </a:solidFill>
                  </a:rPr>
                </a:br>
                <a:r>
                  <a:rPr lang="en-US" altLang="en-US" dirty="0">
                    <a:solidFill>
                      <a:srgbClr val="000000"/>
                    </a:solidFill>
                  </a:rPr>
                  <a:t>и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> имеют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почти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постоянн</a:t>
                </a:r>
                <a:r>
                  <a:rPr lang="ru-RU" altLang="en-US" dirty="0" err="1">
                    <a:solidFill>
                      <a:srgbClr val="000000"/>
                    </a:solidFill>
                  </a:rPr>
                  <a:t>ый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разброс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, 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Используйте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сезонную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производную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u="sng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sz="2400" u="sng" dirty="0">
                    <a:solidFill>
                      <a:srgbClr val="000000"/>
                    </a:solidFill>
                  </a:rPr>
                  <a:t> только в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случае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сильно</a:t>
                </a:r>
                <a:r>
                  <a:rPr lang="ru-RU" altLang="en-US" sz="2400" u="sng" dirty="0" err="1">
                    <a:solidFill>
                      <a:srgbClr val="000000"/>
                    </a:solidFill>
                  </a:rPr>
                  <a:t>го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сезонно</a:t>
                </a:r>
                <a:r>
                  <a:rPr lang="ru-RU" altLang="en-US" sz="2400" u="sng" dirty="0" err="1">
                    <a:solidFill>
                      <a:srgbClr val="000000"/>
                    </a:solidFill>
                  </a:rPr>
                  <a:t>го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 влияния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.</a:t>
                </a:r>
                <a:endParaRPr lang="ru-RU" altLang="en-US" sz="2400" u="sng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 Следует проверять продифференцированный ряд на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стационарность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при помощи тестов Дика-</a:t>
                </a:r>
                <a:r>
                  <a:rPr lang="ru-RU" altLang="en-US" sz="2400" dirty="0" err="1">
                    <a:solidFill>
                      <a:srgbClr val="000000"/>
                    </a:solidFill>
                  </a:rPr>
                  <a:t>Фуллера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и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KPSS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(возможно также и другими тестами)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.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Обычно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altLang="en-US" sz="2400" dirty="0">
                    <a:solidFill>
                      <a:srgbClr val="000000"/>
                    </a:solidFill>
                  </a:rPr>
                  <a:t>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иное дает высокий риск переобучения.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sz="2400" dirty="0"/>
                  <a:t>Ч</a:t>
                </a:r>
                <a:r>
                  <a:rPr lang="en-US" sz="2400" dirty="0" err="1"/>
                  <a:t>асто</a:t>
                </a:r>
                <a:r>
                  <a:rPr lang="en-US" sz="2400" dirty="0"/>
                  <a:t> </a:t>
                </a:r>
                <a:r>
                  <a:rPr lang="ru-RU" sz="2400" b="1" dirty="0"/>
                  <a:t>о</a:t>
                </a:r>
                <a:r>
                  <a:rPr lang="en-US" sz="2400" b="1" dirty="0" err="1"/>
                  <a:t>птимальный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порядок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дифференцирования</a:t>
                </a:r>
                <a:r>
                  <a:rPr lang="en-US" sz="2400" b="1" dirty="0"/>
                  <a:t> </a:t>
                </a:r>
                <a:r>
                  <a:rPr lang="en-US" sz="2400" dirty="0"/>
                  <a:t>- </a:t>
                </a:r>
                <a:r>
                  <a:rPr lang="en-US" sz="2400" dirty="0" err="1"/>
                  <a:t>это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тот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порядок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разности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при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котором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дисперсия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наименьшая</a:t>
                </a:r>
                <a:endParaRPr lang="en-US" sz="24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sz="2400" dirty="0"/>
                  <a:t>Если ряд </a:t>
                </a:r>
                <a:r>
                  <a:rPr lang="ru-RU" sz="2400" b="1" dirty="0" err="1"/>
                  <a:t>недодифференцирован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добавт</a:t>
                </a:r>
                <a:r>
                  <a:rPr lang="ru-RU" sz="2400" dirty="0"/>
                  <a:t>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дополнительн</a:t>
                </a:r>
                <a:r>
                  <a:rPr lang="ru-RU" sz="2400" dirty="0" err="1"/>
                  <a:t>ое</a:t>
                </a:r>
                <a:r>
                  <a:rPr lang="ru-RU" sz="2400" dirty="0"/>
                  <a:t> </a:t>
                </a:r>
                <a:r>
                  <a:rPr lang="ru-RU" sz="2400" dirty="0" err="1"/>
                  <a:t>слогаемое</a:t>
                </a:r>
                <a:r>
                  <a:rPr lang="ru-RU" sz="2400" dirty="0"/>
                  <a:t> к</a:t>
                </a:r>
                <a:r>
                  <a:rPr lang="en-US" sz="2400" dirty="0"/>
                  <a:t> AR</a:t>
                </a:r>
                <a:r>
                  <a:rPr lang="ru-RU" sz="2400" dirty="0"/>
                  <a:t>, если </a:t>
                </a:r>
                <a:r>
                  <a:rPr lang="ru-RU" sz="2400" b="1" dirty="0" err="1"/>
                  <a:t>передифференцировн</a:t>
                </a:r>
                <a:r>
                  <a:rPr lang="en-US" sz="2400" dirty="0"/>
                  <a:t>,</a:t>
                </a:r>
                <a:r>
                  <a:rPr lang="ru-RU" sz="2400" dirty="0"/>
                  <a:t> </a:t>
                </a:r>
                <a:r>
                  <a:rPr lang="en-US" sz="2400" dirty="0" err="1"/>
                  <a:t>добавт</a:t>
                </a:r>
                <a:r>
                  <a:rPr lang="ru-RU" sz="2400" dirty="0"/>
                  <a:t>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дополнительн</a:t>
                </a:r>
                <a:r>
                  <a:rPr lang="ru-RU" sz="2400" dirty="0" err="1"/>
                  <a:t>ое</a:t>
                </a:r>
                <a:r>
                  <a:rPr lang="ru-RU" sz="2400" dirty="0"/>
                  <a:t> </a:t>
                </a:r>
                <a:r>
                  <a:rPr lang="ru-RU" sz="2400" dirty="0" err="1"/>
                  <a:t>слогаемое</a:t>
                </a:r>
                <a:r>
                  <a:rPr lang="ru-RU" sz="2400" dirty="0"/>
                  <a:t> к</a:t>
                </a:r>
                <a:r>
                  <a:rPr lang="en-US" sz="2400" dirty="0"/>
                  <a:t> MA</a:t>
                </a:r>
                <a:endParaRPr lang="ru-RU" sz="24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en-US" sz="2400" dirty="0" err="1"/>
                  <a:t>если</a:t>
                </a:r>
                <a:r>
                  <a:rPr lang="en-US" sz="2400" dirty="0"/>
                  <a:t> в </a:t>
                </a:r>
                <a:r>
                  <a:rPr lang="ru-RU" sz="2400" dirty="0"/>
                  <a:t>ряде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есть</a:t>
                </a:r>
                <a:r>
                  <a:rPr lang="en-US" sz="2400" dirty="0"/>
                  <a:t> </a:t>
                </a:r>
                <a:r>
                  <a:rPr lang="en-US" sz="2400" b="1" dirty="0" err="1"/>
                  <a:t>положительные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значения</a:t>
                </a:r>
                <a:r>
                  <a:rPr lang="en-US" sz="2400" b="1" dirty="0"/>
                  <a:t> ACF с </a:t>
                </a:r>
                <a:r>
                  <a:rPr lang="en-US" sz="2400" b="1" dirty="0" err="1"/>
                  <a:t>большим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запаздыванием</a:t>
                </a:r>
                <a:r>
                  <a:rPr lang="ru-RU" sz="2400" dirty="0"/>
                  <a:t>, добавьте</a:t>
                </a:r>
                <a:r>
                  <a:rPr lang="en-US" sz="2400" u="sng" dirty="0"/>
                  <a:t> </a:t>
                </a:r>
                <a:r>
                  <a:rPr lang="en-US" sz="2400" dirty="0" err="1"/>
                  <a:t>разностный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порядок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Порядок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SAR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число </a:t>
                </a:r>
                <a:r>
                  <a:rPr lang="ru-RU" altLang="en-US" sz="2400" dirty="0" err="1">
                    <a:solidFill>
                      <a:srgbClr val="000000"/>
                    </a:solidFill>
                  </a:rPr>
                  <a:t>всплексков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на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PACF,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порядок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SMA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число всплесков на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ACF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altLang="en-US" sz="1800" dirty="0">
                    <a:solidFill>
                      <a:srgbClr val="000000"/>
                    </a:solidFill>
                  </a:rPr>
                  <a:t>Напр. если всплески на </a:t>
                </a:r>
                <a:r>
                  <a:rPr lang="en-US" altLang="en-US" sz="1800" dirty="0">
                    <a:solidFill>
                      <a:srgbClr val="000000"/>
                    </a:solidFill>
                  </a:rPr>
                  <a:t>PACF </a:t>
                </a:r>
                <a:r>
                  <a:rPr lang="ru-RU" altLang="en-US" sz="1800" dirty="0">
                    <a:solidFill>
                      <a:srgbClr val="000000"/>
                    </a:solidFill>
                  </a:rPr>
                  <a:t>лагов </a:t>
                </a:r>
                <a:r>
                  <a:rPr lang="en-US" sz="2000" i="1" dirty="0"/>
                  <a:t>s</a:t>
                </a:r>
                <a:r>
                  <a:rPr lang="en-US" sz="2000" dirty="0"/>
                  <a:t>,2</a:t>
                </a:r>
                <a:r>
                  <a:rPr lang="en-US" sz="2000" i="1" dirty="0"/>
                  <a:t>s</a:t>
                </a:r>
                <a:r>
                  <a:rPr lang="en-US" sz="2000" dirty="0"/>
                  <a:t>,</a:t>
                </a:r>
                <a:r>
                  <a:rPr lang="ru-RU" sz="2000" dirty="0"/>
                  <a:t> - то </a:t>
                </a:r>
                <a:r>
                  <a:rPr lang="en-US" sz="2000" dirty="0"/>
                  <a:t>P=2, </a:t>
                </a:r>
                <a:r>
                  <a:rPr lang="ru-RU" sz="2000" dirty="0"/>
                  <a:t>но </a:t>
                </a:r>
                <a:r>
                  <a:rPr lang="en-US" sz="2000" dirty="0"/>
                  <a:t>P&gt;2 – </a:t>
                </a:r>
                <a:r>
                  <a:rPr lang="ru-RU" sz="2000" dirty="0"/>
                  <a:t>редкость, приводит к переобучению!</a:t>
                </a:r>
                <a:endParaRPr lang="en-US" altLang="en-US" sz="18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en-US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731" y="808985"/>
                <a:ext cx="11756785" cy="5665693"/>
              </a:xfrm>
              <a:blipFill>
                <a:blip r:embed="rId2"/>
                <a:stretch>
                  <a:fillRect l="-755" t="-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3AB91-BFA5-535B-0F25-7EDCB8B83BE5}"/>
              </a:ext>
            </a:extLst>
          </p:cNvPr>
          <p:cNvSpPr txBox="1"/>
          <p:nvPr/>
        </p:nvSpPr>
        <p:spPr>
          <a:xfrm>
            <a:off x="4366095" y="6474678"/>
            <a:ext cx="712624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 err="1"/>
              <a:t>https</a:t>
            </a:r>
            <a:r>
              <a:rPr lang="ru-RU" sz="600" dirty="0"/>
              <a:t>://</a:t>
            </a:r>
            <a:r>
              <a:rPr lang="ru-RU" sz="600" dirty="0" err="1"/>
              <a:t>anhhaibkhn.github.io</a:t>
            </a:r>
            <a:r>
              <a:rPr lang="ru-RU" sz="600" dirty="0"/>
              <a:t>/Data-Science-</a:t>
            </a:r>
            <a:r>
              <a:rPr lang="ru-RU" sz="600" dirty="0" err="1"/>
              <a:t>selfstudy</a:t>
            </a:r>
            <a:r>
              <a:rPr lang="ru-RU" sz="600" dirty="0"/>
              <a:t>-</a:t>
            </a:r>
            <a:r>
              <a:rPr lang="ru-RU" sz="600" dirty="0" err="1"/>
              <a:t>notes-Blog</a:t>
            </a:r>
            <a:r>
              <a:rPr lang="ru-RU" sz="600" dirty="0"/>
              <a:t>/seasonal%20data/</a:t>
            </a:r>
            <a:r>
              <a:rPr lang="ru-RU" sz="600" dirty="0" err="1"/>
              <a:t>forecast</a:t>
            </a:r>
            <a:r>
              <a:rPr lang="ru-RU" sz="600" dirty="0"/>
              <a:t>/</a:t>
            </a:r>
            <a:r>
              <a:rPr lang="ru-RU" sz="600" dirty="0" err="1"/>
              <a:t>arima</a:t>
            </a:r>
            <a:r>
              <a:rPr lang="ru-RU" sz="600" dirty="0"/>
              <a:t>/time%20series/</a:t>
            </a:r>
            <a:r>
              <a:rPr lang="ru-RU" sz="600" dirty="0" err="1"/>
              <a:t>arma</a:t>
            </a:r>
            <a:r>
              <a:rPr lang="ru-RU" sz="600" dirty="0"/>
              <a:t>/</a:t>
            </a:r>
            <a:r>
              <a:rPr lang="ru-RU" sz="600" dirty="0" err="1"/>
              <a:t>armax</a:t>
            </a:r>
            <a:r>
              <a:rPr lang="ru-RU" sz="600" dirty="0"/>
              <a:t>/</a:t>
            </a:r>
            <a:r>
              <a:rPr lang="ru-RU" sz="600" dirty="0" err="1"/>
              <a:t>aic</a:t>
            </a:r>
            <a:r>
              <a:rPr lang="ru-RU" sz="600" dirty="0"/>
              <a:t>/</a:t>
            </a:r>
            <a:r>
              <a:rPr lang="ru-RU" sz="600" dirty="0" err="1"/>
              <a:t>bic</a:t>
            </a:r>
            <a:r>
              <a:rPr lang="ru-RU" sz="600" dirty="0"/>
              <a:t>/</a:t>
            </a:r>
            <a:r>
              <a:rPr lang="ru-RU" sz="600" dirty="0" err="1"/>
              <a:t>acf</a:t>
            </a:r>
            <a:r>
              <a:rPr lang="ru-RU" sz="600" dirty="0"/>
              <a:t>/</a:t>
            </a:r>
            <a:r>
              <a:rPr lang="ru-RU" sz="600" dirty="0" err="1"/>
              <a:t>pacf</a:t>
            </a:r>
            <a:r>
              <a:rPr lang="ru-RU" sz="600" dirty="0"/>
              <a:t>/</a:t>
            </a:r>
            <a:r>
              <a:rPr lang="ru-RU" sz="600" dirty="0" err="1"/>
              <a:t>sarima</a:t>
            </a:r>
            <a:r>
              <a:rPr lang="ru-RU" sz="600" dirty="0"/>
              <a:t>/</a:t>
            </a:r>
            <a:r>
              <a:rPr lang="ru-RU" sz="600" dirty="0" err="1"/>
              <a:t>box-jenkins</a:t>
            </a:r>
            <a:r>
              <a:rPr lang="ru-RU" sz="600" dirty="0"/>
              <a:t>/2022/08/28/ARIMA-</a:t>
            </a:r>
            <a:r>
              <a:rPr lang="ru-RU" sz="600" dirty="0" err="1"/>
              <a:t>Models</a:t>
            </a:r>
            <a:r>
              <a:rPr lang="ru-RU" sz="600" dirty="0"/>
              <a:t>-</a:t>
            </a:r>
            <a:r>
              <a:rPr lang="ru-RU" sz="600" dirty="0" err="1"/>
              <a:t>in-Python.htm</a:t>
            </a:r>
            <a:endParaRPr lang="ru-RU" sz="600" dirty="0"/>
          </a:p>
        </p:txBody>
      </p:sp>
    </p:spTree>
    <p:extLst>
      <p:ext uri="{BB962C8B-B14F-4D97-AF65-F5344CB8AC3E}">
        <p14:creationId xmlns:p14="http://schemas.microsoft.com/office/powerpoint/2010/main" val="411554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714375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3863400" cy="26765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689" y="1046355"/>
            <a:ext cx="3794462" cy="278969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151" y="1048422"/>
            <a:ext cx="4360876" cy="323329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6439" y="6488668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028" y="3917379"/>
            <a:ext cx="3865418" cy="27559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57649" y="105958"/>
            <a:ext cx="3871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сезонной производной видно экспоненциальное падение </a:t>
            </a:r>
            <a:r>
              <a:rPr lang="en-US" dirty="0"/>
              <a:t>ACF </a:t>
            </a:r>
            <a:r>
              <a:rPr lang="ru-RU" dirty="0"/>
              <a:t>и лаг на </a:t>
            </a:r>
            <a:r>
              <a:rPr lang="en-US" dirty="0"/>
              <a:t>PACF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0" y="144420"/>
            <a:ext cx="4128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Обычная + сезонная производные дают стационарный ряд по тестам, визуально – есть проблемки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127" y="4095027"/>
            <a:ext cx="3322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имеет 1 сезонный лаг, выбросы и возможно </a:t>
            </a:r>
            <a:r>
              <a:rPr lang="ru-RU" dirty="0" err="1"/>
              <a:t>передифференцирована</a:t>
            </a:r>
            <a:r>
              <a:rPr lang="ru-RU" dirty="0"/>
              <a:t> – увеличим </a:t>
            </a:r>
            <a:r>
              <a:rPr lang="en-US" dirty="0"/>
              <a:t>MA </a:t>
            </a:r>
            <a:r>
              <a:rPr lang="ru-RU" dirty="0"/>
              <a:t>часть для сглаживания</a:t>
            </a:r>
          </a:p>
        </p:txBody>
      </p:sp>
    </p:spTree>
    <p:extLst>
      <p:ext uri="{BB962C8B-B14F-4D97-AF65-F5344CB8AC3E}">
        <p14:creationId xmlns:p14="http://schemas.microsoft.com/office/powerpoint/2010/main" val="9006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</a:t>
            </a:r>
            <a:r>
              <a:rPr lang="en-US" sz="2000" dirty="0" err="1"/>
              <a:t>берем</a:t>
            </a:r>
            <a:r>
              <a:rPr lang="en-US" sz="2000" dirty="0"/>
              <a:t> </a:t>
            </a:r>
            <a:r>
              <a:rPr lang="en-US" sz="2000" dirty="0" err="1"/>
              <a:t>логарифм</a:t>
            </a:r>
            <a:r>
              <a:rPr lang="en-US" sz="2000" dirty="0"/>
              <a:t>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image.png">
            <a:extLst>
              <a:ext uri="{FF2B5EF4-FFF2-40B4-BE49-F238E27FC236}">
                <a16:creationId xmlns:a16="http://schemas.microsoft.com/office/drawing/2014/main" id="{4B302CCE-8A1F-44C4-A3A5-C6594DBE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58443"/>
            <a:ext cx="6057900" cy="374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477372" y="536430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Данные сильно сезонны и явно нестационарны, поэтому сезонная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разница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с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сезонностью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12.</a:t>
            </a:r>
            <a:endParaRPr lang="en-US" sz="1600" dirty="0"/>
          </a:p>
        </p:txBody>
      </p:sp>
      <p:pic>
        <p:nvPicPr>
          <p:cNvPr id="14340" name="Picture 4" descr="image.png">
            <a:extLst>
              <a:ext uri="{FF2B5EF4-FFF2-40B4-BE49-F238E27FC236}">
                <a16:creationId xmlns:a16="http://schemas.microsoft.com/office/drawing/2014/main" id="{54A6615A-6E32-4A6A-98BE-D55141496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372" y="1733340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C0874C-18EE-4E14-95B8-1EB051FE94EB}"/>
              </a:ext>
            </a:extLst>
          </p:cNvPr>
          <p:cNvSpPr/>
          <p:nvPr/>
        </p:nvSpPr>
        <p:spPr>
          <a:xfrm>
            <a:off x="6804216" y="5241191"/>
            <a:ext cx="52732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На данный момент неясно, следует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ли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нам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делать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еще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одно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дифференцирование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или нет.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Решаем не делать этого, но выбор не очевиден.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919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берем логарифмы,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276766" y="4888974"/>
            <a:ext cx="11772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На полученном графике есть всплески в PACF при лагах 12 и 24,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ru-RU" dirty="0"/>
              <a:t>нет </a:t>
            </a:r>
            <a:r>
              <a:rPr lang="ru-RU" dirty="0" err="1"/>
              <a:t>вспесков</a:t>
            </a:r>
            <a:r>
              <a:rPr lang="ru-RU" dirty="0"/>
              <a:t> на </a:t>
            </a:r>
            <a:r>
              <a:rPr lang="en-US" dirty="0" err="1"/>
              <a:t>при</a:t>
            </a:r>
            <a:r>
              <a:rPr lang="en-US" dirty="0"/>
              <a:t> сезонных лагах в ACF. Это может указывать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SAR (2).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В несезонных лагах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ru-RU" dirty="0"/>
              <a:t>3</a:t>
            </a:r>
            <a:r>
              <a:rPr lang="en-US" dirty="0"/>
              <a:t> значительных всплеска PACF, что указывает на </a:t>
            </a:r>
            <a:r>
              <a:rPr lang="en-US" dirty="0" err="1"/>
              <a:t>возможный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AR (3).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ACF не указывает на какую-либо простую модель.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/>
              <a:t>П</a:t>
            </a:r>
            <a:r>
              <a:rPr lang="en-US" dirty="0" err="1"/>
              <a:t>ервоначальный</a:t>
            </a:r>
            <a:r>
              <a:rPr lang="en-US" dirty="0"/>
              <a:t> анализ предполагает,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ARIMA (3,0,0) (2,1,0) 12.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 err="1"/>
              <a:t>Автоподбор</a:t>
            </a:r>
            <a:r>
              <a:rPr lang="en-US" dirty="0"/>
              <a:t> </a:t>
            </a:r>
            <a:r>
              <a:rPr lang="en-US" dirty="0" err="1"/>
              <a:t>параметров</a:t>
            </a:r>
            <a:r>
              <a:rPr lang="en-US" dirty="0"/>
              <a:t> </a:t>
            </a:r>
            <a:r>
              <a:rPr lang="en-US" dirty="0" err="1"/>
              <a:t>опроверга</a:t>
            </a:r>
            <a:r>
              <a:rPr lang="ru-RU" dirty="0"/>
              <a:t>е</a:t>
            </a:r>
            <a:r>
              <a:rPr lang="en-US" dirty="0"/>
              <a:t> первое предположение - лучше использовать модель ARIMA (3,0,1) (0,1,2) 12.</a:t>
            </a:r>
          </a:p>
        </p:txBody>
      </p:sp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D4F6B6DC-6873-47DC-ADF5-51EE38F3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2" y="1504571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52E6A9-5E3C-4BDA-821A-526120D0FE35}"/>
              </a:ext>
            </a:extLst>
          </p:cNvPr>
          <p:cNvSpPr/>
          <p:nvPr/>
        </p:nvSpPr>
        <p:spPr>
          <a:xfrm>
            <a:off x="6163238" y="1517464"/>
            <a:ext cx="57822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Вариации параметров опровергают первое предположение - лучше использовать модель ARIMA (3,0,1) (0,1,2) 12.</a:t>
            </a:r>
            <a:endParaRPr lang="en-US" dirty="0"/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92"/>
          <a:stretch/>
        </p:blipFill>
        <p:spPr bwMode="auto">
          <a:xfrm>
            <a:off x="6163238" y="2358445"/>
            <a:ext cx="2193780" cy="239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16"/>
          <a:stretch/>
        </p:blipFill>
        <p:spPr bwMode="auto">
          <a:xfrm>
            <a:off x="8491492" y="2375018"/>
            <a:ext cx="1375983" cy="237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275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47" y="365126"/>
            <a:ext cx="11196735" cy="612028"/>
          </a:xfrm>
        </p:spPr>
        <p:txBody>
          <a:bodyPr>
            <a:noAutofit/>
          </a:bodyPr>
          <a:lstStyle/>
          <a:p>
            <a:pPr algn="l" rtl="0"/>
            <a:r>
              <a:rPr lang="en-US" sz="2800" b="1" dirty="0"/>
              <a:t>Пример </a:t>
            </a:r>
            <a:r>
              <a:rPr lang="en-US" sz="2800" b="1" dirty="0" err="1"/>
              <a:t>оценки</a:t>
            </a:r>
            <a:r>
              <a:rPr lang="en-US" sz="2800" b="1" dirty="0"/>
              <a:t> </a:t>
            </a:r>
            <a:r>
              <a:rPr lang="ru-RU" sz="2800" b="1" dirty="0"/>
              <a:t>остаточной части</a:t>
            </a:r>
            <a:r>
              <a:rPr lang="en-US" sz="2800" b="1" dirty="0"/>
              <a:t> ARMA </a:t>
            </a:r>
            <a:r>
              <a:rPr lang="ru-RU" sz="2800" b="1" dirty="0"/>
              <a:t>для предыдущего слайда</a:t>
            </a:r>
            <a:endParaRPr lang="en-US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ru-RU" sz="2000" dirty="0"/>
              <a:t>Предложенная модель работает на небольшом тесте. Видно, что дисперсия резко растет – модель работает только на коротком горизонте.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BF43F526-6D3D-44CD-A0A0-0D4DC93E8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700" y="3585164"/>
            <a:ext cx="5176240" cy="319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B907D4-C1AC-4ECB-9E69-5D7355BFAF64}"/>
              </a:ext>
            </a:extLst>
          </p:cNvPr>
          <p:cNvSpPr/>
          <p:nvPr/>
        </p:nvSpPr>
        <p:spPr>
          <a:xfrm>
            <a:off x="5461000" y="1324660"/>
            <a:ext cx="64844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Анализ остатков модели: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 ACF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остатков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есть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несколько значительных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всплесков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выше уровня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Ljung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-Box test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(критерий стат. значимости)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модель описывает не всю информацию.</a:t>
            </a:r>
            <a:b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ru-RU" dirty="0"/>
              <a:t>Визуально остатки не соотв. БГШ, это </a:t>
            </a:r>
            <a:r>
              <a:rPr lang="ru-RU" dirty="0" err="1"/>
              <a:t>потверждает</a:t>
            </a:r>
            <a:r>
              <a:rPr lang="ru-RU" dirty="0"/>
              <a:t> гипотезу короткого горизонта прогноза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endParaRPr lang="ru-RU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Для увеличения горизонта возможно нужно провести анализ аномалий или усложнить модель</a:t>
            </a:r>
            <a:endParaRPr lang="en-US" dirty="0"/>
          </a:p>
        </p:txBody>
      </p:sp>
      <p:pic>
        <p:nvPicPr>
          <p:cNvPr id="16388" name="Picture 4" descr="image.png">
            <a:extLst>
              <a:ext uri="{FF2B5EF4-FFF2-40B4-BE49-F238E27FC236}">
                <a16:creationId xmlns:a16="http://schemas.microsoft.com/office/drawing/2014/main" id="{2F065641-E48C-4AE8-982E-8ED9A79EE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3" y="1644566"/>
            <a:ext cx="5117519" cy="316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16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inherit"/>
              </a:rPr>
              <a:t>Другие модели, подобные SARIMA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 err="1">
                <a:solidFill>
                  <a:srgbClr val="000000"/>
                </a:solidFill>
              </a:rPr>
              <a:t>Помимо</a:t>
            </a:r>
            <a:r>
              <a:rPr lang="en-US" altLang="en-US" sz="2000" dirty="0">
                <a:solidFill>
                  <a:srgbClr val="000000"/>
                </a:solidFill>
              </a:rPr>
              <a:t> обсуждаемой выше модели SARIMA, </a:t>
            </a:r>
            <a:r>
              <a:rPr lang="ru-RU" altLang="en-US" sz="2000" dirty="0">
                <a:solidFill>
                  <a:srgbClr val="000000"/>
                </a:solidFill>
              </a:rPr>
              <a:t>а также </a:t>
            </a:r>
            <a:r>
              <a:rPr lang="en-US" altLang="en-US" sz="2000" dirty="0">
                <a:solidFill>
                  <a:srgbClr val="000000"/>
                </a:solidFill>
              </a:rPr>
              <a:t>AR, MA, ARMA </a:t>
            </a:r>
            <a:r>
              <a:rPr lang="ru-RU" altLang="en-US" sz="2000" dirty="0">
                <a:solidFill>
                  <a:srgbClr val="000000"/>
                </a:solidFill>
              </a:rPr>
              <a:t>и </a:t>
            </a:r>
            <a:r>
              <a:rPr lang="en-US" altLang="en-US" sz="2000" dirty="0">
                <a:solidFill>
                  <a:srgbClr val="000000"/>
                </a:solidFill>
              </a:rPr>
              <a:t>ARIMA она обычно рассматривается как несколько других: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SARIMAX</a:t>
            </a:r>
            <a:r>
              <a:rPr lang="en-US" altLang="en-US" sz="2000" dirty="0">
                <a:solidFill>
                  <a:srgbClr val="000000"/>
                </a:solidFill>
              </a:rPr>
              <a:t> – Модель SARIMA с экзогенными </a:t>
            </a:r>
            <a:r>
              <a:rPr lang="en-US" altLang="en-US" sz="2000" dirty="0" err="1">
                <a:solidFill>
                  <a:srgbClr val="000000"/>
                </a:solidFill>
              </a:rPr>
              <a:t>добавочными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факт</a:t>
            </a:r>
            <a:r>
              <a:rPr lang="ru-RU" altLang="en-US" sz="2000" dirty="0">
                <a:solidFill>
                  <a:srgbClr val="000000"/>
                </a:solidFill>
              </a:rPr>
              <a:t>а</a:t>
            </a:r>
            <a:r>
              <a:rPr lang="en-US" altLang="en-US" sz="2000" dirty="0" err="1">
                <a:solidFill>
                  <a:srgbClr val="000000"/>
                </a:solidFill>
              </a:rPr>
              <a:t>рами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  <a:endParaRPr lang="ru-RU" altLang="en-US" sz="20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VAR, VMA, VARMA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</a:t>
            </a:r>
            <a:r>
              <a:rPr lang="en-US" altLang="en-US" sz="2000" dirty="0" err="1">
                <a:solidFill>
                  <a:srgbClr val="000000"/>
                </a:solidFill>
              </a:rPr>
              <a:t>одели</a:t>
            </a:r>
            <a:r>
              <a:rPr lang="ru-RU" altLang="en-US" sz="2000" dirty="0">
                <a:solidFill>
                  <a:srgbClr val="000000"/>
                </a:solidFill>
              </a:rPr>
              <a:t> многомерных временных рядов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MSARIMA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с несколькими сезонными составляющими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ST-ARIMA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для </a:t>
            </a:r>
            <a:r>
              <a:rPr lang="ru-RU" altLang="en-US" sz="2000" dirty="0" err="1">
                <a:solidFill>
                  <a:srgbClr val="000000"/>
                </a:solidFill>
              </a:rPr>
              <a:t>пространственно</a:t>
            </a:r>
            <a:r>
              <a:rPr lang="ru-RU" altLang="en-US" sz="2000" dirty="0">
                <a:solidFill>
                  <a:srgbClr val="000000"/>
                </a:solidFill>
              </a:rPr>
              <a:t> распределенных данных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ARIFMA</a:t>
            </a: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Модель ARIMA с использованием дробных производных (и дробного интегрирования).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3"/>
            </a:pPr>
            <a:r>
              <a:rPr lang="en-US" altLang="en-US" sz="2000" b="1" dirty="0">
                <a:solidFill>
                  <a:srgbClr val="000000"/>
                </a:solidFill>
              </a:rPr>
              <a:t>NAR, NARX, NARMA</a:t>
            </a:r>
            <a:r>
              <a:rPr lang="ru-RU" altLang="en-US" sz="2000" b="1" dirty="0">
                <a:solidFill>
                  <a:srgbClr val="000000"/>
                </a:solidFill>
              </a:rPr>
              <a:t>, </a:t>
            </a:r>
            <a:r>
              <a:rPr lang="en-US" altLang="en-US" sz="2000" b="1" dirty="0" err="1">
                <a:solidFill>
                  <a:srgbClr val="000000"/>
                </a:solidFill>
              </a:rPr>
              <a:t>DeepAR</a:t>
            </a:r>
            <a:r>
              <a:rPr lang="en-US" altLang="en-US" sz="2000" dirty="0">
                <a:solidFill>
                  <a:srgbClr val="000000"/>
                </a:solidFill>
              </a:rPr>
              <a:t> -</a:t>
            </a:r>
            <a:r>
              <a:rPr lang="ru-RU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Нелинейный</a:t>
            </a:r>
            <a:r>
              <a:rPr lang="en-US" altLang="en-US" sz="2000" dirty="0">
                <a:solidFill>
                  <a:srgbClr val="000000"/>
                </a:solidFill>
              </a:rPr>
              <a:t> AR (NAR), нелинейный ARMA (NARMA) и </a:t>
            </a:r>
            <a:r>
              <a:rPr lang="en-US" altLang="en-US" sz="2000" dirty="0" err="1">
                <a:solidFill>
                  <a:srgbClr val="000000"/>
                </a:solidFill>
              </a:rPr>
              <a:t>так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далее</a:t>
            </a:r>
            <a:r>
              <a:rPr lang="en-US" altLang="en-US" sz="2000" dirty="0">
                <a:solidFill>
                  <a:srgbClr val="000000"/>
                </a:solidFill>
              </a:rPr>
              <a:t>. – </a:t>
            </a:r>
            <a:r>
              <a:rPr lang="ru-RU" altLang="en-US" sz="2000" dirty="0">
                <a:solidFill>
                  <a:srgbClr val="000000"/>
                </a:solidFill>
              </a:rPr>
              <a:t>модели нейронных сетей, вдохновлённые авторегрессий.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4"/>
            </a:pPr>
            <a:r>
              <a:rPr lang="ru-RU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AR-NET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авторегрессии с регуляризацией и решением методами градиентного спуска (как правило с не квадратичной функцией потерь и более устойчивые к неверному выбору параметров моделей).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4"/>
            </a:pPr>
            <a:r>
              <a:rPr lang="en-US" altLang="en-US" sz="2000" b="1" dirty="0" err="1">
                <a:solidFill>
                  <a:srgbClr val="000000"/>
                </a:solidFill>
              </a:rPr>
              <a:t>DeepAR</a:t>
            </a:r>
            <a:r>
              <a:rPr lang="en-US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</a:t>
            </a:r>
            <a:r>
              <a:rPr lang="ru-RU" altLang="en-US" sz="2000" dirty="0">
                <a:solidFill>
                  <a:srgbClr val="000000"/>
                </a:solidFill>
              </a:rPr>
              <a:t>комбинация </a:t>
            </a:r>
            <a:r>
              <a:rPr lang="en-US" altLang="en-US" sz="2000" dirty="0">
                <a:solidFill>
                  <a:srgbClr val="000000"/>
                </a:solidFill>
              </a:rPr>
              <a:t>LSTM </a:t>
            </a:r>
            <a:r>
              <a:rPr lang="ru-RU" altLang="en-US" sz="2000" dirty="0">
                <a:solidFill>
                  <a:srgbClr val="000000"/>
                </a:solidFill>
              </a:rPr>
              <a:t>ячеек и идей авторегрессии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4"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610054" y="5531137"/>
                <a:ext cx="9361714" cy="1250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Для ARMAX</a:t>
                </a:r>
                <a:r>
                  <a:rPr lang="ru-RU" sz="2000" dirty="0"/>
                  <a:t> экзогенные</a:t>
                </a:r>
                <a:r>
                  <a:rPr lang="en-US" sz="2000" dirty="0"/>
                  <a:t> </a:t>
                </a:r>
                <a:r>
                  <a:rPr lang="ru-RU" sz="2000" dirty="0"/>
                  <a:t>ф</a:t>
                </a:r>
                <a:r>
                  <a:rPr lang="en-US" sz="2000" dirty="0" err="1"/>
                  <a:t>акторы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000" dirty="0"/>
                  <a:t> могут </a:t>
                </a:r>
                <a:r>
                  <a:rPr lang="en-US" sz="2000" dirty="0" err="1"/>
                  <a:t>быть</a:t>
                </a:r>
                <a:r>
                  <a:rPr lang="en-US" sz="2000" dirty="0"/>
                  <a:t> </a:t>
                </a:r>
                <a:r>
                  <a:rPr lang="ru-RU" sz="2000" dirty="0"/>
                  <a:t>введены</a:t>
                </a:r>
                <a:r>
                  <a:rPr lang="en-US" sz="2000" dirty="0"/>
                  <a:t> </a:t>
                </a:r>
                <a:r>
                  <a:rPr lang="en-US" sz="2000" dirty="0" err="1"/>
                  <a:t>как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54" y="5531137"/>
                <a:ext cx="9361714" cy="1250663"/>
              </a:xfrm>
              <a:prstGeom prst="rect">
                <a:avLst/>
              </a:prstGeom>
              <a:blipFill>
                <a:blip r:embed="rId2"/>
                <a:stretch>
                  <a:fillRect l="-651" t="-14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29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580" y="131861"/>
            <a:ext cx="10868608" cy="726556"/>
          </a:xfrm>
        </p:spPr>
        <p:txBody>
          <a:bodyPr/>
          <a:lstStyle/>
          <a:p>
            <a:r>
              <a:rPr lang="ru-RU" b="1" dirty="0" smtClean="0"/>
              <a:t>Один из современных примеров </a:t>
            </a:r>
            <a:r>
              <a:rPr lang="en-US" b="1" dirty="0"/>
              <a:t>ARIMA_PLUS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7951" y="858417"/>
            <a:ext cx="11336694" cy="5262465"/>
          </a:xfrm>
        </p:spPr>
        <p:txBody>
          <a:bodyPr>
            <a:normAutofit/>
          </a:bodyPr>
          <a:lstStyle/>
          <a:p>
            <a:r>
              <a:rPr lang="en-US" sz="2300" b="1" dirty="0" smtClean="0"/>
              <a:t>ARIMA_PLUS</a:t>
            </a:r>
            <a:r>
              <a:rPr lang="en-US" sz="2300" dirty="0" smtClean="0"/>
              <a:t> – </a:t>
            </a:r>
            <a:r>
              <a:rPr lang="ru-RU" sz="2300" dirty="0" smtClean="0"/>
              <a:t>система</a:t>
            </a:r>
            <a:r>
              <a:rPr lang="en-US" sz="2300" dirty="0" smtClean="0"/>
              <a:t> </a:t>
            </a:r>
            <a:r>
              <a:rPr lang="ru-RU" sz="2300" dirty="0" smtClean="0"/>
              <a:t>для автоматизированного масштабного </a:t>
            </a:r>
            <a:r>
              <a:rPr lang="ru-RU" sz="2300" dirty="0"/>
              <a:t>прогнозирования временных рядов и обнаружения аномалий внутри </a:t>
            </a:r>
            <a:r>
              <a:rPr lang="ru-RU" sz="2300" dirty="0" err="1" smtClean="0"/>
              <a:t>BigQuery</a:t>
            </a:r>
            <a:endParaRPr lang="ru-RU" sz="2300" dirty="0"/>
          </a:p>
          <a:p>
            <a:pPr lvl="1"/>
            <a:r>
              <a:rPr lang="ru-RU" sz="2300" dirty="0" smtClean="0"/>
              <a:t>ВР автоматически </a:t>
            </a:r>
            <a:r>
              <a:rPr lang="ru-RU" sz="2300" dirty="0" err="1" smtClean="0"/>
              <a:t>предобратываются</a:t>
            </a:r>
            <a:r>
              <a:rPr lang="ru-RU" sz="2300" dirty="0" smtClean="0"/>
              <a:t> и разбиваются на составляющие при помощи</a:t>
            </a:r>
            <a:r>
              <a:rPr lang="en-US" sz="2300" dirty="0" smtClean="0"/>
              <a:t> </a:t>
            </a:r>
            <a:r>
              <a:rPr lang="ru-RU" sz="2300" dirty="0" smtClean="0"/>
              <a:t>модификации </a:t>
            </a:r>
            <a:r>
              <a:rPr lang="en-US" sz="2300" dirty="0" smtClean="0"/>
              <a:t>MSTL</a:t>
            </a:r>
            <a:r>
              <a:rPr lang="ru-RU" sz="2300" dirty="0" smtClean="0"/>
              <a:t> </a:t>
            </a:r>
          </a:p>
          <a:p>
            <a:pPr lvl="1"/>
            <a:r>
              <a:rPr lang="ru-RU" sz="2300" dirty="0" smtClean="0"/>
              <a:t>Обработка тренда </a:t>
            </a:r>
            <a:r>
              <a:rPr lang="en-US" sz="2300" dirty="0" smtClean="0"/>
              <a:t>ARIMA</a:t>
            </a:r>
            <a:endParaRPr lang="ru-RU" sz="2300" dirty="0" smtClean="0"/>
          </a:p>
          <a:p>
            <a:pPr lvl="1"/>
            <a:r>
              <a:rPr lang="ru-RU" sz="2300" dirty="0" smtClean="0"/>
              <a:t>Экзогенные факторы </a:t>
            </a:r>
            <a:r>
              <a:rPr lang="en-US" sz="2300" dirty="0" smtClean="0"/>
              <a:t/>
            </a:r>
            <a:br>
              <a:rPr lang="en-US" sz="2300" dirty="0" smtClean="0"/>
            </a:br>
            <a:r>
              <a:rPr lang="ru-RU" sz="2300" dirty="0" smtClean="0"/>
              <a:t>обрабатываются </a:t>
            </a:r>
            <a:r>
              <a:rPr lang="en-US" sz="2300" dirty="0" smtClean="0"/>
              <a:t>ML</a:t>
            </a:r>
            <a:endParaRPr lang="ru-RU" sz="2300" dirty="0" smtClean="0"/>
          </a:p>
          <a:p>
            <a:endParaRPr lang="en-US" sz="2300" dirty="0">
              <a:effectLst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408" t="3613" b="4630"/>
          <a:stretch/>
        </p:blipFill>
        <p:spPr>
          <a:xfrm>
            <a:off x="4562670" y="1919820"/>
            <a:ext cx="7489370" cy="483340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98580" y="6383893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https://arxiv.org/pdf/2510.24452</a:t>
            </a:r>
          </a:p>
        </p:txBody>
      </p:sp>
    </p:spTree>
    <p:extLst>
      <p:ext uri="{BB962C8B-B14F-4D97-AF65-F5344CB8AC3E}">
        <p14:creationId xmlns:p14="http://schemas.microsoft.com/office/powerpoint/2010/main" val="51572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580" y="131861"/>
            <a:ext cx="10868608" cy="72655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Один из современных примеров </a:t>
            </a:r>
            <a:r>
              <a:rPr lang="en-US" dirty="0" smtClean="0"/>
              <a:t>X-13ARIMA-SEATS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3225" y="858417"/>
            <a:ext cx="11336694" cy="5262465"/>
          </a:xfrm>
        </p:spPr>
        <p:txBody>
          <a:bodyPr>
            <a:normAutofit/>
          </a:bodyPr>
          <a:lstStyle/>
          <a:p>
            <a:r>
              <a:rPr lang="ru-RU" sz="2400" dirty="0"/>
              <a:t>X13-ARIMA-SEATS — это </a:t>
            </a:r>
            <a:r>
              <a:rPr lang="ru-RU" sz="2400" dirty="0"/>
              <a:t>стандарт </a:t>
            </a:r>
            <a:r>
              <a:rPr lang="ru-RU" sz="2400" dirty="0"/>
              <a:t>для сезонной корректировки (</a:t>
            </a:r>
            <a:r>
              <a:rPr lang="ru-RU" sz="2400" dirty="0" err="1"/>
              <a:t>seasonal</a:t>
            </a:r>
            <a:r>
              <a:rPr lang="ru-RU" sz="2400" dirty="0"/>
              <a:t> </a:t>
            </a:r>
            <a:r>
              <a:rPr lang="ru-RU" sz="2400" dirty="0" err="1"/>
              <a:t>adjustment</a:t>
            </a:r>
            <a:r>
              <a:rPr lang="ru-RU" sz="2400" dirty="0"/>
              <a:t>) в </a:t>
            </a:r>
            <a:r>
              <a:rPr lang="ru-RU" sz="2400" dirty="0"/>
              <a:t>эконометрике и бюджетной статистике.</a:t>
            </a:r>
            <a:endParaRPr lang="ru-RU" sz="2400" dirty="0"/>
          </a:p>
          <a:p>
            <a:r>
              <a:rPr lang="ru-RU" sz="2400" dirty="0"/>
              <a:t>Линейная </a:t>
            </a:r>
            <a:r>
              <a:rPr lang="ru-RU" sz="2400" dirty="0"/>
              <a:t>регрессия + </a:t>
            </a:r>
            <a:r>
              <a:rPr lang="en-US" sz="2400" dirty="0"/>
              <a:t>ARIMA-</a:t>
            </a:r>
            <a:r>
              <a:rPr lang="ru-RU" sz="2400" dirty="0"/>
              <a:t>ошибка</a:t>
            </a:r>
          </a:p>
          <a:p>
            <a:r>
              <a:rPr lang="ru-RU" sz="2400" dirty="0"/>
              <a:t>извлечение компонент (тренд, сезонность, </a:t>
            </a:r>
            <a:r>
              <a:rPr lang="ru-RU" sz="2400" dirty="0" err="1"/>
              <a:t>irregular</a:t>
            </a:r>
            <a:r>
              <a:rPr lang="ru-RU" sz="2400" dirty="0"/>
              <a:t>) на основе </a:t>
            </a:r>
            <a:r>
              <a:rPr lang="ru-RU" sz="2400" dirty="0"/>
              <a:t>ARIMA-модели </a:t>
            </a:r>
            <a:r>
              <a:rPr lang="en-US" sz="2400" dirty="0"/>
              <a:t>(SETA)</a:t>
            </a:r>
          </a:p>
          <a:p>
            <a:r>
              <a:rPr lang="ru-RU" sz="2400" dirty="0"/>
              <a:t>Сглаживание компонент и поиск нерегулярных данных</a:t>
            </a:r>
          </a:p>
          <a:p>
            <a:r>
              <a:rPr lang="ru-RU" sz="2400" dirty="0"/>
              <a:t>Корректировка ВР.</a:t>
            </a:r>
            <a:endParaRPr lang="ru-RU" sz="2400" dirty="0"/>
          </a:p>
          <a:p>
            <a:endParaRPr lang="ru-RU" dirty="0"/>
          </a:p>
          <a:p>
            <a:endParaRPr lang="en-US" sz="2300" dirty="0">
              <a:effectLst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98580" y="6383893"/>
            <a:ext cx="822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https://www.census.gov/data/software/x13as.Recent_News.html#list-tab-635278563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539" y="3215963"/>
            <a:ext cx="4619546" cy="343657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07918" y="6067722"/>
            <a:ext cx="4519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https://gretl.sourceforge.net/x12a/x13as.html</a:t>
            </a:r>
          </a:p>
        </p:txBody>
      </p:sp>
    </p:spTree>
    <p:extLst>
      <p:ext uri="{BB962C8B-B14F-4D97-AF65-F5344CB8AC3E}">
        <p14:creationId xmlns:p14="http://schemas.microsoft.com/office/powerpoint/2010/main" val="353998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580" y="131861"/>
            <a:ext cx="10868608" cy="726556"/>
          </a:xfrm>
        </p:spPr>
        <p:txBody>
          <a:bodyPr>
            <a:normAutofit/>
          </a:bodyPr>
          <a:lstStyle/>
          <a:p>
            <a:r>
              <a:rPr lang="ru-RU" b="1" dirty="0" smtClean="0"/>
              <a:t>Один из современных примеров - </a:t>
            </a:r>
            <a:r>
              <a:rPr lang="en-US" dirty="0" smtClean="0"/>
              <a:t>DARIMA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3225" y="858417"/>
            <a:ext cx="11336694" cy="5262465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Для </a:t>
            </a:r>
            <a:r>
              <a:rPr lang="en-US" sz="2400" dirty="0" smtClean="0"/>
              <a:t>Long Horizon</a:t>
            </a:r>
            <a:r>
              <a:rPr lang="ru-RU" sz="2400" dirty="0" smtClean="0"/>
              <a:t> входные данные разбиваются на участки с небольшим пересечением.</a:t>
            </a:r>
          </a:p>
          <a:p>
            <a:r>
              <a:rPr lang="ru-RU" sz="2400" dirty="0" smtClean="0">
                <a:effectLst/>
              </a:rPr>
              <a:t>Для каждого строится своя </a:t>
            </a:r>
            <a:r>
              <a:rPr lang="en-US" sz="2400" dirty="0" smtClean="0">
                <a:effectLst/>
              </a:rPr>
              <a:t>ARIMA</a:t>
            </a:r>
            <a:r>
              <a:rPr lang="ru-RU" sz="2400" dirty="0" smtClean="0">
                <a:effectLst/>
              </a:rPr>
              <a:t> </a:t>
            </a:r>
            <a:endParaRPr lang="en-US" sz="2400" dirty="0" smtClean="0">
              <a:effectLst/>
            </a:endParaRPr>
          </a:p>
          <a:p>
            <a:r>
              <a:rPr lang="ru-RU" sz="2400" dirty="0" smtClean="0"/>
              <a:t>Обучаемый мета алгоритм (</a:t>
            </a:r>
            <a:r>
              <a:rPr lang="en-US" sz="2400" dirty="0" smtClean="0"/>
              <a:t>WLS)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r>
              <a:rPr lang="ru-RU" sz="2400" dirty="0" smtClean="0"/>
              <a:t>для весов моделей</a:t>
            </a:r>
          </a:p>
          <a:p>
            <a:r>
              <a:rPr lang="ru-RU" sz="2400" dirty="0" smtClean="0"/>
              <a:t>Итоговая одна модель с </a:t>
            </a:r>
            <a:r>
              <a:rPr lang="ru-RU" sz="2400" dirty="0" err="1" smtClean="0"/>
              <a:t>ансамблированными</a:t>
            </a:r>
            <a:r>
              <a:rPr lang="ru-RU" sz="2400" dirty="0" smtClean="0"/>
              <a:t> весами.</a:t>
            </a:r>
          </a:p>
          <a:p>
            <a:endParaRPr lang="en-US" sz="2300" dirty="0"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6118" y="6459575"/>
            <a:ext cx="4519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https://xqnwang.rbind.io/talk/darima/slides#1</a:t>
            </a:r>
            <a:endParaRPr lang="ru-RU" dirty="0"/>
          </a:p>
        </p:txBody>
      </p:sp>
      <p:pic>
        <p:nvPicPr>
          <p:cNvPr id="2050" name="Picture 2" descr="https://xqnwang.rbind.io/talk/darima/framewor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132" y="2851971"/>
            <a:ext cx="7960780" cy="360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5019514" y="6459575"/>
            <a:ext cx="5404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Distributed ARIMA models for ultra-long time series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66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349"/>
          </a:xfrm>
        </p:spPr>
        <p:txBody>
          <a:bodyPr/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5273" y="1200473"/>
            <a:ext cx="11308702" cy="509768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Назовите основные особенности(интуиции) моделей авторегрессии-скользящего среднего. Почему у этого метода столько модификаций и какие основные, ответ обоснуйте. Ответьте на вопрос почему этот метод является </a:t>
            </a:r>
            <a:r>
              <a:rPr lang="ru-RU" dirty="0" err="1"/>
              <a:t>бейзлайном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Приведите численные примеры расчета модели авторегрессии. Добавьте к модели скользящее среднее, сравните результаты. Объясните различия. Приведите примеры простых ВР и соответствующих им моделей </a:t>
            </a:r>
            <a:r>
              <a:rPr lang="en-US" dirty="0" smtClean="0"/>
              <a:t>SARIMA</a:t>
            </a:r>
          </a:p>
          <a:p>
            <a:pPr lvl="0"/>
            <a:r>
              <a:rPr lang="ru-RU" dirty="0" smtClean="0"/>
              <a:t>Объясните порядок работы с </a:t>
            </a:r>
            <a:r>
              <a:rPr lang="en-US" dirty="0" smtClean="0"/>
              <a:t>SARIMA</a:t>
            </a:r>
            <a:r>
              <a:rPr lang="ru-RU" dirty="0" smtClean="0"/>
              <a:t> и логику (интуицию), лежащую в основе выбора параметров модели. Приведите примеры того как нужно выбирать коэффициенты модели.</a:t>
            </a:r>
          </a:p>
          <a:p>
            <a:pPr lvl="0"/>
            <a:r>
              <a:rPr lang="ru-RU" dirty="0" smtClean="0"/>
              <a:t>Расскажите о том какие модификации </a:t>
            </a:r>
            <a:r>
              <a:rPr lang="en-US" dirty="0" smtClean="0"/>
              <a:t>ARIMA </a:t>
            </a:r>
            <a:r>
              <a:rPr lang="ru-RU" dirty="0" smtClean="0"/>
              <a:t>и зачем используются, сравните данный метод с другими методами. В каких случаях </a:t>
            </a:r>
            <a:r>
              <a:rPr lang="en-US" dirty="0" smtClean="0"/>
              <a:t>ARIMA</a:t>
            </a:r>
            <a:r>
              <a:rPr lang="ru-RU" dirty="0" smtClean="0"/>
              <a:t> может </a:t>
            </a:r>
            <a:r>
              <a:rPr lang="ru-RU" smtClean="0"/>
              <a:t>не работать?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82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1963270"/>
          </a:xfrm>
        </p:spPr>
        <p:txBody>
          <a:bodyPr>
            <a:normAutofit fontScale="85000" lnSpcReduction="20000"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ru-RU" sz="2000" dirty="0"/>
              <a:t>В данном примере </a:t>
            </a:r>
            <a:r>
              <a:rPr lang="en-US" sz="2000" dirty="0"/>
              <a:t>p, скорее всего, </a:t>
            </a:r>
            <a:r>
              <a:rPr lang="en-US" sz="2000" dirty="0" err="1"/>
              <a:t>равно</a:t>
            </a:r>
            <a:r>
              <a:rPr lang="en-US" sz="2000" dirty="0"/>
              <a:t> </a:t>
            </a:r>
            <a:r>
              <a:rPr lang="ru-RU" sz="2000" dirty="0"/>
              <a:t>2</a:t>
            </a:r>
            <a:r>
              <a:rPr lang="en-US" sz="2000" dirty="0"/>
              <a:t>, </a:t>
            </a:r>
            <a:endParaRPr lang="ru-RU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 err="1"/>
              <a:t>это</a:t>
            </a:r>
            <a:r>
              <a:rPr lang="en-US" sz="1600" dirty="0"/>
              <a:t> </a:t>
            </a:r>
            <a:r>
              <a:rPr lang="en-US" sz="1600" dirty="0" err="1"/>
              <a:t>последн</a:t>
            </a:r>
            <a:r>
              <a:rPr lang="ru-RU" sz="1600" dirty="0" err="1"/>
              <a:t>ий</a:t>
            </a:r>
            <a:r>
              <a:rPr lang="en-US" sz="1600" dirty="0"/>
              <a:t> </a:t>
            </a:r>
            <a:r>
              <a:rPr lang="en-US" sz="1600" dirty="0" err="1"/>
              <a:t>существенн</a:t>
            </a:r>
            <a:r>
              <a:rPr lang="ru-RU" sz="1600" dirty="0" err="1"/>
              <a:t>ый</a:t>
            </a:r>
            <a:r>
              <a:rPr lang="en-US" sz="1600" dirty="0"/>
              <a:t> </a:t>
            </a:r>
            <a:r>
              <a:rPr lang="ru-RU" sz="1600" dirty="0"/>
              <a:t>лаг</a:t>
            </a:r>
            <a:r>
              <a:rPr lang="en-US" sz="1600" dirty="0"/>
              <a:t> PACF, после которого большинство других не являются значительными.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</a:t>
            </a:r>
            <a:r>
              <a:rPr lang="en-US" sz="2000" dirty="0" err="1"/>
              <a:t>равно</a:t>
            </a:r>
            <a:r>
              <a:rPr lang="en-US" sz="2000" dirty="0"/>
              <a:t> 1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 должно быть где-то около 4, как видно на ACF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P может быть 2, так как 24-е и 48-е </a:t>
            </a:r>
            <a:r>
              <a:rPr lang="en-US" sz="2000" dirty="0" err="1"/>
              <a:t>лагы</a:t>
            </a:r>
            <a:r>
              <a:rPr lang="en-US" sz="2000" dirty="0"/>
              <a:t> </a:t>
            </a:r>
            <a:r>
              <a:rPr lang="en-US" sz="2000" dirty="0" err="1"/>
              <a:t>значительны</a:t>
            </a:r>
            <a:r>
              <a:rPr lang="en-US" sz="2000" dirty="0"/>
              <a:t> на PACF.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снова равно 1, потому что мы провели сезонную дифференциацию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Q, вероятно, </a:t>
            </a:r>
            <a:r>
              <a:rPr lang="en-US" sz="2000" dirty="0" err="1"/>
              <a:t>равен</a:t>
            </a:r>
            <a:r>
              <a:rPr lang="en-US" sz="2000" dirty="0"/>
              <a:t> 1</a:t>
            </a:r>
            <a:r>
              <a:rPr lang="ru-RU" sz="2000" dirty="0"/>
              <a:t> - </a:t>
            </a:r>
            <a:r>
              <a:rPr lang="en-US" sz="2000" dirty="0"/>
              <a:t>24-е отставание по ACF значительно, а 48-е - нет.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DEA3292B-3A21-4C0C-A3C3-E896992594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51"/>
          <a:stretch/>
        </p:blipFill>
        <p:spPr bwMode="auto">
          <a:xfrm>
            <a:off x="838200" y="2825133"/>
            <a:ext cx="4604692" cy="403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339884C6-78AF-4D29-BAAB-02C7C0357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64"/>
          <a:stretch/>
        </p:blipFill>
        <p:spPr bwMode="auto">
          <a:xfrm>
            <a:off x="6310373" y="2868706"/>
            <a:ext cx="4906569" cy="380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75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58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П</a:t>
                </a:r>
                <a:r>
                  <a:rPr lang="en-US" sz="2400" dirty="0" err="1"/>
                  <a:t>ри</a:t>
                </a:r>
                <a:r>
                  <a:rPr lang="en-US" sz="2400" dirty="0"/>
                  <a:t> анализе временных рядов для уменьшения (или устранения) </a:t>
                </a:r>
                <a:r>
                  <a:rPr lang="en-US" sz="2400" dirty="0" err="1"/>
                  <a:t>требования</a:t>
                </a:r>
                <a:r>
                  <a:rPr lang="en-US" sz="2400" dirty="0"/>
                  <a:t> </a:t>
                </a:r>
                <a:r>
                  <a:rPr lang="ru-RU" sz="2400" dirty="0"/>
                  <a:t>повторяемости</a:t>
                </a:r>
                <a:r>
                  <a:rPr lang="en-US" sz="2400" dirty="0"/>
                  <a:t> в первую очередь мы должны </a:t>
                </a:r>
                <a:r>
                  <a:rPr lang="en-US" sz="2400" dirty="0" err="1"/>
                  <a:t>достичь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стационарности</a:t>
                </a:r>
                <a:r>
                  <a:rPr lang="en-US" sz="2400" dirty="0"/>
                  <a:t>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Можно </a:t>
                </a:r>
                <a:r>
                  <a:rPr lang="en-US" sz="2400" dirty="0" err="1"/>
                  <a:t>свести</a:t>
                </a:r>
                <a:r>
                  <a:rPr lang="en-US" sz="2400" dirty="0"/>
                  <a:t> задачу к стационарной, попробовав некоторые обратимые преобразования. </a:t>
                </a:r>
                <a:endParaRPr lang="ru-RU" sz="2400" dirty="0"/>
              </a:p>
              <a:p>
                <a:pPr lvl="1">
                  <a:lnSpc>
                    <a:spcPct val="100000"/>
                  </a:lnSpc>
                </a:pPr>
                <a:r>
                  <a:rPr lang="ru-RU" dirty="0"/>
                  <a:t>Методы приведения ряда к стационарному: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обычная производная  –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дробная производная – сложный, цикличный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сезонная производная  – высокое влияние сезонности.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Преобразования Бокса-Кокса – 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, в частности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Приведение к виду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Декомпозиция модели (напр. использование разных подходов для разных частей).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И др.</a:t>
                </a:r>
              </a:p>
              <a:p>
                <a:pPr lvl="2">
                  <a:lnSpc>
                    <a:spcPct val="100000"/>
                  </a:lnSpc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  <a:blipFill>
                <a:blip r:embed="rId2"/>
                <a:stretch>
                  <a:fillRect l="-760" t="-946" b="-1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48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лагов на значимость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Тестовая </a:t>
            </a:r>
            <a:r>
              <a:rPr lang="en-US" dirty="0"/>
              <a:t>Q-</a:t>
            </a:r>
            <a:r>
              <a:rPr lang="ru-RU" dirty="0"/>
              <a:t>статистика </a:t>
            </a:r>
            <a:r>
              <a:rPr lang="ru-RU" dirty="0" err="1"/>
              <a:t>Льюинга</a:t>
            </a:r>
            <a:r>
              <a:rPr lang="ru-RU" dirty="0"/>
              <a:t>-Бокса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Рассмотрим выборочные коэффициенты автоковариации и автокорреляции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Выборочные частные коэффициенты автокорреляции (PACF)</a:t>
            </a:r>
          </a:p>
          <a:p>
            <a:endParaRPr lang="ru-RU" sz="2000" dirty="0"/>
          </a:p>
          <a:p>
            <a:r>
              <a:rPr lang="ru-RU" sz="2000" dirty="0"/>
              <a:t>Далее необходимо проверить их значимость. Для этого тестируем гипотезу при фиксированном лаге: </a:t>
            </a:r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687" y="2249725"/>
            <a:ext cx="2924175" cy="7048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726" y="2287825"/>
            <a:ext cx="1790700" cy="6667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862" y="3416775"/>
            <a:ext cx="3619500" cy="4095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876" y="4203819"/>
            <a:ext cx="2876550" cy="3619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426" y="4250947"/>
            <a:ext cx="1857375" cy="381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8801" y="4212847"/>
            <a:ext cx="2466975" cy="4191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99" y="4630619"/>
            <a:ext cx="4019550" cy="2105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Критическое значение имеет хи-квадрат распределения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поэтому для проверки гипотезы применяем следующее статистическое правило: </a:t>
                </a: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  <a:blipFill>
                <a:blip r:embed="rId10"/>
                <a:stretch>
                  <a:fillRect l="-800" t="-3846" b="-70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549" y="5783277"/>
            <a:ext cx="3362325" cy="70485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8082874" y="5778981"/>
            <a:ext cx="3753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Замечание. Применение Q-статистик оправдано только для больших выборок. Это асимптотический тест!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5874" y="6656507"/>
            <a:ext cx="6276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ru-RU" b="1" dirty="0"/>
              <a:t>Производная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Обозначим производную как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численная</a:t>
                </a:r>
                <a:r>
                  <a:rPr lang="en-US" sz="2400" dirty="0"/>
                  <a:t> производная может быть вычислена как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=1: 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В случае рассмотрения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вместо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мы делаем предположение, </a:t>
                </a:r>
                <a:r>
                  <a:rPr lang="en-US" sz="2400" dirty="0" err="1"/>
                  <a:t>что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производная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имеет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поведение</a:t>
                </a:r>
                <a:r>
                  <a:rPr lang="ru-RU" sz="2400" dirty="0"/>
                  <a:t> (как правило разности значений рядов более стационарны, чем сами ряды)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84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Лаговая форма ARIMA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Определим оператор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, </a:t>
                </a:r>
                <a:r>
                  <a:rPr lang="ru-RU" sz="2400" dirty="0"/>
                  <a:t>как отображение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котор</a:t>
                </a:r>
                <a:r>
                  <a:rPr lang="ru-RU" sz="2400" dirty="0" err="1"/>
                  <a:t>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преобразует</a:t>
                </a:r>
                <a:r>
                  <a:rPr lang="ru-RU" sz="2400" dirty="0"/>
                  <a:t> одни</a:t>
                </a:r>
                <a:r>
                  <a:rPr lang="en-US" sz="2400" dirty="0"/>
                  <a:t> последовательности в </a:t>
                </a:r>
                <a:r>
                  <a:rPr lang="ru-RU" sz="2400" dirty="0"/>
                  <a:t>другие </a:t>
                </a:r>
                <a:r>
                  <a:rPr lang="en-US" sz="2400" dirty="0" err="1"/>
                  <a:t>последовательности</a:t>
                </a:r>
                <a:r>
                  <a:rPr lang="ru-RU" sz="2400" dirty="0"/>
                  <a:t>,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как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для всех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Отображение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называется </a:t>
                </a:r>
                <a:r>
                  <a:rPr lang="en-US" sz="2400" b="1" dirty="0"/>
                  <a:t>оператор запаздывания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или</a:t>
                </a:r>
                <a:r>
                  <a:rPr lang="en-US" sz="2400" dirty="0"/>
                  <a:t> </a:t>
                </a:r>
                <a:r>
                  <a:rPr lang="ru-RU" sz="2400" b="1" dirty="0"/>
                  <a:t>лаговый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оператор</a:t>
                </a:r>
                <a:r>
                  <a:rPr lang="en-US" sz="2400" dirty="0"/>
                  <a:t>.</a:t>
                </a:r>
                <a:endParaRPr lang="ru-RU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Таким</a:t>
                </a:r>
                <a:r>
                  <a:rPr lang="en-US" sz="2400" dirty="0"/>
                  <a:t> же образом мы </a:t>
                </a:r>
                <a:r>
                  <a:rPr lang="en-US" sz="2400" dirty="0" err="1"/>
                  <a:t>можем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определить</a:t>
                </a:r>
                <a:r>
                  <a:rPr lang="ru-RU" sz="2400" dirty="0"/>
                  <a:t> более длительные запаздывания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Также</a:t>
                </a:r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/>
                  <a:t>Используя </a:t>
                </a:r>
                <a:r>
                  <a:rPr lang="ru-RU" sz="1600" dirty="0"/>
                  <a:t>введенные</a:t>
                </a:r>
                <a:r>
                  <a:rPr lang="en-US" sz="1600" dirty="0"/>
                  <a:t> обозначения, </a:t>
                </a:r>
                <a:r>
                  <a:rPr lang="en-US" dirty="0"/>
                  <a:t>ARMA (</a:t>
                </a:r>
                <a:r>
                  <a:rPr lang="en-US" dirty="0" err="1"/>
                  <a:t>р,q</a:t>
                </a:r>
                <a:r>
                  <a:rPr lang="en-US" dirty="0"/>
                  <a:t>) модель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дан</a:t>
                </a:r>
                <a:r>
                  <a:rPr lang="ru-RU" dirty="0"/>
                  <a:t>а</a:t>
                </a:r>
                <a:r>
                  <a:rPr lang="en-US" dirty="0"/>
                  <a:t> в </a:t>
                </a:r>
                <a:r>
                  <a:rPr lang="en-US" dirty="0" err="1"/>
                  <a:t>виде</a:t>
                </a:r>
                <a:r>
                  <a:rPr lang="en-US" dirty="0"/>
                  <a:t> </a:t>
                </a:r>
                <a:r>
                  <a:rPr lang="ru-RU" dirty="0"/>
                  <a:t>с </a:t>
                </a:r>
                <a:r>
                  <a:rPr lang="en-US" dirty="0" err="1"/>
                  <a:t>лаг</a:t>
                </a:r>
                <a:r>
                  <a:rPr lang="ru-RU" dirty="0" err="1"/>
                  <a:t>овым</a:t>
                </a:r>
                <a:r>
                  <a:rPr lang="ru-RU" dirty="0"/>
                  <a:t> оператором</a:t>
                </a:r>
                <a:r>
                  <a:rPr lang="en-US" dirty="0"/>
                  <a:t>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  <a:blipFill>
                <a:blip r:embed="rId3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4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В </a:t>
                </a:r>
                <a:r>
                  <a:rPr lang="en-US" sz="2300" dirty="0" err="1"/>
                  <a:t>форме</a:t>
                </a:r>
                <a:r>
                  <a:rPr lang="en-US" sz="2300" dirty="0"/>
                  <a:t> </a:t>
                </a:r>
                <a:r>
                  <a:rPr lang="ru-RU" sz="2300" dirty="0"/>
                  <a:t>лагового оператора</a:t>
                </a:r>
                <a:r>
                  <a:rPr lang="en-US" sz="2300" dirty="0"/>
                  <a:t> мы можем определить числовую производную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300" i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300" dirty="0"/>
                  <a:t>Например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3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  <a:blipFill>
                <a:blip r:embed="rId2"/>
                <a:stretch>
                  <a:fillRect l="-1043" t="-10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300" dirty="0"/>
                  <a:t>Используя определение производной, мы </a:t>
                </a:r>
                <a:r>
                  <a:rPr lang="en-US" sz="2300" dirty="0" err="1"/>
                  <a:t>можем</a:t>
                </a:r>
                <a:r>
                  <a:rPr lang="en-US" sz="2300" dirty="0"/>
                  <a:t> </a:t>
                </a:r>
                <a:r>
                  <a:rPr lang="ru-RU" sz="2300" dirty="0"/>
                  <a:t>задать </a:t>
                </a:r>
                <a:r>
                  <a:rPr lang="en-US" sz="2300" dirty="0"/>
                  <a:t>ARIMA (</a:t>
                </a:r>
                <a:r>
                  <a:rPr lang="en-US" sz="2300" dirty="0" err="1"/>
                  <a:t>p,d,q</a:t>
                </a:r>
                <a:r>
                  <a:rPr lang="en-US" sz="2300" dirty="0"/>
                  <a:t>) модель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300" dirty="0"/>
                  <a:t> </a:t>
                </a:r>
                <a:r>
                  <a:rPr lang="ru-RU" sz="2300" dirty="0"/>
                  <a:t>Отметим, что </a:t>
                </a: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300" dirty="0"/>
                  <a:t>имеет линейный </a:t>
                </a:r>
                <a:r>
                  <a:rPr lang="en-US" sz="2300" dirty="0" err="1"/>
                  <a:t>тренд</a:t>
                </a:r>
                <a:r>
                  <a:rPr lang="en-US" sz="2300" dirty="0"/>
                  <a:t>;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/>
                  <a:t> если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300" dirty="0"/>
                  <a:t>, квадратичный тренд и т. д. 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300" dirty="0"/>
                  <a:t> не имеет тренда.</a:t>
                </a:r>
                <a:endParaRPr lang="en-US" sz="23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  <a:blipFill>
                <a:blip r:embed="rId3"/>
                <a:stretch>
                  <a:fillRect l="-793" t="-209" b="-3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75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</p:spPr>
            <p:txBody>
              <a:bodyPr>
                <a:normAutofit fontScale="55000" lnSpcReduction="20000"/>
              </a:bodyPr>
              <a:lstStyle/>
              <a:p>
                <a:pPr algn="l" rtl="0"/>
                <a:r>
                  <a:rPr lang="en-US" sz="2600" dirty="0"/>
                  <a:t> В некоторых случаях вы можете встретить </a:t>
                </a:r>
                <a:r>
                  <a:rPr lang="en-US" sz="2600" dirty="0" err="1"/>
                  <a:t>следующие</a:t>
                </a:r>
                <a:r>
                  <a:rPr lang="en-US" sz="2600" dirty="0"/>
                  <a:t> </a:t>
                </a:r>
                <a:r>
                  <a:rPr lang="en-US" sz="2600" dirty="0" err="1"/>
                  <a:t>формы</a:t>
                </a:r>
                <a:r>
                  <a:rPr lang="ru-RU" sz="2600" dirty="0"/>
                  <a:t> записи</a:t>
                </a:r>
                <a:r>
                  <a:rPr lang="en-US" sz="2600" dirty="0"/>
                  <a:t> ARIMA</a:t>
                </a:r>
              </a:p>
              <a:p>
                <a:pPr marL="0" indent="0" algn="l" rtl="0">
                  <a:buNone/>
                </a:pPr>
                <a:r>
                  <a:rPr lang="en-US" sz="2600" dirty="0"/>
                  <a:t>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(2.2):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(3):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(4):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sz="2600" dirty="0"/>
              </a:p>
              <a:p>
                <a:pPr algn="l" rtl="0"/>
                <a:r>
                  <a:rPr lang="ru-RU" sz="2600" dirty="0"/>
                  <a:t>где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/>
                  <a:t> некоторая дополнительная детерминированная константа или медленное изменение почти детерминированного тренда и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- детерминированный линейный тренд;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 algn="ctr" rtl="0">
                  <a:buNone/>
                </a:pPr>
                <a:r>
                  <a:rPr lang="en-US" dirty="0"/>
                  <a:t>а также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𝑀𝐴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l" rtl="0"/>
                <a:r>
                  <a:rPr lang="ru-RU" dirty="0"/>
                  <a:t>О</a:t>
                </a:r>
                <a:r>
                  <a:rPr lang="en-US" dirty="0" err="1"/>
                  <a:t>братите</a:t>
                </a:r>
                <a:r>
                  <a:rPr lang="en-US" dirty="0"/>
                  <a:t> внимание,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постоянна - ее можно исключить вычитанием среднего значения.</a:t>
                </a:r>
              </a:p>
              <a:p>
                <a:pPr algn="l" rtl="0"/>
                <a:endParaRPr lang="en-US" sz="2600" dirty="0"/>
              </a:p>
              <a:p>
                <a:pPr algn="l" rtl="0"/>
                <a:endParaRPr lang="en-US" sz="2600" dirty="0"/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  <a:blipFill>
                <a:blip r:embed="rId2"/>
                <a:stretch>
                  <a:fillRect l="-158" t="-1146" r="-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14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7D1D9-176E-4DAF-80F0-AF1A911D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844" y="26971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сезонной и</a:t>
            </a:r>
            <a:r>
              <a:rPr lang="en-US" sz="4000" b="1" dirty="0" err="1"/>
              <a:t>нтегрированно</a:t>
            </a:r>
            <a:r>
              <a:rPr lang="ru-RU" sz="4000" b="1" dirty="0"/>
              <a:t>й </a:t>
            </a:r>
            <a:r>
              <a:rPr lang="ru-RU" b="1" dirty="0"/>
              <a:t>авторегрессии </a:t>
            </a:r>
            <a:r>
              <a:rPr lang="ru-RU" sz="4000" b="1" dirty="0"/>
              <a:t> -</a:t>
            </a:r>
            <a:r>
              <a:rPr lang="en-US" sz="4000" b="1" dirty="0"/>
              <a:t> </a:t>
            </a:r>
            <a:r>
              <a:rPr lang="en-US" sz="4000" b="1" dirty="0" err="1"/>
              <a:t>скользяще</a:t>
            </a:r>
            <a:r>
              <a:rPr lang="ru-RU" sz="4000" b="1" dirty="0" err="1"/>
              <a:t>го</a:t>
            </a:r>
            <a:r>
              <a:rPr lang="en-US" sz="4000" b="1" dirty="0"/>
              <a:t> </a:t>
            </a:r>
            <a:r>
              <a:rPr lang="en-US" sz="4000" b="1" dirty="0" err="1"/>
              <a:t>средне</a:t>
            </a:r>
            <a:r>
              <a:rPr lang="ru-RU" sz="4000" b="1" dirty="0" err="1"/>
              <a:t>го</a:t>
            </a:r>
            <a:r>
              <a:rPr lang="ru-RU" sz="4000" b="1" dirty="0"/>
              <a:t> </a:t>
            </a:r>
            <a:r>
              <a:rPr lang="en-US" sz="4000" b="1" dirty="0"/>
              <a:t> (SARIMA).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000" dirty="0"/>
                  <a:t>Если модель </a:t>
                </a:r>
                <a:r>
                  <a:rPr lang="en-US" sz="2000" dirty="0" err="1"/>
                  <a:t>имеет</a:t>
                </a:r>
                <a:r>
                  <a:rPr lang="en-US" sz="2000" dirty="0"/>
                  <a:t> </a:t>
                </a:r>
                <a:r>
                  <a:rPr lang="ru-RU" sz="2000" dirty="0"/>
                  <a:t>интенсивную</a:t>
                </a:r>
                <a:r>
                  <a:rPr lang="en-US" sz="2000" dirty="0"/>
                  <a:t> </a:t>
                </a:r>
                <a:r>
                  <a:rPr lang="en-US" sz="2000" dirty="0" err="1"/>
                  <a:t>сезонн</a:t>
                </a:r>
                <a:r>
                  <a:rPr lang="ru-RU" sz="2000" dirty="0" err="1"/>
                  <a:t>ую</a:t>
                </a:r>
                <a:r>
                  <a:rPr lang="ru-RU" sz="2000" dirty="0"/>
                  <a:t> составляющую</a:t>
                </a:r>
                <a:r>
                  <a:rPr lang="en-US" sz="2000" dirty="0"/>
                  <a:t>, то она может быть компенсирована так называемой сезонной производной, имеющей вид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В операторной форме это можно представить как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=(1−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 err="1"/>
                  <a:t>Таким</a:t>
                </a:r>
                <a:r>
                  <a:rPr lang="en-US" sz="2000" dirty="0"/>
                  <a:t> образом, может быть введена так называемая сезонная авторегрессионная интегрированная скользящая средняя (SARIMA).</a:t>
                </a:r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  <a:blipFill>
                <a:blip r:embed="rId2"/>
                <a:stretch>
                  <a:fillRect l="-501" t="-1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311B5B-0E35-4E01-8ADD-47ECBCA4BBF9}"/>
              </a:ext>
            </a:extLst>
          </p:cNvPr>
          <p:cNvSpPr/>
          <p:nvPr/>
        </p:nvSpPr>
        <p:spPr>
          <a:xfrm>
            <a:off x="3307748" y="6123543"/>
            <a:ext cx="7975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Обратите внимание,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что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обе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производные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берутся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только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части AR.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/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Полное уравнение SARIMA можно представить в виде 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или в более компактной форме как </a:t>
                </a: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  <a:blipFill>
                <a:blip r:embed="rId3"/>
                <a:stretch>
                  <a:fillRect l="-558" t="-1902" b="-13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33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ru-RU" sz="2000" dirty="0"/>
                  <a:t>Порядок </a:t>
                </a:r>
                <a:r>
                  <a:rPr lang="en-US" sz="2000" dirty="0"/>
                  <a:t>SARIMA </a:t>
                </a:r>
                <a:r>
                  <a:rPr lang="en-US" sz="2000" dirty="0" err="1"/>
                  <a:t>часто</a:t>
                </a:r>
                <a:r>
                  <a:rPr lang="en-US" sz="2000" dirty="0"/>
                  <a:t> </a:t>
                </a:r>
                <a:r>
                  <a:rPr lang="ru-RU" sz="2000" dirty="0"/>
                  <a:t>записывается</a:t>
                </a:r>
                <a:r>
                  <a:rPr lang="en-US" sz="2000" dirty="0"/>
                  <a:t> в форме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или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</a:t>
                </a: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это сезонный период.</a:t>
                </a:r>
              </a:p>
              <a:p>
                <a:pPr algn="l" rtl="0"/>
                <a:r>
                  <a:rPr lang="en-US" sz="2000" dirty="0"/>
                  <a:t> Пример для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𝑆𝐴𝑅𝐼𝑀𝐴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(1,1,1)×(1,1,1)4</m:t>
                    </m:r>
                  </m:oMath>
                </a14:m>
                <a:endParaRPr lang="en-US" sz="2000" dirty="0"/>
              </a:p>
              <a:p>
                <a:pPr algn="l" rtl="0"/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  <a:blipFill>
                <a:blip r:embed="rId2"/>
                <a:stretch>
                  <a:fillRect l="-463" t="-26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image.png">
            <a:extLst>
              <a:ext uri="{FF2B5EF4-FFF2-40B4-BE49-F238E27FC236}">
                <a16:creationId xmlns:a16="http://schemas.microsoft.com/office/drawing/2014/main" id="{F514D45C-FE7E-425B-A902-7FE5582E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837" y="3230596"/>
            <a:ext cx="8677275" cy="23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/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Обратите внимание, что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здесь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пере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множение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оператор</a:t>
                </a:r>
                <a:r>
                  <a:rPr lang="ru-RU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ов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дифференцирования работает как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)−(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  <a:blipFill>
                <a:blip r:embed="rId4"/>
                <a:stretch>
                  <a:fillRect l="-462" t="-4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64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Оценка коэффициента ARMA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 fontScale="77500" lnSpcReduction="20000"/>
              </a:bodyPr>
              <a:lstStyle/>
              <a:p>
                <a:pPr algn="l" rtl="0"/>
                <a:r>
                  <a:rPr lang="en-US" dirty="0" err="1"/>
                  <a:t>Наиболее</a:t>
                </a:r>
                <a:r>
                  <a:rPr lang="en-US" dirty="0"/>
                  <a:t> популярные из них следующие.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Информационный критерий Акаике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Байесовский информационный критерий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900" dirty="0"/>
                  <a:t> модифицированный информационный критерий Акаике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𝐻𝑄𝐶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+2×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2900" dirty="0"/>
                  <a:t> Информационный критерий Ханнана – Куинна</a:t>
                </a:r>
              </a:p>
              <a:p>
                <a:pPr algn="l" rtl="0"/>
                <a:r>
                  <a:rPr lang="en-US" dirty="0"/>
                  <a:t>Где </a:t>
                </a:r>
              </a:p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оценка правдоподобия модели; </a:t>
                </a:r>
              </a:p>
              <a:p>
                <a:pPr algn="l" rtl="0"/>
                <a:r>
                  <a:rPr lang="en-US" dirty="0"/>
                  <a:t>k - полное количество параметров: </a:t>
                </a:r>
              </a:p>
              <a:p>
                <a:pPr algn="l" rtl="0"/>
                <a:r>
                  <a:rPr lang="en-US" dirty="0"/>
                  <a:t>для ARMA без константы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в другом случае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SARIMA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Специфика этих критериев заключается в совместной оптимизации количества параметров и значения RSS. По этим критериям AIC является наиболее популярным, </a:t>
                </a:r>
                <a:r>
                  <a:rPr lang="en-US" dirty="0" err="1"/>
                  <a:t>но</a:t>
                </a:r>
                <a:r>
                  <a:rPr lang="ru-RU" dirty="0"/>
                  <a:t> п</a:t>
                </a:r>
                <a:r>
                  <a:rPr lang="en-US" dirty="0" err="1"/>
                  <a:t>редполагается</a:t>
                </a:r>
                <a:r>
                  <a:rPr lang="ru-RU" dirty="0"/>
                  <a:t> </a:t>
                </a:r>
                <a:r>
                  <a:rPr lang="en-US" dirty="0" err="1"/>
                  <a:t>AICc</a:t>
                </a:r>
                <a:r>
                  <a:rPr lang="en-US" dirty="0"/>
                  <a:t>, что обеспечит лучший результат. </a:t>
                </a:r>
              </a:p>
              <a:p>
                <a:pPr algn="l" rtl="0"/>
                <a:r>
                  <a:rPr lang="en-US" dirty="0"/>
                  <a:t>Критерии могут быть применены для автоматизации параметрического поиска.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2178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5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905435"/>
            <a:ext cx="11489752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Правила отбора </a:t>
            </a:r>
            <a:r>
              <a:rPr lang="en-US" altLang="en-US" sz="2400" i="1" dirty="0" err="1">
                <a:solidFill>
                  <a:srgbClr val="000000"/>
                </a:solidFill>
              </a:rPr>
              <a:t>исходных</a:t>
            </a:r>
            <a:r>
              <a:rPr lang="en-US" altLang="en-US" sz="2400" i="1" dirty="0">
                <a:solidFill>
                  <a:srgbClr val="000000"/>
                </a:solidFill>
              </a:rPr>
              <a:t> </a:t>
            </a:r>
            <a:r>
              <a:rPr lang="ru-RU" altLang="en-US" sz="2400" i="1" dirty="0">
                <a:solidFill>
                  <a:srgbClr val="000000"/>
                </a:solidFill>
              </a:rPr>
              <a:t>значений порядка</a:t>
            </a:r>
            <a:endParaRPr lang="en-US" altLang="en-US" sz="2400" dirty="0"/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b="1" dirty="0">
                <a:solidFill>
                  <a:srgbClr val="000000"/>
                </a:solidFill>
              </a:rPr>
              <a:t>Правильный </a:t>
            </a:r>
            <a:r>
              <a:rPr lang="en-US" altLang="en-US" sz="2400" b="1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𝑑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это </a:t>
            </a:r>
            <a:r>
              <a:rPr lang="en-US" altLang="en-US" sz="2400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разности</a:t>
            </a:r>
            <a:r>
              <a:rPr lang="ru-RU" altLang="en-US" sz="2400" dirty="0">
                <a:solidFill>
                  <a:srgbClr val="000000"/>
                </a:solidFill>
              </a:rPr>
              <a:t>, который делает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временной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ряд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ru-RU" altLang="en-US" sz="2400" u="sng" dirty="0">
                <a:solidFill>
                  <a:srgbClr val="000000"/>
                </a:solidFill>
              </a:rPr>
              <a:t>максимально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шумоподобным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т.е. </a:t>
            </a:r>
            <a:r>
              <a:rPr lang="ru-RU" altLang="en-US" dirty="0">
                <a:solidFill>
                  <a:srgbClr val="000000"/>
                </a:solidFill>
              </a:rPr>
              <a:t>значения </a:t>
            </a:r>
            <a:r>
              <a:rPr lang="en-US" altLang="en-US" dirty="0" err="1">
                <a:solidFill>
                  <a:srgbClr val="000000"/>
                </a:solidFill>
              </a:rPr>
              <a:t>колеблется</a:t>
            </a:r>
            <a:r>
              <a:rPr lang="en-US" altLang="en-US" dirty="0">
                <a:solidFill>
                  <a:srgbClr val="000000"/>
                </a:solidFill>
              </a:rPr>
              <a:t> около четко определенного </a:t>
            </a:r>
            <a:r>
              <a:rPr lang="en-US" altLang="en-US" dirty="0" err="1">
                <a:solidFill>
                  <a:srgbClr val="000000"/>
                </a:solidFill>
              </a:rPr>
              <a:t>среднего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ru-RU" altLang="en-US" dirty="0">
                <a:solidFill>
                  <a:srgbClr val="000000"/>
                </a:solidFill>
              </a:rPr>
              <a:t/>
            </a:r>
            <a:br>
              <a:rPr lang="ru-RU" altLang="en-US" dirty="0">
                <a:solidFill>
                  <a:srgbClr val="000000"/>
                </a:solidFill>
              </a:rPr>
            </a:br>
            <a:r>
              <a:rPr lang="en-US" altLang="en-US" dirty="0">
                <a:solidFill>
                  <a:srgbClr val="000000"/>
                </a:solidFill>
              </a:rPr>
              <a:t>и</a:t>
            </a:r>
            <a:r>
              <a:rPr lang="ru-RU" altLang="en-US" dirty="0">
                <a:solidFill>
                  <a:srgbClr val="000000"/>
                </a:solidFill>
              </a:rPr>
              <a:t> имеют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почти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постоянн</a:t>
            </a:r>
            <a:r>
              <a:rPr lang="ru-RU" altLang="en-US" dirty="0" err="1">
                <a:solidFill>
                  <a:srgbClr val="000000"/>
                </a:solidFill>
              </a:rPr>
              <a:t>ый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разброс</a:t>
            </a:r>
            <a:r>
              <a:rPr lang="en-US" altLang="en-US" dirty="0">
                <a:solidFill>
                  <a:srgbClr val="000000"/>
                </a:solidFill>
              </a:rPr>
              <a:t>, 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Используйте</a:t>
            </a:r>
            <a:r>
              <a:rPr lang="en-US" altLang="en-US" sz="2400" u="sng" dirty="0">
                <a:solidFill>
                  <a:srgbClr val="000000"/>
                </a:solidFill>
              </a:rPr>
              <a:t> сезонную производную только в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случае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сильно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сезонно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ru-RU" altLang="en-US" sz="2400" u="sng" dirty="0">
                <a:solidFill>
                  <a:srgbClr val="000000"/>
                </a:solidFill>
              </a:rPr>
              <a:t> влияния</a:t>
            </a:r>
            <a:r>
              <a:rPr lang="en-US" altLang="en-US" sz="2400" u="sng" dirty="0">
                <a:solidFill>
                  <a:srgbClr val="000000"/>
                </a:solidFill>
              </a:rPr>
              <a:t>.</a:t>
            </a:r>
            <a:endParaRPr lang="ru-RU" altLang="en-US" sz="2400" u="sng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dirty="0">
                <a:solidFill>
                  <a:srgbClr val="000000"/>
                </a:solidFill>
              </a:rPr>
              <a:t> Следует проверить продифференцированный ряд на </a:t>
            </a:r>
            <a:r>
              <a:rPr lang="en-US" altLang="en-US" sz="2400" dirty="0" err="1">
                <a:solidFill>
                  <a:srgbClr val="000000"/>
                </a:solidFill>
              </a:rPr>
              <a:t>стационарность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по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критериям</a:t>
            </a:r>
            <a:r>
              <a:rPr lang="en-US" altLang="en-US" sz="2400" dirty="0">
                <a:solidFill>
                  <a:srgbClr val="000000"/>
                </a:solidFill>
              </a:rPr>
              <a:t>, </a:t>
            </a:r>
            <a:r>
              <a:rPr lang="en-US" altLang="en-US" sz="2400" dirty="0" err="1">
                <a:solidFill>
                  <a:srgbClr val="000000"/>
                </a:solidFill>
              </a:rPr>
              <a:t>указанным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ru-RU" altLang="en-US" sz="2400" dirty="0">
                <a:solidFill>
                  <a:srgbClr val="000000"/>
                </a:solidFill>
              </a:rPr>
              <a:t>ранее</a:t>
            </a:r>
            <a:r>
              <a:rPr lang="en-US" altLang="en-US" sz="2400" dirty="0">
                <a:solidFill>
                  <a:srgbClr val="000000"/>
                </a:solidFill>
              </a:rPr>
              <a:t>.</a:t>
            </a:r>
            <a:endParaRPr lang="ru-RU" altLang="en-US" sz="24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Выбираем порядки моделей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7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en-US" sz="2200" dirty="0">
                <a:solidFill>
                  <a:srgbClr val="000000"/>
                </a:solidFill>
              </a:rPr>
              <a:t>После дифференцирования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рассмотри</a:t>
            </a:r>
            <a:r>
              <a:rPr lang="ru-RU" altLang="en-US" sz="2200" dirty="0">
                <a:solidFill>
                  <a:srgbClr val="000000"/>
                </a:solidFill>
              </a:rPr>
              <a:t>те</a:t>
            </a:r>
            <a:r>
              <a:rPr lang="en-US" altLang="en-US" sz="2200" dirty="0">
                <a:solidFill>
                  <a:srgbClr val="000000"/>
                </a:solidFill>
              </a:rPr>
              <a:t> ACF и PACF.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AR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PACF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спадом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положительных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MA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ростом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отрицательных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>
                <a:solidFill>
                  <a:srgbClr val="000000"/>
                </a:solidFill>
              </a:rPr>
              <a:t> SAR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положительный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отрицателен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Посмотрите на количество значительных лагов, которые </a:t>
            </a:r>
            <a:r>
              <a:rPr lang="en-US" altLang="en-US" sz="2200" dirty="0" err="1">
                <a:solidFill>
                  <a:srgbClr val="000000"/>
                </a:solidFill>
              </a:rPr>
              <a:t>кратны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период</a:t>
            </a:r>
            <a:r>
              <a:rPr lang="ru-RU" altLang="en-US" sz="2200" dirty="0">
                <a:solidFill>
                  <a:srgbClr val="000000"/>
                </a:solidFill>
              </a:rPr>
              <a:t>у</a:t>
            </a:r>
            <a:r>
              <a:rPr lang="en-US" altLang="en-US" sz="2200" dirty="0">
                <a:solidFill>
                  <a:srgbClr val="000000"/>
                </a:solidFill>
              </a:rPr>
              <a:t> сезона.</a:t>
            </a:r>
          </a:p>
          <a:p>
            <a:pPr lvl="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Например, если период равен 24, и мы видим, что 24-е и 48-е запаздывания являются значительными в PACF, это означает, что начальное значение P должно быть равно 2.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>
                <a:solidFill>
                  <a:srgbClr val="000000"/>
                </a:solidFill>
              </a:rPr>
              <a:t> SMA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отрицательный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Используйте те же правила для определения количества </a:t>
            </a:r>
            <a:r>
              <a:rPr lang="en-US" altLang="en-US" sz="2200" dirty="0" err="1">
                <a:solidFill>
                  <a:srgbClr val="000000"/>
                </a:solidFill>
              </a:rPr>
              <a:t>лага</a:t>
            </a:r>
            <a:r>
              <a:rPr lang="en-US" altLang="en-US" sz="2200" dirty="0">
                <a:solidFill>
                  <a:srgbClr val="000000"/>
                </a:solidFill>
              </a:rPr>
              <a:t> что </a:t>
            </a:r>
            <a:r>
              <a:rPr lang="en-US" altLang="en-US" sz="2200" dirty="0" err="1">
                <a:solidFill>
                  <a:srgbClr val="000000"/>
                </a:solidFill>
              </a:rPr>
              <a:t>касается</a:t>
            </a:r>
            <a:r>
              <a:rPr lang="en-US" altLang="en-US" sz="2200" dirty="0">
                <a:solidFill>
                  <a:srgbClr val="000000"/>
                </a:solidFill>
              </a:rPr>
              <a:t> SAR</a:t>
            </a:r>
            <a:endParaRPr lang="ru-RU" altLang="en-US" sz="2200" dirty="0">
              <a:solidFill>
                <a:srgbClr val="000000"/>
              </a:solidFill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положительный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algn="l" rtl="0"/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19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77154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en-US" sz="2200" dirty="0"/>
              <a:t> </a:t>
            </a:r>
            <a:r>
              <a:rPr lang="ru-RU" sz="2200" b="1" dirty="0" err="1"/>
              <a:t>недодифференцирован</a:t>
            </a:r>
            <a:r>
              <a:rPr lang="en-US" sz="2200" dirty="0"/>
              <a:t>,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AR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PACF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</a:t>
            </a:r>
            <a:r>
              <a:rPr lang="ru-RU" sz="2200" dirty="0" err="1"/>
              <a:t>ий</a:t>
            </a:r>
            <a:r>
              <a:rPr lang="en-US" sz="2200" dirty="0"/>
              <a:t> </a:t>
            </a:r>
            <a:r>
              <a:rPr lang="ru-RU" sz="2200" dirty="0"/>
              <a:t>спады</a:t>
            </a:r>
            <a:r>
              <a:rPr lang="en-US" sz="2200" dirty="0"/>
              <a:t> и 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положительна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Задержка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которой</a:t>
            </a:r>
            <a:r>
              <a:rPr lang="en-US" sz="2200" dirty="0"/>
              <a:t> PACF </a:t>
            </a:r>
            <a:r>
              <a:rPr lang="ru-RU" sz="2200" dirty="0"/>
              <a:t>спадает</a:t>
            </a:r>
            <a:r>
              <a:rPr lang="en-US" sz="2200" dirty="0"/>
              <a:t> 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ru-RU" sz="2200" dirty="0"/>
              <a:t>необходимое</a:t>
            </a:r>
            <a:r>
              <a:rPr lang="en-US" sz="2200" dirty="0"/>
              <a:t> </a:t>
            </a:r>
            <a:r>
              <a:rPr lang="en-US" sz="2200" dirty="0" err="1"/>
              <a:t>количество</a:t>
            </a:r>
            <a:r>
              <a:rPr lang="en-US" sz="2200" dirty="0"/>
              <a:t> </a:t>
            </a:r>
            <a:r>
              <a:rPr lang="en-US" sz="2200" dirty="0" err="1"/>
              <a:t>членов</a:t>
            </a:r>
            <a:r>
              <a:rPr lang="en-US" sz="2200" dirty="0"/>
              <a:t> AR.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ru-RU" sz="2200" dirty="0"/>
              <a:t> </a:t>
            </a:r>
            <a:r>
              <a:rPr lang="ru-RU" sz="2200" b="1" dirty="0" err="1"/>
              <a:t>передифференцировн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MA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резкое</a:t>
            </a:r>
            <a:r>
              <a:rPr lang="en-US" sz="2200" dirty="0"/>
              <a:t> </a:t>
            </a:r>
            <a:r>
              <a:rPr lang="ru-RU" sz="2200" dirty="0"/>
              <a:t>падание</a:t>
            </a:r>
            <a:r>
              <a:rPr lang="en-US" sz="2200" dirty="0"/>
              <a:t> и/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отрицательна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Запаздывание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котором</a:t>
            </a:r>
            <a:r>
              <a:rPr lang="en-US" sz="2200" dirty="0"/>
              <a:t> АКФ </a:t>
            </a:r>
            <a:r>
              <a:rPr lang="ru-RU" sz="2200" dirty="0"/>
              <a:t>спадает</a:t>
            </a:r>
            <a:r>
              <a:rPr lang="en-US" sz="2200" dirty="0"/>
              <a:t>, </a:t>
            </a:r>
            <a:r>
              <a:rPr lang="en-US" sz="2200" dirty="0" err="1"/>
              <a:t>является</a:t>
            </a:r>
            <a:r>
              <a:rPr lang="en-US" sz="2200" dirty="0"/>
              <a:t> </a:t>
            </a:r>
            <a:r>
              <a:rPr lang="en-US" sz="2200" dirty="0" err="1"/>
              <a:t>указанным</a:t>
            </a:r>
            <a:r>
              <a:rPr lang="en-US" sz="2200" dirty="0"/>
              <a:t> </a:t>
            </a:r>
            <a:r>
              <a:rPr lang="en-US" sz="2200" dirty="0" err="1"/>
              <a:t>количеством</a:t>
            </a:r>
            <a:r>
              <a:rPr lang="en-US" sz="2200" dirty="0"/>
              <a:t> </a:t>
            </a:r>
            <a:r>
              <a:rPr lang="ru-RU" sz="2200" dirty="0" err="1"/>
              <a:t>слогаемых</a:t>
            </a:r>
            <a:r>
              <a:rPr lang="ru-RU" sz="2200" dirty="0"/>
              <a:t> </a:t>
            </a:r>
            <a:r>
              <a:rPr lang="en-US" sz="2200" dirty="0"/>
              <a:t>MA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Старайтесь избегать использования более одного или двух </a:t>
            </a:r>
            <a:r>
              <a:rPr lang="en-US" sz="2200" dirty="0" err="1"/>
              <a:t>сезонных</a:t>
            </a:r>
            <a:r>
              <a:rPr lang="en-US" sz="2200" dirty="0"/>
              <a:t> </a:t>
            </a:r>
            <a:r>
              <a:rPr lang="ru-RU" sz="2200" dirty="0" err="1"/>
              <a:t>слогамех</a:t>
            </a:r>
            <a:r>
              <a:rPr lang="en-US" sz="2200" dirty="0"/>
              <a:t> (SAR + SMA) в одной модели, так как это может привести к переобучению данных и / или проблемам в оценке.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если в </a:t>
            </a:r>
            <a:r>
              <a:rPr lang="ru-RU" sz="2200" dirty="0"/>
              <a:t>ряде</a:t>
            </a:r>
            <a:r>
              <a:rPr lang="en-US" sz="2200" dirty="0"/>
              <a:t> есть </a:t>
            </a:r>
            <a:r>
              <a:rPr lang="en-US" sz="2200" b="1" dirty="0"/>
              <a:t>положительные значения ACF с </a:t>
            </a:r>
            <a:r>
              <a:rPr lang="en-US" sz="2200" b="1" dirty="0" err="1"/>
              <a:t>большим</a:t>
            </a:r>
            <a:r>
              <a:rPr lang="en-US" sz="2200" b="1" dirty="0"/>
              <a:t> </a:t>
            </a:r>
            <a:r>
              <a:rPr lang="en-US" sz="2200" b="1" dirty="0" err="1"/>
              <a:t>запаздыванием</a:t>
            </a:r>
            <a:r>
              <a:rPr lang="ru-RU" sz="2200" dirty="0"/>
              <a:t>, добавьте</a:t>
            </a:r>
            <a:r>
              <a:rPr lang="en-US" sz="2200" u="sng" dirty="0"/>
              <a:t> разностный порядок</a:t>
            </a:r>
            <a:r>
              <a:rPr lang="en-US" sz="22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Ч</a:t>
            </a:r>
            <a:r>
              <a:rPr lang="en-US" sz="2200" dirty="0" err="1"/>
              <a:t>асто</a:t>
            </a:r>
            <a:r>
              <a:rPr lang="en-US" sz="2200" dirty="0"/>
              <a:t> </a:t>
            </a:r>
            <a:r>
              <a:rPr lang="ru-RU" sz="2200" b="1" dirty="0"/>
              <a:t>о</a:t>
            </a:r>
            <a:r>
              <a:rPr lang="en-US" sz="2200" b="1" dirty="0" err="1"/>
              <a:t>птимальный</a:t>
            </a:r>
            <a:r>
              <a:rPr lang="en-US" sz="2200" b="1" dirty="0"/>
              <a:t> порядок дифференцирования </a:t>
            </a:r>
            <a:r>
              <a:rPr lang="en-US" sz="2200" dirty="0"/>
              <a:t>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en-US" sz="2200" dirty="0" err="1"/>
              <a:t>тот</a:t>
            </a:r>
            <a:r>
              <a:rPr lang="en-US" sz="2200" dirty="0"/>
              <a:t> порядок разности, при котором дисперсия наименьшая (вы должны стараться избегать чрезмерного </a:t>
            </a:r>
            <a:r>
              <a:rPr lang="en-US" sz="2200" dirty="0" err="1"/>
              <a:t>дифференцирования</a:t>
            </a:r>
            <a:r>
              <a:rPr lang="en-US" sz="2200" dirty="0"/>
              <a:t>).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9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модель полная (AR и MA), член AR и член MA могут нейтрализовать эффекты друг друга. 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В этом случае </a:t>
            </a:r>
            <a:r>
              <a:rPr lang="en-US" sz="2200" dirty="0" err="1"/>
              <a:t>попробуйте</a:t>
            </a:r>
            <a:r>
              <a:rPr lang="en-US" sz="2200" dirty="0"/>
              <a:t> </a:t>
            </a:r>
            <a:r>
              <a:rPr lang="ru-RU" sz="2200" dirty="0"/>
              <a:t>уменьшить порядки модели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dirty="0" err="1"/>
              <a:t>особенно</a:t>
            </a:r>
            <a:r>
              <a:rPr lang="en-US" sz="2200" dirty="0"/>
              <a:t> если оценки параметров в исходной модели требуют более 10 итераций для схождения.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AR почти равна 1 –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AR на один и увеличить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на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МА почти равна 1 -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МА на один и </a:t>
            </a:r>
            <a:r>
              <a:rPr lang="en-US" sz="2200" dirty="0" err="1"/>
              <a:t>уменьшить</a:t>
            </a:r>
            <a:r>
              <a:rPr lang="en-US" sz="2200" dirty="0"/>
              <a:t>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</a:t>
            </a:r>
            <a:r>
              <a:rPr lang="en-US" sz="2200" dirty="0" err="1"/>
              <a:t>на</a:t>
            </a:r>
            <a:r>
              <a:rPr lang="en-US" sz="2200" dirty="0"/>
              <a:t>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ряд имеет устойчивый и последовательный </a:t>
            </a:r>
            <a:r>
              <a:rPr lang="en-US" sz="2200" dirty="0" err="1"/>
              <a:t>сезонный</a:t>
            </a:r>
            <a:r>
              <a:rPr lang="en-US" sz="2200" dirty="0"/>
              <a:t> </a:t>
            </a:r>
            <a:r>
              <a:rPr lang="ru-RU" sz="2200" dirty="0"/>
              <a:t>шаблон</a:t>
            </a:r>
            <a:r>
              <a:rPr lang="en-US" sz="2200" dirty="0"/>
              <a:t>, </a:t>
            </a:r>
            <a:r>
              <a:rPr lang="ru-RU" sz="2200" dirty="0"/>
              <a:t>рекомендуется повысить</a:t>
            </a:r>
            <a:r>
              <a:rPr lang="en-US" sz="2200" dirty="0"/>
              <a:t> порядок сезонной разницы.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 err="1"/>
              <a:t>Используйте</a:t>
            </a:r>
            <a:r>
              <a:rPr lang="en-US" sz="2200" dirty="0"/>
              <a:t> </a:t>
            </a:r>
            <a:r>
              <a:rPr lang="en-US" sz="2200" dirty="0" err="1"/>
              <a:t>сезонн</a:t>
            </a:r>
            <a:r>
              <a:rPr lang="ru-RU" sz="2200" dirty="0" err="1"/>
              <a:t>ое</a:t>
            </a:r>
            <a:r>
              <a:rPr lang="en-US" sz="2200" dirty="0"/>
              <a:t> </a:t>
            </a:r>
            <a:r>
              <a:rPr lang="ru-RU" sz="2200" dirty="0"/>
              <a:t>дифференцирование</a:t>
            </a:r>
            <a:r>
              <a:rPr lang="en-US" sz="2200" dirty="0"/>
              <a:t> </a:t>
            </a:r>
            <a:r>
              <a:rPr lang="ru-RU" sz="2200" dirty="0"/>
              <a:t>в случае</a:t>
            </a:r>
            <a:r>
              <a:rPr lang="en-US" sz="2200" dirty="0"/>
              <a:t> нестационарной сезонности.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65125"/>
            <a:ext cx="10810875" cy="911225"/>
          </a:xfrm>
        </p:spPr>
        <p:txBody>
          <a:bodyPr>
            <a:normAutofit/>
          </a:bodyPr>
          <a:lstStyle/>
          <a:p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</a:t>
            </a:r>
            <a:r>
              <a:rPr lang="en-US" b="1" dirty="0" err="1"/>
              <a:t>Пример</a:t>
            </a:r>
            <a:endParaRPr lang="en-US" b="1" dirty="0"/>
          </a:p>
        </p:txBody>
      </p:sp>
      <p:pic>
        <p:nvPicPr>
          <p:cNvPr id="22530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345449"/>
            <a:ext cx="3895725" cy="198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134339"/>
            <a:ext cx="4248149" cy="20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628650" y="3949673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7077075" y="3765007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12" y="1487460"/>
            <a:ext cx="1093469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Вы можете очень эффективно использовать PACF для следующих целей: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определить, сколько лагов нужно включить в уравнение прогнозирования </a:t>
            </a:r>
            <a:r>
              <a:rPr lang="ru-RU" altLang="en-US" sz="2000" dirty="0" err="1"/>
              <a:t>авторегрессивной</a:t>
            </a:r>
            <a:r>
              <a:rPr lang="ru-RU" altLang="en-US" sz="2000" dirty="0"/>
              <a:t> модели.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авторегрессии (AR) модели.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 или проверить, сколько сезонных лагов нужно включить в уравнение модели скользящего среднего для сезонного временного ряда.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сезонного скользящего среднего (SMA) модели.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753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2793</Words>
  <Application>Microsoft Office PowerPoint</Application>
  <PresentationFormat>Широкоэкранный</PresentationFormat>
  <Paragraphs>475</Paragraphs>
  <Slides>56</Slides>
  <Notes>1</Notes>
  <HiddenSlides>16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6" baseType="lpstr">
      <vt:lpstr>Arial</vt:lpstr>
      <vt:lpstr>Calibri</vt:lpstr>
      <vt:lpstr>Calibri Light</vt:lpstr>
      <vt:lpstr>Cambria</vt:lpstr>
      <vt:lpstr>Cambria Math</vt:lpstr>
      <vt:lpstr>Georgia</vt:lpstr>
      <vt:lpstr>Hack</vt:lpstr>
      <vt:lpstr>inherit</vt:lpstr>
      <vt:lpstr>Times New Roman</vt:lpstr>
      <vt:lpstr>Тема Office</vt:lpstr>
      <vt:lpstr>Модели авторегрессии  скользящего среднего </vt:lpstr>
      <vt:lpstr>Модели авторегрессии скользящего среднего </vt:lpstr>
      <vt:lpstr>Модель ВР как процесса авторегрессии</vt:lpstr>
      <vt:lpstr>Модель ВР как процесса авторегрессии</vt:lpstr>
      <vt:lpstr>Скользящее среднее</vt:lpstr>
      <vt:lpstr>Модели авторегресси - скользящего среднего (ARMA)</vt:lpstr>
      <vt:lpstr>Пример</vt:lpstr>
      <vt:lpstr>Модели авторегресси - скользящего среднего (ARMA)</vt:lpstr>
      <vt:lpstr>Связь ARIMA c ACF и PACF</vt:lpstr>
      <vt:lpstr>Выбор начальных значений порядка ARMA</vt:lpstr>
      <vt:lpstr>Выбор начальных значений порядка ARMA</vt:lpstr>
      <vt:lpstr>Выбор начальных значений порядка ARMA</vt:lpstr>
      <vt:lpstr>Пример ряда ARMA(1,2)</vt:lpstr>
      <vt:lpstr>Дообучение ARMA коэффициентов</vt:lpstr>
      <vt:lpstr>Дообучение ARMA коэффициентов</vt:lpstr>
      <vt:lpstr>Алгоритм ARMA модели</vt:lpstr>
      <vt:lpstr>Алгоритм AutoARMA</vt:lpstr>
      <vt:lpstr>Алгоритм AutoARMA</vt:lpstr>
      <vt:lpstr>Модели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сезонного интегрированной авторегресси - скользящего среднего (SARIMA)</vt:lpstr>
      <vt:lpstr>Модели сезонного интегрированной авторегресси - скользящего среднего (SARIMA)</vt:lpstr>
      <vt:lpstr>Модели сезонного интегрированной авторегресси - скользящего среднего (SARIMA)</vt:lpstr>
      <vt:lpstr>SARIMA Пример</vt:lpstr>
      <vt:lpstr>SARIMA Пример</vt:lpstr>
      <vt:lpstr>SARIMA Пример</vt:lpstr>
      <vt:lpstr>Алгоритм подбора модели SARIMA(p,d,q)⋅(P,D,Q)_s</vt:lpstr>
      <vt:lpstr>SARIMA Выбор порядка. Замечания</vt:lpstr>
      <vt:lpstr>Пример</vt:lpstr>
      <vt:lpstr>Пример оценки коэффициента ARMA</vt:lpstr>
      <vt:lpstr>Пример оценки коэффициента ARMA</vt:lpstr>
      <vt:lpstr>Пример оценки остаточной части ARMA для предыдущего слайда</vt:lpstr>
      <vt:lpstr>Другие модели, подобные SARIMA</vt:lpstr>
      <vt:lpstr>Один из современных примеров ARIMA_PLUS</vt:lpstr>
      <vt:lpstr>Один из современных примеров X-13ARIMA-SEATS</vt:lpstr>
      <vt:lpstr>Один из современных примеров - DARIMA</vt:lpstr>
      <vt:lpstr>Вопросы для самоконтроля</vt:lpstr>
      <vt:lpstr>SARIMA Выбор порядка. Пример</vt:lpstr>
      <vt:lpstr>. Пример European retail trade data 1996 - 2011.</vt:lpstr>
      <vt:lpstr>Модели интегрированной авторегресси - скользящего среднего (ARIMA)</vt:lpstr>
      <vt:lpstr>Тестирование лагов на значимость Тестовая Q-статистика Льюинга-Бокса</vt:lpstr>
      <vt:lpstr>Производная</vt:lpstr>
      <vt:lpstr>Лаговая форма ARIMA</vt:lpstr>
      <vt:lpstr>Лаговая форма ARIMA</vt:lpstr>
      <vt:lpstr>Лаговая форма ARIMA</vt:lpstr>
      <vt:lpstr>Модель сезонной интегрированной авторегрессии  - скользящего среднего  (SARIMA).</vt:lpstr>
      <vt:lpstr>SARIMA Пример</vt:lpstr>
      <vt:lpstr>Оценка коэффициента ARMA</vt:lpstr>
      <vt:lpstr>SARIMA Выбор порядка</vt:lpstr>
      <vt:lpstr>SARIMA Выбор порядка</vt:lpstr>
      <vt:lpstr>SARIMA Выбор порядка. Примечания</vt:lpstr>
      <vt:lpstr>SARIMA Выбор порядка. Примечания</vt:lpstr>
      <vt:lpstr>SARIMA Выбор порядка. Пример</vt:lpstr>
      <vt:lpstr>. Пример European retail trade data 1996 - 2011.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 авторегрессии  скользящего среднего</dc:title>
  <dc:creator>Ронкин Михаил Владимирович</dc:creator>
  <cp:lastModifiedBy>Ронкин Михаил Владимирович</cp:lastModifiedBy>
  <cp:revision>64</cp:revision>
  <dcterms:created xsi:type="dcterms:W3CDTF">2025-07-24T04:31:28Z</dcterms:created>
  <dcterms:modified xsi:type="dcterms:W3CDTF">2026-05-29T11:07:36Z</dcterms:modified>
</cp:coreProperties>
</file>