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81" r:id="rId3"/>
    <p:sldId id="258" r:id="rId4"/>
    <p:sldId id="260" r:id="rId5"/>
    <p:sldId id="282" r:id="rId6"/>
    <p:sldId id="275" r:id="rId7"/>
    <p:sldId id="276" r:id="rId8"/>
    <p:sldId id="278" r:id="rId9"/>
    <p:sldId id="284" r:id="rId10"/>
    <p:sldId id="259" r:id="rId11"/>
    <p:sldId id="269" r:id="rId12"/>
    <p:sldId id="261" r:id="rId13"/>
    <p:sldId id="264" r:id="rId14"/>
    <p:sldId id="263" r:id="rId15"/>
    <p:sldId id="270" r:id="rId16"/>
    <p:sldId id="266" r:id="rId17"/>
    <p:sldId id="271" r:id="rId18"/>
    <p:sldId id="283" r:id="rId19"/>
    <p:sldId id="272" r:id="rId20"/>
    <p:sldId id="279" r:id="rId21"/>
    <p:sldId id="273" r:id="rId22"/>
    <p:sldId id="277" r:id="rId23"/>
    <p:sldId id="280" r:id="rId24"/>
    <p:sldId id="274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Ронкин Михаил Владимирович" initials="РМВ" lastIdx="1" clrIdx="0">
    <p:extLst>
      <p:ext uri="{19B8F6BF-5375-455C-9EA6-DF929625EA0E}">
        <p15:presenceInfo xmlns:p15="http://schemas.microsoft.com/office/powerpoint/2012/main" userId="Ронкин Михаил Владимирович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70" autoAdjust="0"/>
    <p:restoredTop sz="94658"/>
  </p:normalViewPr>
  <p:slideViewPr>
    <p:cSldViewPr snapToGrid="0">
      <p:cViewPr varScale="1">
        <p:scale>
          <a:sx n="116" d="100"/>
          <a:sy n="116" d="100"/>
        </p:scale>
        <p:origin x="1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7-25T16:33:07.100" idx="1">
    <p:pos x="10" y="10"/>
    <p:text/>
    <p:extLst>
      <p:ext uri="{C676402C-5697-4E1C-873F-D02D1690AC5C}">
        <p15:threadingInfo xmlns:p15="http://schemas.microsoft.com/office/powerpoint/2012/main" timeZoneBias="-30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A9DE4-6CFD-4732-953B-EF950A6B3001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69999-DA45-44A1-83D2-44E2B03D18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643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347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dirty="0"/>
              <a:t>Эндогенные ф</a:t>
            </a:r>
            <a:r>
              <a:rPr lang="en-US" sz="2300" b="1" dirty="0" err="1"/>
              <a:t>акторы</a:t>
            </a:r>
            <a:r>
              <a:rPr lang="en-US" sz="2300" dirty="0"/>
              <a:t>, </a:t>
            </a:r>
            <a:r>
              <a:rPr lang="en-US" sz="2300" dirty="0" err="1"/>
              <a:t>очевидно</a:t>
            </a:r>
            <a:r>
              <a:rPr lang="en-US" sz="2300" dirty="0"/>
              <a:t> </a:t>
            </a:r>
            <a:r>
              <a:rPr lang="en-US" sz="2300" dirty="0" err="1"/>
              <a:t>коррелирующие</a:t>
            </a:r>
            <a:r>
              <a:rPr lang="en-US" sz="2300" dirty="0"/>
              <a:t> </a:t>
            </a:r>
            <a:r>
              <a:rPr lang="en-US" sz="2300" dirty="0" err="1"/>
              <a:t>с</a:t>
            </a:r>
            <a:r>
              <a:rPr lang="en-US" sz="2300" dirty="0"/>
              <a:t> </a:t>
            </a:r>
            <a:r>
              <a:rPr lang="ru-RU" sz="2300" dirty="0"/>
              <a:t>ВР</a:t>
            </a:r>
            <a:r>
              <a:rPr lang="en-US" sz="2300" dirty="0"/>
              <a:t>. </a:t>
            </a:r>
            <a:endParaRPr lang="ru-RU" sz="23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dirty="0"/>
              <a:t>Лаги ВР, преобразованные значения, значения автокорреляций, тренда или сезонности, и </a:t>
            </a:r>
            <a:r>
              <a:rPr lang="ru-RU" sz="2300" dirty="0" err="1"/>
              <a:t>тд</a:t>
            </a:r>
            <a:endParaRPr lang="ru-RU" sz="2300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149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72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Признаки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Резко высокая точность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валидации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Модель "знает" о событиях, которые ещё не произошли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Важность признака слишком высока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E69999-DA45-44A1-83D2-44E2B03D187B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4700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904A68-FE9C-41D3-96AD-A1A68ED6C497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85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386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7468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0233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99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1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4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85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16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58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96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606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B237C4-111C-4636-B222-D785A341FF5A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6D292-15CD-409C-8777-6869532779E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493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eon-toolkit.org/en/latest/examples/forecasting/forecasting_sklearn.html#Pitfall-2:-obscure-data-manipulations,-brittle-boilerplate-code-to-apply-regressor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Методы машинного обучения в АВР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5353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4944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089" y="656467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https://readmedium.com/a-brief-history-of-time-series-models-38455c2cd78d</a:t>
            </a:r>
          </a:p>
        </p:txBody>
      </p:sp>
    </p:spTree>
    <p:extLst>
      <p:ext uri="{BB962C8B-B14F-4D97-AF65-F5344CB8AC3E}">
        <p14:creationId xmlns:p14="http://schemas.microsoft.com/office/powerpoint/2010/main" val="264387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1925" y="155576"/>
            <a:ext cx="11820525" cy="806450"/>
          </a:xfrm>
        </p:spPr>
        <p:txBody>
          <a:bodyPr/>
          <a:lstStyle/>
          <a:p>
            <a:pPr algn="ctr"/>
            <a:r>
              <a:rPr lang="ru-RU" dirty="0"/>
              <a:t>Почему невсегда 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8600" y="838200"/>
            <a:ext cx="11887200" cy="5562600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Часто при построении моделей </a:t>
            </a:r>
            <a:r>
              <a:rPr lang="ru-RU" altLang="ru-RU" sz="2100" dirty="0" err="1"/>
              <a:t>прогназирования</a:t>
            </a:r>
            <a:r>
              <a:rPr lang="ru-RU" altLang="ru-RU" sz="2100" dirty="0"/>
              <a:t> ВР приходится руководствоваться принципом скорости.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Основные </a:t>
            </a:r>
            <a:r>
              <a:rPr lang="ru-RU" altLang="ru-RU" sz="2100" b="1" dirty="0"/>
              <a:t>недостатками</a:t>
            </a:r>
            <a:r>
              <a:rPr lang="ru-RU" altLang="ru-RU" sz="2100" dirty="0"/>
              <a:t> моделей</a:t>
            </a:r>
            <a:r>
              <a:rPr lang="en-US" altLang="ru-RU" sz="2100" dirty="0"/>
              <a:t> SARIMA, ETS </a:t>
            </a:r>
            <a:r>
              <a:rPr lang="ru-RU" altLang="ru-RU" sz="2100" dirty="0"/>
              <a:t>и других стат. моделей :</a:t>
            </a: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Сложность предварительного анализа и подготовки данных.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Трудно настраиваемы параметры моделей.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Необходимость частого дообучения\переобучения с новыми </a:t>
            </a:r>
            <a:r>
              <a:rPr lang="ru-RU" altLang="ru-RU" sz="2100" dirty="0" err="1"/>
              <a:t>гиперпараметрами</a:t>
            </a:r>
            <a:r>
              <a:rPr lang="ru-RU" altLang="ru-RU" sz="2100" dirty="0"/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ru-RU" sz="2100" dirty="0"/>
              <a:t>Авто настройка не дает высоко-точных результатов без ручной </a:t>
            </a:r>
            <a:r>
              <a:rPr lang="ru-RU" altLang="ru-RU" sz="2100" dirty="0" err="1"/>
              <a:t>донастройки</a:t>
            </a:r>
            <a:r>
              <a:rPr lang="ru-RU" altLang="ru-RU" sz="2100" dirty="0"/>
              <a:t>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r>
              <a:rPr lang="ru-RU" altLang="ru-RU" sz="2100" dirty="0"/>
              <a:t> </a:t>
            </a:r>
            <a:r>
              <a:rPr lang="ru-RU" altLang="ru-RU" sz="2100" u="sng" dirty="0"/>
              <a:t>На практике при работе с большими объемами ВР и длинными горизонтами предсказания  - при массовых не прецизионных прогнозах дешевле и быстрее выбрать несколько признаков из имеющегося временного ряда и построить простую линейную регрессионную модель или, скажем, случайный лес</a:t>
            </a:r>
            <a:r>
              <a:rPr lang="ru-RU" altLang="ru-RU" sz="2100" dirty="0"/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dirty="0"/>
              <a:t>подход не подкреплен теорией и нарушает ряд предположений (например, теорему Гаусса-Маркова, особенно для некоррелированных ошибок), но он очень полезен на практике и часто используется в соревнованиях по машинному обучению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100" b="1" dirty="0"/>
              <a:t>При исследованиях рекомендуется начинать с </a:t>
            </a:r>
            <a:r>
              <a:rPr lang="en-US" altLang="ru-RU" sz="2100" b="1" dirty="0"/>
              <a:t>ARIMA, ETS </a:t>
            </a:r>
            <a:r>
              <a:rPr lang="ru-RU" altLang="ru-RU" sz="2100" b="1" dirty="0"/>
              <a:t>как </a:t>
            </a:r>
            <a:r>
              <a:rPr lang="ru-RU" altLang="ru-RU" sz="2100" b="1" dirty="0" err="1"/>
              <a:t>бейзлайны</a:t>
            </a:r>
            <a:endParaRPr kumimoji="0" lang="ru-RU" altLang="ru-RU" sz="21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072187" y="6550223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550222"/>
            <a:ext cx="40820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https://blogs.cisco.com/analytics-automation/arima3</a:t>
            </a:r>
          </a:p>
        </p:txBody>
      </p:sp>
    </p:spTree>
    <p:extLst>
      <p:ext uri="{BB962C8B-B14F-4D97-AF65-F5344CB8AC3E}">
        <p14:creationId xmlns:p14="http://schemas.microsoft.com/office/powerpoint/2010/main" val="3372900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ВР и машинное обучение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7918" y="1162236"/>
            <a:ext cx="11637682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технически использование машинного обучения для задач предсказания ВР - сведение ВР к табличному виду (</a:t>
            </a:r>
            <a:r>
              <a:rPr lang="ru-RU" sz="2400" b="1" dirty="0"/>
              <a:t>редукции ВР</a:t>
            </a:r>
            <a:r>
              <a:rPr lang="ru-RU" sz="2400" dirty="0"/>
              <a:t>). </a:t>
            </a:r>
          </a:p>
          <a:p>
            <a:pPr marL="0" indent="0">
              <a:buNone/>
            </a:pPr>
            <a:r>
              <a:rPr lang="ru-RU" sz="2400" dirty="0"/>
              <a:t>В наиболее простом случае таблица может быть составлена путем прохождения окна по ВР так, что следующее за окном значение всегда будет меткой.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7033" r="6647" b="22856"/>
          <a:stretch/>
        </p:blipFill>
        <p:spPr>
          <a:xfrm>
            <a:off x="3443706" y="4477196"/>
            <a:ext cx="8248372" cy="21035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679" t="25259" r="11900" b="35887"/>
          <a:stretch/>
        </p:blipFill>
        <p:spPr>
          <a:xfrm>
            <a:off x="3563609" y="2614260"/>
            <a:ext cx="8008566" cy="1532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1623" y="4133429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Лаги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076" y="4057500"/>
            <a:ext cx="779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метка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8493" y="3196077"/>
            <a:ext cx="742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Окно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569" y="3164470"/>
            <a:ext cx="7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метка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47918" y="649360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3182471" y="4055222"/>
            <a:ext cx="87708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306559" y="42328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ui-sans-serif"/>
              </a:rPr>
              <a:t>Теорема </a:t>
            </a:r>
            <a:r>
              <a:rPr lang="ru-RU" dirty="0" err="1">
                <a:solidFill>
                  <a:srgbClr val="000000"/>
                </a:solidFill>
                <a:latin typeface="ui-sans-serif"/>
              </a:rPr>
              <a:t>Такенса</a:t>
            </a:r>
            <a:r>
              <a:rPr lang="ru-RU" dirty="0">
                <a:solidFill>
                  <a:srgbClr val="000000"/>
                </a:solidFill>
                <a:latin typeface="ui-sans-serif"/>
              </a:rPr>
              <a:t> (</a:t>
            </a:r>
            <a:r>
              <a:rPr lang="ru-RU" dirty="0" err="1">
                <a:solidFill>
                  <a:srgbClr val="000000"/>
                </a:solidFill>
                <a:latin typeface="ui-sans-serif"/>
              </a:rPr>
              <a:t>Takens</a:t>
            </a:r>
            <a:r>
              <a:rPr lang="ru-RU" dirty="0">
                <a:solidFill>
                  <a:srgbClr val="000000"/>
                </a:solidFill>
                <a:latin typeface="ui-sans-serif"/>
              </a:rPr>
              <a:t>' </a:t>
            </a:r>
            <a:r>
              <a:rPr lang="ru-RU" dirty="0" err="1">
                <a:solidFill>
                  <a:srgbClr val="000000"/>
                </a:solidFill>
                <a:latin typeface="ui-sans-serif"/>
              </a:rPr>
              <a:t>Embedding</a:t>
            </a:r>
            <a:r>
              <a:rPr lang="ru-RU" dirty="0">
                <a:solidFill>
                  <a:srgbClr val="000000"/>
                </a:solidFill>
                <a:latin typeface="ui-sans-serif"/>
              </a:rPr>
              <a:t> </a:t>
            </a:r>
            <a:r>
              <a:rPr lang="ru-RU" dirty="0" err="1">
                <a:solidFill>
                  <a:srgbClr val="000000"/>
                </a:solidFill>
                <a:latin typeface="ui-sans-serif"/>
              </a:rPr>
              <a:t>Theorem</a:t>
            </a:r>
            <a:r>
              <a:rPr lang="ru-RU" dirty="0">
                <a:solidFill>
                  <a:srgbClr val="000000"/>
                </a:solidFill>
                <a:latin typeface="ui-sans-serif"/>
              </a:rPr>
              <a:t>)-</a:t>
            </a:r>
            <a:r>
              <a:rPr lang="ru-RU" dirty="0">
                <a:solidFill>
                  <a:srgbClr val="0D0D0D"/>
                </a:solidFill>
                <a:latin typeface="ui-sans-serif"/>
              </a:rPr>
              <a:t>динамическая система может быть восстановлена по задержкам (лагам) одной переменной.</a:t>
            </a:r>
          </a:p>
          <a:p>
            <a:r>
              <a:rPr lang="ru-RU" dirty="0">
                <a:solidFill>
                  <a:srgbClr val="0D0D0D"/>
                </a:solidFill>
                <a:latin typeface="ui-sans-serif"/>
              </a:rPr>
              <a:t>Лагов должно быть столько чтобы АКФ затухала!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539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3081" y="313765"/>
            <a:ext cx="11869271" cy="726141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ВР и машинное обучение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3081" y="1333539"/>
            <a:ext cx="5501444" cy="14464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Выделение признаков из временного ряда  в таблицу</a:t>
            </a:r>
          </a:p>
          <a:p>
            <a:r>
              <a:rPr lang="ru-RU" sz="2400" dirty="0"/>
              <a:t>Лучше работает не для задач предсказания (для остальных задач)</a:t>
            </a: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1026" name="Picture 2" descr="The rolling mechanis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85" y="3174679"/>
            <a:ext cx="3511078" cy="311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35558" y="6458314"/>
            <a:ext cx="405893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https://tsfresh.readthedocs.io/en/latest/text/forecasting.html</a:t>
            </a:r>
          </a:p>
        </p:txBody>
      </p:sp>
      <p:pic>
        <p:nvPicPr>
          <p:cNvPr id="14" name="Picture 4" descr="https://cienciadedatos.net/images/diagram-recursive-mutistep-forecasting.png">
            <a:extLst>
              <a:ext uri="{FF2B5EF4-FFF2-40B4-BE49-F238E27FC236}">
                <a16:creationId xmlns:a16="http://schemas.microsoft.com/office/drawing/2014/main" id="{25F3A3BD-6541-B697-0678-BB8DBD68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7716" y="3572149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6167716" y="2549199"/>
            <a:ext cx="49328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err="1"/>
              <a:t>Редкуция</a:t>
            </a:r>
            <a:r>
              <a:rPr lang="ru-RU" sz="2400" dirty="0"/>
              <a:t> сырых данных к таблицам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3803" y="5708933"/>
            <a:ext cx="5970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Могут быть и гибриды – и признаки и участки сырого ряда</a:t>
            </a:r>
          </a:p>
        </p:txBody>
      </p:sp>
    </p:spTree>
    <p:extLst>
      <p:ext uri="{BB962C8B-B14F-4D97-AF65-F5344CB8AC3E}">
        <p14:creationId xmlns:p14="http://schemas.microsoft.com/office/powerpoint/2010/main" val="115616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200AAA-5110-716B-821C-A67FB1647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28" y="365126"/>
            <a:ext cx="10747872" cy="732220"/>
          </a:xfrm>
        </p:spPr>
        <p:txBody>
          <a:bodyPr/>
          <a:lstStyle/>
          <a:p>
            <a:r>
              <a:rPr lang="ru-RU" dirty="0"/>
              <a:t>Рекурсивная редукция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2EDFA1-85EA-71EC-6626-66C2DAD7A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44" y="1039079"/>
            <a:ext cx="11513620" cy="4351338"/>
          </a:xfrm>
        </p:spPr>
        <p:txBody>
          <a:bodyPr>
            <a:normAutofit/>
          </a:bodyPr>
          <a:lstStyle/>
          <a:p>
            <a:r>
              <a:rPr lang="ru-RU" sz="2000" i="1" dirty="0"/>
              <a:t>Признаковое описание</a:t>
            </a:r>
            <a:r>
              <a:rPr lang="ru-RU" sz="2000" dirty="0"/>
              <a:t> – история ряда до момента времени </a:t>
            </a:r>
            <a:r>
              <a:rPr lang="en" sz="2000" i="1" dirty="0"/>
              <a:t>t</a:t>
            </a:r>
            <a:r>
              <a:rPr lang="en" sz="2000" dirty="0"/>
              <a:t>−1.</a:t>
            </a:r>
          </a:p>
          <a:p>
            <a:r>
              <a:rPr lang="ru-RU" sz="2000" i="1" dirty="0"/>
              <a:t>Целевая метка</a:t>
            </a:r>
            <a:r>
              <a:rPr lang="ru-RU" sz="2000" dirty="0"/>
              <a:t> – значение </a:t>
            </a:r>
            <a:r>
              <a:rPr lang="en" sz="2000" dirty="0" err="1"/>
              <a:t>yt</a:t>
            </a:r>
            <a:r>
              <a:rPr lang="en" sz="2000" dirty="0"/>
              <a:t>​.</a:t>
            </a:r>
          </a:p>
          <a:p>
            <a:r>
              <a:rPr lang="ru-RU" sz="2000" dirty="0"/>
              <a:t>По этим данным мы обучаем какую-либо регрессионную модель строить прогнозы на один шаг вперед. При построении прогноза на несколько шагов вперед мы сначала построим прогноз на один шаг. Затем – на второй шаг, используя полученный прогноз на первый шаг в качестве признаков, и далее аналогично.</a:t>
            </a:r>
          </a:p>
          <a:p>
            <a:r>
              <a:rPr lang="ru-RU" sz="2000" dirty="0"/>
              <a:t>Иначе говоря, если для прогнозирования </a:t>
            </a:r>
            <a:r>
              <a:rPr lang="en" sz="2000" i="1" dirty="0" err="1"/>
              <a:t>yt</a:t>
            </a:r>
            <a:r>
              <a:rPr lang="en" sz="2000" dirty="0"/>
              <a:t>​ </a:t>
            </a:r>
            <a:r>
              <a:rPr lang="ru-RU" sz="2000" dirty="0"/>
              <a:t>признаковое описание имеет вид (</a:t>
            </a:r>
            <a:r>
              <a:rPr lang="en" sz="2000" dirty="0" err="1"/>
              <a:t>yt</a:t>
            </a:r>
            <a:r>
              <a:rPr lang="en" sz="2000" dirty="0"/>
              <a:t>−p,…,yt−1), </a:t>
            </a:r>
            <a:r>
              <a:rPr lang="ru-RU" sz="2000" dirty="0"/>
              <a:t>то для построения прогноза </a:t>
            </a:r>
            <a:r>
              <a:rPr lang="en" sz="2000" i="1" dirty="0"/>
              <a:t>yt</a:t>
            </a:r>
            <a:r>
              <a:rPr lang="en" sz="2000" dirty="0"/>
              <a:t>+1​ </a:t>
            </a:r>
            <a:r>
              <a:rPr lang="ru-RU" sz="2000" dirty="0"/>
              <a:t>рассматривается признаковое описание </a:t>
            </a:r>
            <a:r>
              <a:rPr lang="en" sz="2000" dirty="0"/>
              <a:t>(</a:t>
            </a:r>
            <a:r>
              <a:rPr lang="en" sz="2000" i="1" dirty="0"/>
              <a:t>yt</a:t>
            </a:r>
            <a:r>
              <a:rPr lang="en" sz="2000" dirty="0"/>
              <a:t>−</a:t>
            </a:r>
            <a:r>
              <a:rPr lang="en" sz="2000" i="1" dirty="0"/>
              <a:t>p</a:t>
            </a:r>
            <a:r>
              <a:rPr lang="en" sz="2000" dirty="0"/>
              <a:t>+1​,…,</a:t>
            </a:r>
            <a:r>
              <a:rPr lang="en" sz="2000" i="1" dirty="0"/>
              <a:t>yt</a:t>
            </a:r>
            <a:r>
              <a:rPr lang="en" sz="2000" dirty="0"/>
              <a:t>−1​,</a:t>
            </a:r>
            <a:r>
              <a:rPr lang="en" sz="2000" i="1" dirty="0"/>
              <a:t>y</a:t>
            </a:r>
            <a:r>
              <a:rPr lang="en" sz="2000" dirty="0"/>
              <a:t>​</a:t>
            </a:r>
            <a:r>
              <a:rPr lang="en" sz="2000" i="1" dirty="0"/>
              <a:t>t</a:t>
            </a:r>
            <a:r>
              <a:rPr lang="en" sz="2000" dirty="0"/>
              <a:t>​).</a:t>
            </a:r>
          </a:p>
          <a:p>
            <a:r>
              <a:rPr lang="ru-RU" sz="2000" dirty="0"/>
              <a:t>Желательно, чтобы окон </a:t>
            </a:r>
            <a:r>
              <a:rPr lang="en-US" sz="2000" dirty="0"/>
              <a:t>&gt; </a:t>
            </a:r>
            <a:r>
              <a:rPr lang="ru-RU" sz="2000" dirty="0"/>
              <a:t>числа значимых лагов </a:t>
            </a:r>
            <a:r>
              <a:rPr lang="en-US" sz="2000" dirty="0"/>
              <a:t>ACF </a:t>
            </a:r>
            <a:r>
              <a:rPr lang="ru-RU" sz="2000" dirty="0"/>
              <a:t>или </a:t>
            </a:r>
            <a:r>
              <a:rPr lang="en-US" sz="2000" dirty="0"/>
              <a:t>~ season</a:t>
            </a:r>
            <a:endParaRPr lang="en" sz="2000" dirty="0"/>
          </a:p>
          <a:p>
            <a:endParaRPr lang="ru-RU" sz="2000" dirty="0"/>
          </a:p>
        </p:txBody>
      </p:sp>
      <p:pic>
        <p:nvPicPr>
          <p:cNvPr id="1026" name="Picture 2" descr="recursive">
            <a:extLst>
              <a:ext uri="{FF2B5EF4-FFF2-40B4-BE49-F238E27FC236}">
                <a16:creationId xmlns:a16="http://schemas.microsoft.com/office/drawing/2014/main" id="{D560E87C-22DB-A7C5-AADB-1A8B03DF4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293" y="3862047"/>
            <a:ext cx="4546771" cy="274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s://cienciadedatos.net/images/diagram-recursive-mutistep-forecasting.png">
            <a:extLst>
              <a:ext uri="{FF2B5EF4-FFF2-40B4-BE49-F238E27FC236}">
                <a16:creationId xmlns:a16="http://schemas.microsoft.com/office/drawing/2014/main" id="{25F3A3BD-6541-B697-0678-BB8DBD687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28" y="4293446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445672-A60F-7073-1A08-0F889E3A3E22}"/>
              </a:ext>
            </a:extLst>
          </p:cNvPr>
          <p:cNvSpPr txBox="1"/>
          <p:nvPr/>
        </p:nvSpPr>
        <p:spPr>
          <a:xfrm>
            <a:off x="1111119" y="6492874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9810F78-EF7E-8B5D-B6A5-7A3010C25417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</p:spTree>
    <p:extLst>
      <p:ext uri="{BB962C8B-B14F-4D97-AF65-F5344CB8AC3E}">
        <p14:creationId xmlns:p14="http://schemas.microsoft.com/office/powerpoint/2010/main" val="3691668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7C487-2047-9EC3-E806-919BAF8A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F0859-81A2-69A4-769C-8E6AF2477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928" y="365126"/>
            <a:ext cx="10747872" cy="732220"/>
          </a:xfrm>
        </p:spPr>
        <p:txBody>
          <a:bodyPr/>
          <a:lstStyle/>
          <a:p>
            <a:r>
              <a:rPr lang="ru-RU" b="1" dirty="0"/>
              <a:t>Прямая стратегия редукции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8F74C3-4238-0EBC-4A0C-102C383BE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855" y="986170"/>
            <a:ext cx="11441217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2000" dirty="0"/>
              <a:t>построением каждого прогноза в рамках горизонта прогнозирования должна заниматься своя модель. Тем самым создается </a:t>
            </a:r>
            <a:r>
              <a:rPr lang="en" sz="2000" i="1" dirty="0"/>
              <a:t>H</a:t>
            </a:r>
            <a:r>
              <a:rPr lang="en" sz="2000" dirty="0"/>
              <a:t> </a:t>
            </a:r>
            <a:r>
              <a:rPr lang="ru-RU" sz="2000" dirty="0"/>
              <a:t>моделей прогнозирования для каждого момента времени </a:t>
            </a:r>
            <a:r>
              <a:rPr lang="en" sz="2000" dirty="0"/>
              <a:t>t0⩽t⩽t0+H−1</a:t>
            </a:r>
            <a:endParaRPr lang="ru-RU" sz="2000" dirty="0"/>
          </a:p>
          <a:p>
            <a:pPr marL="0" indent="0">
              <a:spcBef>
                <a:spcPts val="600"/>
              </a:spcBef>
              <a:buNone/>
            </a:pPr>
            <a:r>
              <a:rPr lang="ru-RU" sz="2000" i="1" dirty="0"/>
              <a:t>Признаковое описание</a:t>
            </a:r>
            <a:r>
              <a:rPr lang="ru-RU" sz="2000" dirty="0"/>
              <a:t> – история ряда до момента времени </a:t>
            </a:r>
            <a:r>
              <a:rPr lang="en" sz="2000" i="1" dirty="0"/>
              <a:t>t</a:t>
            </a:r>
            <a:r>
              <a:rPr lang="en" sz="2000" dirty="0"/>
              <a:t>0​−1, </a:t>
            </a:r>
            <a:r>
              <a:rPr lang="ru-RU" sz="2000" dirty="0"/>
              <a:t>причем признаки одни и те же для каждой модели.</a:t>
            </a:r>
          </a:p>
          <a:p>
            <a:pPr>
              <a:spcBef>
                <a:spcPts val="600"/>
              </a:spcBef>
            </a:pPr>
            <a:r>
              <a:rPr lang="ru-RU" sz="2000" i="1" dirty="0"/>
              <a:t>Целевая метка</a:t>
            </a:r>
            <a:r>
              <a:rPr lang="ru-RU" sz="2000" dirty="0"/>
              <a:t> – значение </a:t>
            </a:r>
            <a:r>
              <a:rPr lang="en" sz="2000" i="1" dirty="0"/>
              <a:t>yt</a:t>
            </a:r>
            <a:r>
              <a:rPr lang="en" sz="2000" dirty="0"/>
              <a:t>​.</a:t>
            </a:r>
          </a:p>
          <a:p>
            <a:pPr>
              <a:spcBef>
                <a:spcPts val="600"/>
              </a:spcBef>
            </a:pPr>
            <a:r>
              <a:rPr lang="ru-RU" sz="2000" dirty="0"/>
              <a:t>Число моделей из технологических соображений, </a:t>
            </a:r>
          </a:p>
          <a:p>
            <a:pPr>
              <a:spcBef>
                <a:spcPts val="600"/>
              </a:spcBef>
            </a:pPr>
            <a:r>
              <a:rPr lang="ru-RU" sz="2000" dirty="0"/>
              <a:t>Лучше, если </a:t>
            </a:r>
            <a:r>
              <a:rPr lang="ru-RU" sz="2000" dirty="0" err="1"/>
              <a:t>трагет</a:t>
            </a:r>
            <a:r>
              <a:rPr lang="ru-RU" sz="2000" dirty="0"/>
              <a:t> предсказать сложно</a:t>
            </a:r>
            <a:endParaRPr lang="e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8AD61-E9B0-7D40-BDE8-6F2365A8CDFA}"/>
              </a:ext>
            </a:extLst>
          </p:cNvPr>
          <p:cNvSpPr txBox="1"/>
          <p:nvPr/>
        </p:nvSpPr>
        <p:spPr>
          <a:xfrm>
            <a:off x="1111119" y="6492874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E1DC60A-7122-06E4-1B44-91230427831D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3074" name="Picture 2" descr="direct">
            <a:extLst>
              <a:ext uri="{FF2B5EF4-FFF2-40B4-BE49-F238E27FC236}">
                <a16:creationId xmlns:a16="http://schemas.microsoft.com/office/drawing/2014/main" id="{E33F7EA8-8650-2DF1-801B-4292CB948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092" y="3617218"/>
            <a:ext cx="8726540" cy="249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cienciadedatos.net/images/diagram-direct-multi-step-forecasting.png">
            <a:extLst>
              <a:ext uri="{FF2B5EF4-FFF2-40B4-BE49-F238E27FC236}">
                <a16:creationId xmlns:a16="http://schemas.microsoft.com/office/drawing/2014/main" id="{A2635A52-B2B7-EE12-61F7-6A40F3728D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648"/>
          <a:stretch>
            <a:fillRect/>
          </a:stretch>
        </p:blipFill>
        <p:spPr bwMode="auto">
          <a:xfrm>
            <a:off x="0" y="3705345"/>
            <a:ext cx="3301092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477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E42D-6888-C555-1E55-C4174FE3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113A58-C029-9BFA-0E90-185C141E0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72" y="42377"/>
            <a:ext cx="10747872" cy="732220"/>
          </a:xfrm>
        </p:spPr>
        <p:txBody>
          <a:bodyPr/>
          <a:lstStyle/>
          <a:p>
            <a:r>
              <a:rPr lang="ru-RU" b="1" dirty="0"/>
              <a:t>Гибридная стратегия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23D7EE-CC53-CA7B-E14F-44911BBB4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944" y="567659"/>
            <a:ext cx="11324128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Гибридная стратегия объединяет в себе преимущества рекурсивной и прямой стратегий. Как и в прямой стратегии, создается </a:t>
            </a:r>
            <a:r>
              <a:rPr lang="en" dirty="0"/>
              <a:t>H </a:t>
            </a:r>
            <a:r>
              <a:rPr lang="ru-RU" dirty="0"/>
              <a:t>моделей прогнозирования, но при этом каждая следующая модель использует прогнозы предыдущей подобно тому, как это делает рекурсивная стратегия.</a:t>
            </a:r>
          </a:p>
          <a:p>
            <a:r>
              <a:rPr lang="ru-RU" dirty="0"/>
              <a:t>модель для прогноза на 1 шаг вперед;</a:t>
            </a:r>
          </a:p>
          <a:p>
            <a:r>
              <a:rPr lang="ru-RU" dirty="0"/>
              <a:t>модель для прогноза на 2 шага вперед, используя прогноз уже обученной модели на 1 шаг вперед в качестве признака;</a:t>
            </a:r>
          </a:p>
          <a:p>
            <a:r>
              <a:rPr lang="ru-RU" dirty="0"/>
              <a:t>модель для прогноза на 3 шага вперед, используя прогноз уже обученных моделей на 1 и 2 шага вперед в качестве признаков;</a:t>
            </a:r>
          </a:p>
          <a:p>
            <a:r>
              <a:rPr lang="ru-RU" dirty="0"/>
              <a:t>и так далее обучается </a:t>
            </a:r>
            <a:r>
              <a:rPr lang="en" dirty="0"/>
              <a:t>H </a:t>
            </a:r>
            <a:r>
              <a:rPr lang="ru-RU" dirty="0"/>
              <a:t>моделей.</a:t>
            </a:r>
          </a:p>
          <a:p>
            <a:r>
              <a:rPr lang="ru-RU" dirty="0"/>
              <a:t>Признаковое описание:</a:t>
            </a:r>
          </a:p>
          <a:p>
            <a:r>
              <a:rPr lang="ru-RU" dirty="0"/>
              <a:t>история ряда до момента времени </a:t>
            </a:r>
            <a:r>
              <a:rPr lang="en" i="1" dirty="0"/>
              <a:t>t</a:t>
            </a:r>
            <a:r>
              <a:rPr lang="en" dirty="0"/>
              <a:t>0​−1;</a:t>
            </a:r>
          </a:p>
          <a:p>
            <a:r>
              <a:rPr lang="ru-RU" dirty="0"/>
              <a:t>предсказание предыдущих моделей для </a:t>
            </a:r>
            <a:r>
              <a:rPr lang="en" dirty="0"/>
              <a:t>t0,t0−1,…,t−1.</a:t>
            </a:r>
          </a:p>
          <a:p>
            <a:br>
              <a:rPr lang="en" dirty="0"/>
            </a:br>
            <a:endParaRPr lang="e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EAB4B-E98D-9F3C-F1A6-9382A313435D}"/>
              </a:ext>
            </a:extLst>
          </p:cNvPr>
          <p:cNvSpPr txBox="1"/>
          <p:nvPr/>
        </p:nvSpPr>
        <p:spPr>
          <a:xfrm>
            <a:off x="1067051" y="6581000"/>
            <a:ext cx="61001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education.yandex.ru</a:t>
            </a:r>
            <a:r>
              <a:rPr lang="ru-RU" sz="1200" dirty="0"/>
              <a:t>/</a:t>
            </a:r>
            <a:r>
              <a:rPr lang="ru-RU" sz="1200" dirty="0" err="1"/>
              <a:t>handbook</a:t>
            </a:r>
            <a:r>
              <a:rPr lang="ru-RU" sz="1200" dirty="0"/>
              <a:t>/</a:t>
            </a:r>
            <a:r>
              <a:rPr lang="ru-RU" sz="1200" dirty="0" err="1"/>
              <a:t>ml</a:t>
            </a:r>
            <a:r>
              <a:rPr lang="ru-RU" sz="1200" dirty="0"/>
              <a:t>/</a:t>
            </a:r>
            <a:r>
              <a:rPr lang="ru-RU" sz="1200" dirty="0" err="1"/>
              <a:t>article</a:t>
            </a:r>
            <a:r>
              <a:rPr lang="ru-RU" sz="1200" dirty="0"/>
              <a:t>/</a:t>
            </a:r>
            <a:r>
              <a:rPr lang="ru-RU" sz="1200" dirty="0" err="1"/>
              <a:t>vremennye-ryady</a:t>
            </a:r>
            <a:endParaRPr lang="ru-RU" sz="12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0AC567D-6E82-3079-CF63-9901D98EF897}"/>
              </a:ext>
            </a:extLst>
          </p:cNvPr>
          <p:cNvSpPr/>
          <p:nvPr/>
        </p:nvSpPr>
        <p:spPr>
          <a:xfrm>
            <a:off x="6191480" y="6581001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5122" name="Picture 2" descr="hybrid">
            <a:extLst>
              <a:ext uri="{FF2B5EF4-FFF2-40B4-BE49-F238E27FC236}">
                <a16:creationId xmlns:a16="http://schemas.microsoft.com/office/drawing/2014/main" id="{36DD418D-FDA3-42A4-0ED6-EB27CD548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277" y="3922352"/>
            <a:ext cx="10561504" cy="2797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757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6152" y="120038"/>
            <a:ext cx="10991850" cy="6350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Многошаговые особенности оценки точности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8193" y="662857"/>
            <a:ext cx="11706225" cy="5176838"/>
          </a:xfrm>
        </p:spPr>
        <p:txBody>
          <a:bodyPr>
            <a:normAutofit/>
          </a:bodyPr>
          <a:lstStyle/>
          <a:p>
            <a:r>
              <a:rPr lang="ru-RU" sz="2400" dirty="0"/>
              <a:t>Статические (оценка на следующем шаге опирается на истинные значения предыдущих шагов)</a:t>
            </a:r>
          </a:p>
          <a:p>
            <a:r>
              <a:rPr lang="ru-RU" sz="2400" dirty="0"/>
              <a:t>Динамическими (рекурсивным, оценка на следующем шаге опирается на оценки на предыдущих шагах ) </a:t>
            </a:r>
          </a:p>
          <a:p>
            <a:pPr lvl="1"/>
            <a:r>
              <a:rPr lang="ru-RU" sz="2000" dirty="0"/>
              <a:t>Могут быть более сложные варианты, напр. оценка опирается  на моды распределений оценок на предыдущих шагах</a:t>
            </a:r>
          </a:p>
        </p:txBody>
      </p:sp>
      <p:sp>
        <p:nvSpPr>
          <p:cNvPr id="4" name="AutoShape 2" descr="Demonstration of iterative, autoregressive forecasting | Download 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4" name="Picture 4" descr="https://www.researchgate.net/publication/381324371/figure/fig1/AS:11431281259462026@1720491044356/Demonstration-of-iterative-autoregressive-forecasting_W64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3758271"/>
            <a:ext cx="5644598" cy="271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16152" y="2687617"/>
            <a:ext cx="61944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Динамическая оценка  предполагает использование предсказанных данных вместо истинных в окне предсказания</a:t>
            </a:r>
          </a:p>
        </p:txBody>
      </p:sp>
      <p:pic>
        <p:nvPicPr>
          <p:cNvPr id="5126" name="Picture 6" descr="https://skforecast.org/0.7.0/img/diagram-single-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605" y="3528275"/>
            <a:ext cx="5374772" cy="2890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6364899" y="2826117"/>
            <a:ext cx="55066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Статическая оценка предполагает использование известных данных в исторических данных 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5991306" y="647473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https://skforecast.org/0.7.0/introduction-forecasting/introduction-forecasting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0433" y="6474735"/>
            <a:ext cx="656108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https://timeweb.cloud/tutorials/python/prognozirovanie-vremennyh-ryadov-python-3</a:t>
            </a:r>
          </a:p>
        </p:txBody>
      </p:sp>
    </p:spTree>
    <p:extLst>
      <p:ext uri="{BB962C8B-B14F-4D97-AF65-F5344CB8AC3E}">
        <p14:creationId xmlns:p14="http://schemas.microsoft.com/office/powerpoint/2010/main" val="2168516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5" y="320303"/>
            <a:ext cx="12227859" cy="773392"/>
          </a:xfrm>
        </p:spPr>
        <p:txBody>
          <a:bodyPr/>
          <a:lstStyle/>
          <a:p>
            <a:r>
              <a:rPr lang="ru-RU" dirty="0"/>
              <a:t>Признаки во временных рядах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5" y="1053547"/>
            <a:ext cx="11228295" cy="49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Может быть несколько вариантов редукции. </a:t>
            </a:r>
          </a:p>
          <a:p>
            <a:endParaRPr lang="ru-RU" sz="2400" dirty="0"/>
          </a:p>
        </p:txBody>
      </p:sp>
      <p:pic>
        <p:nvPicPr>
          <p:cNvPr id="2050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953" y="1875650"/>
            <a:ext cx="5431629" cy="2060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0" y="65209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https://cienciadedatos.net/documentos/py27-time-series-forecasting-python-scikitlearn.html</a:t>
            </a:r>
          </a:p>
        </p:txBody>
      </p:sp>
      <p:pic>
        <p:nvPicPr>
          <p:cNvPr id="2052" name="Picture 4" descr="https://cienciadedatos.net/images/diagram-recursive-mutistep-forecasti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2" y="2509227"/>
            <a:ext cx="4737848" cy="232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cienciadedatos.net/images/diagram-direct-multi-step-forecasting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953" y="4172247"/>
            <a:ext cx="5129776" cy="244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175894" y="1748610"/>
            <a:ext cx="4707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Добавление экзогенных факторов к редукции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516" y="1945873"/>
            <a:ext cx="2462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Рекурсивная редукция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5"/>
          <a:srcRect l="51108" t="7033" r="6647" b="22856"/>
          <a:stretch/>
        </p:blipFill>
        <p:spPr>
          <a:xfrm>
            <a:off x="417732" y="4838172"/>
            <a:ext cx="2931460" cy="16520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75894" y="3908394"/>
            <a:ext cx="1971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Прямая редукция 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5818094" y="2315205"/>
            <a:ext cx="0" cy="39869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818094" y="3908394"/>
            <a:ext cx="5884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6239434" y="6576151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https://machinelearningmastery.com/multi-step-time-series-forecasting/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905533" y="6464143"/>
            <a:ext cx="29776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https://robjhyndman.com/papers/rectify.pdf</a:t>
            </a:r>
          </a:p>
        </p:txBody>
      </p:sp>
    </p:spTree>
    <p:extLst>
      <p:ext uri="{BB962C8B-B14F-4D97-AF65-F5344CB8AC3E}">
        <p14:creationId xmlns:p14="http://schemas.microsoft.com/office/powerpoint/2010/main" val="3143492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Учет экзогенных и других типов признаков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0075" y="1368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 лаговым признакам могут быть добавлены и другие признаки.</a:t>
            </a:r>
          </a:p>
          <a:p>
            <a:endParaRPr lang="ru-RU" dirty="0"/>
          </a:p>
        </p:txBody>
      </p:sp>
      <p:pic>
        <p:nvPicPr>
          <p:cNvPr id="1026" name="Picture 2" descr="https://cienciadedatos.net/images/matrix_transformation_with_exog_variab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1825625"/>
            <a:ext cx="5854699" cy="2220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cienciadedatos.net/images/diagram_skforecast_multioutpu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1" r="7931"/>
          <a:stretch/>
        </p:blipFill>
        <p:spPr bwMode="auto">
          <a:xfrm>
            <a:off x="5857874" y="2512679"/>
            <a:ext cx="6162883" cy="4088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80975" y="654175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https://skforecast.org/0.16.0/introduction-forecasting/introduction-forecasting</a:t>
            </a:r>
          </a:p>
        </p:txBody>
      </p:sp>
    </p:spTree>
    <p:extLst>
      <p:ext uri="{BB962C8B-B14F-4D97-AF65-F5344CB8AC3E}">
        <p14:creationId xmlns:p14="http://schemas.microsoft.com/office/powerpoint/2010/main" val="2981377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504" y="179411"/>
            <a:ext cx="12227859" cy="773392"/>
          </a:xfrm>
        </p:spPr>
        <p:txBody>
          <a:bodyPr/>
          <a:lstStyle/>
          <a:p>
            <a:pPr algn="ctr"/>
            <a:r>
              <a:rPr lang="ru-RU" dirty="0"/>
              <a:t>Признаки во временных рядах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504" y="810174"/>
            <a:ext cx="11660842" cy="5304876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Лаги временных рядов</a:t>
            </a:r>
          </a:p>
          <a:p>
            <a:r>
              <a:rPr lang="ru-RU" dirty="0"/>
              <a:t>Преобразования лагов (степенное, разность и </a:t>
            </a:r>
            <a:r>
              <a:rPr lang="ru-RU" dirty="0" err="1"/>
              <a:t>тд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Оконные статистики лагов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Max/min value of series in a window</a:t>
            </a:r>
          </a:p>
          <a:p>
            <a:pPr lvl="1"/>
            <a:r>
              <a:rPr lang="en-US" dirty="0"/>
              <a:t>Average/median value in a window</a:t>
            </a:r>
          </a:p>
          <a:p>
            <a:pPr lvl="1"/>
            <a:r>
              <a:rPr lang="en-US" dirty="0"/>
              <a:t>Window variance</a:t>
            </a:r>
          </a:p>
          <a:p>
            <a:pPr lvl="1"/>
            <a:r>
              <a:rPr lang="en-US" dirty="0"/>
              <a:t>etc.</a:t>
            </a:r>
          </a:p>
          <a:p>
            <a:r>
              <a:rPr lang="ru-RU" dirty="0"/>
              <a:t>Даты и время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Порядковые (категориальные) данные: Число, день недели, месяц, квартал и </a:t>
            </a:r>
            <a:r>
              <a:rPr lang="ru-RU" dirty="0" err="1"/>
              <a:t>тд</a:t>
            </a:r>
            <a:r>
              <a:rPr lang="ru-RU" dirty="0"/>
              <a:t>,</a:t>
            </a:r>
            <a:endParaRPr lang="en-US" dirty="0"/>
          </a:p>
          <a:p>
            <a:pPr lvl="1"/>
            <a:r>
              <a:rPr lang="ru-RU" dirty="0"/>
              <a:t>Бинарные (дискретные): </a:t>
            </a:r>
            <a:r>
              <a:rPr lang="en-US" dirty="0"/>
              <a:t>Is this day a holiday? Maybe there is a special event? </a:t>
            </a:r>
            <a:endParaRPr lang="ru-RU" dirty="0"/>
          </a:p>
          <a:p>
            <a:r>
              <a:rPr lang="ru-RU" dirty="0"/>
              <a:t>Экзогенные факторы, объясняющие (в домене) целевую переменную</a:t>
            </a:r>
          </a:p>
          <a:p>
            <a:r>
              <a:rPr lang="ru-RU" dirty="0"/>
              <a:t>Результаты, статистики остатков и другие характеристики предсказаний других моделей (напр. </a:t>
            </a:r>
            <a:r>
              <a:rPr lang="ru-RU" dirty="0" err="1"/>
              <a:t>A</a:t>
            </a:r>
            <a:r>
              <a:rPr lang="en-US" dirty="0"/>
              <a:t>RIMA)</a:t>
            </a:r>
            <a:endParaRPr lang="ru-RU" dirty="0"/>
          </a:p>
          <a:p>
            <a:r>
              <a:rPr lang="ru-RU" dirty="0"/>
              <a:t>Другие признаки: напр. Частотные переменные, значения статистик и </a:t>
            </a:r>
            <a:r>
              <a:rPr lang="ru-RU" dirty="0" err="1"/>
              <a:t>тд</a:t>
            </a:r>
            <a:endParaRPr lang="en-US" dirty="0"/>
          </a:p>
          <a:p>
            <a:r>
              <a:rPr lang="ru-RU" dirty="0"/>
              <a:t>Также используют - Преобразования метки (степенное, разность, кодирование и </a:t>
            </a:r>
            <a:r>
              <a:rPr lang="ru-RU" dirty="0" err="1"/>
              <a:t>тд</a:t>
            </a:r>
            <a:r>
              <a:rPr lang="ru-RU" dirty="0"/>
              <a:t>)</a:t>
            </a:r>
            <a:endParaRPr lang="en-US" dirty="0"/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553480" y="6581001"/>
            <a:ext cx="489417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753100" y="6428109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https://nixtlaverse.nixtla.io/mlforecast/docs/getting-started/end_to_end_walkthrough.htm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D709B-8C57-6B5A-961D-91A269E0454F}"/>
              </a:ext>
            </a:extLst>
          </p:cNvPr>
          <p:cNvSpPr txBox="1"/>
          <p:nvPr/>
        </p:nvSpPr>
        <p:spPr>
          <a:xfrm>
            <a:off x="3888" y="6417190"/>
            <a:ext cx="6235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skforecast.org</a:t>
            </a:r>
            <a:r>
              <a:rPr lang="ru-RU" sz="1200" dirty="0"/>
              <a:t>/0.16.0/</a:t>
            </a:r>
            <a:r>
              <a:rPr lang="ru-RU" sz="1200" dirty="0" err="1"/>
              <a:t>user_guides</a:t>
            </a:r>
            <a:r>
              <a:rPr lang="ru-RU" sz="1200" dirty="0"/>
              <a:t>/</a:t>
            </a:r>
            <a:r>
              <a:rPr lang="ru-RU" sz="1200" dirty="0" err="1"/>
              <a:t>categorical-features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6611252"/>
            <a:ext cx="6972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dirty="0"/>
              <a:t>https://readmedium.com/feature-engineering-for-time-series-data-a-deep-yet-intuitive-guide-b544aeb26ec2</a:t>
            </a:r>
          </a:p>
        </p:txBody>
      </p:sp>
    </p:spTree>
    <p:extLst>
      <p:ext uri="{BB962C8B-B14F-4D97-AF65-F5344CB8AC3E}">
        <p14:creationId xmlns:p14="http://schemas.microsoft.com/office/powerpoint/2010/main" val="139361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694" y="365125"/>
            <a:ext cx="11022106" cy="92579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rgbClr val="0D47A1"/>
                </a:solidFill>
                <a:latin typeface="system-ui"/>
              </a:rPr>
              <a:t>Разница между задачами регрессии и предсказания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386460"/>
              </p:ext>
            </p:extLst>
          </p:nvPr>
        </p:nvGraphicFramePr>
        <p:xfrm>
          <a:off x="421341" y="1290918"/>
          <a:ext cx="10932459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4954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693459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Табличная</a:t>
                      </a:r>
                      <a:r>
                        <a:rPr lang="ru-RU" baseline="0" dirty="0"/>
                        <a:t> регрессия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Предсказания ВР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Регрессия (</a:t>
                      </a:r>
                      <a:r>
                        <a:rPr lang="ru-RU" dirty="0" err="1"/>
                        <a:t>фичи</a:t>
                      </a:r>
                      <a:r>
                        <a:rPr lang="ru-RU" dirty="0"/>
                        <a:t> связаны</a:t>
                      </a:r>
                      <a:r>
                        <a:rPr lang="ru-RU" baseline="0" dirty="0"/>
                        <a:t> с меткой но не коррелируют)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Предсказание (следующее</a:t>
                      </a:r>
                      <a:r>
                        <a:rPr lang="ru-RU" baseline="0" dirty="0"/>
                        <a:t> значение сильно коррелирует с предыдущим, на которых строится </a:t>
                      </a:r>
                      <a:r>
                        <a:rPr lang="ru-RU" baseline="0" dirty="0" err="1"/>
                        <a:t>прогнз</a:t>
                      </a:r>
                      <a:r>
                        <a:rPr lang="ru-RU" baseline="0" dirty="0"/>
                        <a:t>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Признаки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Колонки – признаки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 – это не признаки, признаки надо выделить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Отбор, трансформация</a:t>
                      </a:r>
                      <a:r>
                        <a:rPr lang="ru-RU" baseline="0" dirty="0"/>
                        <a:t> </a:t>
                      </a:r>
                      <a:r>
                        <a:rPr lang="ru-RU" dirty="0" err="1"/>
                        <a:t>фичей</a:t>
                      </a:r>
                      <a:r>
                        <a:rPr lang="ru-RU" dirty="0"/>
                        <a:t>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Редукция ВР к таблице</a:t>
                      </a:r>
                      <a:r>
                        <a:rPr lang="ru-RU" baseline="0" dirty="0"/>
                        <a:t> + табличный </a:t>
                      </a:r>
                      <a:r>
                        <a:rPr lang="ru-RU" dirty="0" err="1"/>
                        <a:t>Фичи-инженеринг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Кросс-</a:t>
                      </a:r>
                      <a:r>
                        <a:rPr lang="ru-RU" dirty="0" err="1"/>
                        <a:t>валидация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Случайная</a:t>
                      </a:r>
                      <a:r>
                        <a:rPr lang="ru-RU" baseline="0" dirty="0"/>
                        <a:t> </a:t>
                      </a:r>
                      <a:r>
                        <a:rPr lang="ru-RU" baseline="0" dirty="0" err="1"/>
                        <a:t>подвыборка</a:t>
                      </a:r>
                      <a:r>
                        <a:rPr lang="ru-RU" dirty="0"/>
                        <a:t>, </a:t>
                      </a:r>
                      <a:r>
                        <a:rPr lang="en-US" dirty="0"/>
                        <a:t>k-folds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Walking</a:t>
                      </a:r>
                      <a:r>
                        <a:rPr lang="en-US" baseline="0" dirty="0"/>
                        <a:t>-forward – </a:t>
                      </a:r>
                      <a:r>
                        <a:rPr lang="ru-RU" baseline="0" dirty="0"/>
                        <a:t>нельзя делать случайную </a:t>
                      </a:r>
                      <a:r>
                        <a:rPr lang="ru-RU" baseline="0" dirty="0" err="1"/>
                        <a:t>подвыборку</a:t>
                      </a:r>
                      <a:r>
                        <a:rPr lang="ru-RU" baseline="0" dirty="0"/>
                        <a:t>, только последовательно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Паттерны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Паттерн</a:t>
                      </a:r>
                      <a:r>
                        <a:rPr lang="ru-RU" baseline="0" dirty="0"/>
                        <a:t> – набор </a:t>
                      </a:r>
                      <a:r>
                        <a:rPr lang="ru-RU" baseline="0" dirty="0" err="1"/>
                        <a:t>фичей</a:t>
                      </a:r>
                      <a:r>
                        <a:rPr lang="ru-RU" baseline="0" dirty="0"/>
                        <a:t> (запись, строка)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Последовательный паттерн (его еще нужно преобразовать в </a:t>
                      </a:r>
                      <a:r>
                        <a:rPr lang="ru-RU" dirty="0" err="1"/>
                        <a:t>фичи</a:t>
                      </a:r>
                      <a:r>
                        <a:rPr lang="ru-RU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21340" y="5118864"/>
            <a:ext cx="107038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system-ui"/>
              </a:rPr>
              <a:t>Прогнозирование ВР</a:t>
            </a:r>
            <a:r>
              <a:rPr lang="ru-RU" altLang="ru-RU" dirty="0">
                <a:latin typeface="system-ui"/>
              </a:rPr>
              <a:t> - это не то же самое, что контролируемое обучение (с учителем), в т.ч. задача регрессии, например, в </a:t>
            </a:r>
            <a:r>
              <a:rPr lang="ru-RU" altLang="ru-RU" dirty="0" err="1">
                <a:latin typeface="Menlo"/>
              </a:rPr>
              <a:t>scikit-learn</a:t>
            </a:r>
            <a:r>
              <a:rPr lang="ru-RU" altLang="ru-RU" dirty="0">
                <a:latin typeface="system-ui"/>
              </a:rPr>
              <a:t>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21339" y="5793031"/>
            <a:ext cx="107038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>
                <a:latin typeface="system-ui"/>
              </a:rPr>
              <a:t>Даже если прогноз </a:t>
            </a:r>
            <a:r>
              <a:rPr lang="ru-RU" altLang="ru-RU" dirty="0">
                <a:latin typeface="system-ui"/>
              </a:rPr>
              <a:t>преобразован в регрессию, </a:t>
            </a:r>
            <a:r>
              <a:rPr lang="ru-RU" altLang="ru-RU" dirty="0" err="1">
                <a:latin typeface="system-ui"/>
              </a:rPr>
              <a:t>валидация</a:t>
            </a:r>
            <a:r>
              <a:rPr lang="ru-RU" altLang="ru-RU" dirty="0">
                <a:latin typeface="system-ui"/>
              </a:rPr>
              <a:t> и тест не перемешивают с </a:t>
            </a:r>
            <a:r>
              <a:rPr lang="ru-RU" altLang="ru-RU" dirty="0" err="1">
                <a:latin typeface="system-ui"/>
              </a:rPr>
              <a:t>трейном</a:t>
            </a:r>
            <a:r>
              <a:rPr lang="ru-RU" altLang="ru-RU" dirty="0">
                <a:latin typeface="system-ui"/>
              </a:rPr>
              <a:t> (последовательность сохраняется!).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>
                <a:latin typeface="system-ui"/>
              </a:rPr>
              <a:t>Лучше делать операции редукции после разделения выборок!</a:t>
            </a:r>
          </a:p>
        </p:txBody>
      </p:sp>
    </p:spTree>
    <p:extLst>
      <p:ext uri="{BB962C8B-B14F-4D97-AF65-F5344CB8AC3E}">
        <p14:creationId xmlns:p14="http://schemas.microsoft.com/office/powerpoint/2010/main" val="5124084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>
            <a:normAutofit/>
          </a:bodyPr>
          <a:lstStyle/>
          <a:p>
            <a:r>
              <a:rPr lang="ru-RU" sz="4000" b="1" dirty="0">
                <a:solidFill>
                  <a:srgbClr val="0D47A1"/>
                </a:solidFill>
                <a:latin typeface="system-ui"/>
              </a:rPr>
              <a:t>Замечания к процедуре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/>
              <a:t>Типичные ошибки при наивном сопоставлении задач регрессии и предсказания:</a:t>
            </a:r>
            <a:endParaRPr kumimoji="0" lang="ru-RU" altLang="ru-RU" sz="23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Чрезмерно оптимистичная оценка (завышенная точность),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Появление ложных корреляций между данными,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Напр. перемешанные в таблице данные во временном ряду были бы значительно разнесены во времени. 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Случайная кросс-</a:t>
            </a:r>
            <a:r>
              <a:rPr lang="ru-RU" altLang="ru-RU" sz="2300" dirty="0" err="1"/>
              <a:t>валидация</a:t>
            </a:r>
            <a:r>
              <a:rPr lang="ru-RU" altLang="ru-RU" sz="2300" dirty="0"/>
              <a:t> также дает смещенную оценку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ru-RU" altLang="ru-RU" sz="2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sz="2100" dirty="0"/>
          </a:p>
        </p:txBody>
      </p:sp>
    </p:spTree>
    <p:extLst>
      <p:ext uri="{BB962C8B-B14F-4D97-AF65-F5344CB8AC3E}">
        <p14:creationId xmlns:p14="http://schemas.microsoft.com/office/powerpoint/2010/main" val="628570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15712" y="174625"/>
            <a:ext cx="11147613" cy="898899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b="1" dirty="0"/>
              <a:t>Проблемы выбора окна Редукции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712" y="940174"/>
            <a:ext cx="11985813" cy="5154704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dirty="0"/>
              <a:t>Выбор слишком короткого или слишком длинного окна может привести к </a:t>
            </a:r>
            <a:br>
              <a:rPr lang="ru-RU" altLang="ru-RU" sz="2300" dirty="0"/>
            </a:b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“p-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value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 </a:t>
            </a:r>
            <a:r>
              <a:rPr lang="ru-RU" altLang="ru-RU" sz="2300" dirty="0" err="1">
                <a:solidFill>
                  <a:srgbClr val="0D47A1"/>
                </a:solidFill>
                <a:hlinkClick r:id="rId2"/>
              </a:rPr>
              <a:t>hacking</a:t>
            </a:r>
            <a:r>
              <a:rPr lang="ru-RU" altLang="ru-RU" sz="2300" dirty="0">
                <a:solidFill>
                  <a:srgbClr val="0D47A1"/>
                </a:solidFill>
                <a:hlinkClick r:id="rId2"/>
              </a:rPr>
              <a:t>”</a:t>
            </a:r>
            <a:r>
              <a:rPr lang="ru-RU" altLang="ru-RU" sz="2300" dirty="0"/>
              <a:t> – то есть утечке информации (или появление ложных зависимостей).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lang="en-US" altLang="ru-RU" sz="2300" dirty="0"/>
          </a:p>
          <a:p>
            <a:pPr mar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r>
              <a:rPr lang="ru-RU" altLang="ru-RU" sz="2300" b="1" dirty="0"/>
              <a:t>Для </a:t>
            </a:r>
            <a:r>
              <a:rPr lang="ru-RU" altLang="ru-RU" sz="2300" b="1" dirty="0" err="1"/>
              <a:t>преотвращения</a:t>
            </a:r>
            <a:r>
              <a:rPr lang="ru-RU" altLang="ru-RU" sz="2300" b="1" dirty="0"/>
              <a:t>: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en-US" altLang="ru-RU" sz="2300" dirty="0"/>
              <a:t>Walking forward </a:t>
            </a:r>
            <a:r>
              <a:rPr lang="ru-RU" altLang="ru-RU" sz="2300" dirty="0"/>
              <a:t>кросс </a:t>
            </a:r>
            <a:r>
              <a:rPr lang="ru-RU" altLang="ru-RU" sz="2300" dirty="0" err="1"/>
              <a:t>валидация</a:t>
            </a:r>
            <a:r>
              <a:rPr lang="en-US" altLang="ru-RU" sz="2300" dirty="0"/>
              <a:t> </a:t>
            </a:r>
            <a:r>
              <a:rPr lang="ru-RU" altLang="ru-RU" sz="2300" dirty="0"/>
              <a:t>и </a:t>
            </a:r>
            <a:r>
              <a:rPr lang="en-US" altLang="ru-RU" sz="2300" dirty="0" err="1"/>
              <a:t>backtesting</a:t>
            </a:r>
            <a:r>
              <a:rPr lang="ru-RU" altLang="ru-RU" sz="2300" dirty="0"/>
              <a:t>. 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>
                <a:solidFill>
                  <a:srgbClr val="0D47A1"/>
                </a:solidFill>
              </a:rPr>
              <a:t>Тесты</a:t>
            </a:r>
            <a:r>
              <a:rPr lang="ru-RU" altLang="ru-RU" sz="2300" dirty="0"/>
              <a:t> на ложные корреляции. </a:t>
            </a:r>
          </a:p>
          <a:p>
            <a:pPr lvl="2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Напр. </a:t>
            </a:r>
            <a:r>
              <a:rPr lang="ru-RU" altLang="ru-RU" dirty="0" err="1"/>
              <a:t>Bonferonni</a:t>
            </a:r>
            <a:r>
              <a:rPr lang="ru-RU" altLang="ru-RU" dirty="0"/>
              <a:t> </a:t>
            </a:r>
            <a:r>
              <a:rPr lang="ru-RU" altLang="ru-RU" dirty="0" err="1"/>
              <a:t>correction</a:t>
            </a:r>
            <a:r>
              <a:rPr lang="ru-RU" altLang="ru-RU" dirty="0"/>
              <a:t>, </a:t>
            </a:r>
            <a:r>
              <a:rPr lang="ru-RU" altLang="ru-RU" dirty="0" err="1"/>
              <a:t>Scheffé's</a:t>
            </a:r>
            <a:r>
              <a:rPr lang="ru-RU" altLang="ru-RU" dirty="0"/>
              <a:t> </a:t>
            </a:r>
            <a:r>
              <a:rPr lang="ru-RU" altLang="ru-RU" dirty="0" err="1"/>
              <a:t>method</a:t>
            </a:r>
            <a:r>
              <a:rPr lang="ru-RU" altLang="ru-RU" dirty="0"/>
              <a:t> и </a:t>
            </a:r>
            <a:r>
              <a:rPr lang="ru-RU" altLang="ru-RU" dirty="0" err="1"/>
              <a:t>false</a:t>
            </a:r>
            <a:r>
              <a:rPr lang="ru-RU" altLang="ru-RU" dirty="0"/>
              <a:t> </a:t>
            </a:r>
            <a:r>
              <a:rPr lang="ru-RU" altLang="ru-RU" dirty="0" err="1"/>
              <a:t>discovery</a:t>
            </a:r>
            <a:r>
              <a:rPr lang="ru-RU" altLang="ru-RU" dirty="0"/>
              <a:t> </a:t>
            </a:r>
            <a:r>
              <a:rPr lang="ru-RU" altLang="ru-RU" dirty="0" err="1"/>
              <a:t>rate</a:t>
            </a:r>
            <a:r>
              <a:rPr lang="ru-RU" altLang="ru-RU" dirty="0"/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При добавлении признаков в окно прогноза нужно смотреть чтобы не было утечки данных – признаки не должны опережать временную метку предсказываемого значения.</a:t>
            </a:r>
          </a:p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300" dirty="0"/>
              <a:t>Если метка прогноза преобразована, часто забывают сделать обратное преобразование</a:t>
            </a:r>
            <a:r>
              <a:rPr lang="ru-RU" altLang="ru-RU" sz="2100" dirty="0">
                <a:latin typeface="system-ui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None/>
            </a:pPr>
            <a:endParaRPr kumimoji="0" lang="ru-RU" altLang="ru-RU" sz="2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ru-RU" sz="21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19379" y="6331148"/>
            <a:ext cx="42082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https://www.nature.com/articles/d41586-025-01246-1</a:t>
            </a:r>
          </a:p>
        </p:txBody>
      </p:sp>
    </p:spTree>
    <p:extLst>
      <p:ext uri="{BB962C8B-B14F-4D97-AF65-F5344CB8AC3E}">
        <p14:creationId xmlns:p14="http://schemas.microsoft.com/office/powerpoint/2010/main" val="3365436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2046" y="105148"/>
            <a:ext cx="11111753" cy="656851"/>
          </a:xfrm>
        </p:spPr>
        <p:txBody>
          <a:bodyPr>
            <a:normAutofit fontScale="90000"/>
          </a:bodyPr>
          <a:lstStyle/>
          <a:p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Экзогенные переменные  (</a:t>
            </a:r>
            <a:r>
              <a:rPr lang="ru-RU" altLang="ru-RU" b="1" dirty="0" err="1">
                <a:solidFill>
                  <a:srgbClr val="0D47A1"/>
                </a:solidFill>
                <a:latin typeface="system-ui"/>
              </a:rPr>
              <a:t>ковариаты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)</a:t>
            </a:r>
            <a:endParaRPr lang="ru-RU" b="1" dirty="0">
              <a:solidFill>
                <a:srgbClr val="0D47A1"/>
              </a:solidFill>
              <a:latin typeface="system-ui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300" b="1" dirty="0"/>
              <a:t>Э</a:t>
            </a:r>
            <a:r>
              <a:rPr lang="en-US" sz="2300" b="1" dirty="0" err="1"/>
              <a:t>кзогенны</a:t>
            </a:r>
            <a:r>
              <a:rPr lang="ru-RU" sz="2300" b="1" dirty="0"/>
              <a:t>е факторы (</a:t>
            </a:r>
            <a:r>
              <a:rPr lang="ru-RU" sz="2300" b="1" dirty="0" err="1"/>
              <a:t>ковариаты</a:t>
            </a:r>
            <a:r>
              <a:rPr lang="ru-RU" sz="2300" b="1" dirty="0"/>
              <a:t>, </a:t>
            </a:r>
            <a:r>
              <a:rPr lang="ru-RU" sz="2300" b="1" dirty="0" err="1"/>
              <a:t>exdog</a:t>
            </a:r>
            <a:r>
              <a:rPr lang="en-US" sz="2300" b="1" dirty="0"/>
              <a:t>)</a:t>
            </a:r>
            <a:r>
              <a:rPr lang="ru-RU" sz="2300" dirty="0"/>
              <a:t> – факторы, не имеющие линейной корреляции с ВР, но объясняющие его поведения  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altLang="ru-RU" sz="2300" dirty="0"/>
              <a:t>Напр. Прогноз энергопотребления </a:t>
            </a:r>
            <a:r>
              <a:rPr lang="en-US" altLang="ru-RU" sz="2300" dirty="0"/>
              <a:t>: </a:t>
            </a:r>
            <a:r>
              <a:rPr lang="ru-RU" altLang="ru-RU" sz="2300" dirty="0"/>
              <a:t>Температура, время суток, день недели</a:t>
            </a:r>
          </a:p>
          <a:p>
            <a:pPr marL="447675" lvl="2" indent="0" eaLnBrk="0" fontAlgn="base" hangingPunc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altLang="ru-RU" sz="2300" b="1" dirty="0"/>
              <a:t>Требования к экзогенным факторам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На практике </a:t>
            </a:r>
            <a:r>
              <a:rPr lang="ru-RU" altLang="ru-RU" sz="2300" dirty="0" err="1"/>
              <a:t>экзогенность</a:t>
            </a:r>
            <a:r>
              <a:rPr lang="ru-RU" altLang="ru-RU" sz="2300" dirty="0"/>
              <a:t> устанавливается экспертом в предметной области!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объясняют ВР – то есть их использование статистически значимо и стабильно улучшает прогноз. В ином случае лучше фактор не использовать.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должны быть «всегда в наличии», не пропадать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Экзогенные факторы не должны приводить к «утечке данных» (созданию ложных корреляций) – они должны не завесить от ВР</a:t>
            </a:r>
          </a:p>
          <a:p>
            <a:pPr lvl="2" eaLnBrk="0" fontAlgn="base" hangingPunct="0">
              <a:lnSpc>
                <a:spcPct val="100000"/>
              </a:lnSpc>
              <a:spcBef>
                <a:spcPts val="200"/>
              </a:spcBef>
            </a:pPr>
            <a:r>
              <a:rPr lang="ru-RU" altLang="ru-RU" sz="2300" dirty="0"/>
              <a:t>Для многомерных ВР экзогенные факторы могут быть локальными или глобальными – то есть общей информацией между ВР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ts val="200"/>
              </a:spcBef>
              <a:buNone/>
            </a:pPr>
            <a:endParaRPr lang="ru-RU" altLang="ru-RU" sz="23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altLang="ru-RU" sz="2300" b="1" i="1" dirty="0"/>
              <a:t>Эндогенные ф</a:t>
            </a:r>
            <a:r>
              <a:rPr lang="en-US" sz="2300" b="1" i="1" dirty="0" err="1"/>
              <a:t>акторы</a:t>
            </a:r>
            <a:r>
              <a:rPr lang="en-US" sz="2300" i="1" dirty="0"/>
              <a:t>, </a:t>
            </a:r>
            <a:r>
              <a:rPr lang="en-US" sz="2300" i="1" dirty="0" err="1"/>
              <a:t>очевидно</a:t>
            </a:r>
            <a:r>
              <a:rPr lang="en-US" sz="2300" i="1" dirty="0"/>
              <a:t> </a:t>
            </a:r>
            <a:r>
              <a:rPr lang="en-US" sz="2300" i="1" dirty="0" err="1"/>
              <a:t>коррелирующие</a:t>
            </a:r>
            <a:r>
              <a:rPr lang="en-US" sz="2300" i="1" dirty="0"/>
              <a:t> </a:t>
            </a:r>
            <a:r>
              <a:rPr lang="en-US" sz="2300" i="1" dirty="0" err="1"/>
              <a:t>с</a:t>
            </a:r>
            <a:r>
              <a:rPr lang="en-US" sz="2300" i="1" dirty="0"/>
              <a:t> </a:t>
            </a:r>
            <a:r>
              <a:rPr lang="ru-RU" sz="2300" i="1" dirty="0"/>
              <a:t>ВР</a:t>
            </a:r>
            <a:r>
              <a:rPr lang="en-US" sz="2300" i="1" dirty="0"/>
              <a:t>. </a:t>
            </a:r>
            <a:endParaRPr lang="ru-RU" sz="2300" i="1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sz="2300" i="1" dirty="0"/>
              <a:t>Лаги ВР, преобразованные значения, значения автокорреляций, тренда или сезонности, и </a:t>
            </a:r>
            <a:r>
              <a:rPr lang="ru-RU" sz="2300" i="1" dirty="0" err="1"/>
              <a:t>тд</a:t>
            </a:r>
            <a:endParaRPr lang="ru-RU" sz="2300" i="1" dirty="0"/>
          </a:p>
        </p:txBody>
      </p:sp>
    </p:spTree>
    <p:extLst>
      <p:ext uri="{BB962C8B-B14F-4D97-AF65-F5344CB8AC3E}">
        <p14:creationId xmlns:p14="http://schemas.microsoft.com/office/powerpoint/2010/main" val="1968690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Экзогенные переменные</a:t>
            </a:r>
            <a:r>
              <a:rPr lang="en-US" altLang="ru-RU" b="1" dirty="0">
                <a:solidFill>
                  <a:srgbClr val="0D47A1"/>
                </a:solidFill>
                <a:latin typeface="system-ui"/>
              </a:rPr>
              <a:t>.</a:t>
            </a:r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 Три группы</a:t>
            </a:r>
            <a:r>
              <a:rPr lang="ru-RU" altLang="ru-RU" dirty="0"/>
              <a:t>:</a:t>
            </a:r>
            <a:r>
              <a:rPr lang="ru-RU" altLang="ru-RU" dirty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b="1" dirty="0"/>
              <a:t>Статические экзогенные переменные</a:t>
            </a:r>
            <a:r>
              <a:rPr lang="ru-RU" altLang="ru-RU" dirty="0"/>
              <a:t>: 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Несут неизменную во времени информацию для каждого временного ряда.</a:t>
            </a:r>
            <a:endParaRPr lang="en-US" altLang="ru-RU" dirty="0"/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/>
              <a:t>Напр. </a:t>
            </a:r>
            <a:r>
              <a:rPr lang="ru-RU" altLang="ru-RU" sz="2400" dirty="0"/>
              <a:t> идентификаторы регионов, групп товаров и т. д.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4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Исторические экзогенные переменные</a:t>
            </a:r>
            <a:r>
              <a:rPr lang="ru-RU" altLang="ru-RU" dirty="0"/>
              <a:t>: переменная ограничена прошлыми наблюдаемыми значениями. 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sz="2600" dirty="0"/>
              <a:t>Причинность можно проверить напр. при помощи Теста </a:t>
            </a:r>
            <a:r>
              <a:rPr lang="ru-RU" altLang="ru-RU" sz="2600" dirty="0" err="1"/>
              <a:t>Гранжера</a:t>
            </a:r>
            <a:r>
              <a:rPr lang="ru-RU" altLang="ru-RU" sz="2600" dirty="0"/>
              <a:t> на казуальность.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sz="2600" dirty="0"/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b="1" dirty="0"/>
              <a:t>Будущие экзогенные переменные</a:t>
            </a:r>
            <a:r>
              <a:rPr lang="ru-RU" altLang="ru-RU" dirty="0"/>
              <a:t>:  доступны на момент прогнозирования. 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Напр. календарные переменные, известные события, (напр. запланированные акции),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Прогнозы факторов (напр. прогноз погоды для прогноза электропотребления на 1 день).</a:t>
            </a:r>
            <a:endParaRPr lang="en-US" altLang="ru-RU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Важно чтобы переменная всегда в будущем была известна и не несла </a:t>
            </a:r>
            <a:r>
              <a:rPr lang="en-US" altLang="ru-RU" dirty="0"/>
              <a:t>data leaks</a:t>
            </a:r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Для проверки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обратный тест на казуальность (фактор на ВР) </a:t>
            </a:r>
          </a:p>
          <a:p>
            <a:pPr lvl="2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Lead-Lag Analysis</a:t>
            </a:r>
            <a:r>
              <a:rPr lang="ru-RU" dirty="0"/>
              <a:t> – на сколько далеко нужно сместить ВР чтобы возникла казуальность?</a:t>
            </a:r>
            <a:endParaRPr lang="en-US" b="1" dirty="0"/>
          </a:p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8365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0146" y="238498"/>
            <a:ext cx="11111753" cy="656851"/>
          </a:xfrm>
        </p:spPr>
        <p:txBody>
          <a:bodyPr>
            <a:normAutofit fontScale="90000"/>
          </a:bodyPr>
          <a:lstStyle/>
          <a:p>
            <a:pPr lvl="0"/>
            <a:r>
              <a:rPr lang="ru-RU" altLang="ru-RU" b="1" dirty="0">
                <a:solidFill>
                  <a:srgbClr val="0D47A1"/>
                </a:solidFill>
                <a:latin typeface="system-ui"/>
              </a:rPr>
              <a:t>Многомерные ВР</a:t>
            </a:r>
            <a:r>
              <a:rPr lang="ru-RU" altLang="ru-RU" dirty="0"/>
              <a:t>:</a:t>
            </a:r>
            <a:r>
              <a:rPr lang="ru-RU" altLang="ru-RU" dirty="0">
                <a:latin typeface="system-ui"/>
              </a:rPr>
              <a:t> 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4470" y="761998"/>
            <a:ext cx="11949953" cy="5862919"/>
          </a:xfrm>
        </p:spPr>
        <p:txBody>
          <a:bodyPr>
            <a:normAutofit/>
          </a:bodyPr>
          <a:lstStyle/>
          <a:p>
            <a:pPr lvl="1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ru-RU" alt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ru-RU" dirty="0"/>
          </a:p>
        </p:txBody>
      </p:sp>
      <p:pic>
        <p:nvPicPr>
          <p:cNvPr id="2050" name="Picture 2" descr="No description has been provided for thi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4" y="3704520"/>
            <a:ext cx="6391275" cy="2920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description has been provided for this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" y="969307"/>
            <a:ext cx="8223249" cy="315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23900" y="662491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https://skforecast.org/latest/user_guides/independent-multi-time-series-forecasting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5" y="1049517"/>
            <a:ext cx="1832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Независимые ВР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76875" y="4074719"/>
            <a:ext cx="1547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Связанные ВР</a:t>
            </a:r>
          </a:p>
        </p:txBody>
      </p:sp>
    </p:spTree>
    <p:extLst>
      <p:ext uri="{BB962C8B-B14F-4D97-AF65-F5344CB8AC3E}">
        <p14:creationId xmlns:p14="http://schemas.microsoft.com/office/powerpoint/2010/main" val="804076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>
            <a:normAutofit/>
          </a:bodyPr>
          <a:lstStyle/>
          <a:p>
            <a:pPr lvl="0"/>
            <a:r>
              <a:rPr lang="ru-RU" sz="4000" b="1" dirty="0">
                <a:solidFill>
                  <a:srgbClr val="0D47A1"/>
                </a:solidFill>
                <a:latin typeface="system-ui"/>
              </a:rPr>
              <a:t>Замечания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Не используйте обычную CV — только </a:t>
            </a:r>
            <a:r>
              <a:rPr lang="ru-RU" altLang="ru-RU" dirty="0" err="1"/>
              <a:t>time-based</a:t>
            </a:r>
            <a:r>
              <a:rPr lang="ru-RU" altLang="ru-RU" dirty="0"/>
              <a:t> CV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Экзогенные факторы используются только если они улучшают точность на тестах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признаки на утечку данных (забегают вперед на </a:t>
            </a:r>
            <a:r>
              <a:rPr lang="ru-RU" altLang="ru-RU" dirty="0" err="1"/>
              <a:t>трейне</a:t>
            </a:r>
            <a:r>
              <a:rPr lang="ru-RU" altLang="ru-RU" dirty="0"/>
              <a:t>)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Используйте </a:t>
            </a:r>
            <a:r>
              <a:rPr lang="en-US" altLang="ru-RU" dirty="0"/>
              <a:t>ARIMA </a:t>
            </a:r>
            <a:r>
              <a:rPr lang="ru-RU" altLang="ru-RU" dirty="0"/>
              <a:t>и </a:t>
            </a:r>
            <a:r>
              <a:rPr lang="en-US" altLang="ru-RU" dirty="0"/>
              <a:t>ETS </a:t>
            </a:r>
            <a:r>
              <a:rPr lang="ru-RU" altLang="ru-RU" dirty="0"/>
              <a:t>как </a:t>
            </a:r>
            <a:r>
              <a:rPr lang="ru-RU" altLang="ru-RU" dirty="0" err="1"/>
              <a:t>baseline</a:t>
            </a:r>
            <a:endParaRPr lang="ru-RU" altLang="ru-RU" dirty="0"/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Начинайте с простого: </a:t>
            </a:r>
            <a:r>
              <a:rPr lang="ru-RU" altLang="ru-RU" dirty="0" err="1"/>
              <a:t>XGBoost</a:t>
            </a:r>
            <a:r>
              <a:rPr lang="ru-RU" altLang="ru-RU" dirty="0"/>
              <a:t> + лаги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Модели легко могут потерять структуру (</a:t>
            </a:r>
            <a:r>
              <a:rPr lang="ru-RU" altLang="ru-RU" dirty="0" err="1"/>
              <a:t>патетрны</a:t>
            </a:r>
            <a:r>
              <a:rPr lang="ru-RU" altLang="ru-RU" dirty="0"/>
              <a:t> и </a:t>
            </a:r>
            <a:r>
              <a:rPr lang="ru-RU" altLang="ru-RU" dirty="0" err="1"/>
              <a:t>тд</a:t>
            </a:r>
            <a:r>
              <a:rPr lang="ru-RU" altLang="ru-RU" dirty="0"/>
              <a:t>), выбирайте размер окна, для стабилизации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Добавляйте календарные признаки: день недели, праздник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остатки — должны быть белым шумом</a:t>
            </a:r>
          </a:p>
          <a:p>
            <a:pPr lvl="0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dirty="0"/>
              <a:t>Проверяйте факторы на интерпретируемость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6026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44804-6C7E-CE44-45D4-FBF70ABC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FF64A-D469-D08D-2015-83ED65E3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D47A1"/>
                </a:solidFill>
                <a:latin typeface="system-ui"/>
              </a:rPr>
              <a:t>Замечания. </a:t>
            </a:r>
            <a:r>
              <a:rPr lang="ru-RU" altLang="ru-RU" sz="3600" b="1" dirty="0">
                <a:solidFill>
                  <a:srgbClr val="0D47A1"/>
                </a:solidFill>
                <a:latin typeface="system-ui"/>
              </a:rPr>
              <a:t>Календарные признаки могут быть </a:t>
            </a:r>
            <a:endParaRPr lang="ru-RU" sz="3600" b="1" dirty="0">
              <a:solidFill>
                <a:srgbClr val="0D47A1"/>
              </a:solidFill>
              <a:latin typeface="system-ui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A37EBE-87B0-6443-6F75-09B183A4A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30321"/>
            <a:ext cx="11601450" cy="5318104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Бинарными (</a:t>
            </a:r>
            <a:r>
              <a:rPr lang="ru-RU" altLang="ru-RU" sz="2100" dirty="0" err="1"/>
              <a:t>пн</a:t>
            </a:r>
            <a:r>
              <a:rPr lang="ru-RU" altLang="ru-RU" sz="2100" dirty="0"/>
              <a:t>, вт..), выходной и </a:t>
            </a:r>
            <a:r>
              <a:rPr lang="ru-RU" altLang="ru-RU" sz="2100" dirty="0" err="1"/>
              <a:t>тд</a:t>
            </a:r>
            <a:r>
              <a:rPr lang="ru-RU" altLang="ru-RU" sz="2100" dirty="0"/>
              <a:t>.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Для дней недели используйте 6 признаков. (все 7 – </a:t>
            </a:r>
            <a:r>
              <a:rPr lang="ru-RU" altLang="ru-RU" sz="2100" dirty="0" err="1"/>
              <a:t>мультиколиниарность</a:t>
            </a:r>
            <a:r>
              <a:rPr lang="ru-RU" altLang="ru-RU" sz="2100" dirty="0"/>
              <a:t>)  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2100" dirty="0"/>
              <a:t>Циклическими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/>
              <a:t>hour = </a:t>
            </a:r>
            <a:r>
              <a:rPr lang="en" altLang="ru-RU" sz="1800" dirty="0" err="1"/>
              <a:t>df.index.hour</a:t>
            </a:r>
            <a:endParaRPr lang="en" altLang="ru-RU" sz="1800" dirty="0"/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hour_sin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np.sin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hour / 24)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hour_cos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np.cos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hour / 24)</a:t>
            </a:r>
            <a:endParaRPr lang="ru-RU" altLang="ru-RU" sz="1800" dirty="0"/>
          </a:p>
          <a:p>
            <a:pPr lvl="2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1800" dirty="0"/>
              <a:t>00:00 и 23:00 близки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= </a:t>
            </a:r>
            <a:r>
              <a:rPr lang="en" altLang="ru-RU" sz="1800" dirty="0" err="1"/>
              <a:t>df.index.dayofyear</a:t>
            </a:r>
            <a:endParaRPr lang="en" altLang="ru-RU" sz="1800" dirty="0"/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doy_sin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np.sin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</a:t>
            </a: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/ 365.25)</a:t>
            </a:r>
          </a:p>
          <a:p>
            <a:pPr lvl="1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doy_cos</a:t>
            </a:r>
            <a:r>
              <a:rPr lang="en" altLang="ru-RU" sz="1800" dirty="0"/>
              <a:t>'] = </a:t>
            </a:r>
            <a:r>
              <a:rPr lang="en" altLang="ru-RU" sz="1800" dirty="0" err="1"/>
              <a:t>np.cos</a:t>
            </a:r>
            <a:r>
              <a:rPr lang="en" altLang="ru-RU" sz="1800" dirty="0"/>
              <a:t>(2 * </a:t>
            </a:r>
            <a:r>
              <a:rPr lang="en" altLang="ru-RU" sz="1800" dirty="0" err="1"/>
              <a:t>np.pi</a:t>
            </a:r>
            <a:r>
              <a:rPr lang="en" altLang="ru-RU" sz="1800" dirty="0"/>
              <a:t> * </a:t>
            </a:r>
            <a:r>
              <a:rPr lang="en" altLang="ru-RU" sz="1800" dirty="0" err="1"/>
              <a:t>df</a:t>
            </a:r>
            <a:r>
              <a:rPr lang="en" altLang="ru-RU" sz="1800" dirty="0"/>
              <a:t>['</a:t>
            </a:r>
            <a:r>
              <a:rPr lang="en" altLang="ru-RU" sz="1800" dirty="0" err="1"/>
              <a:t>day_of_year</a:t>
            </a:r>
            <a:r>
              <a:rPr lang="en" altLang="ru-RU" sz="1800" dirty="0"/>
              <a:t>'] / 365.25)</a:t>
            </a:r>
            <a:endParaRPr lang="ru-RU" altLang="ru-RU" sz="1800" dirty="0"/>
          </a:p>
          <a:p>
            <a:pPr lvl="2"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ru-RU" sz="1400" dirty="0"/>
              <a:t>Конец года и его начало близки </a:t>
            </a:r>
          </a:p>
          <a:p>
            <a:pPr eaLnBrk="0" fontAlgn="base" hangingPunct="0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</a:pPr>
            <a:r>
              <a:rPr lang="en" altLang="ru-RU" sz="2100" dirty="0"/>
              <a:t>T</a:t>
            </a:r>
            <a:r>
              <a:rPr lang="ru-RU" altLang="ru-RU" sz="2100" dirty="0" err="1"/>
              <a:t>ar</a:t>
            </a:r>
            <a:r>
              <a:rPr lang="en-US" altLang="ru-RU" sz="2100" dirty="0"/>
              <a:t>get-</a:t>
            </a:r>
            <a:r>
              <a:rPr lang="ru-RU" altLang="ru-RU" sz="2100" dirty="0"/>
              <a:t>кодированными (среднее по каждому дню недели, напр. Если в выходные продаже выше чем в будни) или кодирование продолжительностью солнечного дня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E6C6A-398D-C8E1-CDCF-4806F7BE91C9}"/>
              </a:ext>
            </a:extLst>
          </p:cNvPr>
          <p:cNvSpPr txBox="1"/>
          <p:nvPr/>
        </p:nvSpPr>
        <p:spPr>
          <a:xfrm>
            <a:off x="85380" y="6437390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skforecast.org</a:t>
            </a:r>
            <a:r>
              <a:rPr lang="ru-RU" sz="1400" dirty="0"/>
              <a:t>/0.16.0/</a:t>
            </a:r>
            <a:r>
              <a:rPr lang="ru-RU" sz="1400" dirty="0" err="1"/>
              <a:t>user_guides</a:t>
            </a:r>
            <a:r>
              <a:rPr lang="ru-RU" sz="1400" dirty="0"/>
              <a:t>/</a:t>
            </a:r>
            <a:r>
              <a:rPr lang="ru-RU" sz="1400" dirty="0" err="1"/>
              <a:t>categorical-features</a:t>
            </a:r>
            <a:endParaRPr lang="ru-RU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7BF83A-940E-92D6-75FD-A5107C98A20B}"/>
              </a:ext>
            </a:extLst>
          </p:cNvPr>
          <p:cNvSpPr txBox="1"/>
          <p:nvPr/>
        </p:nvSpPr>
        <p:spPr>
          <a:xfrm>
            <a:off x="5265489" y="6406612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skforecast.org</a:t>
            </a:r>
            <a:r>
              <a:rPr lang="ru-RU" sz="1400" dirty="0"/>
              <a:t>/0.16.0/</a:t>
            </a:r>
            <a:r>
              <a:rPr lang="ru-RU" sz="1400" dirty="0" err="1"/>
              <a:t>user_guides</a:t>
            </a:r>
            <a:r>
              <a:rPr lang="ru-RU" sz="1400" dirty="0"/>
              <a:t>/</a:t>
            </a:r>
            <a:r>
              <a:rPr lang="ru-RU" sz="1400" dirty="0" err="1"/>
              <a:t>calendar-features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681255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66721"/>
            <a:ext cx="11134725" cy="863600"/>
          </a:xfrm>
        </p:spPr>
        <p:txBody>
          <a:bodyPr/>
          <a:lstStyle/>
          <a:p>
            <a:pPr lvl="0"/>
            <a:r>
              <a:rPr lang="ru-RU" altLang="ru-RU" dirty="0">
                <a:solidFill>
                  <a:srgbClr val="2C2C36"/>
                </a:solidFill>
                <a:latin typeface="+mn-lt"/>
              </a:rPr>
              <a:t>Практические советы и ловушки</a:t>
            </a:r>
            <a:endParaRPr lang="ru-RU" dirty="0">
              <a:latin typeface="+mn-lt"/>
            </a:endParaRP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609510"/>
              </p:ext>
            </p:extLst>
          </p:nvPr>
        </p:nvGraphicFramePr>
        <p:xfrm>
          <a:off x="421341" y="1290918"/>
          <a:ext cx="10932459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719">
                  <a:extLst>
                    <a:ext uri="{9D8B030D-6E8A-4147-A177-3AD203B41FA5}">
                      <a16:colId xmlns:a16="http://schemas.microsoft.com/office/drawing/2014/main" val="3381004655"/>
                    </a:ext>
                  </a:extLst>
                </a:gridCol>
                <a:gridCol w="3234694">
                  <a:extLst>
                    <a:ext uri="{9D8B030D-6E8A-4147-A177-3AD203B41FA5}">
                      <a16:colId xmlns:a16="http://schemas.microsoft.com/office/drawing/2014/main" val="2915955119"/>
                    </a:ext>
                  </a:extLst>
                </a:gridCol>
                <a:gridCol w="4814046">
                  <a:extLst>
                    <a:ext uri="{9D8B030D-6E8A-4147-A177-3AD203B41FA5}">
                      <a16:colId xmlns:a16="http://schemas.microsoft.com/office/drawing/2014/main" val="3699764588"/>
                    </a:ext>
                  </a:extLst>
                </a:gridCol>
              </a:tblGrid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Стат. методы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ML</a:t>
                      </a:r>
                      <a:r>
                        <a:rPr lang="en-US" sz="2000" baseline="0" dirty="0"/>
                        <a:t> </a:t>
                      </a:r>
                      <a:r>
                        <a:rPr lang="ru-RU" sz="2000" baseline="0" dirty="0"/>
                        <a:t>методы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934532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примеры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ARIMA,</a:t>
                      </a:r>
                      <a:r>
                        <a:rPr lang="en-US" sz="2000" baseline="0" dirty="0"/>
                        <a:t> ETS, Naïve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, </a:t>
                      </a:r>
                      <a:r>
                        <a:rPr lang="en-US" sz="2000" dirty="0" err="1"/>
                        <a:t>LinearReg+Lasso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02491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Стационарность</a:t>
                      </a:r>
                      <a:r>
                        <a:rPr lang="ru-RU" sz="2000" baseline="0" dirty="0"/>
                        <a:t> ВР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Очень важна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</a:t>
                      </a:r>
                      <a:r>
                        <a:rPr lang="ru-RU" sz="2000" baseline="0" dirty="0"/>
                        <a:t> регулярность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1306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Интерпретируемость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Высокая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022796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Риск переобучения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Низкий,  при кросс-</a:t>
                      </a:r>
                      <a:r>
                        <a:rPr lang="ru-RU" sz="2000" dirty="0" err="1"/>
                        <a:t>валидации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/>
                        <a:t>средний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596501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Экзогенные факторы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 1</a:t>
                      </a:r>
                      <a:r>
                        <a:rPr lang="ru-RU" sz="2000" baseline="0" dirty="0"/>
                        <a:t> - 2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Главное чтобы не было</a:t>
                      </a:r>
                      <a:r>
                        <a:rPr lang="ru-RU" sz="2000" baseline="0" dirty="0"/>
                        <a:t> утечки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537897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Многомерные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Сложно,</a:t>
                      </a:r>
                      <a:r>
                        <a:rPr lang="ru-RU" sz="2000" baseline="0" dirty="0"/>
                        <a:t> чаще локальные модели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Возможны</a:t>
                      </a:r>
                      <a:r>
                        <a:rPr lang="ru-RU" sz="2000" baseline="0" dirty="0"/>
                        <a:t> глобальные модели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94433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Иерархические ВР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Сложно учесть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343504"/>
                  </a:ext>
                </a:extLst>
              </a:tr>
              <a:tr h="326561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Горизонт прогноза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Небольшой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166929"/>
                  </a:ext>
                </a:extLst>
              </a:tr>
              <a:tr h="577762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err="1"/>
                        <a:t>Автомтаизация</a:t>
                      </a:r>
                      <a:r>
                        <a:rPr lang="ru-RU" sz="2000" dirty="0"/>
                        <a:t> обучения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Средняя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Высокая</a:t>
                      </a:r>
                      <a:r>
                        <a:rPr lang="ru-RU" sz="2000" baseline="0" dirty="0"/>
                        <a:t> </a:t>
                      </a:r>
                      <a:endParaRPr lang="ru-RU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86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351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B508A-0C0C-1FDF-642F-9604AF420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16" y="188856"/>
            <a:ext cx="11165910" cy="599379"/>
          </a:xfrm>
        </p:spPr>
        <p:txBody>
          <a:bodyPr>
            <a:normAutofit fontScale="90000"/>
          </a:bodyPr>
          <a:lstStyle/>
          <a:p>
            <a:r>
              <a:rPr lang="ru-RU" dirty="0"/>
              <a:t>Требования и проблемы подготовки данных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C6D77A8-018D-4F69-E0AB-665CC72D36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74000"/>
                  </p:ext>
                </p:extLst>
              </p:nvPr>
            </p:nvGraphicFramePr>
            <p:xfrm>
              <a:off x="233818" y="791584"/>
              <a:ext cx="11724363" cy="587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450">
                      <a:extLst>
                        <a:ext uri="{9D8B030D-6E8A-4147-A177-3AD203B41FA5}">
                          <a16:colId xmlns:a16="http://schemas.microsoft.com/office/drawing/2014/main" val="2003674582"/>
                        </a:ext>
                      </a:extLst>
                    </a:gridCol>
                    <a:gridCol w="3543055">
                      <a:extLst>
                        <a:ext uri="{9D8B030D-6E8A-4147-A177-3AD203B41FA5}">
                          <a16:colId xmlns:a16="http://schemas.microsoft.com/office/drawing/2014/main" val="3372195085"/>
                        </a:ext>
                      </a:extLst>
                    </a:gridCol>
                    <a:gridCol w="6187858">
                      <a:extLst>
                        <a:ext uri="{9D8B030D-6E8A-4147-A177-3AD203B41FA5}">
                          <a16:colId xmlns:a16="http://schemas.microsoft.com/office/drawing/2014/main" val="2406795206"/>
                        </a:ext>
                      </a:extLst>
                    </a:gridCol>
                  </a:tblGrid>
                  <a:tr h="24117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Проблемы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Решения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287456"/>
                      </a:ext>
                    </a:extLst>
                  </a:tr>
                  <a:tr h="4891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Заполнение пропусков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dirty="0"/>
                            <a:t>Пропуски в некоторых рядах или во всех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Интерполяция (линейная, сплайн и </a:t>
                          </a:r>
                          <a:r>
                            <a:rPr lang="ru-RU" sz="2000" dirty="0" err="1"/>
                            <a:t>тд</a:t>
                          </a:r>
                          <a:r>
                            <a:rPr lang="ru-RU" sz="2000" dirty="0"/>
                            <a:t>),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скользящее среднее,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Заполнение через ML</a:t>
                          </a:r>
                          <a:r>
                            <a:rPr lang="en-US" sz="2000" dirty="0"/>
                            <a:t>-</a:t>
                          </a:r>
                          <a:r>
                            <a:rPr lang="ru-RU" sz="2000" dirty="0"/>
                            <a:t>регрессию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29232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Нормализация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Для ML алгоритмов все ВР в сопоставимых масштабах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dirty="0" err="1">
                              <a:solidFill>
                                <a:srgbClr val="1D1D20"/>
                              </a:solidFill>
                              <a:effectLst/>
                            </a:rPr>
                            <a:t>MinMaxScaler</a:t>
                          </a:r>
                          <a:r>
                            <a:rPr lang="ru-RU" sz="2000" b="0" dirty="0">
                              <a:solidFill>
                                <a:srgbClr val="1D1D20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StandardScaler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и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тд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склонных к нормальному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распределний</a:t>
                          </a:r>
                          <a:endParaRPr lang="ru-RU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RobustScaler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QuantileTransformer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распределений с выбросами и сильно не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стац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ru-R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548672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Проверка на выбросы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Выбросы-  ложные корреляции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Дают смещение результатов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Z-score (&gt;3</a:t>
                          </a:r>
                          <a14:m>
                            <m:oMath xmlns:m="http://schemas.openxmlformats.org/officeDocument/2006/math">
                              <m:r>
                                <a:rPr lang="el-GR" sz="2000" b="0" i="1" kern="1200" dirty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,  </a:t>
                          </a: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IQR (1.5 × IQR)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Из</a:t>
                          </a: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olation Forest, One-Class SVM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STL-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остатки (остатки &gt; 3</a:t>
                          </a:r>
                          <a14:m>
                            <m:oMath xmlns:m="http://schemas.openxmlformats.org/officeDocument/2006/math">
                              <m:r>
                                <a:rPr lang="el-GR" sz="2000" b="0" i="1" kern="1200" dirty="0" smtClean="0">
                                  <a:solidFill>
                                    <a:schemeClr val="dk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l-GR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83984968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err="1"/>
                            <a:t>Кроссвалидация</a:t>
                          </a:r>
                          <a:endParaRPr lang="ru-R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Только последовательно!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Возможность утечки данных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утечку,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Лучше сначала делить данные потом преобразовывать признаки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16275"/>
                      </a:ext>
                    </a:extLst>
                  </a:tr>
                  <a:tr h="57579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Экзогенные факторы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Действительно экзогенные?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Утечка факторов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необходимость факторов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утечки и наличие значений в рабочем режиме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63578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C6D77A8-018D-4F69-E0AB-665CC72D36B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93174000"/>
                  </p:ext>
                </p:extLst>
              </p:nvPr>
            </p:nvGraphicFramePr>
            <p:xfrm>
              <a:off x="233818" y="791584"/>
              <a:ext cx="11724363" cy="5877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93450">
                      <a:extLst>
                        <a:ext uri="{9D8B030D-6E8A-4147-A177-3AD203B41FA5}">
                          <a16:colId xmlns:a16="http://schemas.microsoft.com/office/drawing/2014/main" val="2003674582"/>
                        </a:ext>
                      </a:extLst>
                    </a:gridCol>
                    <a:gridCol w="3543055">
                      <a:extLst>
                        <a:ext uri="{9D8B030D-6E8A-4147-A177-3AD203B41FA5}">
                          <a16:colId xmlns:a16="http://schemas.microsoft.com/office/drawing/2014/main" val="3372195085"/>
                        </a:ext>
                      </a:extLst>
                    </a:gridCol>
                    <a:gridCol w="6187858">
                      <a:extLst>
                        <a:ext uri="{9D8B030D-6E8A-4147-A177-3AD203B41FA5}">
                          <a16:colId xmlns:a16="http://schemas.microsoft.com/office/drawing/2014/main" val="240679520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endParaRPr lang="ru-R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Проблемы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dirty="0"/>
                            <a:t>Решения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1287456"/>
                      </a:ext>
                    </a:extLst>
                  </a:tr>
                  <a:tr h="1056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Заполнение пропусков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2000" dirty="0"/>
                            <a:t>Пропуски в некоторых рядах или во всех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Интерполяция (линейная, сплайн и </a:t>
                          </a:r>
                          <a:r>
                            <a:rPr lang="ru-RU" sz="2000" dirty="0" err="1"/>
                            <a:t>тд</a:t>
                          </a:r>
                          <a:r>
                            <a:rPr lang="ru-RU" sz="2000" dirty="0"/>
                            <a:t>),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скользящее среднее,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dirty="0"/>
                            <a:t>Заполнение через ML</a:t>
                          </a:r>
                          <a:r>
                            <a:rPr lang="en-US" sz="2000" dirty="0"/>
                            <a:t>-</a:t>
                          </a:r>
                          <a:r>
                            <a:rPr lang="ru-RU" sz="2000" dirty="0"/>
                            <a:t>регрессию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29232"/>
                      </a:ext>
                    </a:extLst>
                  </a:tr>
                  <a:tr h="1336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Нормализация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Для ML алгоритмов все ВР в сопоставимых масштабах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dirty="0" err="1">
                              <a:solidFill>
                                <a:srgbClr val="1D1D20"/>
                              </a:solidFill>
                              <a:effectLst/>
                            </a:rPr>
                            <a:t>MinMaxScaler</a:t>
                          </a:r>
                          <a:r>
                            <a:rPr lang="ru-RU" sz="2000" b="0" dirty="0">
                              <a:solidFill>
                                <a:srgbClr val="1D1D20"/>
                              </a:solidFill>
                              <a:effectLst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StandardScaler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и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тд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склонных к нормальному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распределний</a:t>
                          </a:r>
                          <a:endParaRPr lang="ru-RU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RobustScaler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QuantileTransformer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 для распределений с выбросами и сильно не </a:t>
                          </a:r>
                          <a:r>
                            <a:rPr lang="ru-RU" sz="2000" b="0" i="0" kern="1200" dirty="0" err="1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стац</a:t>
                          </a: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.</a:t>
                          </a:r>
                          <a:endParaRPr lang="ru-RU" sz="2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3548672"/>
                      </a:ext>
                    </a:extLst>
                  </a:tr>
                  <a:tr h="1056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Проверка на выбросы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Выбросы-  ложные корреляции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Дают смещение результатов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89655" t="-263218" r="-394" b="-2045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3984968"/>
                      </a:ext>
                    </a:extLst>
                  </a:tr>
                  <a:tr h="1031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 err="1"/>
                            <a:t>Кроссвалидация</a:t>
                          </a:r>
                          <a:endParaRPr lang="ru-RU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Только последовательно!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Возможность утечки данных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утечку, 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Лучше сначала делить данные потом преобразовывать признаки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516275"/>
                      </a:ext>
                    </a:extLst>
                  </a:tr>
                  <a:tr h="1031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dirty="0"/>
                            <a:t>Экзогенные факторы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Действительно экзогенные?</a:t>
                          </a:r>
                        </a:p>
                        <a:p>
                          <a:pPr algn="ctr"/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Утечка факторов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необходимость факторов</a:t>
                          </a:r>
                        </a:p>
                        <a:p>
                          <a:pPr marL="285750" indent="-285750" algn="l">
                            <a:spcBef>
                              <a:spcPts val="200"/>
                            </a:spcBef>
                            <a:buFont typeface="Arial" panose="020B0604020202020204" pitchFamily="34" charset="0"/>
                            <a:buChar char="•"/>
                          </a:pPr>
                          <a:r>
                            <a:rPr lang="ru-RU" sz="2000" b="0" i="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Проверяйте на утечки и наличие значений в рабочем режиме</a:t>
                          </a:r>
                          <a:endParaRPr lang="el-GR" sz="2000" b="0" i="0" kern="1200" dirty="0">
                            <a:solidFill>
                              <a:schemeClr val="dk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863578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382558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2100" y="269875"/>
            <a:ext cx="11061700" cy="790575"/>
          </a:xfrm>
        </p:spPr>
        <p:txBody>
          <a:bodyPr/>
          <a:lstStyle/>
          <a:p>
            <a:pPr algn="ctr"/>
            <a:r>
              <a:rPr lang="ru-RU" dirty="0"/>
              <a:t>Вопросы для самоконтроля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2100" y="1060450"/>
            <a:ext cx="11442700" cy="5283200"/>
          </a:xfrm>
        </p:spPr>
        <p:txBody>
          <a:bodyPr/>
          <a:lstStyle/>
          <a:p>
            <a:pPr lvl="0" algn="just"/>
            <a:r>
              <a:rPr lang="ru-RU" sz="2400" dirty="0"/>
              <a:t>Назовите основные отличия использования методов классического машинного обучения от статистических методов. Какие основные подходы к применению методом машинного обучения есть и когда их стоит использовать. Приведите примеры задач где необходимо использовать методы машинного обучения.</a:t>
            </a:r>
          </a:p>
          <a:p>
            <a:pPr lvl="0" algn="just"/>
            <a:r>
              <a:rPr lang="ru-RU" sz="2400" dirty="0"/>
              <a:t>Приведите примеры экзогенных факторов в различных задачах. Объясните как их использовать экзогенные факторы в моделях машинного обучения, как отбирать эти факторы. </a:t>
            </a:r>
          </a:p>
          <a:p>
            <a:pPr lvl="0" algn="just"/>
            <a:r>
              <a:rPr lang="ru-RU" sz="2400" dirty="0"/>
              <a:t>Выберите задачу анализа ВР. Распишите </a:t>
            </a:r>
            <a:r>
              <a:rPr lang="ru-RU" sz="2400" dirty="0" err="1"/>
              <a:t>пайплайн</a:t>
            </a:r>
            <a:r>
              <a:rPr lang="ru-RU" sz="2400" dirty="0"/>
              <a:t> решения задачи анализа ВР при помощи МО. Обоснуйте свой выбор. Укажите какие тут могут быть проблемы анализа остатков ВР. Предложите методы диагностики.</a:t>
            </a:r>
          </a:p>
          <a:p>
            <a:pPr lvl="0" algn="just"/>
            <a:r>
              <a:rPr lang="ru-RU" sz="2400" dirty="0"/>
              <a:t>Предположите какие особенности задачи регрессии ВР и ее решения могут быть анализируя задачу предсказаний. Приведите примеры задач, подходящих для </a:t>
            </a:r>
            <a:r>
              <a:rPr lang="ru-RU" sz="2400"/>
              <a:t>указанного подхода.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07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https://skforecast.org/0.8.0/img/forecaster_multivariate_train_matrix_diagram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13" r="3230" b="9567"/>
          <a:stretch/>
        </p:blipFill>
        <p:spPr bwMode="auto">
          <a:xfrm>
            <a:off x="4352630" y="3800819"/>
            <a:ext cx="7706020" cy="2882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71500" y="6544875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https://skforecast.org/0.16.0/user_guides/independent-multi-time-series-forecasting.html</a:t>
            </a:r>
          </a:p>
        </p:txBody>
      </p:sp>
      <p:pic>
        <p:nvPicPr>
          <p:cNvPr id="1028" name="Picture 4" descr="No description has been provided for this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19213"/>
            <a:ext cx="8210327" cy="314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90102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</TotalTime>
  <Words>2760</Words>
  <Application>Microsoft Macintosh PowerPoint</Application>
  <PresentationFormat>Широкоэкранный</PresentationFormat>
  <Paragraphs>329</Paragraphs>
  <Slides>24</Slides>
  <Notes>5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Menlo</vt:lpstr>
      <vt:lpstr>system-ui</vt:lpstr>
      <vt:lpstr>ui-sans-serif</vt:lpstr>
      <vt:lpstr>Тема Office</vt:lpstr>
      <vt:lpstr>Методы машинного обучения в АВР</vt:lpstr>
      <vt:lpstr>Бенчмарки предсказания временных рядов</vt:lpstr>
      <vt:lpstr>Почему невсегда статистические методы</vt:lpstr>
      <vt:lpstr>ВР и машинное обучение</vt:lpstr>
      <vt:lpstr>ВР и машинное обучение</vt:lpstr>
      <vt:lpstr>Рекурсивная редукция</vt:lpstr>
      <vt:lpstr>Прямая стратегия редукции</vt:lpstr>
      <vt:lpstr>Гибридная стратегия</vt:lpstr>
      <vt:lpstr>Многошаговые особенности оценки точности</vt:lpstr>
      <vt:lpstr>Признаки во временных рядах</vt:lpstr>
      <vt:lpstr>Учет экзогенных и других типов признаков</vt:lpstr>
      <vt:lpstr>Признаки во временных рядах</vt:lpstr>
      <vt:lpstr>Разница между задачами регрессии и предсказания</vt:lpstr>
      <vt:lpstr>Замечания к процедуре редукции</vt:lpstr>
      <vt:lpstr>Проблемы выбора окна Редукции</vt:lpstr>
      <vt:lpstr>Экзогенные переменные  (ковариаты)</vt:lpstr>
      <vt:lpstr>Экзогенные переменные. Три группы: </vt:lpstr>
      <vt:lpstr>Многомерные ВР: </vt:lpstr>
      <vt:lpstr>Замечания</vt:lpstr>
      <vt:lpstr>Замечания. Календарные признаки могут быть </vt:lpstr>
      <vt:lpstr>Практические советы и ловушки</vt:lpstr>
      <vt:lpstr>Требования и проблемы подготовки данных</vt:lpstr>
      <vt:lpstr>Вопросы для самоконтроля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Ронкин Михаил Владимирович</dc:creator>
  <cp:lastModifiedBy>Ронкин Михаил Владимирович</cp:lastModifiedBy>
  <cp:revision>46</cp:revision>
  <dcterms:created xsi:type="dcterms:W3CDTF">2025-07-25T11:01:31Z</dcterms:created>
  <dcterms:modified xsi:type="dcterms:W3CDTF">2026-05-08T17:26:47Z</dcterms:modified>
</cp:coreProperties>
</file>