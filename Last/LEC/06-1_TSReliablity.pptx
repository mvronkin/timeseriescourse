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477" r:id="rId2"/>
    <p:sldId id="478" r:id="rId3"/>
    <p:sldId id="476" r:id="rId4"/>
    <p:sldId id="462" r:id="rId5"/>
    <p:sldId id="465" r:id="rId6"/>
    <p:sldId id="463" r:id="rId7"/>
    <p:sldId id="486" r:id="rId8"/>
    <p:sldId id="464" r:id="rId9"/>
    <p:sldId id="469" r:id="rId10"/>
    <p:sldId id="466" r:id="rId11"/>
    <p:sldId id="467" r:id="rId12"/>
    <p:sldId id="487" r:id="rId13"/>
    <p:sldId id="471" r:id="rId14"/>
    <p:sldId id="475" r:id="rId15"/>
    <p:sldId id="489" r:id="rId16"/>
    <p:sldId id="490" r:id="rId17"/>
    <p:sldId id="474" r:id="rId18"/>
    <p:sldId id="473" r:id="rId19"/>
    <p:sldId id="483" r:id="rId20"/>
    <p:sldId id="481" r:id="rId21"/>
    <p:sldId id="480" r:id="rId22"/>
    <p:sldId id="484" r:id="rId23"/>
    <p:sldId id="488" r:id="rId24"/>
    <p:sldId id="485" r:id="rId25"/>
    <p:sldId id="472" r:id="rId26"/>
    <p:sldId id="479" r:id="rId27"/>
    <p:sldId id="468" r:id="rId28"/>
    <p:sldId id="46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6301"/>
  </p:normalViewPr>
  <p:slideViewPr>
    <p:cSldViewPr snapToGrid="0">
      <p:cViewPr varScale="1">
        <p:scale>
          <a:sx n="118" d="100"/>
          <a:sy n="118" d="100"/>
        </p:scale>
        <p:origin x="14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0246F-5962-E14A-AAF2-985CCFDAC345}" type="datetimeFigureOut">
              <a:rPr lang="ru-RU" smtClean="0"/>
              <a:t>15.05.2026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A4F326-5F8D-6A4F-9B75-A3402553DF5F}" type="slidenum">
              <a:rPr lang="ru-RU" smtClean="0"/>
              <a:t>‹#›</a:t>
            </a:fld>
            <a:endParaRPr lang="ru-RU"/>
          </a:p>
        </p:txBody>
      </p:sp>
    </p:spTree>
    <p:extLst>
      <p:ext uri="{BB962C8B-B14F-4D97-AF65-F5344CB8AC3E}">
        <p14:creationId xmlns:p14="http://schemas.microsoft.com/office/powerpoint/2010/main" val="1450765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b="1" i="0" kern="1200" dirty="0">
                <a:solidFill>
                  <a:schemeClr val="tx1"/>
                </a:solidFill>
                <a:effectLst/>
                <a:latin typeface="+mn-lt"/>
                <a:ea typeface="+mn-ea"/>
                <a:cs typeface="+mn-cs"/>
              </a:rPr>
              <a:t>🔍 Что такое </a:t>
            </a:r>
            <a:r>
              <a:rPr lang="ru-RU" sz="900" b="1" i="0" kern="1200" dirty="0" err="1">
                <a:solidFill>
                  <a:schemeClr val="tx1"/>
                </a:solidFill>
                <a:effectLst/>
                <a:latin typeface="+mn-lt"/>
                <a:ea typeface="+mn-ea"/>
                <a:cs typeface="+mn-cs"/>
              </a:rPr>
              <a:t>Conformal</a:t>
            </a:r>
            <a:r>
              <a:rPr lang="ru-RU" sz="900" b="1" i="0" kern="1200" dirty="0">
                <a:solidFill>
                  <a:schemeClr val="tx1"/>
                </a:solidFill>
                <a:effectLst/>
                <a:latin typeface="+mn-lt"/>
                <a:ea typeface="+mn-ea"/>
                <a:cs typeface="+mn-cs"/>
              </a:rPr>
              <a:t> </a:t>
            </a:r>
            <a:r>
              <a:rPr lang="ru-RU" sz="900" b="1" i="0" kern="1200" dirty="0" err="1">
                <a:solidFill>
                  <a:schemeClr val="tx1"/>
                </a:solidFill>
                <a:effectLst/>
                <a:latin typeface="+mn-lt"/>
                <a:ea typeface="+mn-ea"/>
                <a:cs typeface="+mn-cs"/>
              </a:rPr>
              <a:t>Prediction</a:t>
            </a:r>
            <a:r>
              <a:rPr lang="ru-RU" sz="900" b="1" i="0" kern="1200" dirty="0">
                <a:solidFill>
                  <a:schemeClr val="tx1"/>
                </a:solidFill>
                <a:effectLst/>
                <a:latin typeface="+mn-lt"/>
                <a:ea typeface="+mn-ea"/>
                <a:cs typeface="+mn-cs"/>
              </a:rPr>
              <a:t>?</a:t>
            </a:r>
          </a:p>
          <a:p>
            <a:r>
              <a:rPr lang="ru-RU" sz="900" b="0" i="0" kern="1200" dirty="0" err="1">
                <a:solidFill>
                  <a:schemeClr val="tx1"/>
                </a:solidFill>
                <a:effectLst/>
                <a:latin typeface="+mn-lt"/>
                <a:ea typeface="+mn-ea"/>
                <a:cs typeface="+mn-cs"/>
              </a:rPr>
              <a:t>Conformal</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Prediction</a:t>
            </a:r>
            <a:r>
              <a:rPr lang="ru-RU" sz="900" b="0" i="0" kern="1200" dirty="0">
                <a:solidFill>
                  <a:schemeClr val="tx1"/>
                </a:solidFill>
                <a:effectLst/>
                <a:latin typeface="+mn-lt"/>
                <a:ea typeface="+mn-ea"/>
                <a:cs typeface="+mn-cs"/>
              </a:rPr>
              <a:t> (Конформное прогнозирование) — это метод непараметрической оценки неопределенности , который позволяет строить калиброванные доверительные интервалы для прогнозов, полученных с помощью любой модели машинного обучения.</a:t>
            </a:r>
          </a:p>
          <a:p>
            <a:r>
              <a:rPr lang="ru-RU" sz="900" b="0" i="0" kern="1200" dirty="0">
                <a:solidFill>
                  <a:schemeClr val="tx1"/>
                </a:solidFill>
                <a:effectLst/>
                <a:latin typeface="+mn-lt"/>
                <a:ea typeface="+mn-ea"/>
                <a:cs typeface="+mn-cs"/>
              </a:rPr>
              <a:t>Особенность этого подхода в том, что он:</a:t>
            </a:r>
          </a:p>
          <a:p>
            <a:r>
              <a:rPr lang="ru-RU" sz="900" b="0" i="0" kern="1200" dirty="0">
                <a:solidFill>
                  <a:schemeClr val="tx1"/>
                </a:solidFill>
                <a:effectLst/>
                <a:latin typeface="+mn-lt"/>
                <a:ea typeface="+mn-ea"/>
                <a:cs typeface="+mn-cs"/>
              </a:rPr>
              <a:t>Не предполагает нормальности распределения ошибок .</a:t>
            </a:r>
          </a:p>
          <a:p>
            <a:r>
              <a:rPr lang="ru-RU" sz="900" b="0" i="0" kern="1200" dirty="0">
                <a:solidFill>
                  <a:schemeClr val="tx1"/>
                </a:solidFill>
                <a:effectLst/>
                <a:latin typeface="+mn-lt"/>
                <a:ea typeface="+mn-ea"/>
                <a:cs typeface="+mn-cs"/>
              </a:rPr>
              <a:t>Не требует повторного обучения модели .</a:t>
            </a:r>
          </a:p>
          <a:p>
            <a:r>
              <a:rPr lang="ru-RU" sz="900" b="0" i="0" kern="1200" dirty="0">
                <a:solidFill>
                  <a:schemeClr val="tx1"/>
                </a:solidFill>
                <a:effectLst/>
                <a:latin typeface="+mn-lt"/>
                <a:ea typeface="+mn-ea"/>
                <a:cs typeface="+mn-cs"/>
              </a:rPr>
              <a:t>Работает с любыми моделями (линейными, деревьями решений, </a:t>
            </a:r>
            <a:r>
              <a:rPr lang="ru-RU" sz="900" b="0" i="0" kern="1200" dirty="0" err="1">
                <a:solidFill>
                  <a:schemeClr val="tx1"/>
                </a:solidFill>
                <a:effectLst/>
                <a:latin typeface="+mn-lt"/>
                <a:ea typeface="+mn-ea"/>
                <a:cs typeface="+mn-cs"/>
              </a:rPr>
              <a:t>нейросетями</a:t>
            </a:r>
            <a:r>
              <a:rPr lang="ru-RU" sz="900" b="0" i="0" kern="1200" dirty="0">
                <a:solidFill>
                  <a:schemeClr val="tx1"/>
                </a:solidFill>
                <a:effectLst/>
                <a:latin typeface="+mn-lt"/>
                <a:ea typeface="+mn-ea"/>
                <a:cs typeface="+mn-cs"/>
              </a:rPr>
              <a:t> и т.д.).</a:t>
            </a:r>
          </a:p>
          <a:p>
            <a:r>
              <a:rPr lang="ru-RU" sz="900" b="0" i="0" kern="1200" dirty="0">
                <a:solidFill>
                  <a:schemeClr val="tx1"/>
                </a:solidFill>
                <a:effectLst/>
                <a:latin typeface="+mn-lt"/>
                <a:ea typeface="+mn-ea"/>
                <a:cs typeface="+mn-cs"/>
              </a:rPr>
              <a:t>Гарантирует калибровку : например, 95% интервал действительно покроет 95% реальных значений при условии, что данные независимы и одинаково распределены (</a:t>
            </a:r>
            <a:r>
              <a:rPr lang="ru-RU" sz="900" b="0" i="0" kern="1200" dirty="0" err="1">
                <a:solidFill>
                  <a:schemeClr val="tx1"/>
                </a:solidFill>
                <a:effectLst/>
                <a:latin typeface="+mn-lt"/>
                <a:ea typeface="+mn-ea"/>
                <a:cs typeface="+mn-cs"/>
              </a:rPr>
              <a:t>i.i.d</a:t>
            </a:r>
            <a:r>
              <a:rPr lang="ru-RU" sz="900" b="0" i="0" kern="1200" dirty="0">
                <a:solidFill>
                  <a:schemeClr val="tx1"/>
                </a:solidFill>
                <a:effectLst/>
                <a:latin typeface="+mn-lt"/>
                <a:ea typeface="+mn-ea"/>
                <a:cs typeface="+mn-cs"/>
              </a:rPr>
              <a:t>.).</a:t>
            </a:r>
          </a:p>
          <a:p>
            <a:r>
              <a:rPr lang="ru-RU" sz="900" b="1" i="0" kern="1200" dirty="0">
                <a:solidFill>
                  <a:schemeClr val="tx1"/>
                </a:solidFill>
                <a:effectLst/>
                <a:latin typeface="+mn-lt"/>
                <a:ea typeface="+mn-ea"/>
                <a:cs typeface="+mn-cs"/>
              </a:rPr>
              <a:t>💡 Основная идея</a:t>
            </a:r>
          </a:p>
          <a:p>
            <a:r>
              <a:rPr lang="ru-RU" sz="900" b="0" i="0" kern="1200" dirty="0">
                <a:solidFill>
                  <a:schemeClr val="tx1"/>
                </a:solidFill>
                <a:effectLst/>
                <a:latin typeface="+mn-lt"/>
                <a:ea typeface="+mn-ea"/>
                <a:cs typeface="+mn-cs"/>
              </a:rPr>
              <a:t>Конформное прогнозирование использует перекрестную проверку или разделение на обучающую и калибровочную выборки , чтобы определить, насколько "конформны" новые наблюдения по сравнению с уже известными.</a:t>
            </a:r>
          </a:p>
          <a:p>
            <a:r>
              <a:rPr lang="ru-RU" sz="900" b="1" i="0" kern="1200" dirty="0">
                <a:solidFill>
                  <a:schemeClr val="tx1"/>
                </a:solidFill>
                <a:effectLst/>
                <a:latin typeface="+mn-lt"/>
                <a:ea typeface="+mn-ea"/>
                <a:cs typeface="+mn-cs"/>
              </a:rPr>
              <a:t>Шаги работы:</a:t>
            </a:r>
          </a:p>
          <a:p>
            <a:r>
              <a:rPr lang="ru-RU" sz="900" b="0" i="0" kern="1200" dirty="0">
                <a:solidFill>
                  <a:schemeClr val="tx1"/>
                </a:solidFill>
                <a:effectLst/>
                <a:latin typeface="+mn-lt"/>
                <a:ea typeface="+mn-ea"/>
                <a:cs typeface="+mn-cs"/>
              </a:rPr>
              <a:t>Обучите модель на обучающей выборке.</a:t>
            </a:r>
          </a:p>
          <a:p>
            <a:r>
              <a:rPr lang="ru-RU" sz="900" b="0" i="0" kern="1200" dirty="0">
                <a:solidFill>
                  <a:schemeClr val="tx1"/>
                </a:solidFill>
                <a:effectLst/>
                <a:latin typeface="+mn-lt"/>
                <a:ea typeface="+mn-ea"/>
                <a:cs typeface="+mn-cs"/>
              </a:rPr>
              <a:t>Используйте отдельную часть данных (калибровочную) для вычисления </a:t>
            </a:r>
            <a:r>
              <a:rPr lang="ru-RU" sz="900" b="0" i="0" kern="1200" dirty="0" err="1">
                <a:solidFill>
                  <a:schemeClr val="tx1"/>
                </a:solidFill>
                <a:effectLst/>
                <a:latin typeface="+mn-lt"/>
                <a:ea typeface="+mn-ea"/>
                <a:cs typeface="+mn-cs"/>
              </a:rPr>
              <a:t>неконформности</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nonconformity</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scores</a:t>
            </a:r>
            <a:r>
              <a:rPr lang="ru-RU" sz="900" b="0" i="0" kern="1200" dirty="0">
                <a:solidFill>
                  <a:schemeClr val="tx1"/>
                </a:solidFill>
                <a:effectLst/>
                <a:latin typeface="+mn-lt"/>
                <a:ea typeface="+mn-ea"/>
                <a:cs typeface="+mn-cs"/>
              </a:rPr>
              <a:t>) — меры того, насколько новое значение отличается от предсказанного.</a:t>
            </a:r>
          </a:p>
          <a:p>
            <a:r>
              <a:rPr lang="ru-RU" sz="900" b="0" i="0" kern="1200" dirty="0">
                <a:solidFill>
                  <a:schemeClr val="tx1"/>
                </a:solidFill>
                <a:effectLst/>
                <a:latin typeface="+mn-lt"/>
                <a:ea typeface="+mn-ea"/>
                <a:cs typeface="+mn-cs"/>
              </a:rPr>
              <a:t>На основе этих </a:t>
            </a:r>
            <a:r>
              <a:rPr lang="ru-RU" sz="900" b="0" i="0" kern="1200" dirty="0" err="1">
                <a:solidFill>
                  <a:schemeClr val="tx1"/>
                </a:solidFill>
                <a:effectLst/>
                <a:latin typeface="+mn-lt"/>
                <a:ea typeface="+mn-ea"/>
                <a:cs typeface="+mn-cs"/>
              </a:rPr>
              <a:t>неконформностей</a:t>
            </a:r>
            <a:r>
              <a:rPr lang="ru-RU" sz="900" b="0" i="0" kern="1200" dirty="0">
                <a:solidFill>
                  <a:schemeClr val="tx1"/>
                </a:solidFill>
                <a:effectLst/>
                <a:latin typeface="+mn-lt"/>
                <a:ea typeface="+mn-ea"/>
                <a:cs typeface="+mn-cs"/>
              </a:rPr>
              <a:t> постройте доверительный интервал , который будет содержать будущее значение с заданной вероятностью (например, 90%, 95%).</a:t>
            </a:r>
          </a:p>
          <a:p>
            <a:r>
              <a:rPr lang="ru-RU" sz="900" b="1" i="0" kern="1200" dirty="0">
                <a:solidFill>
                  <a:schemeClr val="tx1"/>
                </a:solidFill>
                <a:effectLst/>
                <a:latin typeface="+mn-lt"/>
                <a:ea typeface="+mn-ea"/>
                <a:cs typeface="+mn-cs"/>
              </a:rPr>
              <a:t>📊 Пример: регрессия</a:t>
            </a:r>
          </a:p>
          <a:p>
            <a:r>
              <a:rPr lang="ru-RU" sz="900" b="0" i="0" kern="1200" dirty="0">
                <a:solidFill>
                  <a:schemeClr val="tx1"/>
                </a:solidFill>
                <a:effectLst/>
                <a:latin typeface="+mn-lt"/>
                <a:ea typeface="+mn-ea"/>
                <a:cs typeface="+mn-cs"/>
              </a:rPr>
              <a:t>Предположим, у нас есть временной ряд </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1​,</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2​,...,</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 . Мы хотим построить прогноз на </a:t>
            </a:r>
            <a:r>
              <a:rPr lang="ru-RU" sz="900" b="0" i="1" kern="1200" dirty="0">
                <a:solidFill>
                  <a:schemeClr val="tx1"/>
                </a:solidFill>
                <a:effectLst/>
                <a:latin typeface="+mn-lt"/>
                <a:ea typeface="+mn-ea"/>
                <a:cs typeface="+mn-cs"/>
              </a:rPr>
              <a:t>h</a:t>
            </a:r>
            <a:r>
              <a:rPr lang="ru-RU" sz="900" b="0" i="0" kern="1200" dirty="0">
                <a:solidFill>
                  <a:schemeClr val="tx1"/>
                </a:solidFill>
                <a:effectLst/>
                <a:latin typeface="+mn-lt"/>
                <a:ea typeface="+mn-ea"/>
                <a:cs typeface="+mn-cs"/>
              </a:rPr>
              <a:t> шагов вперед с 95% доверительным интервалом.</a:t>
            </a:r>
          </a:p>
          <a:p>
            <a:r>
              <a:rPr lang="ru-RU" sz="900" b="1" i="0" kern="1200" dirty="0">
                <a:solidFill>
                  <a:schemeClr val="tx1"/>
                </a:solidFill>
                <a:effectLst/>
                <a:latin typeface="+mn-lt"/>
                <a:ea typeface="+mn-ea"/>
                <a:cs typeface="+mn-cs"/>
              </a:rPr>
              <a:t>Этапы конформного прогнозирования:</a:t>
            </a:r>
          </a:p>
          <a:p>
            <a:r>
              <a:rPr lang="ru-RU" sz="900" b="1" i="0" kern="1200" dirty="0">
                <a:solidFill>
                  <a:schemeClr val="tx1"/>
                </a:solidFill>
                <a:effectLst/>
                <a:latin typeface="+mn-lt"/>
                <a:ea typeface="+mn-ea"/>
                <a:cs typeface="+mn-cs"/>
              </a:rPr>
              <a:t>1. Разделение данных</a:t>
            </a:r>
          </a:p>
          <a:p>
            <a:r>
              <a:rPr lang="ru-RU" sz="900" b="0" i="0" kern="1200" dirty="0">
                <a:solidFill>
                  <a:schemeClr val="tx1"/>
                </a:solidFill>
                <a:effectLst/>
                <a:latin typeface="+mn-lt"/>
                <a:ea typeface="+mn-ea"/>
                <a:cs typeface="+mn-cs"/>
              </a:rPr>
              <a:t>Обучающая выборка : </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1​,...,</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k</a:t>
            </a:r>
            <a:r>
              <a:rPr lang="ru-RU" sz="900" b="0" i="0" kern="1200" dirty="0">
                <a:solidFill>
                  <a:schemeClr val="tx1"/>
                </a:solidFill>
                <a:effectLst/>
                <a:latin typeface="+mn-lt"/>
                <a:ea typeface="+mn-ea"/>
                <a:cs typeface="+mn-cs"/>
              </a:rPr>
              <a:t>​</a:t>
            </a:r>
          </a:p>
          <a:p>
            <a:r>
              <a:rPr lang="ru-RU" sz="900" b="0" i="0" kern="1200" dirty="0">
                <a:solidFill>
                  <a:schemeClr val="tx1"/>
                </a:solidFill>
                <a:effectLst/>
                <a:latin typeface="+mn-lt"/>
                <a:ea typeface="+mn-ea"/>
                <a:cs typeface="+mn-cs"/>
              </a:rPr>
              <a:t>Калибровочная выборка : </a:t>
            </a:r>
            <a:r>
              <a:rPr lang="ru-RU" sz="900" b="0" i="1" kern="1200" dirty="0">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k</a:t>
            </a:r>
            <a:r>
              <a:rPr lang="ru-RU" sz="900" b="0" i="0" kern="1200" dirty="0">
                <a:solidFill>
                  <a:schemeClr val="tx1"/>
                </a:solidFill>
                <a:effectLst/>
                <a:latin typeface="+mn-lt"/>
                <a:ea typeface="+mn-ea"/>
                <a:cs typeface="+mn-cs"/>
              </a:rPr>
              <a:t>+1​,...,</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p>
          <a:p>
            <a:r>
              <a:rPr lang="ru-RU" sz="900" b="1" i="0" kern="1200" dirty="0">
                <a:solidFill>
                  <a:schemeClr val="tx1"/>
                </a:solidFill>
                <a:effectLst/>
                <a:latin typeface="+mn-lt"/>
                <a:ea typeface="+mn-ea"/>
                <a:cs typeface="+mn-cs"/>
              </a:rPr>
              <a:t>2. Обучение модели</a:t>
            </a:r>
          </a:p>
          <a:p>
            <a:r>
              <a:rPr lang="ru-RU" sz="900" b="0" i="0" kern="1200" dirty="0">
                <a:solidFill>
                  <a:schemeClr val="tx1"/>
                </a:solidFill>
                <a:effectLst/>
                <a:latin typeface="+mn-lt"/>
                <a:ea typeface="+mn-ea"/>
                <a:cs typeface="+mn-cs"/>
              </a:rPr>
              <a:t>Обучаем любую модель (например, </a:t>
            </a:r>
            <a:r>
              <a:rPr lang="ru-RU" sz="900" b="0" i="0" kern="1200" dirty="0" err="1">
                <a:solidFill>
                  <a:schemeClr val="tx1"/>
                </a:solidFill>
                <a:effectLst/>
                <a:latin typeface="+mn-lt"/>
                <a:ea typeface="+mn-ea"/>
                <a:cs typeface="+mn-cs"/>
              </a:rPr>
              <a:t>XGBoost</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LightGBM</a:t>
            </a:r>
            <a:r>
              <a:rPr lang="ru-RU" sz="900" b="0" i="0" kern="1200" dirty="0">
                <a:solidFill>
                  <a:schemeClr val="tx1"/>
                </a:solidFill>
                <a:effectLst/>
                <a:latin typeface="+mn-lt"/>
                <a:ea typeface="+mn-ea"/>
                <a:cs typeface="+mn-cs"/>
              </a:rPr>
              <a:t>, ARIMA и др.) на обучающей выборке.</a:t>
            </a:r>
          </a:p>
          <a:p>
            <a:r>
              <a:rPr lang="ru-RU" sz="900" b="1" i="0" kern="1200" dirty="0">
                <a:solidFill>
                  <a:schemeClr val="tx1"/>
                </a:solidFill>
                <a:effectLst/>
                <a:latin typeface="+mn-lt"/>
                <a:ea typeface="+mn-ea"/>
                <a:cs typeface="+mn-cs"/>
              </a:rPr>
              <a:t>3. Вычисление </a:t>
            </a:r>
            <a:r>
              <a:rPr lang="ru-RU" sz="900" b="1" i="0" kern="1200" dirty="0" err="1">
                <a:solidFill>
                  <a:schemeClr val="tx1"/>
                </a:solidFill>
                <a:effectLst/>
                <a:latin typeface="+mn-lt"/>
                <a:ea typeface="+mn-ea"/>
                <a:cs typeface="+mn-cs"/>
              </a:rPr>
              <a:t>неконформности</a:t>
            </a:r>
            <a:endParaRPr lang="ru-RU" sz="900" b="1" i="0" kern="1200" dirty="0">
              <a:solidFill>
                <a:schemeClr val="tx1"/>
              </a:solidFill>
              <a:effectLst/>
              <a:latin typeface="+mn-lt"/>
              <a:ea typeface="+mn-ea"/>
              <a:cs typeface="+mn-cs"/>
            </a:endParaRPr>
          </a:p>
          <a:p>
            <a:r>
              <a:rPr lang="ru-RU" sz="900" b="0" i="0" kern="1200" dirty="0">
                <a:solidFill>
                  <a:schemeClr val="tx1"/>
                </a:solidFill>
                <a:effectLst/>
                <a:latin typeface="+mn-lt"/>
                <a:ea typeface="+mn-ea"/>
                <a:cs typeface="+mn-cs"/>
              </a:rPr>
              <a:t>Для каждого элемента из калибровочной выборки вычисляем ошибку прогноза (например, абсолютную):</a:t>
            </a:r>
          </a:p>
          <a:p>
            <a:r>
              <a:rPr lang="ru-RU" sz="900" b="0" i="0" kern="1200" dirty="0" err="1">
                <a:solidFill>
                  <a:schemeClr val="tx1"/>
                </a:solidFill>
                <a:effectLst/>
                <a:latin typeface="+mn-lt"/>
                <a:ea typeface="+mn-ea"/>
                <a:cs typeface="+mn-cs"/>
              </a:rPr>
              <a:t>error</a:t>
            </a:r>
            <a:r>
              <a:rPr lang="ru-RU" sz="900" b="0" i="1" kern="1200" dirty="0" err="1">
                <a:solidFill>
                  <a:schemeClr val="tx1"/>
                </a:solidFill>
                <a:effectLst/>
                <a:latin typeface="+mn-lt"/>
                <a:ea typeface="+mn-ea"/>
                <a:cs typeface="+mn-cs"/>
              </a:rPr>
              <a:t>i</a:t>
            </a:r>
            <a:r>
              <a:rPr lang="ru-RU" sz="900" b="0" i="0" kern="1200" dirty="0">
                <a:solidFill>
                  <a:schemeClr val="tx1"/>
                </a:solidFill>
                <a:effectLst/>
                <a:latin typeface="+mn-lt"/>
                <a:ea typeface="+mn-ea"/>
                <a:cs typeface="+mn-cs"/>
              </a:rPr>
              <a:t>​=∣</a:t>
            </a:r>
            <a:r>
              <a:rPr lang="ru-RU" sz="900" b="0" i="1" kern="1200" dirty="0" err="1">
                <a:solidFill>
                  <a:schemeClr val="tx1"/>
                </a:solidFill>
                <a:effectLst/>
                <a:latin typeface="+mn-lt"/>
                <a:ea typeface="+mn-ea"/>
                <a:cs typeface="+mn-cs"/>
              </a:rPr>
              <a:t>yi</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i</a:t>
            </a:r>
            <a:r>
              <a:rPr lang="ru-RU" sz="900" b="0" i="0" kern="1200" dirty="0">
                <a:solidFill>
                  <a:schemeClr val="tx1"/>
                </a:solidFill>
                <a:effectLst/>
                <a:latin typeface="+mn-lt"/>
                <a:ea typeface="+mn-ea"/>
                <a:cs typeface="+mn-cs"/>
              </a:rPr>
              <a:t>​∣</a:t>
            </a:r>
          </a:p>
          <a:p>
            <a:r>
              <a:rPr lang="ru-RU" sz="900" b="0" i="0" kern="1200" dirty="0">
                <a:solidFill>
                  <a:schemeClr val="tx1"/>
                </a:solidFill>
                <a:effectLst/>
                <a:latin typeface="+mn-lt"/>
                <a:ea typeface="+mn-ea"/>
                <a:cs typeface="+mn-cs"/>
              </a:rPr>
              <a:t>Это и есть </a:t>
            </a:r>
            <a:r>
              <a:rPr lang="ru-RU" sz="900" b="0" i="0" kern="1200" dirty="0" err="1">
                <a:solidFill>
                  <a:schemeClr val="tx1"/>
                </a:solidFill>
                <a:effectLst/>
                <a:latin typeface="+mn-lt"/>
                <a:ea typeface="+mn-ea"/>
                <a:cs typeface="+mn-cs"/>
              </a:rPr>
              <a:t>score</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неконформности</a:t>
            </a:r>
            <a:r>
              <a:rPr lang="ru-RU" sz="900" b="0" i="0" kern="1200" dirty="0">
                <a:solidFill>
                  <a:schemeClr val="tx1"/>
                </a:solidFill>
                <a:effectLst/>
                <a:latin typeface="+mn-lt"/>
                <a:ea typeface="+mn-ea"/>
                <a:cs typeface="+mn-cs"/>
              </a:rPr>
              <a:t> .</a:t>
            </a:r>
          </a:p>
          <a:p>
            <a:r>
              <a:rPr lang="ru-RU" sz="900" b="1" i="0" kern="1200" dirty="0">
                <a:solidFill>
                  <a:schemeClr val="tx1"/>
                </a:solidFill>
                <a:effectLst/>
                <a:latin typeface="+mn-lt"/>
                <a:ea typeface="+mn-ea"/>
                <a:cs typeface="+mn-cs"/>
              </a:rPr>
              <a:t>4. Нахождение квантили</a:t>
            </a:r>
          </a:p>
          <a:p>
            <a:r>
              <a:rPr lang="ru-RU" sz="900" b="0" i="0" kern="1200" dirty="0">
                <a:solidFill>
                  <a:schemeClr val="tx1"/>
                </a:solidFill>
                <a:effectLst/>
                <a:latin typeface="+mn-lt"/>
                <a:ea typeface="+mn-ea"/>
                <a:cs typeface="+mn-cs"/>
              </a:rPr>
              <a:t>Вычисляем </a:t>
            </a:r>
            <a:r>
              <a:rPr lang="ru-RU" sz="900" b="0" i="1" kern="1200" dirty="0">
                <a:solidFill>
                  <a:schemeClr val="tx1"/>
                </a:solidFill>
                <a:effectLst/>
                <a:latin typeface="+mn-lt"/>
                <a:ea typeface="+mn-ea"/>
                <a:cs typeface="+mn-cs"/>
              </a:rPr>
              <a:t>qα</a:t>
            </a:r>
            <a:r>
              <a:rPr lang="ru-RU" sz="900" b="0" i="0" kern="1200" dirty="0">
                <a:solidFill>
                  <a:schemeClr val="tx1"/>
                </a:solidFill>
                <a:effectLst/>
                <a:latin typeface="+mn-lt"/>
                <a:ea typeface="+mn-ea"/>
                <a:cs typeface="+mn-cs"/>
              </a:rPr>
              <a:t>​ — (1−</a:t>
            </a:r>
            <a:r>
              <a:rPr lang="ru-RU" sz="900" b="0" i="1" kern="1200" dirty="0">
                <a:solidFill>
                  <a:schemeClr val="tx1"/>
                </a:solidFill>
                <a:effectLst/>
                <a:latin typeface="+mn-lt"/>
                <a:ea typeface="+mn-ea"/>
                <a:cs typeface="+mn-cs"/>
              </a:rPr>
              <a:t>α</a:t>
            </a:r>
            <a:r>
              <a:rPr lang="ru-RU" sz="900" b="0" i="0" kern="1200" dirty="0">
                <a:solidFill>
                  <a:schemeClr val="tx1"/>
                </a:solidFill>
                <a:effectLst/>
                <a:latin typeface="+mn-lt"/>
                <a:ea typeface="+mn-ea"/>
                <a:cs typeface="+mn-cs"/>
              </a:rPr>
              <a:t>) -квантиль всех значений </a:t>
            </a:r>
            <a:r>
              <a:rPr lang="ru-RU" sz="900" b="0" i="0" kern="1200" dirty="0" err="1">
                <a:solidFill>
                  <a:schemeClr val="tx1"/>
                </a:solidFill>
                <a:effectLst/>
                <a:latin typeface="+mn-lt"/>
                <a:ea typeface="+mn-ea"/>
                <a:cs typeface="+mn-cs"/>
              </a:rPr>
              <a:t>error</a:t>
            </a:r>
            <a:r>
              <a:rPr lang="ru-RU" sz="900" b="0" i="1" kern="1200" dirty="0" err="1">
                <a:solidFill>
                  <a:schemeClr val="tx1"/>
                </a:solidFill>
                <a:effectLst/>
                <a:latin typeface="+mn-lt"/>
                <a:ea typeface="+mn-ea"/>
                <a:cs typeface="+mn-cs"/>
              </a:rPr>
              <a:t>i</a:t>
            </a:r>
            <a:r>
              <a:rPr lang="ru-RU" sz="900" b="0" i="0" kern="1200" dirty="0">
                <a:solidFill>
                  <a:schemeClr val="tx1"/>
                </a:solidFill>
                <a:effectLst/>
                <a:latin typeface="+mn-lt"/>
                <a:ea typeface="+mn-ea"/>
                <a:cs typeface="+mn-cs"/>
              </a:rPr>
              <a:t>​ , где </a:t>
            </a:r>
            <a:r>
              <a:rPr lang="ru-RU" sz="900" b="0" i="1" kern="1200" dirty="0">
                <a:solidFill>
                  <a:schemeClr val="tx1"/>
                </a:solidFill>
                <a:effectLst/>
                <a:latin typeface="+mn-lt"/>
                <a:ea typeface="+mn-ea"/>
                <a:cs typeface="+mn-cs"/>
              </a:rPr>
              <a:t>α</a:t>
            </a:r>
            <a:r>
              <a:rPr lang="ru-RU" sz="900" b="0" i="0" kern="1200" dirty="0">
                <a:solidFill>
                  <a:schemeClr val="tx1"/>
                </a:solidFill>
                <a:effectLst/>
                <a:latin typeface="+mn-lt"/>
                <a:ea typeface="+mn-ea"/>
                <a:cs typeface="+mn-cs"/>
              </a:rPr>
              <a:t> — уровень доверия.</a:t>
            </a:r>
          </a:p>
          <a:p>
            <a:r>
              <a:rPr lang="ru-RU" sz="900" b="0" i="0" kern="1200" dirty="0">
                <a:solidFill>
                  <a:schemeClr val="tx1"/>
                </a:solidFill>
                <a:effectLst/>
                <a:latin typeface="+mn-lt"/>
                <a:ea typeface="+mn-ea"/>
                <a:cs typeface="+mn-cs"/>
              </a:rPr>
              <a:t>Например:</a:t>
            </a:r>
          </a:p>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15</a:t>
            </a:fld>
            <a:endParaRPr lang="ru-RU"/>
          </a:p>
        </p:txBody>
      </p:sp>
    </p:spTree>
    <p:extLst>
      <p:ext uri="{BB962C8B-B14F-4D97-AF65-F5344CB8AC3E}">
        <p14:creationId xmlns:p14="http://schemas.microsoft.com/office/powerpoint/2010/main" val="199110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b="1" i="0" kern="1200" dirty="0">
                <a:solidFill>
                  <a:schemeClr val="tx1"/>
                </a:solidFill>
                <a:effectLst/>
                <a:latin typeface="+mn-lt"/>
                <a:ea typeface="+mn-ea"/>
                <a:cs typeface="+mn-cs"/>
              </a:rPr>
              <a:t>🔍 Что такое </a:t>
            </a:r>
            <a:r>
              <a:rPr lang="ru-RU" sz="900" b="1" i="0" kern="1200" dirty="0" err="1">
                <a:solidFill>
                  <a:schemeClr val="tx1"/>
                </a:solidFill>
                <a:effectLst/>
                <a:latin typeface="+mn-lt"/>
                <a:ea typeface="+mn-ea"/>
                <a:cs typeface="+mn-cs"/>
              </a:rPr>
              <a:t>Conformal</a:t>
            </a:r>
            <a:r>
              <a:rPr lang="ru-RU" sz="900" b="1" i="0" kern="1200" dirty="0">
                <a:solidFill>
                  <a:schemeClr val="tx1"/>
                </a:solidFill>
                <a:effectLst/>
                <a:latin typeface="+mn-lt"/>
                <a:ea typeface="+mn-ea"/>
                <a:cs typeface="+mn-cs"/>
              </a:rPr>
              <a:t> </a:t>
            </a:r>
            <a:r>
              <a:rPr lang="ru-RU" sz="900" b="1" i="0" kern="1200" dirty="0" err="1">
                <a:solidFill>
                  <a:schemeClr val="tx1"/>
                </a:solidFill>
                <a:effectLst/>
                <a:latin typeface="+mn-lt"/>
                <a:ea typeface="+mn-ea"/>
                <a:cs typeface="+mn-cs"/>
              </a:rPr>
              <a:t>Prediction</a:t>
            </a:r>
            <a:r>
              <a:rPr lang="ru-RU" sz="900" b="1" i="0" kern="1200" dirty="0">
                <a:solidFill>
                  <a:schemeClr val="tx1"/>
                </a:solidFill>
                <a:effectLst/>
                <a:latin typeface="+mn-lt"/>
                <a:ea typeface="+mn-ea"/>
                <a:cs typeface="+mn-cs"/>
              </a:rPr>
              <a:t>?</a:t>
            </a:r>
          </a:p>
          <a:p>
            <a:r>
              <a:rPr lang="ru-RU" sz="900" b="0" i="0" kern="1200" dirty="0" err="1">
                <a:solidFill>
                  <a:schemeClr val="tx1"/>
                </a:solidFill>
                <a:effectLst/>
                <a:latin typeface="+mn-lt"/>
                <a:ea typeface="+mn-ea"/>
                <a:cs typeface="+mn-cs"/>
              </a:rPr>
              <a:t>Conformal</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Prediction</a:t>
            </a:r>
            <a:r>
              <a:rPr lang="ru-RU" sz="900" b="0" i="0" kern="1200" dirty="0">
                <a:solidFill>
                  <a:schemeClr val="tx1"/>
                </a:solidFill>
                <a:effectLst/>
                <a:latin typeface="+mn-lt"/>
                <a:ea typeface="+mn-ea"/>
                <a:cs typeface="+mn-cs"/>
              </a:rPr>
              <a:t> (Конформное прогнозирование) — это метод непараметрической оценки неопределенности , который позволяет строить калиброванные доверительные интервалы для прогнозов, полученных с помощью любой модели машинного обучения.</a:t>
            </a:r>
          </a:p>
          <a:p>
            <a:r>
              <a:rPr lang="ru-RU" sz="900" b="0" i="0" kern="1200" dirty="0">
                <a:solidFill>
                  <a:schemeClr val="tx1"/>
                </a:solidFill>
                <a:effectLst/>
                <a:latin typeface="+mn-lt"/>
                <a:ea typeface="+mn-ea"/>
                <a:cs typeface="+mn-cs"/>
              </a:rPr>
              <a:t>Особенность этого подхода в том, что он:</a:t>
            </a:r>
          </a:p>
          <a:p>
            <a:r>
              <a:rPr lang="ru-RU" sz="900" b="0" i="0" kern="1200" dirty="0">
                <a:solidFill>
                  <a:schemeClr val="tx1"/>
                </a:solidFill>
                <a:effectLst/>
                <a:latin typeface="+mn-lt"/>
                <a:ea typeface="+mn-ea"/>
                <a:cs typeface="+mn-cs"/>
              </a:rPr>
              <a:t>Не предполагает нормальности распределения ошибок .</a:t>
            </a:r>
          </a:p>
          <a:p>
            <a:r>
              <a:rPr lang="ru-RU" sz="900" b="0" i="0" kern="1200" dirty="0">
                <a:solidFill>
                  <a:schemeClr val="tx1"/>
                </a:solidFill>
                <a:effectLst/>
                <a:latin typeface="+mn-lt"/>
                <a:ea typeface="+mn-ea"/>
                <a:cs typeface="+mn-cs"/>
              </a:rPr>
              <a:t>Не требует повторного обучения модели .</a:t>
            </a:r>
          </a:p>
          <a:p>
            <a:r>
              <a:rPr lang="ru-RU" sz="900" b="0" i="0" kern="1200" dirty="0">
                <a:solidFill>
                  <a:schemeClr val="tx1"/>
                </a:solidFill>
                <a:effectLst/>
                <a:latin typeface="+mn-lt"/>
                <a:ea typeface="+mn-ea"/>
                <a:cs typeface="+mn-cs"/>
              </a:rPr>
              <a:t>Работает с любыми моделями (линейными, деревьями решений, </a:t>
            </a:r>
            <a:r>
              <a:rPr lang="ru-RU" sz="900" b="0" i="0" kern="1200" dirty="0" err="1">
                <a:solidFill>
                  <a:schemeClr val="tx1"/>
                </a:solidFill>
                <a:effectLst/>
                <a:latin typeface="+mn-lt"/>
                <a:ea typeface="+mn-ea"/>
                <a:cs typeface="+mn-cs"/>
              </a:rPr>
              <a:t>нейросетями</a:t>
            </a:r>
            <a:r>
              <a:rPr lang="ru-RU" sz="900" b="0" i="0" kern="1200" dirty="0">
                <a:solidFill>
                  <a:schemeClr val="tx1"/>
                </a:solidFill>
                <a:effectLst/>
                <a:latin typeface="+mn-lt"/>
                <a:ea typeface="+mn-ea"/>
                <a:cs typeface="+mn-cs"/>
              </a:rPr>
              <a:t> и т.д.).</a:t>
            </a:r>
          </a:p>
          <a:p>
            <a:r>
              <a:rPr lang="ru-RU" sz="900" b="0" i="0" kern="1200" dirty="0">
                <a:solidFill>
                  <a:schemeClr val="tx1"/>
                </a:solidFill>
                <a:effectLst/>
                <a:latin typeface="+mn-lt"/>
                <a:ea typeface="+mn-ea"/>
                <a:cs typeface="+mn-cs"/>
              </a:rPr>
              <a:t>Гарантирует калибровку : например, 95% интервал действительно покроет 95% реальных значений при условии, что данные независимы и одинаково распределены (</a:t>
            </a:r>
            <a:r>
              <a:rPr lang="ru-RU" sz="900" b="0" i="0" kern="1200" dirty="0" err="1">
                <a:solidFill>
                  <a:schemeClr val="tx1"/>
                </a:solidFill>
                <a:effectLst/>
                <a:latin typeface="+mn-lt"/>
                <a:ea typeface="+mn-ea"/>
                <a:cs typeface="+mn-cs"/>
              </a:rPr>
              <a:t>i.i.d</a:t>
            </a:r>
            <a:r>
              <a:rPr lang="ru-RU" sz="900" b="0" i="0" kern="1200" dirty="0">
                <a:solidFill>
                  <a:schemeClr val="tx1"/>
                </a:solidFill>
                <a:effectLst/>
                <a:latin typeface="+mn-lt"/>
                <a:ea typeface="+mn-ea"/>
                <a:cs typeface="+mn-cs"/>
              </a:rPr>
              <a:t>.).</a:t>
            </a:r>
          </a:p>
          <a:p>
            <a:r>
              <a:rPr lang="ru-RU" sz="900" b="1" i="0" kern="1200" dirty="0">
                <a:solidFill>
                  <a:schemeClr val="tx1"/>
                </a:solidFill>
                <a:effectLst/>
                <a:latin typeface="+mn-lt"/>
                <a:ea typeface="+mn-ea"/>
                <a:cs typeface="+mn-cs"/>
              </a:rPr>
              <a:t>💡 Основная идея</a:t>
            </a:r>
          </a:p>
          <a:p>
            <a:r>
              <a:rPr lang="ru-RU" sz="900" b="0" i="0" kern="1200" dirty="0">
                <a:solidFill>
                  <a:schemeClr val="tx1"/>
                </a:solidFill>
                <a:effectLst/>
                <a:latin typeface="+mn-lt"/>
                <a:ea typeface="+mn-ea"/>
                <a:cs typeface="+mn-cs"/>
              </a:rPr>
              <a:t>Конформное прогнозирование использует перекрестную проверку или разделение на обучающую и калибровочную выборки , чтобы определить, насколько "конформны" новые наблюдения по сравнению с уже известными.</a:t>
            </a:r>
          </a:p>
          <a:p>
            <a:r>
              <a:rPr lang="ru-RU" sz="900" b="1" i="0" kern="1200" dirty="0">
                <a:solidFill>
                  <a:schemeClr val="tx1"/>
                </a:solidFill>
                <a:effectLst/>
                <a:latin typeface="+mn-lt"/>
                <a:ea typeface="+mn-ea"/>
                <a:cs typeface="+mn-cs"/>
              </a:rPr>
              <a:t>Шаги работы:</a:t>
            </a:r>
          </a:p>
          <a:p>
            <a:r>
              <a:rPr lang="ru-RU" sz="900" b="0" i="0" kern="1200" dirty="0">
                <a:solidFill>
                  <a:schemeClr val="tx1"/>
                </a:solidFill>
                <a:effectLst/>
                <a:latin typeface="+mn-lt"/>
                <a:ea typeface="+mn-ea"/>
                <a:cs typeface="+mn-cs"/>
              </a:rPr>
              <a:t>Обучите модель на обучающей выборке.</a:t>
            </a:r>
          </a:p>
          <a:p>
            <a:r>
              <a:rPr lang="ru-RU" sz="900" b="0" i="0" kern="1200" dirty="0">
                <a:solidFill>
                  <a:schemeClr val="tx1"/>
                </a:solidFill>
                <a:effectLst/>
                <a:latin typeface="+mn-lt"/>
                <a:ea typeface="+mn-ea"/>
                <a:cs typeface="+mn-cs"/>
              </a:rPr>
              <a:t>Используйте отдельную часть данных (калибровочную) для вычисления </a:t>
            </a:r>
            <a:r>
              <a:rPr lang="ru-RU" sz="900" b="0" i="0" kern="1200" dirty="0" err="1">
                <a:solidFill>
                  <a:schemeClr val="tx1"/>
                </a:solidFill>
                <a:effectLst/>
                <a:latin typeface="+mn-lt"/>
                <a:ea typeface="+mn-ea"/>
                <a:cs typeface="+mn-cs"/>
              </a:rPr>
              <a:t>неконформности</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nonconformity</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scores</a:t>
            </a:r>
            <a:r>
              <a:rPr lang="ru-RU" sz="900" b="0" i="0" kern="1200" dirty="0">
                <a:solidFill>
                  <a:schemeClr val="tx1"/>
                </a:solidFill>
                <a:effectLst/>
                <a:latin typeface="+mn-lt"/>
                <a:ea typeface="+mn-ea"/>
                <a:cs typeface="+mn-cs"/>
              </a:rPr>
              <a:t>) — меры того, насколько новое значение отличается от предсказанного.</a:t>
            </a:r>
          </a:p>
          <a:p>
            <a:r>
              <a:rPr lang="ru-RU" sz="900" b="0" i="0" kern="1200" dirty="0">
                <a:solidFill>
                  <a:schemeClr val="tx1"/>
                </a:solidFill>
                <a:effectLst/>
                <a:latin typeface="+mn-lt"/>
                <a:ea typeface="+mn-ea"/>
                <a:cs typeface="+mn-cs"/>
              </a:rPr>
              <a:t>На основе этих </a:t>
            </a:r>
            <a:r>
              <a:rPr lang="ru-RU" sz="900" b="0" i="0" kern="1200" dirty="0" err="1">
                <a:solidFill>
                  <a:schemeClr val="tx1"/>
                </a:solidFill>
                <a:effectLst/>
                <a:latin typeface="+mn-lt"/>
                <a:ea typeface="+mn-ea"/>
                <a:cs typeface="+mn-cs"/>
              </a:rPr>
              <a:t>неконформностей</a:t>
            </a:r>
            <a:r>
              <a:rPr lang="ru-RU" sz="900" b="0" i="0" kern="1200" dirty="0">
                <a:solidFill>
                  <a:schemeClr val="tx1"/>
                </a:solidFill>
                <a:effectLst/>
                <a:latin typeface="+mn-lt"/>
                <a:ea typeface="+mn-ea"/>
                <a:cs typeface="+mn-cs"/>
              </a:rPr>
              <a:t> постройте доверительный интервал , который будет содержать будущее значение с заданной вероятностью (например, 90%, 95%).</a:t>
            </a:r>
          </a:p>
          <a:p>
            <a:r>
              <a:rPr lang="ru-RU" sz="900" b="1" i="0" kern="1200" dirty="0">
                <a:solidFill>
                  <a:schemeClr val="tx1"/>
                </a:solidFill>
                <a:effectLst/>
                <a:latin typeface="+mn-lt"/>
                <a:ea typeface="+mn-ea"/>
                <a:cs typeface="+mn-cs"/>
              </a:rPr>
              <a:t>📊 Пример: регрессия</a:t>
            </a:r>
          </a:p>
          <a:p>
            <a:r>
              <a:rPr lang="ru-RU" sz="900" b="0" i="0" kern="1200" dirty="0">
                <a:solidFill>
                  <a:schemeClr val="tx1"/>
                </a:solidFill>
                <a:effectLst/>
                <a:latin typeface="+mn-lt"/>
                <a:ea typeface="+mn-ea"/>
                <a:cs typeface="+mn-cs"/>
              </a:rPr>
              <a:t>Предположим, у нас есть временной ряд </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1​,</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2​,...,</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 . Мы хотим построить прогноз на </a:t>
            </a:r>
            <a:r>
              <a:rPr lang="ru-RU" sz="900" b="0" i="1" kern="1200" dirty="0">
                <a:solidFill>
                  <a:schemeClr val="tx1"/>
                </a:solidFill>
                <a:effectLst/>
                <a:latin typeface="+mn-lt"/>
                <a:ea typeface="+mn-ea"/>
                <a:cs typeface="+mn-cs"/>
              </a:rPr>
              <a:t>h</a:t>
            </a:r>
            <a:r>
              <a:rPr lang="ru-RU" sz="900" b="0" i="0" kern="1200" dirty="0">
                <a:solidFill>
                  <a:schemeClr val="tx1"/>
                </a:solidFill>
                <a:effectLst/>
                <a:latin typeface="+mn-lt"/>
                <a:ea typeface="+mn-ea"/>
                <a:cs typeface="+mn-cs"/>
              </a:rPr>
              <a:t> шагов вперед с 95% доверительным интервалом.</a:t>
            </a:r>
          </a:p>
          <a:p>
            <a:r>
              <a:rPr lang="ru-RU" sz="900" b="1" i="0" kern="1200" dirty="0">
                <a:solidFill>
                  <a:schemeClr val="tx1"/>
                </a:solidFill>
                <a:effectLst/>
                <a:latin typeface="+mn-lt"/>
                <a:ea typeface="+mn-ea"/>
                <a:cs typeface="+mn-cs"/>
              </a:rPr>
              <a:t>Этапы конформного прогнозирования:</a:t>
            </a:r>
          </a:p>
          <a:p>
            <a:r>
              <a:rPr lang="ru-RU" sz="900" b="1" i="0" kern="1200" dirty="0">
                <a:solidFill>
                  <a:schemeClr val="tx1"/>
                </a:solidFill>
                <a:effectLst/>
                <a:latin typeface="+mn-lt"/>
                <a:ea typeface="+mn-ea"/>
                <a:cs typeface="+mn-cs"/>
              </a:rPr>
              <a:t>1. Разделение данных</a:t>
            </a:r>
          </a:p>
          <a:p>
            <a:r>
              <a:rPr lang="ru-RU" sz="900" b="0" i="0" kern="1200" dirty="0">
                <a:solidFill>
                  <a:schemeClr val="tx1"/>
                </a:solidFill>
                <a:effectLst/>
                <a:latin typeface="+mn-lt"/>
                <a:ea typeface="+mn-ea"/>
                <a:cs typeface="+mn-cs"/>
              </a:rPr>
              <a:t>Обучающая выборка : </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1​,...,</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k</a:t>
            </a:r>
            <a:r>
              <a:rPr lang="ru-RU" sz="900" b="0" i="0" kern="1200" dirty="0">
                <a:solidFill>
                  <a:schemeClr val="tx1"/>
                </a:solidFill>
                <a:effectLst/>
                <a:latin typeface="+mn-lt"/>
                <a:ea typeface="+mn-ea"/>
                <a:cs typeface="+mn-cs"/>
              </a:rPr>
              <a:t>​</a:t>
            </a:r>
          </a:p>
          <a:p>
            <a:r>
              <a:rPr lang="ru-RU" sz="900" b="0" i="0" kern="1200" dirty="0">
                <a:solidFill>
                  <a:schemeClr val="tx1"/>
                </a:solidFill>
                <a:effectLst/>
                <a:latin typeface="+mn-lt"/>
                <a:ea typeface="+mn-ea"/>
                <a:cs typeface="+mn-cs"/>
              </a:rPr>
              <a:t>Калибровочная выборка : </a:t>
            </a:r>
            <a:r>
              <a:rPr lang="ru-RU" sz="900" b="0" i="1" kern="1200" dirty="0">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k</a:t>
            </a:r>
            <a:r>
              <a:rPr lang="ru-RU" sz="900" b="0" i="0" kern="1200" dirty="0">
                <a:solidFill>
                  <a:schemeClr val="tx1"/>
                </a:solidFill>
                <a:effectLst/>
                <a:latin typeface="+mn-lt"/>
                <a:ea typeface="+mn-ea"/>
                <a:cs typeface="+mn-cs"/>
              </a:rPr>
              <a:t>+1​,...,</a:t>
            </a:r>
            <a:r>
              <a:rPr lang="ru-RU" sz="900" b="0" i="1" kern="1200" dirty="0" err="1">
                <a:solidFill>
                  <a:schemeClr val="tx1"/>
                </a:solidFill>
                <a:effectLst/>
                <a:latin typeface="+mn-lt"/>
                <a:ea typeface="+mn-ea"/>
                <a:cs typeface="+mn-cs"/>
              </a:rPr>
              <a:t>yT</a:t>
            </a:r>
            <a:r>
              <a:rPr lang="ru-RU" sz="900" b="0" i="0" kern="1200" dirty="0">
                <a:solidFill>
                  <a:schemeClr val="tx1"/>
                </a:solidFill>
                <a:effectLst/>
                <a:latin typeface="+mn-lt"/>
                <a:ea typeface="+mn-ea"/>
                <a:cs typeface="+mn-cs"/>
              </a:rPr>
              <a:t>​</a:t>
            </a:r>
          </a:p>
          <a:p>
            <a:r>
              <a:rPr lang="ru-RU" sz="900" b="1" i="0" kern="1200" dirty="0">
                <a:solidFill>
                  <a:schemeClr val="tx1"/>
                </a:solidFill>
                <a:effectLst/>
                <a:latin typeface="+mn-lt"/>
                <a:ea typeface="+mn-ea"/>
                <a:cs typeface="+mn-cs"/>
              </a:rPr>
              <a:t>2. Обучение модели</a:t>
            </a:r>
          </a:p>
          <a:p>
            <a:r>
              <a:rPr lang="ru-RU" sz="900" b="0" i="0" kern="1200" dirty="0">
                <a:solidFill>
                  <a:schemeClr val="tx1"/>
                </a:solidFill>
                <a:effectLst/>
                <a:latin typeface="+mn-lt"/>
                <a:ea typeface="+mn-ea"/>
                <a:cs typeface="+mn-cs"/>
              </a:rPr>
              <a:t>Обучаем любую модель (например, </a:t>
            </a:r>
            <a:r>
              <a:rPr lang="ru-RU" sz="900" b="0" i="0" kern="1200" dirty="0" err="1">
                <a:solidFill>
                  <a:schemeClr val="tx1"/>
                </a:solidFill>
                <a:effectLst/>
                <a:latin typeface="+mn-lt"/>
                <a:ea typeface="+mn-ea"/>
                <a:cs typeface="+mn-cs"/>
              </a:rPr>
              <a:t>XGBoost</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LightGBM</a:t>
            </a:r>
            <a:r>
              <a:rPr lang="ru-RU" sz="900" b="0" i="0" kern="1200" dirty="0">
                <a:solidFill>
                  <a:schemeClr val="tx1"/>
                </a:solidFill>
                <a:effectLst/>
                <a:latin typeface="+mn-lt"/>
                <a:ea typeface="+mn-ea"/>
                <a:cs typeface="+mn-cs"/>
              </a:rPr>
              <a:t>, ARIMA и др.) на обучающей выборке.</a:t>
            </a:r>
          </a:p>
          <a:p>
            <a:r>
              <a:rPr lang="ru-RU" sz="900" b="1" i="0" kern="1200" dirty="0">
                <a:solidFill>
                  <a:schemeClr val="tx1"/>
                </a:solidFill>
                <a:effectLst/>
                <a:latin typeface="+mn-lt"/>
                <a:ea typeface="+mn-ea"/>
                <a:cs typeface="+mn-cs"/>
              </a:rPr>
              <a:t>3. Вычисление </a:t>
            </a:r>
            <a:r>
              <a:rPr lang="ru-RU" sz="900" b="1" i="0" kern="1200" dirty="0" err="1">
                <a:solidFill>
                  <a:schemeClr val="tx1"/>
                </a:solidFill>
                <a:effectLst/>
                <a:latin typeface="+mn-lt"/>
                <a:ea typeface="+mn-ea"/>
                <a:cs typeface="+mn-cs"/>
              </a:rPr>
              <a:t>неконформности</a:t>
            </a:r>
            <a:endParaRPr lang="ru-RU" sz="900" b="1" i="0" kern="1200" dirty="0">
              <a:solidFill>
                <a:schemeClr val="tx1"/>
              </a:solidFill>
              <a:effectLst/>
              <a:latin typeface="+mn-lt"/>
              <a:ea typeface="+mn-ea"/>
              <a:cs typeface="+mn-cs"/>
            </a:endParaRPr>
          </a:p>
          <a:p>
            <a:r>
              <a:rPr lang="ru-RU" sz="900" b="0" i="0" kern="1200" dirty="0">
                <a:solidFill>
                  <a:schemeClr val="tx1"/>
                </a:solidFill>
                <a:effectLst/>
                <a:latin typeface="+mn-lt"/>
                <a:ea typeface="+mn-ea"/>
                <a:cs typeface="+mn-cs"/>
              </a:rPr>
              <a:t>Для каждого элемента из калибровочной выборки вычисляем ошибку прогноза (например, абсолютную):</a:t>
            </a:r>
          </a:p>
          <a:p>
            <a:r>
              <a:rPr lang="ru-RU" sz="900" b="0" i="0" kern="1200" dirty="0" err="1">
                <a:solidFill>
                  <a:schemeClr val="tx1"/>
                </a:solidFill>
                <a:effectLst/>
                <a:latin typeface="+mn-lt"/>
                <a:ea typeface="+mn-ea"/>
                <a:cs typeface="+mn-cs"/>
              </a:rPr>
              <a:t>error</a:t>
            </a:r>
            <a:r>
              <a:rPr lang="ru-RU" sz="900" b="0" i="1" kern="1200" dirty="0" err="1">
                <a:solidFill>
                  <a:schemeClr val="tx1"/>
                </a:solidFill>
                <a:effectLst/>
                <a:latin typeface="+mn-lt"/>
                <a:ea typeface="+mn-ea"/>
                <a:cs typeface="+mn-cs"/>
              </a:rPr>
              <a:t>i</a:t>
            </a:r>
            <a:r>
              <a:rPr lang="ru-RU" sz="900" b="0" i="0" kern="1200" dirty="0">
                <a:solidFill>
                  <a:schemeClr val="tx1"/>
                </a:solidFill>
                <a:effectLst/>
                <a:latin typeface="+mn-lt"/>
                <a:ea typeface="+mn-ea"/>
                <a:cs typeface="+mn-cs"/>
              </a:rPr>
              <a:t>​=∣</a:t>
            </a:r>
            <a:r>
              <a:rPr lang="ru-RU" sz="900" b="0" i="1" kern="1200" dirty="0" err="1">
                <a:solidFill>
                  <a:schemeClr val="tx1"/>
                </a:solidFill>
                <a:effectLst/>
                <a:latin typeface="+mn-lt"/>
                <a:ea typeface="+mn-ea"/>
                <a:cs typeface="+mn-cs"/>
              </a:rPr>
              <a:t>yi</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y</a:t>
            </a:r>
            <a:r>
              <a:rPr lang="ru-RU" sz="900" b="0" i="0" kern="1200" dirty="0">
                <a:solidFill>
                  <a:schemeClr val="tx1"/>
                </a:solidFill>
                <a:effectLst/>
                <a:latin typeface="+mn-lt"/>
                <a:ea typeface="+mn-ea"/>
                <a:cs typeface="+mn-cs"/>
              </a:rPr>
              <a:t>^​</a:t>
            </a:r>
            <a:r>
              <a:rPr lang="ru-RU" sz="900" b="0" i="1" kern="1200" dirty="0">
                <a:solidFill>
                  <a:schemeClr val="tx1"/>
                </a:solidFill>
                <a:effectLst/>
                <a:latin typeface="+mn-lt"/>
                <a:ea typeface="+mn-ea"/>
                <a:cs typeface="+mn-cs"/>
              </a:rPr>
              <a:t>i</a:t>
            </a:r>
            <a:r>
              <a:rPr lang="ru-RU" sz="900" b="0" i="0" kern="1200" dirty="0">
                <a:solidFill>
                  <a:schemeClr val="tx1"/>
                </a:solidFill>
                <a:effectLst/>
                <a:latin typeface="+mn-lt"/>
                <a:ea typeface="+mn-ea"/>
                <a:cs typeface="+mn-cs"/>
              </a:rPr>
              <a:t>​∣</a:t>
            </a:r>
          </a:p>
          <a:p>
            <a:r>
              <a:rPr lang="ru-RU" sz="900" b="0" i="0" kern="1200" dirty="0">
                <a:solidFill>
                  <a:schemeClr val="tx1"/>
                </a:solidFill>
                <a:effectLst/>
                <a:latin typeface="+mn-lt"/>
                <a:ea typeface="+mn-ea"/>
                <a:cs typeface="+mn-cs"/>
              </a:rPr>
              <a:t>Это и есть </a:t>
            </a:r>
            <a:r>
              <a:rPr lang="ru-RU" sz="900" b="0" i="0" kern="1200" dirty="0" err="1">
                <a:solidFill>
                  <a:schemeClr val="tx1"/>
                </a:solidFill>
                <a:effectLst/>
                <a:latin typeface="+mn-lt"/>
                <a:ea typeface="+mn-ea"/>
                <a:cs typeface="+mn-cs"/>
              </a:rPr>
              <a:t>score</a:t>
            </a:r>
            <a:r>
              <a:rPr lang="ru-RU" sz="900" b="0" i="0" kern="1200" dirty="0">
                <a:solidFill>
                  <a:schemeClr val="tx1"/>
                </a:solidFill>
                <a:effectLst/>
                <a:latin typeface="+mn-lt"/>
                <a:ea typeface="+mn-ea"/>
                <a:cs typeface="+mn-cs"/>
              </a:rPr>
              <a:t> </a:t>
            </a:r>
            <a:r>
              <a:rPr lang="ru-RU" sz="900" b="0" i="0" kern="1200" dirty="0" err="1">
                <a:solidFill>
                  <a:schemeClr val="tx1"/>
                </a:solidFill>
                <a:effectLst/>
                <a:latin typeface="+mn-lt"/>
                <a:ea typeface="+mn-ea"/>
                <a:cs typeface="+mn-cs"/>
              </a:rPr>
              <a:t>неконформности</a:t>
            </a:r>
            <a:r>
              <a:rPr lang="ru-RU" sz="900" b="0" i="0" kern="1200" dirty="0">
                <a:solidFill>
                  <a:schemeClr val="tx1"/>
                </a:solidFill>
                <a:effectLst/>
                <a:latin typeface="+mn-lt"/>
                <a:ea typeface="+mn-ea"/>
                <a:cs typeface="+mn-cs"/>
              </a:rPr>
              <a:t> .</a:t>
            </a:r>
          </a:p>
          <a:p>
            <a:r>
              <a:rPr lang="ru-RU" sz="900" b="1" i="0" kern="1200" dirty="0">
                <a:solidFill>
                  <a:schemeClr val="tx1"/>
                </a:solidFill>
                <a:effectLst/>
                <a:latin typeface="+mn-lt"/>
                <a:ea typeface="+mn-ea"/>
                <a:cs typeface="+mn-cs"/>
              </a:rPr>
              <a:t>4. Нахождение квантили</a:t>
            </a:r>
          </a:p>
          <a:p>
            <a:r>
              <a:rPr lang="ru-RU" sz="900" b="0" i="0" kern="1200" dirty="0">
                <a:solidFill>
                  <a:schemeClr val="tx1"/>
                </a:solidFill>
                <a:effectLst/>
                <a:latin typeface="+mn-lt"/>
                <a:ea typeface="+mn-ea"/>
                <a:cs typeface="+mn-cs"/>
              </a:rPr>
              <a:t>Вычисляем </a:t>
            </a:r>
            <a:r>
              <a:rPr lang="ru-RU" sz="900" b="0" i="1" kern="1200" dirty="0">
                <a:solidFill>
                  <a:schemeClr val="tx1"/>
                </a:solidFill>
                <a:effectLst/>
                <a:latin typeface="+mn-lt"/>
                <a:ea typeface="+mn-ea"/>
                <a:cs typeface="+mn-cs"/>
              </a:rPr>
              <a:t>qα</a:t>
            </a:r>
            <a:r>
              <a:rPr lang="ru-RU" sz="900" b="0" i="0" kern="1200" dirty="0">
                <a:solidFill>
                  <a:schemeClr val="tx1"/>
                </a:solidFill>
                <a:effectLst/>
                <a:latin typeface="+mn-lt"/>
                <a:ea typeface="+mn-ea"/>
                <a:cs typeface="+mn-cs"/>
              </a:rPr>
              <a:t>​ — (1−</a:t>
            </a:r>
            <a:r>
              <a:rPr lang="ru-RU" sz="900" b="0" i="1" kern="1200" dirty="0">
                <a:solidFill>
                  <a:schemeClr val="tx1"/>
                </a:solidFill>
                <a:effectLst/>
                <a:latin typeface="+mn-lt"/>
                <a:ea typeface="+mn-ea"/>
                <a:cs typeface="+mn-cs"/>
              </a:rPr>
              <a:t>α</a:t>
            </a:r>
            <a:r>
              <a:rPr lang="ru-RU" sz="900" b="0" i="0" kern="1200" dirty="0">
                <a:solidFill>
                  <a:schemeClr val="tx1"/>
                </a:solidFill>
                <a:effectLst/>
                <a:latin typeface="+mn-lt"/>
                <a:ea typeface="+mn-ea"/>
                <a:cs typeface="+mn-cs"/>
              </a:rPr>
              <a:t>) -квантиль всех значений </a:t>
            </a:r>
            <a:r>
              <a:rPr lang="ru-RU" sz="900" b="0" i="0" kern="1200" dirty="0" err="1">
                <a:solidFill>
                  <a:schemeClr val="tx1"/>
                </a:solidFill>
                <a:effectLst/>
                <a:latin typeface="+mn-lt"/>
                <a:ea typeface="+mn-ea"/>
                <a:cs typeface="+mn-cs"/>
              </a:rPr>
              <a:t>error</a:t>
            </a:r>
            <a:r>
              <a:rPr lang="ru-RU" sz="900" b="0" i="1" kern="1200" dirty="0" err="1">
                <a:solidFill>
                  <a:schemeClr val="tx1"/>
                </a:solidFill>
                <a:effectLst/>
                <a:latin typeface="+mn-lt"/>
                <a:ea typeface="+mn-ea"/>
                <a:cs typeface="+mn-cs"/>
              </a:rPr>
              <a:t>i</a:t>
            </a:r>
            <a:r>
              <a:rPr lang="ru-RU" sz="900" b="0" i="0" kern="1200" dirty="0">
                <a:solidFill>
                  <a:schemeClr val="tx1"/>
                </a:solidFill>
                <a:effectLst/>
                <a:latin typeface="+mn-lt"/>
                <a:ea typeface="+mn-ea"/>
                <a:cs typeface="+mn-cs"/>
              </a:rPr>
              <a:t>​ , где </a:t>
            </a:r>
            <a:r>
              <a:rPr lang="ru-RU" sz="900" b="0" i="1" kern="1200" dirty="0">
                <a:solidFill>
                  <a:schemeClr val="tx1"/>
                </a:solidFill>
                <a:effectLst/>
                <a:latin typeface="+mn-lt"/>
                <a:ea typeface="+mn-ea"/>
                <a:cs typeface="+mn-cs"/>
              </a:rPr>
              <a:t>α</a:t>
            </a:r>
            <a:r>
              <a:rPr lang="ru-RU" sz="900" b="0" i="0" kern="1200" dirty="0">
                <a:solidFill>
                  <a:schemeClr val="tx1"/>
                </a:solidFill>
                <a:effectLst/>
                <a:latin typeface="+mn-lt"/>
                <a:ea typeface="+mn-ea"/>
                <a:cs typeface="+mn-cs"/>
              </a:rPr>
              <a:t> — уровень доверия.</a:t>
            </a:r>
          </a:p>
          <a:p>
            <a:r>
              <a:rPr lang="ru-RU" sz="900" b="0" i="0" kern="1200" dirty="0">
                <a:solidFill>
                  <a:schemeClr val="tx1"/>
                </a:solidFill>
                <a:effectLst/>
                <a:latin typeface="+mn-lt"/>
                <a:ea typeface="+mn-ea"/>
                <a:cs typeface="+mn-cs"/>
              </a:rPr>
              <a:t>Например:</a:t>
            </a:r>
          </a:p>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16</a:t>
            </a:fld>
            <a:endParaRPr lang="ru-RU"/>
          </a:p>
        </p:txBody>
      </p:sp>
    </p:spTree>
    <p:extLst>
      <p:ext uri="{BB962C8B-B14F-4D97-AF65-F5344CB8AC3E}">
        <p14:creationId xmlns:p14="http://schemas.microsoft.com/office/powerpoint/2010/main" val="1039098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CFB4BA-4847-4950-9046-35C57469617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7C50F236-05DE-4EA6-B24B-C0FEBD729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F412F55E-4C2C-4815-9251-414FB0B405B3}"/>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5" name="Нижний колонтитул 4">
            <a:extLst>
              <a:ext uri="{FF2B5EF4-FFF2-40B4-BE49-F238E27FC236}">
                <a16:creationId xmlns:a16="http://schemas.microsoft.com/office/drawing/2014/main" id="{907044F1-1BCB-437D-94B7-748CD73BDC09}"/>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8FE5FCA-3381-4AA7-97BE-E08360D07EF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4773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2078B4-C8B8-4494-8D96-3C27E8336B95}"/>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DFB14A32-4487-4DEA-8E16-BCEFD680538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CAA63F3-81BF-4E33-9692-6778B8E19DA6}"/>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5" name="Нижний колонтитул 4">
            <a:extLst>
              <a:ext uri="{FF2B5EF4-FFF2-40B4-BE49-F238E27FC236}">
                <a16:creationId xmlns:a16="http://schemas.microsoft.com/office/drawing/2014/main" id="{DDE3BEBD-8CC4-4081-9FDB-95EB8C3FA1B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28FB63A-262B-4B36-853D-8FD6AE113C36}"/>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47961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C43E4F-3035-403A-BF75-75C94FBBF44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903DCB50-56CC-4CB7-B0E9-C49EE413D0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48699E2-26D2-4F29-BECB-D95064481951}"/>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5" name="Нижний колонтитул 4">
            <a:extLst>
              <a:ext uri="{FF2B5EF4-FFF2-40B4-BE49-F238E27FC236}">
                <a16:creationId xmlns:a16="http://schemas.microsoft.com/office/drawing/2014/main" id="{78572401-E422-4507-AF7F-D7097CB4EF97}"/>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DC6EC42-24E3-47D8-9888-D943C92725E4}"/>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5272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D8482-B2D7-40A8-802B-023F79090511}"/>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87C7A474-D83F-4629-BFC3-2F4B70530FC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CBDD1A05-87B9-4B2D-8E14-4A30D386B2C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CBBC8B2B-8080-4609-A242-EA6E91AF7965}"/>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6" name="Нижний колонтитул 5">
            <a:extLst>
              <a:ext uri="{FF2B5EF4-FFF2-40B4-BE49-F238E27FC236}">
                <a16:creationId xmlns:a16="http://schemas.microsoft.com/office/drawing/2014/main" id="{37E48783-5AEF-42A6-9B25-9575CD40931F}"/>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5E1D6438-4412-440C-9295-08502F801321}"/>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400323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3A02B6-9656-414C-BE0E-10520656D63D}"/>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20224BE-5E0C-4E18-BFEF-DD7D38630D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F82B3EE-40C5-4C9D-A53F-B840D95C583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6CE08FC7-9C8F-40C5-A36C-57D977012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DA3F2C0-DF9F-4B0C-8FF7-87FA6D0C982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4670B12D-A9FE-4003-AD82-C945E4650199}"/>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8" name="Нижний колонтитул 7">
            <a:extLst>
              <a:ext uri="{FF2B5EF4-FFF2-40B4-BE49-F238E27FC236}">
                <a16:creationId xmlns:a16="http://schemas.microsoft.com/office/drawing/2014/main" id="{01D85015-23A3-46A2-835F-65D23A8CC63E}"/>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3ECA17E4-0196-4A48-A9E8-2CDD648161B2}"/>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57050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33BF47-6BDB-4118-A251-A1E8A5BAC7A7}"/>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77ED7011-686E-45C2-8968-A0B2E5D91B3B}"/>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4" name="Нижний колонтитул 3">
            <a:extLst>
              <a:ext uri="{FF2B5EF4-FFF2-40B4-BE49-F238E27FC236}">
                <a16:creationId xmlns:a16="http://schemas.microsoft.com/office/drawing/2014/main" id="{84ACE154-94EF-4E83-9D3F-7EE19302267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E255E03A-D16A-4D69-90DC-E58F3F32ED5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463708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4E9CB4-2963-43D8-8D7F-D3C9C5A63602}"/>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3" name="Нижний колонтитул 2">
            <a:extLst>
              <a:ext uri="{FF2B5EF4-FFF2-40B4-BE49-F238E27FC236}">
                <a16:creationId xmlns:a16="http://schemas.microsoft.com/office/drawing/2014/main" id="{C54DA748-DD83-4645-AFEB-64F92704904C}"/>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2D3C6B88-BC8D-458D-A522-282B466F8CB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7851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76CF2-7597-4002-8ABA-F1D3B86D939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6A3F4F31-CC84-417F-B967-C992A4599C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61EC5051-C614-4B70-A698-B21DE6B2C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B9C3610-5D28-44EB-9587-C384AEC28954}"/>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6" name="Нижний колонтитул 5">
            <a:extLst>
              <a:ext uri="{FF2B5EF4-FFF2-40B4-BE49-F238E27FC236}">
                <a16:creationId xmlns:a16="http://schemas.microsoft.com/office/drawing/2014/main" id="{D53EF8BB-8CBF-4362-9146-DEF1DEC21B3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11AA93E-098B-4DBE-A044-721E37D6D1A3}"/>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69456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CC3971-FAC8-4F52-B15E-7F9CCA65EA8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62583E30-D6F9-47C1-B0FD-3070A90D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2133E1C3-FED5-47C3-8D75-D0E1CE87A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7B8DF28-82CD-4556-9610-6627C6C1E281}"/>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6" name="Нижний колонтитул 5">
            <a:extLst>
              <a:ext uri="{FF2B5EF4-FFF2-40B4-BE49-F238E27FC236}">
                <a16:creationId xmlns:a16="http://schemas.microsoft.com/office/drawing/2014/main" id="{1C754358-7942-4E40-AF93-18EF33D32044}"/>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70356B49-2C0E-451A-8A9A-74FDF9A8C03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868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FE3F53-D493-48AC-971D-7454A8D783D9}"/>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E4A05121-2968-48C3-BB49-AF0AC43AD13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8A79E25-1AB6-488D-AFD4-754FABB44191}"/>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5" name="Нижний колонтитул 4">
            <a:extLst>
              <a:ext uri="{FF2B5EF4-FFF2-40B4-BE49-F238E27FC236}">
                <a16:creationId xmlns:a16="http://schemas.microsoft.com/office/drawing/2014/main" id="{CF133EB6-0DE0-4289-8048-2D6D72BA6721}"/>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8889C22-9049-4BFC-8501-808125020B1E}"/>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82213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A0A8197-99AF-4047-BB35-1E28D8D181D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32B8222B-3624-4C62-9AC8-0C9ACA87107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9B1FCEF-30E5-4242-9E96-510141165CCB}"/>
              </a:ext>
            </a:extLst>
          </p:cNvPr>
          <p:cNvSpPr>
            <a:spLocks noGrp="1"/>
          </p:cNvSpPr>
          <p:nvPr>
            <p:ph type="dt" sz="half" idx="10"/>
          </p:nvPr>
        </p:nvSpPr>
        <p:spPr/>
        <p:txBody>
          <a:bodyPr/>
          <a:lstStyle/>
          <a:p>
            <a:fld id="{44343DC6-30E4-4569-999A-C703F926F2AF}" type="datetimeFigureOut">
              <a:rPr lang="en-US" smtClean="0"/>
              <a:t>5/15/26</a:t>
            </a:fld>
            <a:endParaRPr lang="en-US"/>
          </a:p>
        </p:txBody>
      </p:sp>
      <p:sp>
        <p:nvSpPr>
          <p:cNvPr id="5" name="Нижний колонтитул 4">
            <a:extLst>
              <a:ext uri="{FF2B5EF4-FFF2-40B4-BE49-F238E27FC236}">
                <a16:creationId xmlns:a16="http://schemas.microsoft.com/office/drawing/2014/main" id="{E83953CE-A629-44C1-8C47-D85C4C211FDD}"/>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4200CE6-DA51-4537-A51E-3A38FB76B5F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750401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55DBB2-2936-4C5B-A898-17ABF8192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77DD482A-BA7D-4219-92B7-5B66F76D4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E6365484-7FD2-4223-ACAC-F0B65AFF5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43DC6-30E4-4569-999A-C703F926F2AF}" type="datetimeFigureOut">
              <a:rPr lang="en-US" smtClean="0"/>
              <a:t>5/15/26</a:t>
            </a:fld>
            <a:endParaRPr lang="en-US"/>
          </a:p>
        </p:txBody>
      </p:sp>
      <p:sp>
        <p:nvSpPr>
          <p:cNvPr id="5" name="Нижний колонтитул 4">
            <a:extLst>
              <a:ext uri="{FF2B5EF4-FFF2-40B4-BE49-F238E27FC236}">
                <a16:creationId xmlns:a16="http://schemas.microsoft.com/office/drawing/2014/main" id="{3E91DAA7-F8E0-4BCD-8D26-540FF2A6E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B4E25FF6-6DD2-4839-9908-5D121329B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3081126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mydata.ch/backtesting-in-time-series-forecasting-for-maximum-performance/" TargetMode="External"/><Relationship Id="rId2" Type="http://schemas.openxmlformats.org/officeDocument/2006/relationships/hyperlink" Target="https://docs.aws.amazon.com/whitepapers/latest/time-series-forecasting-principles-with-amazon-forecast/step-4-evaluate-predictors.html#prediction-quantiles-and-accuracy-metrics" TargetMode="External"/><Relationship Id="rId1" Type="http://schemas.openxmlformats.org/officeDocument/2006/relationships/slideLayout" Target="../slideLayouts/slideLayout2.xml"/><Relationship Id="rId6" Type="http://schemas.openxmlformats.org/officeDocument/2006/relationships/hyperlink" Target="https://machinelearningmastery.com/backtest-machine-learning-models-time-series-forecasting/" TargetMode="External"/><Relationship Id="rId5" Type="http://schemas.openxmlformats.org/officeDocument/2006/relationships/hyperlink" Target="https://www.sktime.net/en/stable/examples/forecasting/window_splitters.html" TargetMode="External"/><Relationship Id="rId4" Type="http://schemas.openxmlformats.org/officeDocument/2006/relationships/hyperlink" Target="https://joaquinamatrodrigo.github.io/skforecast/0.11.0/user_guides/backtest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r>
              <a:rPr lang="ru-RU" dirty="0"/>
              <a:t>Оценка надежности предсказаний ВР</a:t>
            </a:r>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424752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1450" y="161925"/>
            <a:ext cx="11403106" cy="660827"/>
          </a:xfrm>
        </p:spPr>
        <p:txBody>
          <a:bodyPr>
            <a:normAutofit fontScale="90000"/>
          </a:bodyPr>
          <a:lstStyle/>
          <a:p>
            <a:r>
              <a:rPr lang="ru-RU" dirty="0"/>
              <a:t>Надёжность предсказания временных рядов</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71450" y="822752"/>
                <a:ext cx="11733519" cy="5780955"/>
              </a:xfrm>
            </p:spPr>
            <p:txBody>
              <a:bodyPr>
                <a:normAutofit/>
              </a:bodyPr>
              <a:lstStyle/>
              <a:p>
                <a:pPr marL="0" indent="0">
                  <a:buNone/>
                </a:pPr>
                <a:r>
                  <a:rPr lang="ru-RU" sz="2400" b="1" dirty="0"/>
                  <a:t>Надёжность предсказания временных рядов </a:t>
                </a:r>
                <a:r>
                  <a:rPr lang="ru-RU" sz="2400" dirty="0"/>
                  <a:t>— это мера, характеризующая степень уверенности в том, что реальное будущее значение временного ряда окажется в достаточно близко к предсезонному значению.</a:t>
                </a:r>
              </a:p>
              <a:p>
                <a:pPr marL="0" indent="0">
                  <a:buNone/>
                </a:pPr>
                <a:r>
                  <a:rPr lang="ru-RU" sz="2400" dirty="0"/>
                  <a:t>	То есть в интервале </a:t>
                </a:r>
                <a:r>
                  <a:rPr lang="ru-RU" sz="2400" dirty="0" err="1"/>
                  <a:t>отн</a:t>
                </a:r>
                <a:r>
                  <a:rPr lang="ru-RU" sz="2400" dirty="0"/>
                  <a:t>. Средней оценке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𝑙𝑜𝑤</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h𝑖𝑔h</m:t>
                        </m:r>
                      </m:sub>
                    </m:sSub>
                    <m:r>
                      <a:rPr lang="en-US" sz="2400" b="0" i="1" smtClean="0">
                        <a:latin typeface="Cambria Math" panose="02040503050406030204" pitchFamily="18" charset="0"/>
                      </a:rPr>
                      <m:t>]</m:t>
                    </m:r>
                  </m:oMath>
                </a14:m>
                <a:endParaRPr lang="ru-RU" sz="2400" dirty="0"/>
              </a:p>
              <a:p>
                <a:pPr marL="0" indent="0">
                  <a:buNone/>
                </a:pPr>
                <a:r>
                  <a:rPr lang="ru-RU" sz="2400" dirty="0"/>
                  <a:t>		где </a:t>
                </a:r>
                <a14:m>
                  <m:oMath xmlns:m="http://schemas.openxmlformats.org/officeDocument/2006/math">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𝑙𝑜𝑤</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h𝑖𝑔h</m:t>
                        </m:r>
                      </m:sub>
                    </m:sSub>
                  </m:oMath>
                </a14:m>
                <a:r>
                  <a:rPr lang="ru-RU" sz="2400" dirty="0"/>
                  <a:t> - оценки нижней и верхней границ интервала.</a:t>
                </a:r>
              </a:p>
              <a:p>
                <a:pPr marL="0" indent="0">
                  <a:buNone/>
                </a:pPr>
                <a:r>
                  <a:rPr lang="ru-RU" sz="2400" b="1" dirty="0"/>
                  <a:t>Прогнозы всегда содержат неопределенность. </a:t>
                </a:r>
                <a:r>
                  <a:rPr lang="ru-RU" sz="2400" dirty="0"/>
                  <a:t>Надежный прогноз позволяет:</a:t>
                </a:r>
              </a:p>
              <a:p>
                <a:pPr lvl="1"/>
                <a:r>
                  <a:rPr lang="ru-RU" dirty="0"/>
                  <a:t>Управлять рисками</a:t>
                </a:r>
              </a:p>
              <a:p>
                <a:pPr lvl="2"/>
                <a:r>
                  <a:rPr lang="ru-RU" dirty="0"/>
                  <a:t>Пример: прогноз энергопотребления с учетом возможного пика</a:t>
                </a:r>
              </a:p>
              <a:p>
                <a:pPr lvl="1"/>
                <a:r>
                  <a:rPr lang="ru-RU" dirty="0"/>
                  <a:t>Планировать сценарии развития</a:t>
                </a:r>
              </a:p>
              <a:p>
                <a:pPr lvl="2"/>
                <a:r>
                  <a:rPr lang="ru-RU" dirty="0"/>
                  <a:t>Пример: управление запасами на складе</a:t>
                </a:r>
              </a:p>
              <a:p>
                <a:pPr lvl="1"/>
                <a:r>
                  <a:rPr lang="ru-RU" dirty="0"/>
                  <a:t>Повышать доверие к модели</a:t>
                </a:r>
              </a:p>
              <a:p>
                <a:pPr lvl="2"/>
                <a:r>
                  <a:rPr lang="ru-RU" dirty="0"/>
                  <a:t>Пример: выбор между моделью с высокой точностью (низкое </a:t>
                </a:r>
                <a:r>
                  <a:rPr lang="ru-RU" dirty="0" err="1"/>
                  <a:t>смещние</a:t>
                </a:r>
                <a:r>
                  <a:rPr lang="ru-RU" dirty="0"/>
                  <a:t>) и высоким разбросом и наоборот</a:t>
                </a:r>
              </a:p>
              <a:p>
                <a:pPr lvl="2"/>
                <a:endParaRPr lang="ru-RU" dirty="0"/>
              </a:p>
              <a:p>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71450" y="822752"/>
                <a:ext cx="11733519" cy="5780955"/>
              </a:xfrm>
              <a:blipFill>
                <a:blip r:embed="rId2"/>
                <a:stretch>
                  <a:fillRect l="-779" t="-1477" r="-104"/>
                </a:stretch>
              </a:blipFill>
            </p:spPr>
            <p:txBody>
              <a:bodyPr/>
              <a:lstStyle/>
              <a:p>
                <a:r>
                  <a:rPr lang="ru-RU">
                    <a:noFill/>
                  </a:rPr>
                  <a:t> </a:t>
                </a:r>
              </a:p>
            </p:txBody>
          </p:sp>
        </mc:Fallback>
      </mc:AlternateContent>
    </p:spTree>
    <p:extLst>
      <p:ext uri="{BB962C8B-B14F-4D97-AF65-F5344CB8AC3E}">
        <p14:creationId xmlns:p14="http://schemas.microsoft.com/office/powerpoint/2010/main" val="1104299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Источники ошибки предсказаний во ВР</a:t>
            </a:r>
          </a:p>
        </p:txBody>
      </p:sp>
      <p:sp>
        <p:nvSpPr>
          <p:cNvPr id="3" name="Объект 2"/>
          <p:cNvSpPr>
            <a:spLocks noGrp="1"/>
          </p:cNvSpPr>
          <p:nvPr>
            <p:ph idx="1"/>
          </p:nvPr>
        </p:nvSpPr>
        <p:spPr>
          <a:xfrm>
            <a:off x="155574" y="715612"/>
            <a:ext cx="11706225" cy="5176838"/>
          </a:xfrm>
        </p:spPr>
        <p:txBody>
          <a:bodyPr>
            <a:normAutofit/>
          </a:bodyPr>
          <a:lstStyle/>
          <a:p>
            <a:pPr marL="447675" lvl="1" indent="-352425">
              <a:lnSpc>
                <a:spcPct val="100000"/>
              </a:lnSpc>
              <a:spcBef>
                <a:spcPts val="200"/>
              </a:spcBef>
            </a:pPr>
            <a:r>
              <a:rPr lang="ru-RU" sz="2000" b="1" dirty="0"/>
              <a:t>Случайная ошибка </a:t>
            </a:r>
            <a:r>
              <a:rPr lang="ru-RU" sz="2000" dirty="0"/>
              <a:t>(флуктуации, шум)</a:t>
            </a:r>
          </a:p>
          <a:p>
            <a:pPr marL="447675" lvl="1" indent="-352425">
              <a:lnSpc>
                <a:spcPct val="100000"/>
              </a:lnSpc>
              <a:spcBef>
                <a:spcPts val="200"/>
              </a:spcBef>
            </a:pPr>
            <a:r>
              <a:rPr lang="ru-RU" sz="2000" b="1" dirty="0"/>
              <a:t>Смещенные оценки </a:t>
            </a:r>
            <a:r>
              <a:rPr lang="ru-RU" sz="2000" dirty="0"/>
              <a:t>параметров (инструментальная ошибка)</a:t>
            </a:r>
          </a:p>
          <a:p>
            <a:pPr marL="447675" lvl="1" indent="-352425">
              <a:lnSpc>
                <a:spcPct val="100000"/>
              </a:lnSpc>
              <a:spcBef>
                <a:spcPts val="200"/>
              </a:spcBef>
            </a:pPr>
            <a:r>
              <a:rPr lang="ru-RU" sz="2000" b="1" dirty="0"/>
              <a:t>Дрейф данных </a:t>
            </a:r>
            <a:r>
              <a:rPr lang="ru-RU" sz="2000" dirty="0"/>
              <a:t>– изменение в распределение значений ВР на тесте</a:t>
            </a:r>
          </a:p>
          <a:p>
            <a:pPr lvl="2">
              <a:lnSpc>
                <a:spcPct val="100000"/>
              </a:lnSpc>
              <a:spcBef>
                <a:spcPts val="0"/>
              </a:spcBef>
            </a:pPr>
            <a:r>
              <a:rPr lang="ru-RU" dirty="0"/>
              <a:t>из за ограниченности выборки не все паттерны учтены в </a:t>
            </a:r>
            <a:r>
              <a:rPr lang="ru-RU" dirty="0" err="1"/>
              <a:t>трейне</a:t>
            </a:r>
            <a:endParaRPr lang="ru-RU" dirty="0"/>
          </a:p>
          <a:p>
            <a:pPr lvl="3">
              <a:lnSpc>
                <a:spcPct val="100000"/>
              </a:lnSpc>
              <a:spcBef>
                <a:spcPts val="0"/>
              </a:spcBef>
            </a:pPr>
            <a:r>
              <a:rPr lang="ru-RU" sz="2000" dirty="0"/>
              <a:t>Напр., на выборке в 3 года не учтены факторы високосного года.</a:t>
            </a:r>
          </a:p>
          <a:p>
            <a:pPr lvl="4">
              <a:lnSpc>
                <a:spcPct val="100000"/>
              </a:lnSpc>
              <a:spcBef>
                <a:spcPts val="0"/>
              </a:spcBef>
            </a:pPr>
            <a:r>
              <a:rPr lang="ru-RU" sz="2000" dirty="0"/>
              <a:t> Нужно учесть в </a:t>
            </a:r>
            <a:r>
              <a:rPr lang="ru-RU" sz="2000" dirty="0" err="1"/>
              <a:t>трейне</a:t>
            </a:r>
            <a:r>
              <a:rPr lang="ru-RU" sz="2000" dirty="0"/>
              <a:t> и </a:t>
            </a:r>
            <a:r>
              <a:rPr lang="ru-RU" sz="2000" dirty="0" err="1"/>
              <a:t>дообуёчить</a:t>
            </a:r>
            <a:r>
              <a:rPr lang="ru-RU" sz="2000" dirty="0"/>
              <a:t> модель</a:t>
            </a:r>
            <a:endParaRPr lang="en-US" sz="2000" dirty="0"/>
          </a:p>
          <a:p>
            <a:pPr marL="447675" lvl="1" indent="-361950">
              <a:lnSpc>
                <a:spcPct val="100000"/>
              </a:lnSpc>
              <a:spcBef>
                <a:spcPts val="0"/>
              </a:spcBef>
            </a:pPr>
            <a:r>
              <a:rPr lang="ru-RU" sz="2000" b="1" dirty="0"/>
              <a:t>Дрейф концепции </a:t>
            </a:r>
            <a:r>
              <a:rPr lang="ru-RU" sz="2000" dirty="0"/>
              <a:t>– Появление истинно новых паттернов в тесте</a:t>
            </a:r>
          </a:p>
          <a:p>
            <a:pPr lvl="3">
              <a:lnSpc>
                <a:spcPct val="100000"/>
              </a:lnSpc>
              <a:spcBef>
                <a:spcPts val="0"/>
              </a:spcBef>
            </a:pPr>
            <a:r>
              <a:rPr lang="ru-RU" sz="2000" dirty="0"/>
              <a:t>Напр., объявлена 4 дневная рабочая неделя. – Нужно учесть пересмотреть модель</a:t>
            </a:r>
          </a:p>
          <a:p>
            <a:pPr marL="0" indent="0">
              <a:buNone/>
            </a:pPr>
            <a:r>
              <a:rPr lang="ru-RU" sz="2100" b="1" dirty="0"/>
              <a:t>Ошибки предсказаний приводят к неопределённости предсказаний и деградации моделей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75" y="3675518"/>
            <a:ext cx="5191125" cy="295245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3512616" y="4023261"/>
            <a:ext cx="647700" cy="12189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4906612" y="3908720"/>
            <a:ext cx="647700" cy="12812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4184485" y="444703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82915" y="3675518"/>
            <a:ext cx="2747547" cy="369332"/>
          </a:xfrm>
          <a:prstGeom prst="rect">
            <a:avLst/>
          </a:prstGeom>
          <a:noFill/>
        </p:spPr>
        <p:txBody>
          <a:bodyPr wrap="none" rtlCol="0">
            <a:spAutoFit/>
          </a:bodyPr>
          <a:lstStyle/>
          <a:p>
            <a:r>
              <a:rPr lang="ru-RU" dirty="0"/>
              <a:t>Неучтенная информация?</a:t>
            </a:r>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pic>
        <p:nvPicPr>
          <p:cNvPr id="4098" name="Picture 2" descr="Data drift vs. Concept drift"/>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584013" y="3677799"/>
            <a:ext cx="4642082" cy="2612531"/>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644106" y="6414486"/>
            <a:ext cx="3491661" cy="261610"/>
          </a:xfrm>
          <a:prstGeom prst="rect">
            <a:avLst/>
          </a:prstGeom>
        </p:spPr>
        <p:txBody>
          <a:bodyPr wrap="none">
            <a:spAutoFit/>
          </a:bodyPr>
          <a:lstStyle/>
          <a:p>
            <a:r>
              <a:rPr lang="ru-RU" sz="1100" dirty="0"/>
              <a:t>https://www.evidentlyai.com/ml-in-production/data-drift</a:t>
            </a:r>
          </a:p>
        </p:txBody>
      </p:sp>
      <p:sp>
        <p:nvSpPr>
          <p:cNvPr id="7" name="TextBox 6"/>
          <p:cNvSpPr txBox="1"/>
          <p:nvPr/>
        </p:nvSpPr>
        <p:spPr>
          <a:xfrm>
            <a:off x="8846102" y="5945126"/>
            <a:ext cx="3015697" cy="338554"/>
          </a:xfrm>
          <a:prstGeom prst="rect">
            <a:avLst/>
          </a:prstGeom>
          <a:noFill/>
        </p:spPr>
        <p:txBody>
          <a:bodyPr wrap="none" rtlCol="0">
            <a:spAutoFit/>
          </a:bodyPr>
          <a:lstStyle/>
          <a:p>
            <a:r>
              <a:rPr lang="ru-RU" sz="1600" dirty="0"/>
              <a:t>Появилась новая форма продаж</a:t>
            </a:r>
          </a:p>
        </p:txBody>
      </p:sp>
      <p:sp>
        <p:nvSpPr>
          <p:cNvPr id="15" name="TextBox 14"/>
          <p:cNvSpPr txBox="1"/>
          <p:nvPr/>
        </p:nvSpPr>
        <p:spPr>
          <a:xfrm>
            <a:off x="5786482" y="5923853"/>
            <a:ext cx="3059620" cy="338554"/>
          </a:xfrm>
          <a:prstGeom prst="rect">
            <a:avLst/>
          </a:prstGeom>
          <a:noFill/>
        </p:spPr>
        <p:txBody>
          <a:bodyPr wrap="none" rtlCol="0">
            <a:spAutoFit/>
          </a:bodyPr>
          <a:lstStyle/>
          <a:p>
            <a:r>
              <a:rPr lang="ru-RU" sz="1600" dirty="0"/>
              <a:t>Изменение доли онлайн продаж</a:t>
            </a:r>
          </a:p>
        </p:txBody>
      </p:sp>
    </p:spTree>
    <p:extLst>
      <p:ext uri="{BB962C8B-B14F-4D97-AF65-F5344CB8AC3E}">
        <p14:creationId xmlns:p14="http://schemas.microsoft.com/office/powerpoint/2010/main" val="964422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 y="136525"/>
            <a:ext cx="11719560" cy="671195"/>
          </a:xfrm>
        </p:spPr>
        <p:txBody>
          <a:bodyPr>
            <a:normAutofit fontScale="90000"/>
          </a:bodyPr>
          <a:lstStyle/>
          <a:p>
            <a:pPr algn="ctr"/>
            <a:r>
              <a:rPr lang="ru-RU" dirty="0"/>
              <a:t>Пути оценки точности предсказаний модели</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44780" y="807720"/>
                <a:ext cx="11849100" cy="5888356"/>
              </a:xfrm>
            </p:spPr>
            <p:txBody>
              <a:bodyPr>
                <a:normAutofit fontScale="92500" lnSpcReduction="20000"/>
              </a:bodyPr>
              <a:lstStyle/>
              <a:p>
                <a:pPr marL="0" indent="0">
                  <a:buNone/>
                </a:pPr>
                <a:r>
                  <a:rPr lang="ru-RU" sz="2200" b="1" dirty="0"/>
                  <a:t>На тренировочной </a:t>
                </a:r>
                <a:r>
                  <a:rPr lang="en-US" sz="2200" b="1" dirty="0"/>
                  <a:t>vs</a:t>
                </a:r>
                <a:r>
                  <a:rPr lang="ru-RU" sz="2200" b="1" dirty="0"/>
                  <a:t> </a:t>
                </a:r>
                <a:r>
                  <a:rPr lang="ru-RU" sz="2200" b="1" dirty="0" err="1"/>
                  <a:t>валидационной</a:t>
                </a:r>
                <a:r>
                  <a:rPr lang="ru-RU" sz="2200" b="1" dirty="0"/>
                  <a:t> выборке</a:t>
                </a:r>
              </a:p>
              <a:p>
                <a:pPr lvl="1"/>
                <a:r>
                  <a:rPr lang="ru-RU" sz="2000" b="1" dirty="0"/>
                  <a:t>Оценка сложности модели </a:t>
                </a:r>
                <a14:m>
                  <m:oMath xmlns:m="http://schemas.openxmlformats.org/officeDocument/2006/math">
                    <m:r>
                      <a:rPr lang="ru-RU" sz="2000" i="1">
                        <a:latin typeface="Cambria Math" panose="02040503050406030204" pitchFamily="18" charset="0"/>
                      </a:rPr>
                      <m:t>→</m:t>
                    </m:r>
                  </m:oMath>
                </a14:m>
                <a:r>
                  <a:rPr lang="ru-RU" sz="2000" dirty="0"/>
                  <a:t> сравнение с </a:t>
                </a:r>
                <a:r>
                  <a:rPr lang="ru-RU" sz="2000" dirty="0" err="1"/>
                  <a:t>бейзлайн</a:t>
                </a:r>
                <a:r>
                  <a:rPr lang="ru-RU" sz="2000" dirty="0"/>
                  <a:t> и моделей </a:t>
                </a:r>
              </a:p>
              <a:p>
                <a:pPr lvl="2"/>
                <a:r>
                  <a:rPr lang="ru-RU" dirty="0"/>
                  <a:t>информационные критерии </a:t>
                </a:r>
                <a:r>
                  <a:rPr lang="ru-RU" dirty="0" err="1"/>
                  <a:t>Акайке</a:t>
                </a:r>
                <a:r>
                  <a:rPr lang="en-US" dirty="0"/>
                  <a:t> (AIC, </a:t>
                </a:r>
                <a:r>
                  <a:rPr lang="en-US" dirty="0" err="1"/>
                  <a:t>AICc</a:t>
                </a:r>
                <a:r>
                  <a:rPr lang="en-US" dirty="0"/>
                  <a:t>)</a:t>
                </a:r>
                <a:r>
                  <a:rPr lang="ru-RU" dirty="0"/>
                  <a:t>, Шварца </a:t>
                </a:r>
                <a:r>
                  <a:rPr lang="en-US" dirty="0"/>
                  <a:t>(BIC) </a:t>
                </a:r>
                <a:r>
                  <a:rPr lang="ru-RU" dirty="0"/>
                  <a:t>и </a:t>
                </a:r>
                <a:r>
                  <a:rPr lang="ru-RU" dirty="0" err="1"/>
                  <a:t>тд</a:t>
                </a:r>
                <a:r>
                  <a:rPr lang="ru-RU" dirty="0"/>
                  <a:t> </a:t>
                </a:r>
              </a:p>
              <a:p>
                <a:pPr lvl="2"/>
                <a:r>
                  <a:rPr lang="ru-RU" dirty="0"/>
                  <a:t>Чем ниже сложность </a:t>
                </a:r>
                <a14:m>
                  <m:oMath xmlns:m="http://schemas.openxmlformats.org/officeDocument/2006/math">
                    <m:r>
                      <a:rPr lang="ru-RU" i="1">
                        <a:latin typeface="Cambria Math" panose="02040503050406030204" pitchFamily="18" charset="0"/>
                      </a:rPr>
                      <m:t>→</m:t>
                    </m:r>
                  </m:oMath>
                </a14:m>
                <a:r>
                  <a:rPr lang="ru-RU" sz="2100" dirty="0"/>
                  <a:t> тем ниже вероятность переобучения (тем модель стабильней)</a:t>
                </a:r>
              </a:p>
              <a:p>
                <a:pPr lvl="1"/>
                <a:r>
                  <a:rPr lang="ru-RU" sz="2200" b="1" dirty="0"/>
                  <a:t>Интерпретируемость модели</a:t>
                </a:r>
              </a:p>
              <a:p>
                <a:pPr lvl="2"/>
                <a:r>
                  <a:rPr lang="ru-RU" sz="1800" dirty="0"/>
                  <a:t>Разложение модели </a:t>
                </a:r>
                <a:r>
                  <a:rPr lang="en-US" sz="1800" dirty="0"/>
                  <a:t>STL, </a:t>
                </a:r>
                <a:r>
                  <a:rPr lang="ru-RU" sz="1800" dirty="0"/>
                  <a:t>интерпретируемость </a:t>
                </a:r>
                <a:r>
                  <a:rPr lang="en-US" sz="1800" dirty="0"/>
                  <a:t>ML </a:t>
                </a:r>
                <a:r>
                  <a:rPr lang="ru-RU" sz="1800" dirty="0"/>
                  <a:t>моделей и </a:t>
                </a:r>
                <a:r>
                  <a:rPr lang="ru-RU" sz="1800" dirty="0" err="1"/>
                  <a:t>тд</a:t>
                </a:r>
                <a:endParaRPr lang="en-US" sz="1800" dirty="0"/>
              </a:p>
              <a:p>
                <a:pPr lvl="1"/>
                <a:r>
                  <a:rPr lang="ru-RU" sz="2200" b="1" dirty="0"/>
                  <a:t>Анализ невязок </a:t>
                </a:r>
                <a:r>
                  <a:rPr lang="ru-RU" sz="2200" dirty="0"/>
                  <a:t>(остатков, на тренировочной выборке!)</a:t>
                </a:r>
              </a:p>
              <a:p>
                <a:pPr lvl="2"/>
                <a:r>
                  <a:rPr lang="ru-RU" dirty="0"/>
                  <a:t>Наличие информации в остатках, выбросы</a:t>
                </a:r>
                <a:r>
                  <a:rPr lang="en-US" dirty="0"/>
                  <a:t>/</a:t>
                </a:r>
                <a:r>
                  <a:rPr lang="ru-RU" dirty="0" err="1"/>
                  <a:t>новиза</a:t>
                </a:r>
                <a:r>
                  <a:rPr lang="en-US" dirty="0"/>
                  <a:t>, </a:t>
                </a:r>
                <a:r>
                  <a:rPr lang="ru-RU" dirty="0"/>
                  <a:t>, распределение</a:t>
                </a:r>
                <a:r>
                  <a:rPr lang="en-US" dirty="0"/>
                  <a:t>,</a:t>
                </a:r>
                <a:r>
                  <a:rPr lang="ru-RU" dirty="0"/>
                  <a:t> </a:t>
                </a:r>
                <a:r>
                  <a:rPr lang="ru-RU" dirty="0" err="1"/>
                  <a:t>гомосекдостичность</a:t>
                </a:r>
                <a:r>
                  <a:rPr lang="ru-RU" dirty="0"/>
                  <a:t> и т.д.</a:t>
                </a:r>
              </a:p>
              <a:p>
                <a:pPr lvl="1"/>
                <a:r>
                  <a:rPr lang="ru-RU" sz="2000" b="1" dirty="0"/>
                  <a:t>Оценка средней точности </a:t>
                </a:r>
                <a:r>
                  <a:rPr lang="ru-RU" sz="2000" dirty="0"/>
                  <a:t>(точечные метрики</a:t>
                </a:r>
                <a14:m>
                  <m:oMath xmlns:m="http://schemas.openxmlformats.org/officeDocument/2006/math">
                    <m:r>
                      <a:rPr lang="ru-RU" sz="2000" b="0" i="1" smtClean="0">
                        <a:latin typeface="Cambria Math" panose="02040503050406030204" pitchFamily="18" charset="0"/>
                      </a:rPr>
                      <m:t>→</m:t>
                    </m:r>
                  </m:oMath>
                </a14:m>
                <a:r>
                  <a:rPr lang="ru-RU" sz="2000" dirty="0"/>
                  <a:t>сравнение с </a:t>
                </a:r>
                <a:r>
                  <a:rPr lang="ru-RU" sz="2000" dirty="0" err="1"/>
                  <a:t>бейзлайн</a:t>
                </a:r>
                <a:r>
                  <a:rPr lang="ru-RU" sz="2000" dirty="0"/>
                  <a:t>, </a:t>
                </a:r>
                <a:r>
                  <a:rPr lang="ru-RU" sz="2000" dirty="0" err="1"/>
                  <a:t>переобученность</a:t>
                </a:r>
                <a:r>
                  <a:rPr lang="ru-RU" sz="2000" dirty="0"/>
                  <a:t>)</a:t>
                </a:r>
              </a:p>
              <a:p>
                <a:pPr lvl="2"/>
                <a:r>
                  <a:rPr lang="en-US" dirty="0"/>
                  <a:t>RMSE, MAE, MASE</a:t>
                </a:r>
                <a:r>
                  <a:rPr lang="ru-RU" dirty="0"/>
                  <a:t>, </a:t>
                </a:r>
                <a:r>
                  <a:rPr lang="en-US" dirty="0" err="1"/>
                  <a:t>sMAPE</a:t>
                </a:r>
                <a:r>
                  <a:rPr lang="ru-RU" dirty="0"/>
                  <a:t> </a:t>
                </a:r>
                <a14:m>
                  <m:oMath xmlns:m="http://schemas.openxmlformats.org/officeDocument/2006/math">
                    <m:r>
                      <a:rPr lang="en-US" b="0" i="1" smtClean="0">
                        <a:latin typeface="Cambria Math" panose="02040503050406030204" pitchFamily="18" charset="0"/>
                      </a:rPr>
                      <m:t> </m:t>
                    </m:r>
                  </m:oMath>
                </a14:m>
                <a:endParaRPr lang="ru-RU" dirty="0"/>
              </a:p>
              <a:p>
                <a:pPr lvl="2"/>
                <a:r>
                  <a:rPr lang="ru-RU" sz="1600" dirty="0"/>
                  <a:t>Стабильность точности при изменении параметров модели</a:t>
                </a:r>
                <a:endParaRPr lang="en-US" sz="1600" dirty="0"/>
              </a:p>
              <a:p>
                <a:pPr lvl="1"/>
                <a:r>
                  <a:rPr lang="ru-RU" sz="2000" b="1" dirty="0"/>
                  <a:t>Оценка вероятностных метрик</a:t>
                </a:r>
              </a:p>
              <a:p>
                <a:pPr lvl="2"/>
                <a:r>
                  <a:rPr lang="ru-RU" dirty="0"/>
                  <a:t>интервалов/квантилей/дисперсии/распределений</a:t>
                </a:r>
              </a:p>
              <a:p>
                <a:pPr marL="0" indent="0">
                  <a:buNone/>
                </a:pPr>
                <a:r>
                  <a:rPr lang="ru-RU" sz="2200" b="1" dirty="0"/>
                  <a:t>На </a:t>
                </a:r>
                <a:r>
                  <a:rPr lang="ru-RU" sz="2200" b="1" dirty="0" err="1"/>
                  <a:t>тестовой+валидационной</a:t>
                </a:r>
                <a:r>
                  <a:rPr lang="ru-RU" sz="2200" b="1" dirty="0"/>
                  <a:t> выборке </a:t>
                </a:r>
              </a:p>
              <a:p>
                <a:pPr lvl="1"/>
                <a:r>
                  <a:rPr lang="en-US" dirty="0"/>
                  <a:t>walk forward  </a:t>
                </a:r>
                <a:r>
                  <a:rPr lang="ru-RU" dirty="0"/>
                  <a:t>кросс-</a:t>
                </a:r>
                <a:r>
                  <a:rPr lang="ru-RU" dirty="0" err="1"/>
                  <a:t>валидация</a:t>
                </a:r>
                <a:r>
                  <a:rPr lang="ru-RU" dirty="0"/>
                  <a:t> – оценка вариативности точности</a:t>
                </a:r>
                <a:r>
                  <a:rPr lang="en-US" dirty="0"/>
                  <a:t>  </a:t>
                </a:r>
                <a:endParaRPr lang="ru-RU" dirty="0"/>
              </a:p>
              <a:p>
                <a:pPr lvl="1"/>
                <a:r>
                  <a:rPr lang="en-US" dirty="0" err="1"/>
                  <a:t>backtesting</a:t>
                </a:r>
                <a:r>
                  <a:rPr lang="en-US" dirty="0"/>
                  <a:t> </a:t>
                </a:r>
                <a:r>
                  <a:rPr lang="ru-RU" dirty="0" err="1"/>
                  <a:t>валидация</a:t>
                </a:r>
                <a:r>
                  <a:rPr lang="ru-RU" dirty="0"/>
                  <a:t> – симуляция предсказаний модели</a:t>
                </a:r>
                <a:endParaRPr lang="en-US" dirty="0"/>
              </a:p>
              <a:p>
                <a:pPr lvl="1"/>
                <a:r>
                  <a:rPr lang="ru-RU" dirty="0"/>
                  <a:t>стресс-тесты (сценарный анализ) – оценка рисков предсказаний </a:t>
                </a:r>
              </a:p>
              <a:p>
                <a:pPr marL="0" indent="0">
                  <a:buNone/>
                </a:pPr>
                <a:r>
                  <a:rPr lang="ru-RU" sz="2200" b="1" i="1" dirty="0"/>
                  <a:t>Мониторинг</a:t>
                </a:r>
              </a:p>
              <a:p>
                <a:pPr lvl="1"/>
                <a:r>
                  <a:rPr lang="ru-RU" sz="1800" i="1" dirty="0"/>
                  <a:t>Анализ невязок, </a:t>
                </a:r>
              </a:p>
              <a:p>
                <a:pPr lvl="1"/>
                <a:r>
                  <a:rPr lang="ru-RU" sz="1800" i="1" dirty="0"/>
                  <a:t>Тесты на </a:t>
                </a:r>
                <a:r>
                  <a:rPr lang="ru-RU" sz="1800" i="1" dirty="0" err="1"/>
                  <a:t>дреф</a:t>
                </a:r>
                <a:r>
                  <a:rPr lang="ru-RU" sz="1800" i="1" dirty="0"/>
                  <a:t> данных</a:t>
                </a:r>
                <a:r>
                  <a:rPr lang="en-US" sz="1800" i="1" dirty="0"/>
                  <a:t>/</a:t>
                </a:r>
                <a:r>
                  <a:rPr lang="ru-RU" sz="1800" i="1" dirty="0"/>
                  <a:t>концепта (уход среднего, изменение распределения ошибок, декомпозиция ВР)</a:t>
                </a:r>
              </a:p>
              <a:p>
                <a:pPr lvl="1"/>
                <a:r>
                  <a:rPr lang="ru-RU" sz="1800" i="1" dirty="0"/>
                  <a:t>Контроль аномалий</a:t>
                </a:r>
                <a:endParaRPr lang="ru-RU" i="1"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44780" y="807720"/>
                <a:ext cx="11849100" cy="5888356"/>
              </a:xfrm>
              <a:blipFill>
                <a:blip r:embed="rId2"/>
                <a:stretch>
                  <a:fillRect l="-566" t="-1969"/>
                </a:stretch>
              </a:blipFill>
            </p:spPr>
            <p:txBody>
              <a:bodyPr/>
              <a:lstStyle/>
              <a:p>
                <a:r>
                  <a:rPr lang="ru-RU">
                    <a:noFill/>
                  </a:rPr>
                  <a:t> </a:t>
                </a:r>
              </a:p>
            </p:txBody>
          </p:sp>
        </mc:Fallback>
      </mc:AlternateContent>
      <p:cxnSp>
        <p:nvCxnSpPr>
          <p:cNvPr id="5" name="Прямая соединительная линия 4"/>
          <p:cNvCxnSpPr/>
          <p:nvPr/>
        </p:nvCxnSpPr>
        <p:spPr>
          <a:xfrm flipV="1">
            <a:off x="259080" y="5494020"/>
            <a:ext cx="8892540" cy="76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555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3420" y="86574"/>
            <a:ext cx="11180379" cy="620220"/>
          </a:xfrm>
        </p:spPr>
        <p:txBody>
          <a:bodyPr>
            <a:normAutofit fontScale="90000"/>
          </a:bodyPr>
          <a:lstStyle/>
          <a:p>
            <a:pPr algn="ctr"/>
            <a:r>
              <a:rPr lang="en-US" b="1" dirty="0"/>
              <a:t>Temporal split</a:t>
            </a:r>
            <a:endParaRPr lang="ru-RU" b="1" dirty="0"/>
          </a:p>
        </p:txBody>
      </p:sp>
      <p:sp>
        <p:nvSpPr>
          <p:cNvPr id="3" name="Объект 2"/>
          <p:cNvSpPr>
            <a:spLocks noGrp="1"/>
          </p:cNvSpPr>
          <p:nvPr>
            <p:ph idx="1"/>
          </p:nvPr>
        </p:nvSpPr>
        <p:spPr>
          <a:xfrm>
            <a:off x="307428" y="595072"/>
            <a:ext cx="11351172" cy="5191617"/>
          </a:xfrm>
        </p:spPr>
        <p:txBody>
          <a:bodyPr>
            <a:normAutofit/>
          </a:bodyPr>
          <a:lstStyle/>
          <a:p>
            <a:pPr marL="0" indent="0">
              <a:buNone/>
            </a:pPr>
            <a:r>
              <a:rPr lang="ru-RU" sz="2400" dirty="0"/>
              <a:t>Очень важно понимать, что во временных рядах невозможна  классическая кросс-</a:t>
            </a:r>
            <a:r>
              <a:rPr lang="ru-RU" sz="2400" dirty="0" err="1"/>
              <a:t>валидация</a:t>
            </a:r>
            <a:r>
              <a:rPr lang="ru-RU" sz="2400" dirty="0"/>
              <a:t>. </a:t>
            </a:r>
            <a:endParaRPr lang="en-US" sz="2400" dirty="0"/>
          </a:p>
          <a:p>
            <a:pPr marL="0" indent="0">
              <a:buNone/>
            </a:pPr>
            <a:r>
              <a:rPr lang="en-US" sz="2400" dirty="0"/>
              <a:t>	</a:t>
            </a:r>
            <a:r>
              <a:rPr lang="ru-RU" sz="2000" dirty="0"/>
              <a:t>это приведет к потери паттернов и утечке данных</a:t>
            </a:r>
            <a:r>
              <a:rPr lang="en-US" sz="2000" dirty="0"/>
              <a:t> </a:t>
            </a:r>
            <a:r>
              <a:rPr lang="ru-RU" sz="2000" dirty="0"/>
              <a:t>их будущего (нарушение казуальности)</a:t>
            </a:r>
          </a:p>
          <a:p>
            <a:pPr marL="0" indent="0">
              <a:buNone/>
            </a:pPr>
            <a:r>
              <a:rPr lang="ru-RU" sz="2000" dirty="0"/>
              <a:t>	другими словами такая оценка метрик будет завышена (вероятность переобучения)</a:t>
            </a:r>
          </a:p>
          <a:p>
            <a:pPr marL="0" indent="0">
              <a:buNone/>
            </a:pPr>
            <a:r>
              <a:rPr lang="en-US" sz="2000" dirty="0"/>
              <a:t>Temporal Cross-Validation </a:t>
            </a:r>
            <a:r>
              <a:rPr lang="ru-RU" sz="2000" dirty="0"/>
              <a:t>предполагает:</a:t>
            </a:r>
          </a:p>
          <a:p>
            <a:r>
              <a:rPr lang="ru-RU" sz="2000" dirty="0" err="1"/>
              <a:t>Валидационная</a:t>
            </a:r>
            <a:r>
              <a:rPr lang="ru-RU" sz="2000" dirty="0"/>
              <a:t> выборка идет после тренировочной.</a:t>
            </a:r>
          </a:p>
          <a:p>
            <a:pPr lvl="1"/>
            <a:r>
              <a:rPr lang="ru-RU" sz="1800" dirty="0"/>
              <a:t>Тестовая выборка идет после </a:t>
            </a:r>
            <a:r>
              <a:rPr lang="ru-RU" sz="1800" dirty="0" err="1"/>
              <a:t>валидационной</a:t>
            </a:r>
            <a:r>
              <a:rPr lang="ru-RU" sz="1800" dirty="0"/>
              <a:t>.</a:t>
            </a:r>
          </a:p>
        </p:txBody>
      </p:sp>
      <p:sp>
        <p:nvSpPr>
          <p:cNvPr id="4" name="Прямоугольник 3"/>
          <p:cNvSpPr/>
          <p:nvPr/>
        </p:nvSpPr>
        <p:spPr>
          <a:xfrm>
            <a:off x="173420" y="6472812"/>
            <a:ext cx="2680798" cy="307777"/>
          </a:xfrm>
          <a:prstGeom prst="rect">
            <a:avLst/>
          </a:prstGeom>
        </p:spPr>
        <p:txBody>
          <a:bodyPr wrap="none">
            <a:spAutoFit/>
          </a:bodyPr>
          <a:lstStyle/>
          <a:p>
            <a:r>
              <a:rPr lang="ru-RU" sz="1400" dirty="0"/>
              <a:t>https://otexts.com/fpp3/tscv.html</a:t>
            </a:r>
          </a:p>
        </p:txBody>
      </p:sp>
      <p:pic>
        <p:nvPicPr>
          <p:cNvPr id="2050" name="Picture 2" descr="machine learning - Temporal train-test split for forecasting - Stack  Over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161" y="3255735"/>
            <a:ext cx="5306447" cy="321707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486161" y="6462180"/>
            <a:ext cx="5705839" cy="276999"/>
          </a:xfrm>
          <a:prstGeom prst="rect">
            <a:avLst/>
          </a:prstGeom>
        </p:spPr>
        <p:txBody>
          <a:bodyPr wrap="square">
            <a:spAutoFit/>
          </a:bodyPr>
          <a:lstStyle/>
          <a:p>
            <a:r>
              <a:rPr lang="ru-RU" sz="1200" dirty="0"/>
              <a:t>https://stackoverflow.com/questions/62332528/temporal-train-test-split-for-forecasting</a:t>
            </a:r>
          </a:p>
        </p:txBody>
      </p:sp>
      <p:sp>
        <p:nvSpPr>
          <p:cNvPr id="6" name="Прямоугольник 5"/>
          <p:cNvSpPr/>
          <p:nvPr/>
        </p:nvSpPr>
        <p:spPr>
          <a:xfrm>
            <a:off x="2771775" y="6488200"/>
            <a:ext cx="4124857" cy="307777"/>
          </a:xfrm>
          <a:prstGeom prst="rect">
            <a:avLst/>
          </a:prstGeom>
        </p:spPr>
        <p:txBody>
          <a:bodyPr wrap="square">
            <a:spAutoFit/>
          </a:bodyPr>
          <a:lstStyle/>
          <a:p>
            <a:r>
              <a:rPr lang="ru-RU" sz="1400" dirty="0"/>
              <a:t>https://algotrading101.com/learn/train-test-split/</a:t>
            </a:r>
          </a:p>
        </p:txBody>
      </p:sp>
      <p:pic>
        <p:nvPicPr>
          <p:cNvPr id="2052" name="Picture 4" descr="https://cdn.shortpixel.ai/spai/q_lossy+w_730+to_webp+ret_img/algotrading101.com/learn/wp-content/uploads/2020/06/training-validation-test-data-s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564" y="3336020"/>
            <a:ext cx="5104450" cy="2748013"/>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628216" y="6084033"/>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128353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en-US" dirty="0"/>
              <a:t>Walk-forward </a:t>
            </a:r>
            <a:r>
              <a:rPr lang="ru-RU" dirty="0"/>
              <a:t>кросс-</a:t>
            </a:r>
            <a:r>
              <a:rPr lang="ru-RU" dirty="0" err="1"/>
              <a:t>валидация</a:t>
            </a:r>
            <a:r>
              <a:rPr lang="ru-RU" dirty="0"/>
              <a:t> </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a:t>Особенность </a:t>
            </a:r>
            <a:r>
              <a:rPr lang="en-US" sz="2400" b="1" dirty="0"/>
              <a:t>Temporal</a:t>
            </a:r>
            <a:r>
              <a:rPr lang="ru-RU" sz="2400" b="1" dirty="0"/>
              <a:t> </a:t>
            </a:r>
            <a:r>
              <a:rPr lang="en-US" sz="2400" b="1" dirty="0"/>
              <a:t>split – </a:t>
            </a:r>
            <a:r>
              <a:rPr lang="ru-RU" sz="2400" b="1" dirty="0"/>
              <a:t>для нестационарных данных тест и </a:t>
            </a:r>
            <a:r>
              <a:rPr lang="ru-RU" sz="2400" b="1" dirty="0" err="1"/>
              <a:t>трейн</a:t>
            </a:r>
            <a:r>
              <a:rPr lang="ru-RU" sz="2400" b="1" dirty="0"/>
              <a:t> будут различаться.</a:t>
            </a:r>
          </a:p>
          <a:p>
            <a:pPr lvl="1"/>
            <a:r>
              <a:rPr lang="ru-RU" sz="2000" dirty="0"/>
              <a:t>Вопросы: все ли паттерны </a:t>
            </a:r>
            <a:r>
              <a:rPr lang="ru-RU" sz="2000" dirty="0" err="1"/>
              <a:t>трейн</a:t>
            </a:r>
            <a:r>
              <a:rPr lang="ru-RU" sz="2000" dirty="0"/>
              <a:t> есть в тесте? </a:t>
            </a:r>
          </a:p>
          <a:p>
            <a:pPr lvl="1"/>
            <a:r>
              <a:rPr lang="ru-RU" sz="2000" dirty="0"/>
              <a:t>Справедливы ли преобразования </a:t>
            </a:r>
            <a:r>
              <a:rPr lang="ru-RU" sz="2000" dirty="0" err="1"/>
              <a:t>трейн</a:t>
            </a:r>
            <a:r>
              <a:rPr lang="ru-RU" sz="2000" dirty="0"/>
              <a:t> к тесту.</a:t>
            </a:r>
          </a:p>
          <a:p>
            <a:pPr lvl="1"/>
            <a:r>
              <a:rPr lang="ru-RU" sz="2000" dirty="0"/>
              <a:t>Весь ли тест соответствует </a:t>
            </a:r>
            <a:r>
              <a:rPr lang="ru-RU" sz="2000" dirty="0" err="1"/>
              <a:t>трейну</a:t>
            </a:r>
            <a:r>
              <a:rPr lang="ru-RU" sz="2000" dirty="0"/>
              <a:t> и насколько допустимо отклонение?</a:t>
            </a:r>
          </a:p>
          <a:p>
            <a:r>
              <a:rPr lang="ru-RU" sz="2000" dirty="0"/>
              <a:t>Для повышения надежности возможны несколько типов кросс </a:t>
            </a:r>
            <a:r>
              <a:rPr lang="ru-RU" sz="2000" dirty="0" err="1"/>
              <a:t>валидации</a:t>
            </a:r>
            <a:r>
              <a:rPr lang="en-US" sz="2000" dirty="0"/>
              <a:t> c </a:t>
            </a:r>
            <a:r>
              <a:rPr lang="ru-RU" sz="2000" dirty="0"/>
              <a:t>симуляцией проявления различных эффектов в </a:t>
            </a:r>
            <a:r>
              <a:rPr lang="ru-RU" sz="2000" dirty="0" err="1"/>
              <a:t>валидационной</a:t>
            </a:r>
            <a:r>
              <a:rPr lang="ru-RU" sz="2000" dirty="0"/>
              <a:t> выборке </a:t>
            </a:r>
          </a:p>
        </p:txBody>
      </p:sp>
      <p:sp>
        <p:nvSpPr>
          <p:cNvPr id="4" name="Прямоугольник 3"/>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21" y="3449711"/>
            <a:ext cx="5283950" cy="29996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014" y="3449711"/>
            <a:ext cx="5211082" cy="3043272"/>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530155" y="6234897"/>
            <a:ext cx="4420184" cy="369332"/>
          </a:xfrm>
          <a:prstGeom prst="rect">
            <a:avLst/>
          </a:prstGeom>
        </p:spPr>
        <p:txBody>
          <a:bodyPr wrap="none">
            <a:spAutoFit/>
          </a:bodyPr>
          <a:lstStyle/>
          <a:p>
            <a:r>
              <a:rPr lang="ru-RU" dirty="0"/>
              <a:t>Кросс-</a:t>
            </a:r>
            <a:r>
              <a:rPr lang="ru-RU" dirty="0" err="1"/>
              <a:t>валидация</a:t>
            </a:r>
            <a:r>
              <a:rPr lang="ru-RU" dirty="0"/>
              <a:t> со смещающимся окном </a:t>
            </a:r>
          </a:p>
        </p:txBody>
      </p:sp>
      <p:sp>
        <p:nvSpPr>
          <p:cNvPr id="8" name="Прямоугольник 7"/>
          <p:cNvSpPr/>
          <p:nvPr/>
        </p:nvSpPr>
        <p:spPr>
          <a:xfrm>
            <a:off x="6820377" y="6182973"/>
            <a:ext cx="4500335" cy="369332"/>
          </a:xfrm>
          <a:prstGeom prst="rect">
            <a:avLst/>
          </a:prstGeom>
        </p:spPr>
        <p:txBody>
          <a:bodyPr wrap="none">
            <a:spAutoFit/>
          </a:bodyPr>
          <a:lstStyle/>
          <a:p>
            <a:r>
              <a:rPr lang="ru-RU" dirty="0"/>
              <a:t>Кросс-</a:t>
            </a:r>
            <a:r>
              <a:rPr lang="ru-RU" dirty="0" err="1"/>
              <a:t>валидация</a:t>
            </a:r>
            <a:r>
              <a:rPr lang="ru-RU" dirty="0"/>
              <a:t> с расширяющимся окном </a:t>
            </a:r>
          </a:p>
        </p:txBody>
      </p:sp>
      <p:sp>
        <p:nvSpPr>
          <p:cNvPr id="5" name="Прямоугольник 4"/>
          <p:cNvSpPr/>
          <p:nvPr/>
        </p:nvSpPr>
        <p:spPr>
          <a:xfrm>
            <a:off x="3129038" y="3286179"/>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2688163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E9FF0-0758-840B-74C0-5820149D09E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E37009-9F52-2597-07E4-01B909063B5D}"/>
              </a:ext>
            </a:extLst>
          </p:cNvPr>
          <p:cNvSpPr>
            <a:spLocks noGrp="1"/>
          </p:cNvSpPr>
          <p:nvPr>
            <p:ph type="title"/>
          </p:nvPr>
        </p:nvSpPr>
        <p:spPr>
          <a:xfrm>
            <a:off x="307428" y="129977"/>
            <a:ext cx="11180379" cy="620220"/>
          </a:xfrm>
        </p:spPr>
        <p:txBody>
          <a:bodyPr>
            <a:normAutofit fontScale="90000"/>
          </a:bodyPr>
          <a:lstStyle/>
          <a:p>
            <a:pPr algn="ctr"/>
            <a:r>
              <a:rPr lang="en-US" dirty="0"/>
              <a:t>Walk-forward </a:t>
            </a:r>
            <a:r>
              <a:rPr lang="ru-RU" dirty="0"/>
              <a:t>кросс-</a:t>
            </a:r>
            <a:r>
              <a:rPr lang="ru-RU" dirty="0" err="1"/>
              <a:t>валидация</a:t>
            </a:r>
            <a:r>
              <a:rPr lang="ru-RU" dirty="0"/>
              <a:t> </a:t>
            </a:r>
            <a:endParaRPr lang="ru-RU" b="1" dirty="0"/>
          </a:p>
        </p:txBody>
      </p:sp>
      <p:sp>
        <p:nvSpPr>
          <p:cNvPr id="3" name="Объект 2">
            <a:extLst>
              <a:ext uri="{FF2B5EF4-FFF2-40B4-BE49-F238E27FC236}">
                <a16:creationId xmlns:a16="http://schemas.microsoft.com/office/drawing/2014/main" id="{F74D3975-52FE-820F-08B0-CDFA0E635A43}"/>
              </a:ext>
            </a:extLst>
          </p:cNvPr>
          <p:cNvSpPr>
            <a:spLocks noGrp="1"/>
          </p:cNvSpPr>
          <p:nvPr>
            <p:ph idx="1"/>
          </p:nvPr>
        </p:nvSpPr>
        <p:spPr>
          <a:xfrm>
            <a:off x="307428" y="3363277"/>
            <a:ext cx="11351172" cy="3302443"/>
          </a:xfrm>
        </p:spPr>
        <p:txBody>
          <a:bodyPr>
            <a:normAutofit fontScale="55000" lnSpcReduction="20000"/>
          </a:bodyPr>
          <a:lstStyle/>
          <a:p>
            <a:pPr>
              <a:lnSpc>
                <a:spcPct val="120000"/>
              </a:lnSpc>
              <a:spcBef>
                <a:spcPts val="400"/>
              </a:spcBef>
            </a:pPr>
            <a:r>
              <a:rPr lang="ru-RU" sz="3300" dirty="0"/>
              <a:t>Эти две схемы отличаются только размером обучающего множества. В первом случае он постоянно растет, во втором – не меняется, а само обучающее множество при этом сдвигается. Ту или иную схему на практике стоит использовать в зависимости от того, какая решается задача. Например, если данных достаточно много и предполагается онлайн работа модели с периодическим дообучением, то обычно при каждом дообучении размер обучающего множества фиксируют. В таком случае имеет смысл воспользоваться второй схемой, чтобы оценить качество модели, обученной именно на таким количестве данных. Если же данных немного, то для обучения желательно использовать все доступные данные. В таком случае имеет смысл использовать первую схему.</a:t>
            </a:r>
          </a:p>
          <a:p>
            <a:pPr>
              <a:lnSpc>
                <a:spcPct val="120000"/>
              </a:lnSpc>
              <a:spcBef>
                <a:spcPts val="400"/>
              </a:spcBef>
            </a:pPr>
            <a:r>
              <a:rPr lang="ru-RU" sz="3300" dirty="0"/>
              <a:t>Обратите внимание, что во всех случаях размер тестового интервала времени фиксирован. Это необходимое условие, потому как распределение значений метрики на разных размерах данных может отличаться. Вспомните, например, про зависимость дисперсии выборочного от размера выборки.</a:t>
            </a:r>
          </a:p>
          <a:p>
            <a:pPr marL="0" indent="0">
              <a:buNone/>
            </a:pPr>
            <a:endParaRPr lang="ru-RU" sz="2000" dirty="0"/>
          </a:p>
        </p:txBody>
      </p:sp>
      <p:sp>
        <p:nvSpPr>
          <p:cNvPr id="4" name="Прямоугольник 3">
            <a:extLst>
              <a:ext uri="{FF2B5EF4-FFF2-40B4-BE49-F238E27FC236}">
                <a16:creationId xmlns:a16="http://schemas.microsoft.com/office/drawing/2014/main" id="{73FEA093-94DC-7270-5080-647003DBFEF2}"/>
              </a:ext>
            </a:extLst>
          </p:cNvPr>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a:extLst>
              <a:ext uri="{FF2B5EF4-FFF2-40B4-BE49-F238E27FC236}">
                <a16:creationId xmlns:a16="http://schemas.microsoft.com/office/drawing/2014/main" id="{0A8E7353-9012-7783-4EAE-1FBEB9230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428" y="1002841"/>
            <a:ext cx="3932768" cy="22326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a:extLst>
              <a:ext uri="{FF2B5EF4-FFF2-40B4-BE49-F238E27FC236}">
                <a16:creationId xmlns:a16="http://schemas.microsoft.com/office/drawing/2014/main" id="{054CB517-5047-577C-1DBE-3ABF95A01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7486" y="875037"/>
            <a:ext cx="4561114" cy="26636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A9793AD-6555-C255-EA20-FB7646D7CFC0}"/>
              </a:ext>
            </a:extLst>
          </p:cNvPr>
          <p:cNvSpPr txBox="1"/>
          <p:nvPr/>
        </p:nvSpPr>
        <p:spPr>
          <a:xfrm>
            <a:off x="401524" y="6523760"/>
            <a:ext cx="6096000" cy="307777"/>
          </a:xfrm>
          <a:prstGeom prst="rect">
            <a:avLst/>
          </a:prstGeom>
          <a:noFill/>
        </p:spPr>
        <p:txBody>
          <a:bodyPr wrap="square">
            <a:spAutoFit/>
          </a:bodyPr>
          <a:lstStyle/>
          <a:p>
            <a:r>
              <a:rPr lang="ru-RU" sz="1400" dirty="0" err="1"/>
              <a:t>https</a:t>
            </a:r>
            <a:r>
              <a:rPr lang="ru-RU" sz="1400" dirty="0"/>
              <a:t>://</a:t>
            </a:r>
            <a:r>
              <a:rPr lang="ru-RU" sz="1400" dirty="0" err="1"/>
              <a:t>education.yandex.ru</a:t>
            </a:r>
            <a:r>
              <a:rPr lang="ru-RU" sz="1400" dirty="0"/>
              <a:t>/</a:t>
            </a:r>
            <a:r>
              <a:rPr lang="ru-RU" sz="1400" dirty="0" err="1"/>
              <a:t>handbook</a:t>
            </a:r>
            <a:r>
              <a:rPr lang="ru-RU" sz="1400" dirty="0"/>
              <a:t>/</a:t>
            </a:r>
            <a:r>
              <a:rPr lang="ru-RU" sz="1400" dirty="0" err="1"/>
              <a:t>ml</a:t>
            </a:r>
            <a:r>
              <a:rPr lang="ru-RU" sz="1400" dirty="0"/>
              <a:t>/</a:t>
            </a:r>
            <a:r>
              <a:rPr lang="ru-RU" sz="1400" dirty="0" err="1"/>
              <a:t>article</a:t>
            </a:r>
            <a:r>
              <a:rPr lang="ru-RU" sz="1400" dirty="0"/>
              <a:t>/</a:t>
            </a:r>
            <a:r>
              <a:rPr lang="ru-RU" sz="1400" dirty="0" err="1"/>
              <a:t>vremennye-ryady</a:t>
            </a:r>
            <a:endParaRPr lang="ru-RU" sz="1400" dirty="0"/>
          </a:p>
        </p:txBody>
      </p:sp>
    </p:spTree>
    <p:extLst>
      <p:ext uri="{BB962C8B-B14F-4D97-AF65-F5344CB8AC3E}">
        <p14:creationId xmlns:p14="http://schemas.microsoft.com/office/powerpoint/2010/main" val="181638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sp>
        <p:nvSpPr>
          <p:cNvPr id="3" name="Объект 2"/>
          <p:cNvSpPr>
            <a:spLocks noGrp="1"/>
          </p:cNvSpPr>
          <p:nvPr>
            <p:ph idx="1"/>
          </p:nvPr>
        </p:nvSpPr>
        <p:spPr>
          <a:xfrm>
            <a:off x="307428" y="623394"/>
            <a:ext cx="11351172" cy="5191617"/>
          </a:xfrm>
        </p:spPr>
        <p:txBody>
          <a:bodyPr/>
          <a:lstStyle/>
          <a:p>
            <a:pPr>
              <a:lnSpc>
                <a:spcPct val="100000"/>
              </a:lnSpc>
              <a:spcBef>
                <a:spcPts val="0"/>
              </a:spcBef>
            </a:pPr>
            <a:r>
              <a:rPr lang="ru-RU" sz="2400" b="1" dirty="0"/>
              <a:t>кросс-</a:t>
            </a:r>
            <a:r>
              <a:rPr lang="ru-RU" sz="2400" b="1" dirty="0" err="1"/>
              <a:t>валидация</a:t>
            </a:r>
            <a:r>
              <a:rPr lang="ru-RU" sz="2400" dirty="0"/>
              <a:t> — оценка обобщающей способности модели и настройка </a:t>
            </a:r>
            <a:r>
              <a:rPr lang="ru-RU" sz="2400" dirty="0" err="1"/>
              <a:t>гиперпараметров</a:t>
            </a:r>
            <a:endParaRPr lang="ru-RU" sz="2400" dirty="0"/>
          </a:p>
          <a:p>
            <a:pPr lvl="1">
              <a:lnSpc>
                <a:spcPct val="100000"/>
              </a:lnSpc>
              <a:spcBef>
                <a:spcPts val="0"/>
              </a:spcBef>
            </a:pPr>
            <a:r>
              <a:rPr lang="ru-RU" sz="2200" dirty="0"/>
              <a:t>многократная итерация на последовательных обучающих и </a:t>
            </a:r>
            <a:r>
              <a:rPr lang="ru-RU" sz="2200" dirty="0" err="1"/>
              <a:t>валидационных</a:t>
            </a:r>
            <a:r>
              <a:rPr lang="ru-RU" sz="2200" dirty="0"/>
              <a:t> </a:t>
            </a:r>
            <a:r>
              <a:rPr lang="ru-RU" sz="2200" dirty="0" err="1"/>
              <a:t>подвыборках</a:t>
            </a:r>
            <a:r>
              <a:rPr lang="ru-RU" sz="2200" dirty="0"/>
              <a:t>.</a:t>
            </a:r>
          </a:p>
          <a:p>
            <a:pPr lvl="1">
              <a:lnSpc>
                <a:spcPct val="100000"/>
              </a:lnSpc>
              <a:spcBef>
                <a:spcPts val="0"/>
              </a:spcBef>
            </a:pPr>
            <a:r>
              <a:rPr lang="ru-RU" sz="2200" dirty="0"/>
              <a:t>Цель – разработка модели (усредненная оценка, аналог </a:t>
            </a:r>
            <a:r>
              <a:rPr lang="en-US" sz="2200" dirty="0"/>
              <a:t>k-folds)</a:t>
            </a:r>
            <a:r>
              <a:rPr lang="ru-RU" sz="2200" dirty="0"/>
              <a:t>. </a:t>
            </a:r>
          </a:p>
          <a:p>
            <a:pPr lvl="2">
              <a:lnSpc>
                <a:spcPct val="100000"/>
              </a:lnSpc>
              <a:spcBef>
                <a:spcPts val="0"/>
              </a:spcBef>
            </a:pPr>
            <a:r>
              <a:rPr lang="ru-RU" sz="1800" dirty="0"/>
              <a:t>Модель переобучают.</a:t>
            </a:r>
          </a:p>
          <a:p>
            <a:pPr>
              <a:lnSpc>
                <a:spcPct val="100000"/>
              </a:lnSpc>
              <a:spcBef>
                <a:spcPts val="0"/>
              </a:spcBef>
            </a:pPr>
            <a:r>
              <a:rPr lang="ru-RU" sz="2400" b="1" dirty="0" err="1"/>
              <a:t>Backtesting</a:t>
            </a:r>
            <a:r>
              <a:rPr lang="ru-RU" sz="2400" dirty="0"/>
              <a:t> — проверка конкретной модели на исторических данных (как будто результаты прогона)</a:t>
            </a:r>
          </a:p>
          <a:p>
            <a:pPr lvl="1">
              <a:lnSpc>
                <a:spcPct val="100000"/>
              </a:lnSpc>
              <a:spcBef>
                <a:spcPts val="0"/>
              </a:spcBef>
            </a:pPr>
            <a:r>
              <a:rPr lang="ru-RU" sz="2200" dirty="0"/>
              <a:t>однократное обучение и проверка на всей доступной истории (разделенных на </a:t>
            </a:r>
            <a:r>
              <a:rPr lang="ru-RU" sz="2200" dirty="0" err="1"/>
              <a:t>подвыборки</a:t>
            </a:r>
            <a:r>
              <a:rPr lang="ru-RU" sz="2200" dirty="0"/>
              <a:t>)</a:t>
            </a:r>
          </a:p>
          <a:p>
            <a:pPr lvl="1">
              <a:lnSpc>
                <a:spcPct val="100000"/>
              </a:lnSpc>
              <a:spcBef>
                <a:spcPts val="0"/>
              </a:spcBef>
            </a:pPr>
            <a:r>
              <a:rPr lang="ru-RU" sz="2200" dirty="0"/>
              <a:t>Цель – проверка готовой модели на разных типах данных (в различных условиях).</a:t>
            </a:r>
          </a:p>
          <a:p>
            <a:pPr lvl="2">
              <a:lnSpc>
                <a:spcPct val="100000"/>
              </a:lnSpc>
              <a:spcBef>
                <a:spcPts val="0"/>
              </a:spcBef>
            </a:pPr>
            <a:r>
              <a:rPr lang="ru-RU" sz="1800" dirty="0"/>
              <a:t>Модель не переобучают</a:t>
            </a:r>
          </a:p>
          <a:p>
            <a:pPr marL="0" indent="0">
              <a:lnSpc>
                <a:spcPct val="100000"/>
              </a:lnSpc>
              <a:spcBef>
                <a:spcPts val="0"/>
              </a:spcBef>
              <a:buNone/>
            </a:pPr>
            <a:r>
              <a:rPr lang="ru-RU" sz="2400" u="sng" dirty="0"/>
              <a:t>Сегодня часто эти термины перемешивают </a:t>
            </a:r>
            <a:r>
              <a:rPr lang="en-US" sz="2400" u="sng" dirty="0"/>
              <a:t>!</a:t>
            </a:r>
            <a:br>
              <a:rPr lang="ru-RU" sz="2600" dirty="0"/>
            </a:br>
            <a:endParaRPr lang="ru-RU" sz="2600"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05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7" y="5107684"/>
            <a:ext cx="5192929" cy="1541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044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841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27" y="5045676"/>
            <a:ext cx="5192929" cy="15419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Объект 5"/>
          <p:cNvGraphicFramePr>
            <a:graphicFrameLocks noGrp="1"/>
          </p:cNvGraphicFramePr>
          <p:nvPr>
            <p:ph idx="1"/>
            <p:extLst>
              <p:ext uri="{D42A27DB-BD31-4B8C-83A1-F6EECF244321}">
                <p14:modId xmlns:p14="http://schemas.microsoft.com/office/powerpoint/2010/main" val="1252046623"/>
              </p:ext>
            </p:extLst>
          </p:nvPr>
        </p:nvGraphicFramePr>
        <p:xfrm>
          <a:off x="203901" y="727543"/>
          <a:ext cx="11454699" cy="4236720"/>
        </p:xfrm>
        <a:graphic>
          <a:graphicData uri="http://schemas.openxmlformats.org/drawingml/2006/table">
            <a:tbl>
              <a:tblPr firstRow="1" bandRow="1">
                <a:tableStyleId>{5C22544A-7EE6-4342-B048-85BDC9FD1C3A}</a:tableStyleId>
              </a:tblPr>
              <a:tblGrid>
                <a:gridCol w="2546920">
                  <a:extLst>
                    <a:ext uri="{9D8B030D-6E8A-4147-A177-3AD203B41FA5}">
                      <a16:colId xmlns:a16="http://schemas.microsoft.com/office/drawing/2014/main" val="4132279073"/>
                    </a:ext>
                  </a:extLst>
                </a:gridCol>
                <a:gridCol w="4373880">
                  <a:extLst>
                    <a:ext uri="{9D8B030D-6E8A-4147-A177-3AD203B41FA5}">
                      <a16:colId xmlns:a16="http://schemas.microsoft.com/office/drawing/2014/main" val="2543135473"/>
                    </a:ext>
                  </a:extLst>
                </a:gridCol>
                <a:gridCol w="4533899">
                  <a:extLst>
                    <a:ext uri="{9D8B030D-6E8A-4147-A177-3AD203B41FA5}">
                      <a16:colId xmlns:a16="http://schemas.microsoft.com/office/drawing/2014/main" val="1605401998"/>
                    </a:ext>
                  </a:extLst>
                </a:gridCol>
              </a:tblGrid>
              <a:tr h="374643">
                <a:tc>
                  <a:txBody>
                    <a:bodyPr/>
                    <a:lstStyle/>
                    <a:p>
                      <a:r>
                        <a:rPr lang="ru-RU" sz="2200" dirty="0" err="1"/>
                        <a:t>Backtesting</a:t>
                      </a:r>
                      <a:endParaRPr lang="ru-RU" sz="2200" dirty="0"/>
                    </a:p>
                  </a:txBody>
                  <a:tcPr/>
                </a:tc>
                <a:tc>
                  <a:txBody>
                    <a:bodyPr/>
                    <a:lstStyle/>
                    <a:p>
                      <a:r>
                        <a:rPr lang="en-US" sz="2200" b="0" i="0" kern="1200" dirty="0">
                          <a:solidFill>
                            <a:schemeClr val="lt1"/>
                          </a:solidFill>
                          <a:effectLst/>
                          <a:latin typeface="+mn-lt"/>
                          <a:ea typeface="+mn-ea"/>
                          <a:cs typeface="+mn-cs"/>
                        </a:rPr>
                        <a:t>Walk-forward </a:t>
                      </a:r>
                      <a:r>
                        <a:rPr lang="en-US" sz="2200" dirty="0"/>
                        <a:t>Cross-validation</a:t>
                      </a:r>
                      <a:endParaRPr lang="ru-RU" sz="2200" dirty="0"/>
                    </a:p>
                  </a:txBody>
                  <a:tcPr/>
                </a:tc>
                <a:tc>
                  <a:txBody>
                    <a:bodyPr/>
                    <a:lstStyle/>
                    <a:p>
                      <a:r>
                        <a:rPr lang="ru-RU" sz="2200" dirty="0" err="1"/>
                        <a:t>Backtesting</a:t>
                      </a:r>
                      <a:endParaRPr lang="ru-RU" sz="2200" dirty="0"/>
                    </a:p>
                  </a:txBody>
                  <a:tcPr/>
                </a:tc>
                <a:extLst>
                  <a:ext uri="{0D108BD9-81ED-4DB2-BD59-A6C34878D82A}">
                    <a16:rowId xmlns:a16="http://schemas.microsoft.com/office/drawing/2014/main" val="1764855998"/>
                  </a:ext>
                </a:extLst>
              </a:tr>
              <a:tr h="370840">
                <a:tc>
                  <a:txBody>
                    <a:bodyPr/>
                    <a:lstStyle/>
                    <a:p>
                      <a:r>
                        <a:rPr lang="ru-RU" sz="2200" dirty="0"/>
                        <a:t>аналогия</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Аналог</a:t>
                      </a:r>
                      <a:r>
                        <a:rPr lang="ru-RU" sz="2200" baseline="0" dirty="0"/>
                        <a:t> </a:t>
                      </a:r>
                      <a:r>
                        <a:rPr lang="en-US" sz="2200" baseline="0" dirty="0"/>
                        <a:t>k-folds</a:t>
                      </a:r>
                      <a:endParaRPr lang="ru-RU" sz="2200" dirty="0"/>
                    </a:p>
                  </a:txBody>
                  <a:tcPr/>
                </a:tc>
                <a:tc>
                  <a:txBody>
                    <a:bodyPr/>
                    <a:lstStyle/>
                    <a:p>
                      <a:r>
                        <a:rPr lang="ru-RU" sz="2200" dirty="0"/>
                        <a:t>Аналог</a:t>
                      </a:r>
                      <a:r>
                        <a:rPr lang="ru-RU" sz="2200" baseline="0" dirty="0"/>
                        <a:t> тестирования модели</a:t>
                      </a:r>
                      <a:endParaRPr lang="ru-RU" sz="2200" dirty="0"/>
                    </a:p>
                  </a:txBody>
                  <a:tcPr/>
                </a:tc>
                <a:extLst>
                  <a:ext uri="{0D108BD9-81ED-4DB2-BD59-A6C34878D82A}">
                    <a16:rowId xmlns:a16="http://schemas.microsoft.com/office/drawing/2014/main" val="4058516520"/>
                  </a:ext>
                </a:extLst>
              </a:tr>
              <a:tr h="370840">
                <a:tc>
                  <a:txBody>
                    <a:bodyPr/>
                    <a:lstStyle/>
                    <a:p>
                      <a:r>
                        <a:rPr lang="ru-RU" sz="2200" dirty="0"/>
                        <a:t>цели</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Оценка реальной точности,</a:t>
                      </a:r>
                      <a:r>
                        <a:rPr lang="ru-RU" sz="2200" baseline="0" dirty="0"/>
                        <a:t> выбор </a:t>
                      </a:r>
                      <a:r>
                        <a:rPr lang="ru-RU" sz="2200" baseline="0" dirty="0" err="1"/>
                        <a:t>гиперпараметров</a:t>
                      </a:r>
                      <a:endParaRPr lang="ru-RU" sz="2200" dirty="0"/>
                    </a:p>
                  </a:txBody>
                  <a:tcPr/>
                </a:tc>
                <a:tc>
                  <a:txBody>
                    <a:bodyPr/>
                    <a:lstStyle/>
                    <a:p>
                      <a:r>
                        <a:rPr lang="ru-RU" sz="2200" dirty="0"/>
                        <a:t>Выявление особенностей работы готовой модели на «будущих данных»</a:t>
                      </a:r>
                    </a:p>
                  </a:txBody>
                  <a:tcPr/>
                </a:tc>
                <a:extLst>
                  <a:ext uri="{0D108BD9-81ED-4DB2-BD59-A6C34878D82A}">
                    <a16:rowId xmlns:a16="http://schemas.microsoft.com/office/drawing/2014/main" val="3399391555"/>
                  </a:ext>
                </a:extLst>
              </a:tr>
              <a:tr h="370840">
                <a:tc>
                  <a:txBody>
                    <a:bodyPr/>
                    <a:lstStyle/>
                    <a:p>
                      <a:r>
                        <a:rPr lang="ru-RU" sz="2200" dirty="0"/>
                        <a:t>Обучение</a:t>
                      </a:r>
                      <a:r>
                        <a:rPr lang="ru-RU" sz="2200" baseline="0" dirty="0"/>
                        <a:t> модели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обучение</a:t>
                      </a:r>
                      <a:r>
                        <a:rPr lang="ru-RU" sz="2200" baseline="0" dirty="0"/>
                        <a:t> на </a:t>
                      </a:r>
                      <a:r>
                        <a:rPr lang="ru-RU" sz="2200" baseline="0" dirty="0" err="1"/>
                        <a:t>фолдах</a:t>
                      </a:r>
                      <a:endParaRPr lang="ru-RU" sz="2200" dirty="0"/>
                    </a:p>
                  </a:txBody>
                  <a:tcPr/>
                </a:tc>
                <a:tc>
                  <a:txBody>
                    <a:bodyPr/>
                    <a:lstStyle/>
                    <a:p>
                      <a:r>
                        <a:rPr lang="ru-RU" sz="2200" dirty="0"/>
                        <a:t>Не предполагает обучения на </a:t>
                      </a:r>
                      <a:r>
                        <a:rPr lang="ru-RU" sz="2200" dirty="0" err="1"/>
                        <a:t>фолдах</a:t>
                      </a:r>
                      <a:endParaRPr lang="ru-RU" sz="2200" dirty="0"/>
                    </a:p>
                  </a:txBody>
                  <a:tcPr/>
                </a:tc>
                <a:extLst>
                  <a:ext uri="{0D108BD9-81ED-4DB2-BD59-A6C34878D82A}">
                    <a16:rowId xmlns:a16="http://schemas.microsoft.com/office/drawing/2014/main" val="1203778377"/>
                  </a:ext>
                </a:extLst>
              </a:tr>
              <a:tr h="370840">
                <a:tc>
                  <a:txBody>
                    <a:bodyPr/>
                    <a:lstStyle/>
                    <a:p>
                      <a:r>
                        <a:rPr lang="ru-RU" sz="2200" b="0" i="0" kern="1200" dirty="0">
                          <a:solidFill>
                            <a:schemeClr val="dk1"/>
                          </a:solidFill>
                          <a:effectLst/>
                          <a:latin typeface="+mn-lt"/>
                          <a:ea typeface="+mn-ea"/>
                          <a:cs typeface="+mn-cs"/>
                        </a:rPr>
                        <a:t>Примеры</a:t>
                      </a:r>
                      <a:r>
                        <a:rPr lang="ru-RU" sz="2200" b="0" i="0" kern="1200" baseline="0" dirty="0">
                          <a:solidFill>
                            <a:schemeClr val="dk1"/>
                          </a:solidFill>
                          <a:effectLst/>
                          <a:latin typeface="+mn-lt"/>
                          <a:ea typeface="+mn-ea"/>
                          <a:cs typeface="+mn-cs"/>
                        </a:rPr>
                        <a:t> </a:t>
                      </a:r>
                      <a:r>
                        <a:rPr lang="ru-RU" sz="2200" b="0" i="0" kern="1200" dirty="0">
                          <a:solidFill>
                            <a:schemeClr val="dk1"/>
                          </a:solidFill>
                          <a:effectLst/>
                          <a:latin typeface="+mn-lt"/>
                          <a:ea typeface="+mn-ea"/>
                          <a:cs typeface="+mn-cs"/>
                        </a:rPr>
                        <a:t>методов</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sliding window validation</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Expanding window validation</a:t>
                      </a:r>
                      <a:endParaRPr lang="ru-RU" sz="2200" dirty="0"/>
                    </a:p>
                  </a:txBody>
                  <a:tcPr/>
                </a:tc>
                <a:tc>
                  <a:txBody>
                    <a:bodyPr/>
                    <a:lstStyle/>
                    <a:p>
                      <a:r>
                        <a:rPr lang="en-US" sz="2200" b="0" i="0" kern="1200" dirty="0">
                          <a:solidFill>
                            <a:schemeClr val="dk1"/>
                          </a:solidFill>
                          <a:effectLst/>
                          <a:latin typeface="+mn-lt"/>
                          <a:ea typeface="+mn-ea"/>
                          <a:cs typeface="+mn-cs"/>
                        </a:rPr>
                        <a:t>Multiple horizon evaluation</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Stress/Scenario-based testing</a:t>
                      </a:r>
                      <a:endParaRPr lang="ru-RU" sz="2200" dirty="0"/>
                    </a:p>
                  </a:txBody>
                  <a:tcPr/>
                </a:tc>
                <a:extLst>
                  <a:ext uri="{0D108BD9-81ED-4DB2-BD59-A6C34878D82A}">
                    <a16:rowId xmlns:a16="http://schemas.microsoft.com/office/drawing/2014/main" val="1616899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Примеры статистик</a:t>
                      </a:r>
                    </a:p>
                  </a:txBody>
                  <a:tcPr/>
                </a:tc>
                <a:tc>
                  <a:txBody>
                    <a:bodyPr/>
                    <a:lstStyle/>
                    <a:p>
                      <a:r>
                        <a:rPr lang="ru-RU" sz="2200" dirty="0"/>
                        <a:t>Разброс</a:t>
                      </a:r>
                      <a:r>
                        <a:rPr lang="ru-RU" sz="2200" baseline="0" dirty="0"/>
                        <a:t> и среднее ошибки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Cumulative error analysis</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sz="2200" b="0" i="0" kern="1200" dirty="0">
                          <a:solidFill>
                            <a:schemeClr val="dk1"/>
                          </a:solidFill>
                          <a:effectLst/>
                          <a:latin typeface="+mn-lt"/>
                          <a:ea typeface="+mn-ea"/>
                          <a:cs typeface="+mn-cs"/>
                        </a:rPr>
                        <a:t>Устойчивость к выбросам и дрейфу</a:t>
                      </a:r>
                      <a:endParaRPr lang="ru-RU" sz="2200" dirty="0"/>
                    </a:p>
                  </a:txBody>
                  <a:tcPr/>
                </a:tc>
                <a:extLst>
                  <a:ext uri="{0D108BD9-81ED-4DB2-BD59-A6C34878D82A}">
                    <a16:rowId xmlns:a16="http://schemas.microsoft.com/office/drawing/2014/main" val="2178355885"/>
                  </a:ext>
                </a:extLst>
              </a:tr>
            </a:tbl>
          </a:graphicData>
        </a:graphic>
      </p:graphicFrame>
    </p:spTree>
    <p:extLst>
      <p:ext uri="{BB962C8B-B14F-4D97-AF65-F5344CB8AC3E}">
        <p14:creationId xmlns:p14="http://schemas.microsoft.com/office/powerpoint/2010/main" val="3416133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ru-RU" dirty="0"/>
              <a:t>Преимущества</a:t>
            </a:r>
            <a:r>
              <a:rPr lang="en-US" dirty="0"/>
              <a:t> Walk-forward</a:t>
            </a:r>
            <a:r>
              <a:rPr lang="ru-RU" dirty="0"/>
              <a:t> </a:t>
            </a:r>
            <a:r>
              <a:rPr lang="en-US" dirty="0"/>
              <a:t>cross validation</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a:t> </a:t>
            </a:r>
          </a:p>
        </p:txBody>
      </p:sp>
      <p:sp>
        <p:nvSpPr>
          <p:cNvPr id="4" name="Прямоугольник 3"/>
          <p:cNvSpPr/>
          <p:nvPr/>
        </p:nvSpPr>
        <p:spPr>
          <a:xfrm>
            <a:off x="6386813" y="6437836"/>
            <a:ext cx="5732338" cy="307777"/>
          </a:xfrm>
          <a:prstGeom prst="rect">
            <a:avLst/>
          </a:prstGeom>
        </p:spPr>
        <p:txBody>
          <a:bodyPr wrap="none">
            <a:spAutoFit/>
          </a:bodyPr>
          <a:lstStyle/>
          <a:p>
            <a:r>
              <a:rPr lang="en-US" sz="1400" b="1" dirty="0"/>
              <a:t>https://github.com/tinkoff-ai/etna/blob/master/examples/backtest.ipynb</a:t>
            </a:r>
            <a:endParaRPr lang="ru-RU" sz="1400" b="1" dirty="0"/>
          </a:p>
        </p:txBody>
      </p:sp>
      <p:sp>
        <p:nvSpPr>
          <p:cNvPr id="7" name="Прямоугольник 6"/>
          <p:cNvSpPr/>
          <p:nvPr/>
        </p:nvSpPr>
        <p:spPr>
          <a:xfrm>
            <a:off x="473220" y="5268286"/>
            <a:ext cx="6016383" cy="1323439"/>
          </a:xfrm>
          <a:prstGeom prst="rect">
            <a:avLst/>
          </a:prstGeom>
        </p:spPr>
        <p:txBody>
          <a:bodyPr wrap="square">
            <a:spAutoFit/>
          </a:bodyPr>
          <a:lstStyle/>
          <a:p>
            <a:r>
              <a:rPr lang="ru-RU" sz="2000" i="1" u="sng" dirty="0"/>
              <a:t>Иногда модель дополнительно тестируют на перевернутом</a:t>
            </a:r>
          </a:p>
          <a:p>
            <a:r>
              <a:rPr lang="ru-RU" sz="2000" i="1" u="sng" dirty="0"/>
              <a:t> временном ряду для повышения надежности выводов  </a:t>
            </a:r>
          </a:p>
        </p:txBody>
      </p:sp>
      <p:pic>
        <p:nvPicPr>
          <p:cNvPr id="6" name="Рисунок 5"/>
          <p:cNvPicPr>
            <a:picLocks noChangeAspect="1"/>
          </p:cNvPicPr>
          <p:nvPr/>
        </p:nvPicPr>
        <p:blipFill>
          <a:blip r:embed="rId2"/>
          <a:stretch>
            <a:fillRect/>
          </a:stretch>
        </p:blipFill>
        <p:spPr>
          <a:xfrm>
            <a:off x="6579501" y="3266272"/>
            <a:ext cx="5257980" cy="2926270"/>
          </a:xfrm>
          <a:prstGeom prst="rect">
            <a:avLst/>
          </a:prstGeom>
        </p:spPr>
      </p:pic>
      <p:sp>
        <p:nvSpPr>
          <p:cNvPr id="12" name="Объект 2"/>
          <p:cNvSpPr txBox="1">
            <a:spLocks/>
          </p:cNvSpPr>
          <p:nvPr/>
        </p:nvSpPr>
        <p:spPr>
          <a:xfrm>
            <a:off x="310136" y="753168"/>
            <a:ext cx="11706225" cy="5176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a:t>Снижение смещения оценки метрик по сравнению с одноразовой разбивкой. </a:t>
            </a:r>
            <a:endParaRPr lang="en-US" sz="2400" dirty="0"/>
          </a:p>
          <a:p>
            <a:r>
              <a:rPr lang="ru-RU" sz="2400" dirty="0"/>
              <a:t>Оценка дисперсии метрик</a:t>
            </a:r>
          </a:p>
          <a:p>
            <a:r>
              <a:rPr lang="ru-RU" sz="2400" dirty="0"/>
              <a:t>Поиск "плавающих" ошибок в модели данных. </a:t>
            </a:r>
          </a:p>
          <a:p>
            <a:pPr lvl="1"/>
            <a:r>
              <a:rPr lang="ru-RU" sz="2000" dirty="0"/>
              <a:t>То есть редкие, но достаточно регулярные ошибки (неучтенную </a:t>
            </a:r>
            <a:r>
              <a:rPr lang="ru-RU" sz="2000" dirty="0" err="1"/>
              <a:t>информоацию</a:t>
            </a:r>
            <a:r>
              <a:rPr lang="ru-RU" sz="2000" dirty="0"/>
              <a:t>), которые можно участь в модели.</a:t>
            </a:r>
          </a:p>
          <a:p>
            <a:r>
              <a:rPr lang="ru-RU" sz="2400" dirty="0"/>
              <a:t>Оценка важности факторов в модели.</a:t>
            </a:r>
          </a:p>
          <a:p>
            <a:endParaRPr lang="ru-RU" sz="2400" dirty="0"/>
          </a:p>
        </p:txBody>
      </p:sp>
    </p:spTree>
    <p:extLst>
      <p:ext uri="{BB962C8B-B14F-4D97-AF65-F5344CB8AC3E}">
        <p14:creationId xmlns:p14="http://schemas.microsoft.com/office/powerpoint/2010/main" val="3873255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r>
              <a:rPr lang="ru-RU" dirty="0"/>
              <a:t>Особенности кросс-</a:t>
            </a:r>
            <a:r>
              <a:rPr lang="ru-RU" dirty="0" err="1"/>
              <a:t>валидации</a:t>
            </a:r>
            <a:endParaRPr lang="ru-RU" dirty="0"/>
          </a:p>
        </p:txBody>
      </p:sp>
      <p:sp>
        <p:nvSpPr>
          <p:cNvPr id="3" name="Объект 2"/>
          <p:cNvSpPr>
            <a:spLocks noGrp="1"/>
          </p:cNvSpPr>
          <p:nvPr>
            <p:ph idx="1"/>
          </p:nvPr>
        </p:nvSpPr>
        <p:spPr>
          <a:xfrm>
            <a:off x="310136" y="753168"/>
            <a:ext cx="11706225" cy="5176838"/>
          </a:xfrm>
        </p:spPr>
        <p:txBody>
          <a:bodyPr>
            <a:normAutofit/>
          </a:bodyPr>
          <a:lstStyle/>
          <a:p>
            <a:r>
              <a:rPr lang="ru-RU" sz="2400" dirty="0"/>
              <a:t>Стратегию кросс-</a:t>
            </a:r>
            <a:r>
              <a:rPr lang="ru-RU" sz="2400" dirty="0" err="1"/>
              <a:t>валидации</a:t>
            </a:r>
            <a:r>
              <a:rPr lang="ru-RU" sz="2400" dirty="0"/>
              <a:t> надо выбирать сообразно задаче</a:t>
            </a:r>
          </a:p>
          <a:p>
            <a:pPr lvl="1"/>
            <a:r>
              <a:rPr lang="ru-RU" sz="2000" dirty="0"/>
              <a:t>Если предполагается </a:t>
            </a:r>
            <a:r>
              <a:rPr lang="ru-RU" sz="2000" dirty="0" err="1"/>
              <a:t>дообучение</a:t>
            </a:r>
            <a:r>
              <a:rPr lang="ru-RU" sz="2000" dirty="0"/>
              <a:t> модели можно взять расширяющееся окно, </a:t>
            </a:r>
          </a:p>
          <a:p>
            <a:pPr lvl="1"/>
            <a:r>
              <a:rPr lang="ru-RU" sz="2000" dirty="0"/>
              <a:t>если данные устаревают, то скользящее окно. </a:t>
            </a:r>
          </a:p>
          <a:p>
            <a:pPr lvl="1"/>
            <a:r>
              <a:rPr lang="ru-RU" sz="2000" dirty="0"/>
              <a:t>Возможны также комбинации, напр. смещения окна 1 раз в год при горизонте в 1 месяц.</a:t>
            </a:r>
          </a:p>
          <a:p>
            <a:r>
              <a:rPr lang="ru-RU" sz="2400" dirty="0"/>
              <a:t>Важно выбирать окна </a:t>
            </a:r>
            <a:r>
              <a:rPr lang="ru-RU" sz="2400" dirty="0" err="1"/>
              <a:t>валидации</a:t>
            </a:r>
            <a:r>
              <a:rPr lang="ru-RU" sz="2400" dirty="0"/>
              <a:t> из требований к реальным данным</a:t>
            </a:r>
          </a:p>
          <a:p>
            <a:pPr lvl="1"/>
            <a:r>
              <a:rPr lang="ru-RU" sz="2000" dirty="0"/>
              <a:t>Частое окно не репрезентативно, может пропустить паттерн, приведет к смещению оценки – так как шумы не достаточно интегрированы, </a:t>
            </a:r>
          </a:p>
          <a:p>
            <a:pPr lvl="1"/>
            <a:r>
              <a:rPr lang="ru-RU" sz="2000" dirty="0"/>
              <a:t>длинное окно не даст корректную оценку разброс показаний.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p:cNvPicPr>
            <a:picLocks noChangeAspect="1"/>
          </p:cNvPicPr>
          <p:nvPr/>
        </p:nvPicPr>
        <p:blipFill>
          <a:blip r:embed="rId2"/>
          <a:stretch>
            <a:fillRect/>
          </a:stretch>
        </p:blipFill>
        <p:spPr>
          <a:xfrm>
            <a:off x="5889445" y="3596566"/>
            <a:ext cx="5257980" cy="2926270"/>
          </a:xfrm>
          <a:prstGeom prst="rect">
            <a:avLst/>
          </a:prstGeom>
        </p:spPr>
      </p:pic>
    </p:spTree>
    <p:extLst>
      <p:ext uri="{BB962C8B-B14F-4D97-AF65-F5344CB8AC3E}">
        <p14:creationId xmlns:p14="http://schemas.microsoft.com/office/powerpoint/2010/main" val="2770302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41832" y="365126"/>
            <a:ext cx="12040668" cy="523638"/>
          </a:xfrm>
        </p:spPr>
        <p:txBody>
          <a:bodyPr>
            <a:noAutofit/>
          </a:bodyPr>
          <a:lstStyle/>
          <a:p>
            <a:r>
              <a:rPr lang="ru-RU" sz="3600" dirty="0"/>
              <a:t>Замечание. </a:t>
            </a:r>
            <a:r>
              <a:rPr lang="en-US" sz="3600" dirty="0" err="1"/>
              <a:t>Backcast</a:t>
            </a:r>
            <a:r>
              <a:rPr lang="ru-RU" sz="3600" dirty="0"/>
              <a:t>-дополнительная оценка надежности</a:t>
            </a:r>
          </a:p>
        </p:txBody>
      </p:sp>
      <p:sp>
        <p:nvSpPr>
          <p:cNvPr id="3" name="Объект 2"/>
          <p:cNvSpPr>
            <a:spLocks noGrp="1"/>
          </p:cNvSpPr>
          <p:nvPr>
            <p:ph idx="1"/>
          </p:nvPr>
        </p:nvSpPr>
        <p:spPr>
          <a:xfrm>
            <a:off x="219101" y="991312"/>
            <a:ext cx="11859578" cy="5100193"/>
          </a:xfrm>
        </p:spPr>
        <p:txBody>
          <a:bodyPr>
            <a:normAutofit/>
          </a:bodyPr>
          <a:lstStyle/>
          <a:p>
            <a:pPr marL="0" indent="0">
              <a:buNone/>
            </a:pPr>
            <a:r>
              <a:rPr lang="ru-RU" sz="2200" dirty="0"/>
              <a:t>Если ВР стационарный или как минимум регулярный, то оценку точности предсказания вперед </a:t>
            </a:r>
            <a:r>
              <a:rPr lang="en-US" sz="2200" dirty="0"/>
              <a:t>(forecast)</a:t>
            </a:r>
            <a:r>
              <a:rPr lang="ru-RU" sz="2200" dirty="0"/>
              <a:t> можно скорректировать оценкой точности ретроспективного предсказания (предсказания назад </a:t>
            </a:r>
            <a:r>
              <a:rPr lang="en-US" sz="2200" dirty="0" err="1"/>
              <a:t>Backcast</a:t>
            </a:r>
            <a:r>
              <a:rPr lang="ru-RU" sz="2200" dirty="0"/>
              <a:t>).</a:t>
            </a:r>
          </a:p>
        </p:txBody>
      </p:sp>
      <p:pic>
        <p:nvPicPr>
          <p:cNvPr id="1026" name="Picture 2" descr="https://robjhyndman.com/hyndsight/backcasting/index_files/figure-html/unnamed-chunk-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52" y="2035099"/>
            <a:ext cx="4040505" cy="2886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ckcasts for quarterly retail trade in the Euro area using an ARIMA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781" y="2255215"/>
            <a:ext cx="3960502" cy="2445845"/>
          </a:xfrm>
          <a:prstGeom prst="rect">
            <a:avLst/>
          </a:prstGeom>
          <a:noFill/>
          <a:extLst>
            <a:ext uri="{909E8E84-426E-40DD-AFC4-6F175D3DCCD1}">
              <a14:hiddenFill xmlns:a14="http://schemas.microsoft.com/office/drawing/2010/main">
                <a:solidFill>
                  <a:srgbClr val="FFFFFF"/>
                </a:solidFill>
              </a14:hiddenFill>
            </a:ext>
          </a:extLst>
        </p:spPr>
      </p:pic>
      <p:sp>
        <p:nvSpPr>
          <p:cNvPr id="4" name="Стрелка вправо 3"/>
          <p:cNvSpPr/>
          <p:nvPr/>
        </p:nvSpPr>
        <p:spPr>
          <a:xfrm>
            <a:off x="4554908" y="3478138"/>
            <a:ext cx="529840" cy="317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Объект 2"/>
          <p:cNvSpPr txBox="1">
            <a:spLocks/>
          </p:cNvSpPr>
          <p:nvPr/>
        </p:nvSpPr>
        <p:spPr>
          <a:xfrm>
            <a:off x="219101" y="5007835"/>
            <a:ext cx="11859578" cy="12747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200" dirty="0"/>
              <a:t>Ретроспективный анализ будет работать если паттерны поведения остаются прежними!</a:t>
            </a:r>
          </a:p>
          <a:p>
            <a:pPr marL="0" indent="0">
              <a:buFont typeface="Arial" panose="020B0604020202020204" pitchFamily="34" charset="0"/>
              <a:buNone/>
            </a:pPr>
            <a:r>
              <a:rPr lang="ru-RU" sz="2200" dirty="0"/>
              <a:t> </a:t>
            </a:r>
          </a:p>
        </p:txBody>
      </p:sp>
    </p:spTree>
    <p:extLst>
      <p:ext uri="{BB962C8B-B14F-4D97-AF65-F5344CB8AC3E}">
        <p14:creationId xmlns:p14="http://schemas.microsoft.com/office/powerpoint/2010/main" val="3245342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a:t>При кросс-</a:t>
            </a:r>
            <a:r>
              <a:rPr lang="ru-RU" sz="2100" b="1" dirty="0" err="1"/>
              <a:t>валидации</a:t>
            </a:r>
            <a:r>
              <a:rPr lang="ru-RU" sz="2100" b="1" dirty="0"/>
              <a:t> важно оценивать неопределенность предсказания!</a:t>
            </a:r>
          </a:p>
          <a:p>
            <a:pPr marL="0" indent="0">
              <a:buNone/>
            </a:pPr>
            <a:r>
              <a:rPr lang="ru-RU" sz="2100" b="1" dirty="0"/>
              <a:t>Это диагностика того как модель описывает ряд и какие ошибки есть во ВР</a:t>
            </a:r>
          </a:p>
          <a:p>
            <a:pPr marL="0" indent="0">
              <a:buNone/>
            </a:pPr>
            <a:r>
              <a:rPr lang="ru-RU" sz="2100" b="1" dirty="0"/>
              <a:t>Источники ошибки предсказаний</a:t>
            </a:r>
          </a:p>
          <a:p>
            <a:pPr lvl="1"/>
            <a:r>
              <a:rPr lang="ru-RU" sz="2000" dirty="0"/>
              <a:t>Случайная ошибка (флуктуации, шум)</a:t>
            </a:r>
          </a:p>
          <a:p>
            <a:pPr lvl="1"/>
            <a:r>
              <a:rPr lang="ru-RU" sz="2000" dirty="0"/>
              <a:t>Смещенные оценки параметров </a:t>
            </a:r>
          </a:p>
          <a:p>
            <a:pPr lvl="1"/>
            <a:r>
              <a:rPr lang="ru-RU" sz="2000" dirty="0"/>
              <a:t>Дрейф данных (из за ограниченности выборки не все паттерны теста учтены в </a:t>
            </a:r>
            <a:r>
              <a:rPr lang="ru-RU" sz="2000" dirty="0" err="1"/>
              <a:t>трейне</a:t>
            </a:r>
            <a:r>
              <a:rPr lang="ru-RU" sz="2000" dirty="0"/>
              <a:t>)</a:t>
            </a:r>
          </a:p>
          <a:p>
            <a:pPr lvl="1"/>
            <a:r>
              <a:rPr lang="ru-RU" sz="2000" dirty="0"/>
              <a:t>Дрейф концепции (появление истинно новых </a:t>
            </a:r>
            <a:r>
              <a:rPr lang="ru-RU" sz="2000" dirty="0" err="1"/>
              <a:t>патетрнов</a:t>
            </a:r>
            <a:r>
              <a:rPr lang="ru-RU" sz="2000" dirty="0"/>
              <a:t> в </a:t>
            </a:r>
            <a:r>
              <a:rPr lang="ru-RU" sz="2000" dirty="0" err="1"/>
              <a:t>трейне</a:t>
            </a:r>
            <a:r>
              <a:rPr lang="ru-RU" sz="2000" dirty="0"/>
              <a:t>)</a:t>
            </a:r>
          </a:p>
          <a:p>
            <a:pPr marL="0" indent="0">
              <a:buNone/>
            </a:pPr>
            <a:r>
              <a:rPr lang="ru-RU" sz="2100" b="1" dirty="0"/>
              <a:t>Ошибки предсказаний приводят к неопределённости предсказаний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1305" y="3260034"/>
            <a:ext cx="5454650" cy="310233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288408" y="3383491"/>
            <a:ext cx="2747547" cy="369332"/>
          </a:xfrm>
          <a:prstGeom prst="rect">
            <a:avLst/>
          </a:prstGeom>
          <a:noFill/>
        </p:spPr>
        <p:txBody>
          <a:bodyPr wrap="none" rtlCol="0">
            <a:spAutoFit/>
          </a:bodyPr>
          <a:lstStyle/>
          <a:p>
            <a:r>
              <a:rPr lang="ru-RU" dirty="0"/>
              <a:t>Неучтенная информация?</a:t>
            </a:r>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spTree>
    <p:extLst>
      <p:ext uri="{BB962C8B-B14F-4D97-AF65-F5344CB8AC3E}">
        <p14:creationId xmlns:p14="http://schemas.microsoft.com/office/powerpoint/2010/main" val="523091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55575" y="654681"/>
                <a:ext cx="11706225" cy="5176838"/>
              </a:xfrm>
            </p:spPr>
            <p:txBody>
              <a:bodyPr>
                <a:normAutofit lnSpcReduction="10000"/>
              </a:bodyPr>
              <a:lstStyle/>
              <a:p>
                <a:pPr marL="0" indent="0">
                  <a:buNone/>
                </a:pPr>
                <a:r>
                  <a:rPr lang="ru-RU" sz="2100" b="1" dirty="0"/>
                  <a:t>Оценка неопределенности предсказание позволяет:</a:t>
                </a:r>
              </a:p>
              <a:p>
                <a:r>
                  <a:rPr lang="ru-RU" sz="2100" dirty="0"/>
                  <a:t>Оценить диапазон возможных значений</a:t>
                </a:r>
              </a:p>
              <a:p>
                <a:pPr lvl="1"/>
                <a:r>
                  <a:rPr lang="ru-RU" sz="1700" dirty="0"/>
                  <a:t>Выход за диапазон –показатель дрейфа\аномалий или других факторов ненадежности модели</a:t>
                </a:r>
              </a:p>
              <a:p>
                <a:r>
                  <a:rPr lang="ru-RU" sz="2100" dirty="0"/>
                  <a:t>Оценить точность модели</a:t>
                </a:r>
              </a:p>
              <a:p>
                <a:pPr lvl="1"/>
                <a:r>
                  <a:rPr lang="ru-RU" sz="1700" dirty="0"/>
                  <a:t>Напр. чем уже диапазон неопределённости на тесте – тем лучше.</a:t>
                </a:r>
              </a:p>
              <a:p>
                <a:pPr lvl="1"/>
                <a:r>
                  <a:rPr lang="ru-RU" sz="1700" dirty="0"/>
                  <a:t>Резкое сужение диапазона на </a:t>
                </a:r>
                <a:r>
                  <a:rPr lang="ru-RU" sz="1700" dirty="0" err="1"/>
                  <a:t>трейн</a:t>
                </a:r>
                <a:r>
                  <a:rPr lang="ru-RU" sz="1700" dirty="0"/>
                  <a:t> – индикатор переобучения.</a:t>
                </a:r>
              </a:p>
              <a:p>
                <a:pPr lvl="1"/>
                <a:r>
                  <a:rPr lang="ru-RU" sz="1700" dirty="0"/>
                  <a:t>Но при условии корректного покрытия (т.е. модель, дающая 5% для </a:t>
                </a:r>
                <a:r>
                  <a:rPr lang="ru-RU" sz="1700" dirty="0" err="1"/>
                  <a:t>сбытия</a:t>
                </a:r>
                <a:r>
                  <a:rPr lang="ru-RU" sz="1700" dirty="0"/>
                  <a:t> с вер. 5%, лучше, чем модель, дающая для него 1 или 10%).</a:t>
                </a:r>
              </a:p>
              <a:p>
                <a:r>
                  <a:rPr lang="ru-RU" sz="2100" dirty="0"/>
                  <a:t>Оценить риски модели</a:t>
                </a:r>
              </a:p>
              <a:p>
                <a:pPr lvl="1"/>
                <a:r>
                  <a:rPr lang="ru-RU" sz="1700" dirty="0"/>
                  <a:t>Напр. разброс позволяет говорить что тренд может и поменяться</a:t>
                </a:r>
              </a:p>
              <a:p>
                <a:r>
                  <a:rPr lang="ru-RU" sz="2100" dirty="0"/>
                  <a:t>Повысить предметную интерпретируемость модели</a:t>
                </a:r>
              </a:p>
              <a:p>
                <a:pPr lvl="1"/>
                <a:r>
                  <a:rPr lang="ru-RU" sz="1700" dirty="0"/>
                  <a:t>позволяет более реалистично оценить результаты </a:t>
                </a:r>
                <a:br>
                  <a:rPr lang="ru-RU" sz="1700" dirty="0"/>
                </a:br>
                <a:r>
                  <a:rPr lang="ru-RU" sz="1700" dirty="0"/>
                  <a:t>работы модели в предметной логике</a:t>
                </a:r>
              </a:p>
              <a:p>
                <a:pPr lvl="1"/>
                <a:r>
                  <a:rPr lang="ru-RU" sz="1700" dirty="0"/>
                  <a:t>Напр. средняя оценка загрузки </a:t>
                </a:r>
                <a:r>
                  <a:rPr lang="ru-RU" sz="1700" dirty="0" err="1"/>
                  <a:t>колл</a:t>
                </a:r>
                <a:r>
                  <a:rPr lang="ru-RU" sz="1700" dirty="0"/>
                  <a:t>-центра соответствует </a:t>
                </a:r>
                <a:br>
                  <a:rPr lang="ru-RU" sz="1700" dirty="0"/>
                </a:br>
                <a:r>
                  <a:rPr lang="ru-RU" sz="1700" dirty="0"/>
                  <a:t>нагрузке 10 специалистов, но разброс </a:t>
                </a:r>
                <a:r>
                  <a:rPr lang="ru-RU" sz="1400" dirty="0"/>
                  <a:t>соответствует </a:t>
                </a:r>
                <a14:m>
                  <m:oMath xmlns:m="http://schemas.openxmlformats.org/officeDocument/2006/math">
                    <m:r>
                      <a:rPr lang="ru-RU" sz="1400" i="1" dirty="0" smtClean="0">
                        <a:latin typeface="Cambria Math" panose="02040503050406030204" pitchFamily="18" charset="0"/>
                      </a:rPr>
                      <m:t>±</m:t>
                    </m:r>
                  </m:oMath>
                </a14:m>
                <a:r>
                  <a:rPr lang="ru-RU" sz="1300" dirty="0"/>
                  <a:t>2 </a:t>
                </a:r>
                <a:r>
                  <a:rPr lang="ru-RU" sz="1300" dirty="0" err="1"/>
                  <a:t>специлистам</a:t>
                </a:r>
                <a:r>
                  <a:rPr lang="ru-RU" sz="1300" dirty="0"/>
                  <a:t>.</a:t>
                </a:r>
                <a:endParaRPr lang="en-US" sz="1300" dirty="0"/>
              </a:p>
              <a:p>
                <a:pPr lvl="1"/>
                <a:endParaRPr lang="ru-RU" sz="1700" b="1" dirty="0"/>
              </a:p>
              <a:p>
                <a:pPr marL="0" indent="0">
                  <a:buNone/>
                </a:pPr>
                <a:r>
                  <a:rPr lang="ru-RU" sz="2100" b="1" dirty="0"/>
                  <a:t>	</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55575" y="654681"/>
                <a:ext cx="11706225" cy="5176838"/>
              </a:xfrm>
              <a:blipFill>
                <a:blip r:embed="rId2"/>
                <a:stretch>
                  <a:fillRect l="-625" t="-1765"/>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9667" y="3488638"/>
            <a:ext cx="4946028" cy="2960049"/>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422042" y="3414290"/>
            <a:ext cx="2747547" cy="369332"/>
          </a:xfrm>
          <a:prstGeom prst="rect">
            <a:avLst/>
          </a:prstGeom>
          <a:noFill/>
        </p:spPr>
        <p:txBody>
          <a:bodyPr wrap="none" rtlCol="0">
            <a:spAutoFit/>
          </a:bodyPr>
          <a:lstStyle/>
          <a:p>
            <a:r>
              <a:rPr lang="ru-RU" dirty="0"/>
              <a:t>Неучтенная информация?</a:t>
            </a:r>
          </a:p>
        </p:txBody>
      </p:sp>
      <p:sp>
        <p:nvSpPr>
          <p:cNvPr id="15" name="Прямоугольник 14"/>
          <p:cNvSpPr/>
          <p:nvPr/>
        </p:nvSpPr>
        <p:spPr>
          <a:xfrm>
            <a:off x="1719" y="6345432"/>
            <a:ext cx="6713220" cy="276999"/>
          </a:xfrm>
          <a:prstGeom prst="rect">
            <a:avLst/>
          </a:prstGeom>
        </p:spPr>
        <p:txBody>
          <a:bodyPr wrap="square">
            <a:spAutoFit/>
          </a:bodyPr>
          <a:lstStyle/>
          <a:p>
            <a:r>
              <a:rPr lang="ru-RU" sz="1200" dirty="0"/>
              <a:t>https://nixtlaverse.nixtla.io/mlforecast/docs/tutorials/prediction_intervals_in_forecasting_models.html</a:t>
            </a:r>
          </a:p>
        </p:txBody>
      </p:sp>
    </p:spTree>
    <p:extLst>
      <p:ext uri="{BB962C8B-B14F-4D97-AF65-F5344CB8AC3E}">
        <p14:creationId xmlns:p14="http://schemas.microsoft.com/office/powerpoint/2010/main" val="3135437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10896" y="365125"/>
            <a:ext cx="11042904" cy="585851"/>
          </a:xfrm>
        </p:spPr>
        <p:txBody>
          <a:bodyPr>
            <a:normAutofit fontScale="90000"/>
          </a:bodyPr>
          <a:lstStyle/>
          <a:p>
            <a:r>
              <a:rPr lang="ru-RU" dirty="0"/>
              <a:t>Необходимость вероятностных оценок</a:t>
            </a:r>
          </a:p>
        </p:txBody>
      </p:sp>
      <p:sp>
        <p:nvSpPr>
          <p:cNvPr id="4" name="Номер слайда 3"/>
          <p:cNvSpPr>
            <a:spLocks noGrp="1"/>
          </p:cNvSpPr>
          <p:nvPr>
            <p:ph type="sldNum" sz="quarter" idx="12"/>
          </p:nvPr>
        </p:nvSpPr>
        <p:spPr/>
        <p:txBody>
          <a:bodyPr/>
          <a:lstStyle/>
          <a:p>
            <a:fld id="{45C3B737-A709-4ABC-AFE0-A6B067850C48}" type="slidenum">
              <a:rPr lang="en-US" smtClean="0"/>
              <a:t>15</a:t>
            </a:fld>
            <a:endParaRPr lang="en-US"/>
          </a:p>
        </p:txBody>
      </p:sp>
      <p:sp>
        <p:nvSpPr>
          <p:cNvPr id="5" name="Объект 4"/>
          <p:cNvSpPr>
            <a:spLocks noGrp="1"/>
          </p:cNvSpPr>
          <p:nvPr>
            <p:ph idx="1"/>
          </p:nvPr>
        </p:nvSpPr>
        <p:spPr>
          <a:xfrm>
            <a:off x="192024" y="950976"/>
            <a:ext cx="11814048" cy="397032"/>
          </a:xfrm>
          <a:prstGeom prst="rect">
            <a:avLst/>
          </a:prstGeom>
        </p:spPr>
        <p:txBody>
          <a:bodyPr wrap="square">
            <a:spAutoFit/>
          </a:bodyPr>
          <a:lstStyle/>
          <a:p>
            <a:pPr marL="0" indent="0">
              <a:buNone/>
            </a:pPr>
            <a:r>
              <a:rPr lang="en-US" sz="2200" b="1" dirty="0"/>
              <a:t> </a:t>
            </a:r>
            <a:endParaRPr lang="ru-RU" sz="2200" b="0" i="0" dirty="0">
              <a:effectLst/>
            </a:endParaRPr>
          </a:p>
        </p:txBody>
      </p:sp>
      <p:sp>
        <p:nvSpPr>
          <p:cNvPr id="3" name="Прямоугольник 2"/>
          <p:cNvSpPr/>
          <p:nvPr/>
        </p:nvSpPr>
        <p:spPr>
          <a:xfrm>
            <a:off x="310896" y="1001038"/>
            <a:ext cx="7354709" cy="5940088"/>
          </a:xfrm>
          <a:prstGeom prst="rect">
            <a:avLst/>
          </a:prstGeom>
        </p:spPr>
        <p:txBody>
          <a:bodyPr wrap="square">
            <a:spAutoFit/>
          </a:bodyPr>
          <a:lstStyle/>
          <a:p>
            <a:r>
              <a:rPr lang="ru-RU" sz="2000" dirty="0">
                <a:solidFill>
                  <a:srgbClr val="2C2C36"/>
                </a:solidFill>
              </a:rPr>
              <a:t>Иногда предположение о нормальности остатков неверно. В таких случаях можно использовать </a:t>
            </a:r>
            <a:r>
              <a:rPr lang="ru-RU" sz="2000" dirty="0">
                <a:solidFill>
                  <a:srgbClr val="111827"/>
                </a:solidFill>
              </a:rPr>
              <a:t>методы</a:t>
            </a:r>
          </a:p>
          <a:p>
            <a:r>
              <a:rPr lang="ru-RU" sz="2000" dirty="0">
                <a:solidFill>
                  <a:srgbClr val="111827"/>
                </a:solidFill>
              </a:rPr>
              <a:t> </a:t>
            </a:r>
            <a:r>
              <a:rPr lang="ru-RU" sz="2000" dirty="0" err="1">
                <a:solidFill>
                  <a:srgbClr val="111827"/>
                </a:solidFill>
              </a:rPr>
              <a:t>бутстрепа</a:t>
            </a:r>
            <a:r>
              <a:rPr lang="ru-RU" sz="2000" dirty="0">
                <a:solidFill>
                  <a:srgbClr val="111827"/>
                </a:solidFill>
              </a:rPr>
              <a:t> </a:t>
            </a:r>
            <a:r>
              <a:rPr lang="ru-RU" sz="2000" dirty="0">
                <a:solidFill>
                  <a:srgbClr val="2C2C36"/>
                </a:solidFill>
              </a:rPr>
              <a:t>— имитационный метод, основанный на повторной выборке из исторических остатков</a:t>
            </a:r>
          </a:p>
          <a:p>
            <a:r>
              <a:rPr lang="ru-RU" sz="2000" dirty="0" err="1">
                <a:solidFill>
                  <a:srgbClr val="2C2C36"/>
                </a:solidFill>
              </a:rPr>
              <a:t>Комфорное</a:t>
            </a:r>
            <a:r>
              <a:rPr lang="ru-RU" sz="2000" dirty="0">
                <a:solidFill>
                  <a:srgbClr val="2C2C36"/>
                </a:solidFill>
              </a:rPr>
              <a:t> </a:t>
            </a:r>
            <a:r>
              <a:rPr lang="ru-RU" sz="2000" dirty="0" err="1">
                <a:solidFill>
                  <a:srgbClr val="2C2C36"/>
                </a:solidFill>
              </a:rPr>
              <a:t>преорбазование</a:t>
            </a:r>
            <a:r>
              <a:rPr lang="ru-RU" sz="2000" dirty="0">
                <a:solidFill>
                  <a:srgbClr val="2C2C36"/>
                </a:solidFill>
              </a:rPr>
              <a:t> – калибровка доверительных интервалов на отдельных от тренировочной </a:t>
            </a:r>
            <a:r>
              <a:rPr lang="ru-RU" sz="2000" dirty="0" err="1">
                <a:solidFill>
                  <a:srgbClr val="2C2C36"/>
                </a:solidFill>
              </a:rPr>
              <a:t>подвыборках</a:t>
            </a:r>
            <a:r>
              <a:rPr lang="ru-RU" sz="2000" dirty="0">
                <a:solidFill>
                  <a:srgbClr val="2C2C36"/>
                </a:solidFill>
              </a:rPr>
              <a:t>.</a:t>
            </a:r>
          </a:p>
          <a:p>
            <a:r>
              <a:rPr lang="ru-RU" sz="2000" b="1" dirty="0">
                <a:solidFill>
                  <a:srgbClr val="2C2C36"/>
                </a:solidFill>
              </a:rPr>
              <a:t>Основные идеи</a:t>
            </a:r>
          </a:p>
          <a:p>
            <a:pPr>
              <a:buFont typeface="+mj-lt"/>
              <a:buAutoNum type="arabicPeriod"/>
            </a:pPr>
            <a:r>
              <a:rPr lang="ru-RU" sz="2000" dirty="0">
                <a:solidFill>
                  <a:srgbClr val="2C2C36"/>
                </a:solidFill>
              </a:rPr>
              <a:t>Используем модель, чтобы получить остатки </a:t>
            </a:r>
            <a:r>
              <a:rPr lang="ru-RU" sz="2000" i="1" dirty="0" err="1">
                <a:solidFill>
                  <a:srgbClr val="2C2C36"/>
                </a:solidFill>
              </a:rPr>
              <a:t>et</a:t>
            </a:r>
            <a:r>
              <a:rPr lang="ru-RU" sz="2000" dirty="0">
                <a:solidFill>
                  <a:srgbClr val="2C2C36"/>
                </a:solidFill>
              </a:rPr>
              <a:t>​=</a:t>
            </a:r>
            <a:r>
              <a:rPr lang="ru-RU" sz="2000" i="1" dirty="0" err="1">
                <a:solidFill>
                  <a:srgbClr val="2C2C36"/>
                </a:solidFill>
              </a:rPr>
              <a:t>yt</a:t>
            </a:r>
            <a:r>
              <a:rPr lang="ru-RU" sz="2000" dirty="0">
                <a:solidFill>
                  <a:srgbClr val="2C2C36"/>
                </a:solidFill>
              </a:rPr>
              <a:t>​−</a:t>
            </a:r>
            <a:r>
              <a:rPr lang="ru-RU" sz="2000" i="1" dirty="0">
                <a:solidFill>
                  <a:srgbClr val="2C2C36"/>
                </a:solidFill>
              </a:rPr>
              <a:t>y</a:t>
            </a:r>
            <a:r>
              <a:rPr lang="ru-RU" sz="2000" dirty="0">
                <a:solidFill>
                  <a:srgbClr val="2C2C36"/>
                </a:solidFill>
              </a:rPr>
              <a:t>^​</a:t>
            </a:r>
            <a:r>
              <a:rPr lang="ru-RU" sz="2000" i="1" dirty="0">
                <a:solidFill>
                  <a:srgbClr val="2C2C36"/>
                </a:solidFill>
              </a:rPr>
              <a:t>t</a:t>
            </a:r>
            <a:r>
              <a:rPr lang="ru-RU" sz="2000" dirty="0">
                <a:solidFill>
                  <a:srgbClr val="2C2C36"/>
                </a:solidFill>
              </a:rPr>
              <a:t>​ .</a:t>
            </a:r>
          </a:p>
          <a:p>
            <a:pPr>
              <a:buFont typeface="+mj-lt"/>
              <a:buAutoNum type="arabicPeriod"/>
            </a:pPr>
            <a:r>
              <a:rPr lang="ru-RU" sz="2000" dirty="0">
                <a:solidFill>
                  <a:srgbClr val="2C2C36"/>
                </a:solidFill>
              </a:rPr>
              <a:t>Затем случайным образом выбираем эти остатки и добавляем их к прогнозам, чтобы смоделировать возможные будущие значения.</a:t>
            </a:r>
          </a:p>
          <a:p>
            <a:pPr>
              <a:buFont typeface="+mj-lt"/>
              <a:buAutoNum type="arabicPeriod"/>
            </a:pPr>
            <a:r>
              <a:rPr lang="ru-RU" sz="2000" dirty="0">
                <a:solidFill>
                  <a:srgbClr val="2C2C36"/>
                </a:solidFill>
              </a:rPr>
              <a:t>Повторяем этот процесс множество раз, чтобы получить распределение возможных будущих значений.</a:t>
            </a:r>
          </a:p>
          <a:p>
            <a:pPr>
              <a:buFont typeface="+mj-lt"/>
              <a:buAutoNum type="arabicPeriod"/>
            </a:pPr>
            <a:r>
              <a:rPr lang="ru-RU" sz="2000" dirty="0">
                <a:solidFill>
                  <a:srgbClr val="2C2C36"/>
                </a:solidFill>
              </a:rPr>
              <a:t>На основе этого распределения строим доверительные интервалы (например, 80%, 95%).</a:t>
            </a:r>
          </a:p>
          <a:p>
            <a:r>
              <a:rPr lang="ru-RU" sz="2000" b="1" dirty="0">
                <a:solidFill>
                  <a:srgbClr val="2C2C36"/>
                </a:solidFill>
              </a:rPr>
              <a:t>Преимущества методов</a:t>
            </a:r>
          </a:p>
          <a:p>
            <a:pPr>
              <a:buFont typeface="Arial" panose="020B0604020202020204" pitchFamily="34" charset="0"/>
              <a:buChar char="•"/>
            </a:pPr>
            <a:r>
              <a:rPr lang="ru-RU" sz="2000" dirty="0">
                <a:solidFill>
                  <a:srgbClr val="2C2C36"/>
                </a:solidFill>
              </a:rPr>
              <a:t>Не требует предположений о нормальности остатков.</a:t>
            </a:r>
          </a:p>
          <a:p>
            <a:pPr>
              <a:buFont typeface="Arial" panose="020B0604020202020204" pitchFamily="34" charset="0"/>
              <a:buChar char="•"/>
            </a:pPr>
            <a:r>
              <a:rPr lang="ru-RU" sz="2000" dirty="0">
                <a:solidFill>
                  <a:srgbClr val="2C2C36"/>
                </a:solidFill>
              </a:rPr>
              <a:t>Работает даже при сложных структурах данных.</a:t>
            </a:r>
          </a:p>
          <a:p>
            <a:pPr>
              <a:buFont typeface="Arial" panose="020B0604020202020204" pitchFamily="34" charset="0"/>
              <a:buChar char="•"/>
            </a:pPr>
            <a:r>
              <a:rPr lang="ru-RU" sz="2000" dirty="0">
                <a:solidFill>
                  <a:srgbClr val="2C2C36"/>
                </a:solidFill>
              </a:rPr>
              <a:t>Может учитывать несимметричность распределения.</a:t>
            </a:r>
            <a:endParaRPr lang="ru-RU" sz="2000" b="0" i="0" dirty="0">
              <a:solidFill>
                <a:srgbClr val="2C2C36"/>
              </a:solidFill>
              <a:effectLst/>
            </a:endParaRPr>
          </a:p>
        </p:txBody>
      </p:sp>
      <p:pic>
        <p:nvPicPr>
          <p:cNvPr id="9" name="Picture 2" descr="Five simulated future sample paths of the Google closing stock price based on a naïve method with bootstrapped residua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2334" y="850393"/>
            <a:ext cx="3867009" cy="238810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Forecasts of the Google closing stock price based on a naïve method with bootstrapped residual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2434" y="3753865"/>
            <a:ext cx="4642510" cy="2867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919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10896" y="365125"/>
            <a:ext cx="11042904" cy="585851"/>
          </a:xfrm>
        </p:spPr>
        <p:txBody>
          <a:bodyPr>
            <a:normAutofit fontScale="90000"/>
          </a:bodyPr>
          <a:lstStyle/>
          <a:p>
            <a:r>
              <a:rPr lang="ru-RU" dirty="0"/>
              <a:t>Необходимость вероятностных оценок</a:t>
            </a:r>
          </a:p>
        </p:txBody>
      </p:sp>
      <p:sp>
        <p:nvSpPr>
          <p:cNvPr id="4" name="Номер слайда 3"/>
          <p:cNvSpPr>
            <a:spLocks noGrp="1"/>
          </p:cNvSpPr>
          <p:nvPr>
            <p:ph type="sldNum" sz="quarter" idx="12"/>
          </p:nvPr>
        </p:nvSpPr>
        <p:spPr/>
        <p:txBody>
          <a:bodyPr/>
          <a:lstStyle/>
          <a:p>
            <a:fld id="{45C3B737-A709-4ABC-AFE0-A6B067850C48}" type="slidenum">
              <a:rPr lang="en-US" smtClean="0"/>
              <a:t>16</a:t>
            </a:fld>
            <a:endParaRPr lang="en-US"/>
          </a:p>
        </p:txBody>
      </p:sp>
      <p:sp>
        <p:nvSpPr>
          <p:cNvPr id="5" name="Объект 4"/>
          <p:cNvSpPr>
            <a:spLocks noGrp="1"/>
          </p:cNvSpPr>
          <p:nvPr>
            <p:ph idx="1"/>
          </p:nvPr>
        </p:nvSpPr>
        <p:spPr>
          <a:xfrm>
            <a:off x="192024" y="950976"/>
            <a:ext cx="11814048" cy="701731"/>
          </a:xfrm>
          <a:prstGeom prst="rect">
            <a:avLst/>
          </a:prstGeom>
        </p:spPr>
        <p:txBody>
          <a:bodyPr wrap="square">
            <a:spAutoFit/>
          </a:bodyPr>
          <a:lstStyle/>
          <a:p>
            <a:pPr marL="0" indent="0">
              <a:buNone/>
            </a:pPr>
            <a:r>
              <a:rPr lang="ru-RU" sz="2200" dirty="0"/>
              <a:t>После того как мы построили прогнозные интервалы или получили прогнозное распределение, важно количественно оценить их качество</a:t>
            </a:r>
          </a:p>
        </p:txBody>
      </p:sp>
      <mc:AlternateContent xmlns:mc="http://schemas.openxmlformats.org/markup-compatibility/2006" xmlns:a14="http://schemas.microsoft.com/office/drawing/2010/main">
        <mc:Choice Requires="a14">
          <p:graphicFrame>
            <p:nvGraphicFramePr>
              <p:cNvPr id="6" name="Таблица 5"/>
              <p:cNvGraphicFramePr>
                <a:graphicFrameLocks noGrp="1"/>
              </p:cNvGraphicFramePr>
              <p:nvPr/>
            </p:nvGraphicFramePr>
            <p:xfrm>
              <a:off x="310896" y="1652705"/>
              <a:ext cx="11422095" cy="3166944"/>
            </p:xfrm>
            <a:graphic>
              <a:graphicData uri="http://schemas.openxmlformats.org/drawingml/2006/table">
                <a:tbl>
                  <a:tblPr/>
                  <a:tblGrid>
                    <a:gridCol w="1543541">
                      <a:extLst>
                        <a:ext uri="{9D8B030D-6E8A-4147-A177-3AD203B41FA5}">
                          <a16:colId xmlns:a16="http://schemas.microsoft.com/office/drawing/2014/main" val="1648134774"/>
                        </a:ext>
                      </a:extLst>
                    </a:gridCol>
                    <a:gridCol w="2450863">
                      <a:extLst>
                        <a:ext uri="{9D8B030D-6E8A-4147-A177-3AD203B41FA5}">
                          <a16:colId xmlns:a16="http://schemas.microsoft.com/office/drawing/2014/main" val="1803540345"/>
                        </a:ext>
                      </a:extLst>
                    </a:gridCol>
                    <a:gridCol w="2790825">
                      <a:extLst>
                        <a:ext uri="{9D8B030D-6E8A-4147-A177-3AD203B41FA5}">
                          <a16:colId xmlns:a16="http://schemas.microsoft.com/office/drawing/2014/main" val="2317459356"/>
                        </a:ext>
                      </a:extLst>
                    </a:gridCol>
                    <a:gridCol w="1842776">
                      <a:extLst>
                        <a:ext uri="{9D8B030D-6E8A-4147-A177-3AD203B41FA5}">
                          <a16:colId xmlns:a16="http://schemas.microsoft.com/office/drawing/2014/main" val="3472257170"/>
                        </a:ext>
                      </a:extLst>
                    </a:gridCol>
                    <a:gridCol w="2794090">
                      <a:extLst>
                        <a:ext uri="{9D8B030D-6E8A-4147-A177-3AD203B41FA5}">
                          <a16:colId xmlns:a16="http://schemas.microsoft.com/office/drawing/2014/main" val="50803802"/>
                        </a:ext>
                      </a:extLst>
                    </a:gridCol>
                  </a:tblGrid>
                  <a:tr h="363586">
                    <a:tc>
                      <a:txBody>
                        <a:bodyPr/>
                        <a:lstStyle/>
                        <a:p>
                          <a:pPr algn="ctr" fontAlgn="b"/>
                          <a:r>
                            <a:rPr lang="ru-RU" sz="1800" b="0" i="0" u="none" strike="noStrike" dirty="0">
                              <a:solidFill>
                                <a:srgbClr val="000000"/>
                              </a:solidFill>
                              <a:effectLst/>
                              <a:latin typeface="Calibri" panose="020F0502020204030204" pitchFamily="34" charset="0"/>
                            </a:rPr>
                            <a:t>Тип прогноза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Оценка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Цель</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Метрики оценки</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Особенности</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8971985"/>
                      </a:ext>
                    </a:extLst>
                  </a:tr>
                  <a:tr h="1242373">
                    <a:tc>
                      <a:txBody>
                        <a:bodyPr/>
                        <a:lstStyle/>
                        <a:p>
                          <a:pPr algn="ctr" fontAlgn="b"/>
                          <a:r>
                            <a:rPr lang="ru-RU" sz="1800" b="0" i="0" u="none" strike="noStrike" dirty="0">
                              <a:solidFill>
                                <a:srgbClr val="000000"/>
                              </a:solidFill>
                              <a:effectLst/>
                              <a:latin typeface="Calibri" panose="020F0502020204030204" pitchFamily="34" charset="0"/>
                            </a:rPr>
                            <a:t>Интервальный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 диапазон с заданным покрытием </a:t>
                          </a:r>
                          <a14:m>
                            <m:oMath xmlns:m="http://schemas.openxmlformats.org/officeDocument/2006/math">
                              <m:r>
                                <a:rPr lang="en-US" sz="1800" b="0" i="0" u="none" strike="noStrike" dirty="0" smtClean="0">
                                  <a:solidFill>
                                    <a:srgbClr val="000000"/>
                                  </a:solidFill>
                                  <a:effectLst/>
                                  <a:latin typeface="Cambria Math" panose="02040503050406030204" pitchFamily="18" charset="0"/>
                                </a:rPr>
                                <m:t>[</m:t>
                              </m:r>
                              <m:sSub>
                                <m:sSubPr>
                                  <m:ctrlPr>
                                    <a:rPr lang="ru-RU" sz="1800" b="0" i="1" u="none" strike="noStrike" dirty="0" smtClean="0">
                                      <a:solidFill>
                                        <a:srgbClr val="000000"/>
                                      </a:solidFill>
                                      <a:effectLst/>
                                      <a:latin typeface="Cambria Math" panose="02040503050406030204" pitchFamily="18" charset="0"/>
                                    </a:rPr>
                                  </m:ctrlPr>
                                </m:sSubPr>
                                <m:e>
                                  <m:r>
                                    <a:rPr lang="ru-RU" sz="1800" b="0" i="1" u="none" strike="noStrike" dirty="0" smtClean="0">
                                      <a:solidFill>
                                        <a:srgbClr val="000000"/>
                                      </a:solidFill>
                                      <a:effectLst/>
                                      <a:latin typeface="Cambria Math" panose="02040503050406030204" pitchFamily="18" charset="0"/>
                                    </a:rPr>
                                    <m:t>𝑦</m:t>
                                  </m:r>
                                </m:e>
                                <m:sub>
                                  <m:r>
                                    <a:rPr lang="ru-RU" sz="1800" b="0" i="1" u="none" strike="noStrike" dirty="0" smtClean="0">
                                      <a:solidFill>
                                        <a:srgbClr val="000000"/>
                                      </a:solidFill>
                                      <a:effectLst/>
                                      <a:latin typeface="Cambria Math" panose="02040503050406030204" pitchFamily="18" charset="0"/>
                                    </a:rPr>
                                    <m:t>𝑙𝑜𝑤</m:t>
                                  </m:r>
                                </m:sub>
                              </m:sSub>
                              <m:r>
                                <a:rPr lang="ru-RU" sz="1800" b="0" i="1" u="none" strike="noStrike" dirty="0">
                                  <a:solidFill>
                                    <a:srgbClr val="000000"/>
                                  </a:solidFill>
                                  <a:effectLst/>
                                  <a:latin typeface="Cambria Math" panose="02040503050406030204" pitchFamily="18" charset="0"/>
                                </a:rPr>
                                <m:t>, </m:t>
                              </m:r>
                              <m:sSub>
                                <m:sSubPr>
                                  <m:ctrlPr>
                                    <a:rPr lang="ru-RU" sz="1800" b="0" i="1" u="none" strike="noStrike" dirty="0" err="1">
                                      <a:solidFill>
                                        <a:srgbClr val="000000"/>
                                      </a:solidFill>
                                      <a:effectLst/>
                                      <a:latin typeface="Cambria Math" panose="02040503050406030204" pitchFamily="18" charset="0"/>
                                    </a:rPr>
                                  </m:ctrlPr>
                                </m:sSubPr>
                                <m:e>
                                  <m:r>
                                    <a:rPr lang="ru-RU" sz="1800" b="0" i="1" u="none" strike="noStrike" dirty="0" err="1">
                                      <a:solidFill>
                                        <a:srgbClr val="000000"/>
                                      </a:solidFill>
                                      <a:effectLst/>
                                      <a:latin typeface="Cambria Math" panose="02040503050406030204" pitchFamily="18" charset="0"/>
                                    </a:rPr>
                                    <m:t>𝑦</m:t>
                                  </m:r>
                                </m:e>
                                <m:sub>
                                  <m:r>
                                    <a:rPr lang="ru-RU" sz="1800" b="0" i="1" u="none" strike="noStrike" dirty="0" err="1">
                                      <a:solidFill>
                                        <a:srgbClr val="000000"/>
                                      </a:solidFill>
                                      <a:effectLst/>
                                      <a:latin typeface="Cambria Math" panose="02040503050406030204" pitchFamily="18" charset="0"/>
                                    </a:rPr>
                                    <m:t>h𝑖𝑔h</m:t>
                                  </m:r>
                                </m:sub>
                              </m:sSub>
                              <m:r>
                                <a:rPr lang="en-US" sz="1800" b="0" i="1" u="none" strike="noStrike" dirty="0" smtClean="0">
                                  <a:solidFill>
                                    <a:srgbClr val="000000"/>
                                  </a:solidFill>
                                  <a:effectLst/>
                                  <a:latin typeface="Cambria Math" panose="02040503050406030204" pitchFamily="18" charset="0"/>
                                </a:rPr>
                                <m:t>]</m:t>
                              </m:r>
                            </m:oMath>
                          </a14:m>
                          <a:endParaRPr lang="ru-RU"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Определить</a:t>
                          </a:r>
                          <a:r>
                            <a:rPr lang="ru-RU" sz="1800" b="0" i="0" u="none" strike="noStrike" baseline="0" dirty="0">
                              <a:solidFill>
                                <a:srgbClr val="000000"/>
                              </a:solidFill>
                              <a:effectLst/>
                              <a:latin typeface="Calibri" panose="020F0502020204030204" pitchFamily="34" charset="0"/>
                            </a:rPr>
                            <a:t> ш</a:t>
                          </a:r>
                          <a:r>
                            <a:rPr lang="ru-RU" sz="1800" b="0" i="0" u="none" strike="noStrike" dirty="0">
                              <a:solidFill>
                                <a:srgbClr val="000000"/>
                              </a:solidFill>
                              <a:effectLst/>
                              <a:latin typeface="Calibri" panose="020F0502020204030204" pitchFamily="34" charset="0"/>
                            </a:rPr>
                            <a:t>ирину и покрытие интервалов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Coverage, Mean Width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Легко интерпретировать, но не покрывает выбросы</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609934"/>
                      </a:ext>
                    </a:extLst>
                  </a:tr>
                  <a:tr h="934452">
                    <a:tc>
                      <a:txBody>
                        <a:bodyPr/>
                        <a:lstStyle/>
                        <a:p>
                          <a:pPr algn="ctr" fontAlgn="b"/>
                          <a:r>
                            <a:rPr lang="ru-RU" sz="1800" b="0" i="0" u="none" strike="noStrike">
                              <a:solidFill>
                                <a:srgbClr val="000000"/>
                              </a:solidFill>
                              <a:effectLst/>
                              <a:latin typeface="Calibri" panose="020F0502020204030204" pitchFamily="34" charset="0"/>
                            </a:rPr>
                            <a:t>Квантильный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Предсказать конкретный квантиль </a:t>
                          </a:r>
                          <a14:m>
                            <m:oMath xmlns:m="http://schemas.openxmlformats.org/officeDocument/2006/math">
                              <m:sSub>
                                <m:sSubPr>
                                  <m:ctrlPr>
                                    <a:rPr lang="ru-RU" sz="1800" b="0" i="1" u="none" strike="noStrike" dirty="0" smtClean="0">
                                      <a:solidFill>
                                        <a:srgbClr val="000000"/>
                                      </a:solidFill>
                                      <a:effectLst/>
                                      <a:latin typeface="Cambria Math" panose="02040503050406030204" pitchFamily="18" charset="0"/>
                                    </a:rPr>
                                  </m:ctrlPr>
                                </m:sSubPr>
                                <m:e>
                                  <m:r>
                                    <a:rPr lang="ru-RU" sz="1800" b="0" i="1" u="none" strike="noStrike" dirty="0" smtClean="0">
                                      <a:solidFill>
                                        <a:srgbClr val="000000"/>
                                      </a:solidFill>
                                      <a:effectLst/>
                                      <a:latin typeface="Cambria Math" panose="02040503050406030204" pitchFamily="18" charset="0"/>
                                    </a:rPr>
                                    <m:t>𝑦</m:t>
                                  </m:r>
                                </m:e>
                                <m:sub>
                                  <m:r>
                                    <a:rPr lang="ru-RU" sz="1800" b="0" i="1" u="none" strike="noStrike" dirty="0" smtClean="0">
                                      <a:solidFill>
                                        <a:srgbClr val="000000"/>
                                      </a:solidFill>
                                      <a:effectLst/>
                                      <a:latin typeface="Cambria Math" panose="02040503050406030204" pitchFamily="18" charset="0"/>
                                    </a:rPr>
                                    <m:t>𝜏</m:t>
                                  </m:r>
                                </m:sub>
                              </m:sSub>
                            </m:oMath>
                          </a14:m>
                          <a:endParaRPr lang="ru-RU"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точность определения квантилей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Pinball Loss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Анализ</a:t>
                          </a:r>
                          <a:r>
                            <a:rPr lang="ru-RU" sz="1800" b="0" i="0" u="none" strike="noStrike" baseline="0" dirty="0">
                              <a:solidFill>
                                <a:srgbClr val="000000"/>
                              </a:solidFill>
                              <a:effectLst/>
                              <a:latin typeface="Calibri" panose="020F0502020204030204" pitchFamily="34" charset="0"/>
                            </a:rPr>
                            <a:t> хвостов, не покрывает интервалы</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865774"/>
                      </a:ext>
                    </a:extLst>
                  </a:tr>
                  <a:tr h="626533">
                    <a:tc>
                      <a:txBody>
                        <a:bodyPr/>
                        <a:lstStyle/>
                        <a:p>
                          <a:pPr algn="ctr" fontAlgn="b"/>
                          <a:r>
                            <a:rPr lang="ru-RU" sz="1800" b="0" i="0" u="none" strike="noStrike">
                              <a:solidFill>
                                <a:srgbClr val="000000"/>
                              </a:solidFill>
                              <a:effectLst/>
                              <a:latin typeface="Calibri" panose="020F0502020204030204" pitchFamily="34" charset="0"/>
                            </a:rPr>
                            <a:t>Вероятностный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полное распределение </a:t>
                          </a:r>
                          <a14:m>
                            <m:oMath xmlns:m="http://schemas.openxmlformats.org/officeDocument/2006/math">
                              <m:sSup>
                                <m:sSupPr>
                                  <m:ctrlPr>
                                    <a:rPr lang="ru-RU" sz="1800" b="0" i="1" u="none" strike="noStrike" dirty="0" smtClean="0">
                                      <a:solidFill>
                                        <a:srgbClr val="000000"/>
                                      </a:solidFill>
                                      <a:effectLst/>
                                      <a:latin typeface="Cambria Math" panose="02040503050406030204" pitchFamily="18" charset="0"/>
                                    </a:rPr>
                                  </m:ctrlPr>
                                </m:sSupPr>
                                <m:e>
                                  <m:r>
                                    <a:rPr lang="ru-RU" sz="1800" b="0" i="1" u="none" strike="noStrike" dirty="0" smtClean="0">
                                      <a:solidFill>
                                        <a:srgbClr val="000000"/>
                                      </a:solidFill>
                                      <a:effectLst/>
                                      <a:latin typeface="Cambria Math" panose="02040503050406030204" pitchFamily="18" charset="0"/>
                                    </a:rPr>
                                    <m:t>𝐹</m:t>
                                  </m:r>
                                </m:e>
                                <m:sup>
                                  <m:r>
                                    <a:rPr lang="ru-RU" sz="1800" b="0" i="1" u="none" strike="noStrike" dirty="0" smtClean="0">
                                      <a:solidFill>
                                        <a:srgbClr val="000000"/>
                                      </a:solidFill>
                                      <a:effectLst/>
                                      <a:latin typeface="Cambria Math" panose="02040503050406030204" pitchFamily="18" charset="0"/>
                                    </a:rPr>
                                    <m:t>−1</m:t>
                                  </m:r>
                                </m:sup>
                              </m:sSup>
                              <m:r>
                                <a:rPr lang="ru-RU" sz="1800" b="0" i="1" u="none" strike="noStrike" dirty="0" smtClean="0">
                                  <a:solidFill>
                                    <a:srgbClr val="000000"/>
                                  </a:solidFill>
                                  <a:effectLst/>
                                  <a:latin typeface="Cambria Math" panose="02040503050406030204" pitchFamily="18" charset="0"/>
                                </a:rPr>
                                <m:t>(</m:t>
                              </m:r>
                              <m:r>
                                <a:rPr lang="ru-RU" sz="1800" b="0" i="1" u="none" strike="noStrike" dirty="0" smtClean="0">
                                  <a:solidFill>
                                    <a:srgbClr val="000000"/>
                                  </a:solidFill>
                                  <a:effectLst/>
                                  <a:latin typeface="Cambria Math" panose="02040503050406030204" pitchFamily="18" charset="0"/>
                                </a:rPr>
                                <m:t>𝑦</m:t>
                              </m:r>
                              <m:r>
                                <a:rPr lang="ru-RU" sz="1800" b="0" i="1" u="none" strike="noStrike" dirty="0" smtClean="0">
                                  <a:solidFill>
                                    <a:srgbClr val="000000"/>
                                  </a:solidFill>
                                  <a:effectLst/>
                                  <a:latin typeface="Cambria Math" panose="02040503050406030204" pitchFamily="18" charset="0"/>
                                </a:rPr>
                                <m:t>)</m:t>
                              </m:r>
                            </m:oMath>
                          </a14:m>
                          <a:endParaRPr lang="ru-RU"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a:solidFill>
                                <a:srgbClr val="000000"/>
                              </a:solidFill>
                              <a:effectLst/>
                              <a:latin typeface="Calibri" panose="020F0502020204030204" pitchFamily="34" charset="0"/>
                            </a:rPr>
                            <a:t>качество всего прогнозного распределения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Log Score, CRPS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Сложная</a:t>
                          </a:r>
                          <a:r>
                            <a:rPr lang="ru-RU" sz="1800" b="0" i="0" u="none" strike="noStrike" baseline="0" dirty="0">
                              <a:solidFill>
                                <a:srgbClr val="000000"/>
                              </a:solidFill>
                              <a:effectLst/>
                              <a:latin typeface="Calibri" panose="020F0502020204030204" pitchFamily="34" charset="0"/>
                            </a:rPr>
                            <a:t> реализация</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014016"/>
                      </a:ext>
                    </a:extLst>
                  </a:tr>
                </a:tbl>
              </a:graphicData>
            </a:graphic>
          </p:graphicFrame>
        </mc:Choice>
        <mc:Fallback xmlns="">
          <p:graphicFrame>
            <p:nvGraphicFramePr>
              <p:cNvPr id="6" name="Таблица 5"/>
              <p:cNvGraphicFramePr>
                <a:graphicFrameLocks noGrp="1"/>
              </p:cNvGraphicFramePr>
              <p:nvPr>
                <p:extLst>
                  <p:ext uri="{D42A27DB-BD31-4B8C-83A1-F6EECF244321}">
                    <p14:modId xmlns:p14="http://schemas.microsoft.com/office/powerpoint/2010/main" val="426219649"/>
                  </p:ext>
                </p:extLst>
              </p:nvPr>
            </p:nvGraphicFramePr>
            <p:xfrm>
              <a:off x="310896" y="1652705"/>
              <a:ext cx="11422095" cy="3166944"/>
            </p:xfrm>
            <a:graphic>
              <a:graphicData uri="http://schemas.openxmlformats.org/drawingml/2006/table">
                <a:tbl>
                  <a:tblPr/>
                  <a:tblGrid>
                    <a:gridCol w="1543541">
                      <a:extLst>
                        <a:ext uri="{9D8B030D-6E8A-4147-A177-3AD203B41FA5}">
                          <a16:colId xmlns:a16="http://schemas.microsoft.com/office/drawing/2014/main" val="1648134774"/>
                        </a:ext>
                      </a:extLst>
                    </a:gridCol>
                    <a:gridCol w="2450863">
                      <a:extLst>
                        <a:ext uri="{9D8B030D-6E8A-4147-A177-3AD203B41FA5}">
                          <a16:colId xmlns:a16="http://schemas.microsoft.com/office/drawing/2014/main" val="1803540345"/>
                        </a:ext>
                      </a:extLst>
                    </a:gridCol>
                    <a:gridCol w="2790825">
                      <a:extLst>
                        <a:ext uri="{9D8B030D-6E8A-4147-A177-3AD203B41FA5}">
                          <a16:colId xmlns:a16="http://schemas.microsoft.com/office/drawing/2014/main" val="2317459356"/>
                        </a:ext>
                      </a:extLst>
                    </a:gridCol>
                    <a:gridCol w="1842776">
                      <a:extLst>
                        <a:ext uri="{9D8B030D-6E8A-4147-A177-3AD203B41FA5}">
                          <a16:colId xmlns:a16="http://schemas.microsoft.com/office/drawing/2014/main" val="3472257170"/>
                        </a:ext>
                      </a:extLst>
                    </a:gridCol>
                    <a:gridCol w="2794090">
                      <a:extLst>
                        <a:ext uri="{9D8B030D-6E8A-4147-A177-3AD203B41FA5}">
                          <a16:colId xmlns:a16="http://schemas.microsoft.com/office/drawing/2014/main" val="50803802"/>
                        </a:ext>
                      </a:extLst>
                    </a:gridCol>
                  </a:tblGrid>
                  <a:tr h="363586">
                    <a:tc>
                      <a:txBody>
                        <a:bodyPr/>
                        <a:lstStyle/>
                        <a:p>
                          <a:pPr algn="ctr" fontAlgn="b"/>
                          <a:r>
                            <a:rPr lang="ru-RU" sz="1800" b="0" i="0" u="none" strike="noStrike" dirty="0">
                              <a:solidFill>
                                <a:srgbClr val="000000"/>
                              </a:solidFill>
                              <a:effectLst/>
                              <a:latin typeface="Calibri" panose="020F0502020204030204" pitchFamily="34" charset="0"/>
                            </a:rPr>
                            <a:t>Тип прогноза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Оценка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Цель</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Метрики оценки</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Особенности</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8971985"/>
                      </a:ext>
                    </a:extLst>
                  </a:tr>
                  <a:tr h="1242373">
                    <a:tc>
                      <a:txBody>
                        <a:bodyPr/>
                        <a:lstStyle/>
                        <a:p>
                          <a:pPr algn="ctr" fontAlgn="b"/>
                          <a:r>
                            <a:rPr lang="ru-RU" sz="1800" b="0" i="0" u="none" strike="noStrike" dirty="0">
                              <a:solidFill>
                                <a:srgbClr val="000000"/>
                              </a:solidFill>
                              <a:effectLst/>
                              <a:latin typeface="Calibri" panose="020F0502020204030204" pitchFamily="34" charset="0"/>
                            </a:rPr>
                            <a:t>Интервальный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3433" t="-31863" r="-303731" b="-134314"/>
                          </a:stretch>
                        </a:blipFill>
                      </a:tcPr>
                    </a:tc>
                    <a:tc>
                      <a:txBody>
                        <a:bodyPr/>
                        <a:lstStyle/>
                        <a:p>
                          <a:pPr algn="ctr" fontAlgn="b"/>
                          <a:r>
                            <a:rPr lang="ru-RU" sz="1800" b="0" i="0" u="none" strike="noStrike" dirty="0">
                              <a:solidFill>
                                <a:srgbClr val="000000"/>
                              </a:solidFill>
                              <a:effectLst/>
                              <a:latin typeface="Calibri" panose="020F0502020204030204" pitchFamily="34" charset="0"/>
                            </a:rPr>
                            <a:t>Определить</a:t>
                          </a:r>
                          <a:r>
                            <a:rPr lang="ru-RU" sz="1800" b="0" i="0" u="none" strike="noStrike" baseline="0" dirty="0">
                              <a:solidFill>
                                <a:srgbClr val="000000"/>
                              </a:solidFill>
                              <a:effectLst/>
                              <a:latin typeface="Calibri" panose="020F0502020204030204" pitchFamily="34" charset="0"/>
                            </a:rPr>
                            <a:t> ш</a:t>
                          </a:r>
                          <a:r>
                            <a:rPr lang="ru-RU" sz="1800" b="0" i="0" u="none" strike="noStrike" dirty="0">
                              <a:solidFill>
                                <a:srgbClr val="000000"/>
                              </a:solidFill>
                              <a:effectLst/>
                              <a:latin typeface="Calibri" panose="020F0502020204030204" pitchFamily="34" charset="0"/>
                            </a:rPr>
                            <a:t>ирину и покрытие интервалов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Coverage, Mean Width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Легко интерпретировать, но не покрывает выбросы</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609934"/>
                      </a:ext>
                    </a:extLst>
                  </a:tr>
                  <a:tr h="934452">
                    <a:tc>
                      <a:txBody>
                        <a:bodyPr/>
                        <a:lstStyle/>
                        <a:p>
                          <a:pPr algn="ctr" fontAlgn="b"/>
                          <a:r>
                            <a:rPr lang="ru-RU" sz="1800" b="0" i="0" u="none" strike="noStrike">
                              <a:solidFill>
                                <a:srgbClr val="000000"/>
                              </a:solidFill>
                              <a:effectLst/>
                              <a:latin typeface="Calibri" panose="020F0502020204030204" pitchFamily="34" charset="0"/>
                            </a:rPr>
                            <a:t>Квантильный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3433" t="-175817" r="-303731" b="-79085"/>
                          </a:stretch>
                        </a:blipFill>
                      </a:tcPr>
                    </a:tc>
                    <a:tc>
                      <a:txBody>
                        <a:bodyPr/>
                        <a:lstStyle/>
                        <a:p>
                          <a:pPr algn="ctr" fontAlgn="b"/>
                          <a:r>
                            <a:rPr lang="ru-RU" sz="1800" b="0" i="0" u="none" strike="noStrike" dirty="0">
                              <a:solidFill>
                                <a:srgbClr val="000000"/>
                              </a:solidFill>
                              <a:effectLst/>
                              <a:latin typeface="Calibri" panose="020F0502020204030204" pitchFamily="34" charset="0"/>
                            </a:rPr>
                            <a:t>точность определения квантилей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Pinball Loss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Анализ</a:t>
                          </a:r>
                          <a:r>
                            <a:rPr lang="ru-RU" sz="1800" b="0" i="0" u="none" strike="noStrike" baseline="0" dirty="0">
                              <a:solidFill>
                                <a:srgbClr val="000000"/>
                              </a:solidFill>
                              <a:effectLst/>
                              <a:latin typeface="Calibri" panose="020F0502020204030204" pitchFamily="34" charset="0"/>
                            </a:rPr>
                            <a:t> хвостов, не покрывает интервалы</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865774"/>
                      </a:ext>
                    </a:extLst>
                  </a:tr>
                  <a:tr h="626533">
                    <a:tc>
                      <a:txBody>
                        <a:bodyPr/>
                        <a:lstStyle/>
                        <a:p>
                          <a:pPr algn="ctr" fontAlgn="b"/>
                          <a:r>
                            <a:rPr lang="ru-RU" sz="1800" b="0" i="0" u="none" strike="noStrike">
                              <a:solidFill>
                                <a:srgbClr val="000000"/>
                              </a:solidFill>
                              <a:effectLst/>
                              <a:latin typeface="Calibri" panose="020F0502020204030204" pitchFamily="34" charset="0"/>
                            </a:rPr>
                            <a:t>Вероятностный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3433" t="-409709" r="-303731" b="-17476"/>
                          </a:stretch>
                        </a:blipFill>
                      </a:tcPr>
                    </a:tc>
                    <a:tc>
                      <a:txBody>
                        <a:bodyPr/>
                        <a:lstStyle/>
                        <a:p>
                          <a:pPr algn="ctr" fontAlgn="b"/>
                          <a:r>
                            <a:rPr lang="ru-RU" sz="1800" b="0" i="0" u="none" strike="noStrike">
                              <a:solidFill>
                                <a:srgbClr val="000000"/>
                              </a:solidFill>
                              <a:effectLst/>
                              <a:latin typeface="Calibri" panose="020F0502020204030204" pitchFamily="34" charset="0"/>
                            </a:rPr>
                            <a:t>качество всего прогнозного распределения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Calibri" panose="020F0502020204030204" pitchFamily="34" charset="0"/>
                            </a:rPr>
                            <a:t>Log Score, CRPS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1800" b="0" i="0" u="none" strike="noStrike" dirty="0">
                              <a:solidFill>
                                <a:srgbClr val="000000"/>
                              </a:solidFill>
                              <a:effectLst/>
                              <a:latin typeface="Calibri" panose="020F0502020204030204" pitchFamily="34" charset="0"/>
                            </a:rPr>
                            <a:t>Сложная</a:t>
                          </a:r>
                          <a:r>
                            <a:rPr lang="ru-RU" sz="1800" b="0" i="0" u="none" strike="noStrike" baseline="0" dirty="0">
                              <a:solidFill>
                                <a:srgbClr val="000000"/>
                              </a:solidFill>
                              <a:effectLst/>
                              <a:latin typeface="Calibri" panose="020F0502020204030204" pitchFamily="34" charset="0"/>
                            </a:rPr>
                            <a:t> реализация</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014016"/>
                      </a:ext>
                    </a:extLst>
                  </a:tr>
                </a:tbl>
              </a:graphicData>
            </a:graphic>
          </p:graphicFrame>
        </mc:Fallback>
      </mc:AlternateContent>
      <p:sp>
        <p:nvSpPr>
          <p:cNvPr id="7" name="Прямоугольник 6"/>
          <p:cNvSpPr/>
          <p:nvPr/>
        </p:nvSpPr>
        <p:spPr>
          <a:xfrm>
            <a:off x="310896" y="5156021"/>
            <a:ext cx="10525171" cy="1431161"/>
          </a:xfrm>
          <a:prstGeom prst="rect">
            <a:avLst/>
          </a:prstGeom>
        </p:spPr>
        <p:txBody>
          <a:bodyPr wrap="square">
            <a:spAutoFit/>
          </a:bodyPr>
          <a:lstStyle/>
          <a:p>
            <a:pPr>
              <a:spcBef>
                <a:spcPts val="600"/>
              </a:spcBef>
            </a:pPr>
            <a:r>
              <a:rPr lang="ru-RU" dirty="0">
                <a:solidFill>
                  <a:srgbClr val="2C2C36"/>
                </a:solidFill>
              </a:rPr>
              <a:t>Распределения могут быть представлены как:</a:t>
            </a:r>
          </a:p>
          <a:p>
            <a:pPr>
              <a:spcBef>
                <a:spcPts val="600"/>
              </a:spcBef>
              <a:buFont typeface="Arial" panose="020B0604020202020204" pitchFamily="34" charset="0"/>
              <a:buChar char="•"/>
            </a:pPr>
            <a:r>
              <a:rPr lang="ru-RU" dirty="0">
                <a:solidFill>
                  <a:srgbClr val="2C2C36"/>
                </a:solidFill>
              </a:rPr>
              <a:t>Параметрические распределения (например, нормальное с </a:t>
            </a:r>
            <a:r>
              <a:rPr lang="ru-RU" i="1" dirty="0">
                <a:solidFill>
                  <a:srgbClr val="2C2C36"/>
                </a:solidFill>
              </a:rPr>
              <a:t>μ</a:t>
            </a:r>
            <a:r>
              <a:rPr lang="ru-RU" dirty="0">
                <a:solidFill>
                  <a:srgbClr val="2C2C36"/>
                </a:solidFill>
              </a:rPr>
              <a:t> и </a:t>
            </a:r>
            <a:r>
              <a:rPr lang="ru-RU" i="1" dirty="0">
                <a:solidFill>
                  <a:srgbClr val="2C2C36"/>
                </a:solidFill>
              </a:rPr>
              <a:t>σ</a:t>
            </a:r>
            <a:r>
              <a:rPr lang="ru-RU" dirty="0">
                <a:solidFill>
                  <a:srgbClr val="2C2C36"/>
                </a:solidFill>
              </a:rPr>
              <a:t> ),</a:t>
            </a:r>
          </a:p>
          <a:p>
            <a:pPr>
              <a:spcBef>
                <a:spcPts val="600"/>
              </a:spcBef>
              <a:buFont typeface="Arial" panose="020B0604020202020204" pitchFamily="34" charset="0"/>
              <a:buChar char="•"/>
            </a:pPr>
            <a:r>
              <a:rPr lang="ru-RU" dirty="0">
                <a:solidFill>
                  <a:srgbClr val="2C2C36"/>
                </a:solidFill>
              </a:rPr>
              <a:t>Непараметрические (например, выборки из </a:t>
            </a:r>
            <a:r>
              <a:rPr lang="ru-RU" dirty="0" err="1">
                <a:solidFill>
                  <a:srgbClr val="2C2C36"/>
                </a:solidFill>
              </a:rPr>
              <a:t>бутстрепа</a:t>
            </a:r>
            <a:r>
              <a:rPr lang="ru-RU" dirty="0">
                <a:solidFill>
                  <a:srgbClr val="2C2C36"/>
                </a:solidFill>
              </a:rPr>
              <a:t> или MCMC),</a:t>
            </a:r>
          </a:p>
          <a:p>
            <a:pPr>
              <a:spcBef>
                <a:spcPts val="600"/>
              </a:spcBef>
              <a:buFont typeface="Arial" panose="020B0604020202020204" pitchFamily="34" charset="0"/>
              <a:buChar char="•"/>
            </a:pPr>
            <a:r>
              <a:rPr lang="ru-RU" dirty="0">
                <a:solidFill>
                  <a:srgbClr val="2C2C36"/>
                </a:solidFill>
              </a:rPr>
              <a:t>Дискретные распределения (для категориальных данных).</a:t>
            </a:r>
            <a:endParaRPr lang="ru-RU" b="0" i="0" dirty="0">
              <a:solidFill>
                <a:srgbClr val="2C2C36"/>
              </a:solidFill>
              <a:effectLst/>
            </a:endParaRPr>
          </a:p>
        </p:txBody>
      </p:sp>
    </p:spTree>
    <p:extLst>
      <p:ext uri="{BB962C8B-B14F-4D97-AF65-F5344CB8AC3E}">
        <p14:creationId xmlns:p14="http://schemas.microsoft.com/office/powerpoint/2010/main" val="3612851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55575" y="737214"/>
                <a:ext cx="11706225" cy="4603119"/>
              </a:xfrm>
            </p:spPr>
            <p:txBody>
              <a:bodyPr>
                <a:normAutofit fontScale="92500"/>
              </a:bodyPr>
              <a:lstStyle/>
              <a:p>
                <a:pPr marL="0" indent="0">
                  <a:buNone/>
                </a:pPr>
                <a:r>
                  <a:rPr lang="ru-RU" sz="2100" b="1" dirty="0"/>
                  <a:t>Неопределённость может быть оценена, </a:t>
                </a:r>
              </a:p>
              <a:p>
                <a:pPr marL="0" indent="0">
                  <a:buNone/>
                </a:pPr>
                <a:r>
                  <a:rPr lang="ru-RU" sz="2100" b="1" dirty="0" err="1"/>
                  <a:t>Нативно</a:t>
                </a:r>
                <a:r>
                  <a:rPr lang="ru-RU" sz="2100" b="1" dirty="0"/>
                  <a:t> (параметрические)</a:t>
                </a:r>
                <a:r>
                  <a:rPr lang="ru-RU" sz="2100" dirty="0"/>
                  <a:t>: Например </a:t>
                </a:r>
                <a:r>
                  <a:rPr lang="en-US" sz="2100" dirty="0"/>
                  <a:t>Naïve, ETS, Prophet </a:t>
                </a:r>
                <a:r>
                  <a:rPr lang="ru-RU" sz="2100" dirty="0"/>
                  <a:t>или </a:t>
                </a:r>
                <a:r>
                  <a:rPr lang="en-US" sz="2100" dirty="0"/>
                  <a:t>ARIMA</a:t>
                </a:r>
                <a:r>
                  <a:rPr lang="ru-RU" sz="2100" dirty="0"/>
                  <a:t> дают оценки СКО при предсказании</a:t>
                </a:r>
                <a:r>
                  <a:rPr lang="en-US" sz="2100" dirty="0"/>
                  <a:t>.</a:t>
                </a:r>
              </a:p>
              <a:p>
                <a:pPr lvl="1"/>
                <a:r>
                  <a:rPr lang="ru-RU" sz="2500" dirty="0"/>
                  <a:t>такие оценки предполагают, что остатки имеют заданное распределение, напр. нормальное (оно заложено в модели).</a:t>
                </a:r>
              </a:p>
              <a:p>
                <a:pPr marL="1371600" lvl="3" indent="0">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𝑃𝐼</m:t>
                      </m:r>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acc>
                            <m:accPr>
                              <m:chr m:val="̂"/>
                              <m:ctrlPr>
                                <a:rPr lang="en-US" sz="1900" b="0" i="1" smtClean="0">
                                  <a:latin typeface="Cambria Math" panose="02040503050406030204" pitchFamily="18" charset="0"/>
                                </a:rPr>
                              </m:ctrlPr>
                            </m:accPr>
                            <m:e>
                              <m:r>
                                <a:rPr lang="en-US" sz="1900" b="0" i="1" smtClean="0">
                                  <a:latin typeface="Cambria Math" panose="02040503050406030204" pitchFamily="18" charset="0"/>
                                </a:rPr>
                                <m:t>𝑦</m:t>
                              </m:r>
                            </m:e>
                          </m:acc>
                        </m:e>
                        <m:sub>
                          <m:r>
                            <a:rPr lang="en-US" sz="1900" b="0" i="1" smtClean="0">
                              <a:latin typeface="Cambria Math" panose="02040503050406030204" pitchFamily="18" charset="0"/>
                            </a:rPr>
                            <m:t>𝑇</m:t>
                          </m:r>
                        </m:sub>
                      </m:sSub>
                      <m:r>
                        <a:rPr lang="en-US" sz="1900" b="0" i="1" smtClean="0">
                          <a:latin typeface="Cambria Math" panose="02040503050406030204" pitchFamily="18" charset="0"/>
                        </a:rPr>
                        <m:t>±</m:t>
                      </m:r>
                      <m:r>
                        <a:rPr lang="en-US" sz="1900" b="0" i="1" smtClean="0">
                          <a:latin typeface="Cambria Math" panose="02040503050406030204" pitchFamily="18" charset="0"/>
                        </a:rPr>
                        <m:t>𝑧</m:t>
                      </m:r>
                      <m:r>
                        <a:rPr lang="en-US" sz="1900" b="0" i="1" smtClean="0">
                          <a:latin typeface="Cambria Math" panose="02040503050406030204" pitchFamily="18" charset="0"/>
                        </a:rPr>
                        <m:t>⋅</m:t>
                      </m:r>
                      <m:rad>
                        <m:radPr>
                          <m:degHide m:val="on"/>
                          <m:ctrlPr>
                            <a:rPr lang="en-US" sz="1900" b="0" i="1" smtClean="0">
                              <a:latin typeface="Cambria Math" panose="02040503050406030204" pitchFamily="18" charset="0"/>
                            </a:rPr>
                          </m:ctrlPr>
                        </m:radPr>
                        <m:deg/>
                        <m:e>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𝑦</m:t>
                              </m:r>
                            </m:sub>
                            <m:sup>
                              <m:r>
                                <a:rPr lang="en-US" sz="1900" b="0" i="1" smtClean="0">
                                  <a:latin typeface="Cambria Math" panose="02040503050406030204" pitchFamily="18" charset="0"/>
                                </a:rPr>
                                <m:t>2</m:t>
                              </m:r>
                            </m:sup>
                          </m:sSubSup>
                          <m:r>
                            <a:rPr lang="en-US" sz="1900" b="0" i="1" smtClean="0">
                              <a:latin typeface="Cambria Math" panose="02040503050406030204" pitchFamily="18" charset="0"/>
                            </a:rPr>
                            <m:t>+</m:t>
                          </m:r>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𝑒</m:t>
                              </m:r>
                            </m:sub>
                            <m:sup>
                              <m:r>
                                <a:rPr lang="en-US" sz="1900" b="0" i="1" smtClean="0">
                                  <a:latin typeface="Cambria Math" panose="02040503050406030204" pitchFamily="18" charset="0"/>
                                </a:rPr>
                                <m:t>2</m:t>
                              </m:r>
                            </m:sup>
                          </m:sSubSup>
                        </m:e>
                      </m:rad>
                    </m:oMath>
                  </m:oMathPara>
                </a14:m>
                <a:endParaRPr lang="en-US" sz="1900" dirty="0"/>
              </a:p>
              <a:p>
                <a:pPr marL="457200" lvl="1" indent="0" algn="just">
                  <a:buNone/>
                </a:pPr>
                <a:r>
                  <a:rPr lang="ru-RU" sz="2100" dirty="0"/>
                  <a:t>где </a:t>
                </a:r>
                <a14:m>
                  <m:oMath xmlns:m="http://schemas.openxmlformats.org/officeDocument/2006/math">
                    <m:r>
                      <a:rPr lang="en-US" sz="2000" i="1">
                        <a:latin typeface="Cambria Math" panose="02040503050406030204" pitchFamily="18" charset="0"/>
                      </a:rPr>
                      <m:t>𝑃𝐼</m:t>
                    </m:r>
                    <m:r>
                      <a:rPr lang="en-US" sz="2000" i="1">
                        <a:latin typeface="Cambria Math" panose="02040503050406030204" pitchFamily="18" charset="0"/>
                      </a:rPr>
                      <m:t>  </m:t>
                    </m:r>
                  </m:oMath>
                </a14:m>
                <a:r>
                  <a:rPr lang="ru-RU" sz="2000" b="0" i="0" dirty="0">
                    <a:latin typeface="+mj-lt"/>
                  </a:rPr>
                  <a:t>-интервальное предсказание</a:t>
                </a:r>
                <a14:m>
                  <m:oMath xmlns:m="http://schemas.openxmlformats.org/officeDocument/2006/math">
                    <m:r>
                      <a:rPr lang="ru-RU" sz="2000" b="0" i="1" smtClean="0">
                        <a:latin typeface="Cambria Math" panose="02040503050406030204" pitchFamily="18" charset="0"/>
                      </a:rPr>
                      <m:t>, </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𝑇</m:t>
                        </m:r>
                      </m:sub>
                    </m:sSub>
                  </m:oMath>
                </a14:m>
                <a:r>
                  <a:rPr lang="ru-RU" sz="2000" dirty="0"/>
                  <a:t>- точечный прогноз, </a:t>
                </a:r>
                <a14:m>
                  <m:oMath xmlns:m="http://schemas.openxmlformats.org/officeDocument/2006/math">
                    <m:r>
                      <a:rPr lang="en-US" sz="2000" i="1">
                        <a:latin typeface="Cambria Math" panose="02040503050406030204" pitchFamily="18" charset="0"/>
                      </a:rPr>
                      <m:t>𝑧</m:t>
                    </m:r>
                  </m:oMath>
                </a14:m>
                <a:r>
                  <a:rPr lang="ru-RU" sz="2000" dirty="0"/>
                  <a:t> – квантиль нормального распределения,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𝑦</m:t>
                        </m:r>
                      </m:sub>
                      <m:sup>
                        <m:r>
                          <a:rPr lang="en-US" sz="2000" i="1">
                            <a:latin typeface="Cambria Math" panose="02040503050406030204" pitchFamily="18" charset="0"/>
                          </a:rPr>
                          <m:t>2</m:t>
                        </m:r>
                      </m:sup>
                    </m:sSubSup>
                  </m:oMath>
                </a14:m>
                <a:r>
                  <a:rPr lang="ru-RU" sz="2000" dirty="0"/>
                  <a:t> - предсказанная дисперсия прогноза,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m:t>
                        </m:r>
                      </m:sub>
                      <m:sup>
                        <m:r>
                          <a:rPr lang="en-US" sz="2000" i="1">
                            <a:latin typeface="Cambria Math" panose="02040503050406030204" pitchFamily="18" charset="0"/>
                          </a:rPr>
                          <m:t>2</m:t>
                        </m:r>
                      </m:sup>
                    </m:sSubSup>
                  </m:oMath>
                </a14:m>
                <a:r>
                  <a:rPr lang="ru-RU" sz="2000" dirty="0"/>
                  <a:t> - дисперсия остатков.</a:t>
                </a:r>
                <a:endParaRPr lang="en-US" sz="2000" dirty="0"/>
              </a:p>
              <a:p>
                <a:pPr marL="0" indent="0">
                  <a:buNone/>
                </a:pPr>
                <a:r>
                  <a:rPr lang="ru-RU" sz="2500" b="1" dirty="0"/>
                  <a:t>Из данных (не параметрические):</a:t>
                </a:r>
              </a:p>
              <a:p>
                <a:pPr lvl="1"/>
                <a:r>
                  <a:rPr lang="ru-RU" sz="2100" dirty="0"/>
                  <a:t>Путем ассиметричной регрессии (</a:t>
                </a:r>
                <a:r>
                  <a:rPr lang="ru-RU" sz="2100" b="1" dirty="0" err="1"/>
                  <a:t>квантильные</a:t>
                </a:r>
                <a:r>
                  <a:rPr lang="ru-RU" sz="2100" b="1" dirty="0"/>
                  <a:t> оценки</a:t>
                </a:r>
                <a:r>
                  <a:rPr lang="ru-RU" sz="2100" dirty="0"/>
                  <a:t>), байесовские оценки </a:t>
                </a:r>
              </a:p>
              <a:p>
                <a:pPr lvl="1"/>
                <a:r>
                  <a:rPr lang="ru-RU" sz="2100" dirty="0"/>
                  <a:t>При помощи эвристических – устойчивых техник:</a:t>
                </a:r>
              </a:p>
              <a:p>
                <a:pPr lvl="2"/>
                <a:r>
                  <a:rPr lang="ru-RU" sz="2100" b="1" dirty="0"/>
                  <a:t>Бут-</a:t>
                </a:r>
                <a:r>
                  <a:rPr lang="ru-RU" sz="2100" b="1" dirty="0" err="1"/>
                  <a:t>стреп</a:t>
                </a:r>
                <a:r>
                  <a:rPr lang="ru-RU" sz="2100" b="1" dirty="0"/>
                  <a:t> и </a:t>
                </a:r>
                <a:r>
                  <a:rPr lang="ru-RU" sz="2100" b="1" dirty="0" err="1"/>
                  <a:t>Комформные</a:t>
                </a:r>
                <a:r>
                  <a:rPr lang="ru-RU" sz="2100" b="1" dirty="0"/>
                  <a:t> предсказания</a:t>
                </a:r>
              </a:p>
              <a:p>
                <a:pPr lvl="2"/>
                <a:r>
                  <a:rPr lang="ru-RU" sz="2200" dirty="0"/>
                  <a:t>Когда данные не соответствуют предположениям о нормальности и независимости остатков</a:t>
                </a:r>
                <a:endParaRPr lang="ru-RU" sz="1900" b="1"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55575" y="737214"/>
                <a:ext cx="11706225" cy="4603119"/>
              </a:xfrm>
              <a:blipFill>
                <a:blip r:embed="rId2"/>
                <a:stretch>
                  <a:fillRect l="-781" t="-1325" r="-469"/>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ru-RU" sz="1200" dirty="0"/>
              <a:t>https://timeweb.cloud/tutorials/python/prognozirovanie-vremennyh-ryadov-python-3</a:t>
            </a:r>
          </a:p>
        </p:txBody>
      </p:sp>
      <p:sp>
        <p:nvSpPr>
          <p:cNvPr id="5" name="Прямоугольник 4"/>
          <p:cNvSpPr/>
          <p:nvPr/>
        </p:nvSpPr>
        <p:spPr>
          <a:xfrm>
            <a:off x="7835300" y="6396943"/>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5651500" y="6551942"/>
            <a:ext cx="6096000" cy="276999"/>
          </a:xfrm>
          <a:prstGeom prst="rect">
            <a:avLst/>
          </a:prstGeom>
        </p:spPr>
        <p:txBody>
          <a:bodyPr>
            <a:spAutoFit/>
          </a:bodyPr>
          <a:lstStyle/>
          <a:p>
            <a:r>
              <a:rPr lang="ru-RU" sz="1200" dirty="0"/>
              <a:t>https://skforecast.org/0.16.0/user_guides/probabilistic-forecasting-overview</a:t>
            </a:r>
          </a:p>
        </p:txBody>
      </p:sp>
      <p:sp>
        <p:nvSpPr>
          <p:cNvPr id="11" name="Прямоугольник 10"/>
          <p:cNvSpPr/>
          <p:nvPr/>
        </p:nvSpPr>
        <p:spPr>
          <a:xfrm>
            <a:off x="307975" y="5137368"/>
            <a:ext cx="11815828" cy="1323439"/>
          </a:xfrm>
          <a:prstGeom prst="rect">
            <a:avLst/>
          </a:prstGeom>
        </p:spPr>
        <p:txBody>
          <a:bodyPr wrap="square">
            <a:spAutoFit/>
          </a:bodyPr>
          <a:lstStyle/>
          <a:p>
            <a:r>
              <a:rPr lang="ru-RU" sz="2000" i="1" dirty="0"/>
              <a:t>Часто все оценки интервалов на </a:t>
            </a:r>
            <a:r>
              <a:rPr lang="ru-RU" sz="2000" i="1" dirty="0" err="1"/>
              <a:t>валидации</a:t>
            </a:r>
            <a:r>
              <a:rPr lang="ru-RU" sz="2000" i="1" dirty="0"/>
              <a:t> занижены. </a:t>
            </a:r>
          </a:p>
          <a:p>
            <a:r>
              <a:rPr lang="ru-RU" sz="2000" i="1" dirty="0"/>
              <a:t>Например, номинальные интервалы в 95% могут обеспечить охват только от 71% до 87%. </a:t>
            </a:r>
          </a:p>
          <a:p>
            <a:r>
              <a:rPr lang="ru-RU" sz="2000" i="1" dirty="0"/>
              <a:t>В </a:t>
            </a:r>
            <a:r>
              <a:rPr lang="ru-RU" sz="2000" i="1" dirty="0" err="1"/>
              <a:t>валидационной</a:t>
            </a:r>
            <a:r>
              <a:rPr lang="ru-RU" sz="2000" i="1" dirty="0"/>
              <a:t> выборке не учитывают все источники неопределенности. </a:t>
            </a:r>
          </a:p>
          <a:p>
            <a:r>
              <a:rPr lang="ru-RU" sz="2000" i="1" dirty="0"/>
              <a:t>Правильно оценивать интервалы в мониторинге или на тесте </a:t>
            </a:r>
            <a:r>
              <a:rPr lang="en-US" sz="1200" i="1" dirty="0"/>
              <a:t>https://robjhyndman.com/hyndsight/narrow-pi/</a:t>
            </a:r>
            <a:endParaRPr lang="ru-RU" sz="1200" i="1" dirty="0"/>
          </a:p>
        </p:txBody>
      </p:sp>
    </p:spTree>
    <p:extLst>
      <p:ext uri="{BB962C8B-B14F-4D97-AF65-F5344CB8AC3E}">
        <p14:creationId xmlns:p14="http://schemas.microsoft.com/office/powerpoint/2010/main" val="3176224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p:cNvSpPr/>
          <p:nvPr/>
        </p:nvSpPr>
        <p:spPr>
          <a:xfrm>
            <a:off x="181293" y="6581001"/>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3411220" y="6564504"/>
            <a:ext cx="6096000" cy="276999"/>
          </a:xfrm>
          <a:prstGeom prst="rect">
            <a:avLst/>
          </a:prstGeom>
        </p:spPr>
        <p:txBody>
          <a:bodyPr>
            <a:spAutoFit/>
          </a:bodyPr>
          <a:lstStyle/>
          <a:p>
            <a:r>
              <a:rPr lang="ru-RU" sz="1200" dirty="0"/>
              <a:t>https://skforecast.org/0.16.0/user_guides/probabilistic-forecasting-overview</a:t>
            </a:r>
          </a:p>
        </p:txBody>
      </p:sp>
      <p:sp>
        <p:nvSpPr>
          <p:cNvPr id="6" name="Объект 5"/>
          <p:cNvSpPr>
            <a:spLocks noGrp="1"/>
          </p:cNvSpPr>
          <p:nvPr>
            <p:ph idx="1"/>
          </p:nvPr>
        </p:nvSpPr>
        <p:spPr>
          <a:xfrm>
            <a:off x="187166" y="699867"/>
            <a:ext cx="5197475" cy="4351338"/>
          </a:xfrm>
        </p:spPr>
        <p:txBody>
          <a:bodyPr>
            <a:normAutofit/>
          </a:bodyPr>
          <a:lstStyle/>
          <a:p>
            <a:pPr marL="0" indent="0">
              <a:buNone/>
            </a:pPr>
            <a:r>
              <a:rPr lang="ru-RU" sz="2200" b="1" dirty="0" err="1"/>
              <a:t>Бутстреп</a:t>
            </a:r>
            <a:r>
              <a:rPr lang="ru-RU" sz="2200" dirty="0"/>
              <a:t> —неопределенность прогноза оценивается путем многократной генерации прогнозов с использованием случайных выборок остатков </a:t>
            </a:r>
          </a:p>
          <a:p>
            <a:endParaRPr lang="ru-RU" sz="2000" dirty="0"/>
          </a:p>
        </p:txBody>
      </p:sp>
      <p:pic>
        <p:nvPicPr>
          <p:cNvPr id="7" name="Рисунок 6"/>
          <p:cNvPicPr>
            <a:picLocks noChangeAspect="1"/>
          </p:cNvPicPr>
          <p:nvPr/>
        </p:nvPicPr>
        <p:blipFill>
          <a:blip r:embed="rId2"/>
          <a:stretch>
            <a:fillRect/>
          </a:stretch>
        </p:blipFill>
        <p:spPr>
          <a:xfrm>
            <a:off x="6297295" y="1929213"/>
            <a:ext cx="4008971" cy="2965901"/>
          </a:xfrm>
          <a:prstGeom prst="rect">
            <a:avLst/>
          </a:prstGeom>
        </p:spPr>
      </p:pic>
      <p:pic>
        <p:nvPicPr>
          <p:cNvPr id="12" name="Picture 2" descr="No description has been provided for this image"/>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36009" y="1997699"/>
            <a:ext cx="4640791" cy="2627085"/>
          </a:xfrm>
          <a:prstGeom prst="rect">
            <a:avLst/>
          </a:prstGeom>
          <a:noFill/>
          <a:extLst>
            <a:ext uri="{909E8E84-426E-40DD-AFC4-6F175D3DCCD1}">
              <a14:hiddenFill xmlns:a14="http://schemas.microsoft.com/office/drawing/2010/main">
                <a:solidFill>
                  <a:srgbClr val="FFFFFF"/>
                </a:solidFill>
              </a14:hiddenFill>
            </a:ext>
          </a:extLst>
        </p:spPr>
      </p:pic>
      <p:sp>
        <p:nvSpPr>
          <p:cNvPr id="13" name="Объект 5"/>
          <p:cNvSpPr txBox="1">
            <a:spLocks/>
          </p:cNvSpPr>
          <p:nvPr/>
        </p:nvSpPr>
        <p:spPr>
          <a:xfrm>
            <a:off x="5295900" y="744002"/>
            <a:ext cx="656367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400" b="1" dirty="0" err="1"/>
              <a:t>Комформное</a:t>
            </a:r>
            <a:r>
              <a:rPr lang="ru-RU" sz="2400" dirty="0"/>
              <a:t> </a:t>
            </a:r>
            <a:r>
              <a:rPr lang="ru-RU" sz="2400" b="1" dirty="0"/>
              <a:t>предсказание</a:t>
            </a:r>
            <a:r>
              <a:rPr lang="ru-RU" sz="2400" dirty="0"/>
              <a:t> </a:t>
            </a:r>
            <a:r>
              <a:rPr lang="ru-RU" sz="2400" b="1" dirty="0"/>
              <a:t>ВР </a:t>
            </a:r>
            <a:r>
              <a:rPr lang="ru-RU" sz="2400" dirty="0"/>
              <a:t>– </a:t>
            </a:r>
            <a:br>
              <a:rPr lang="ru-RU" sz="2400" dirty="0"/>
            </a:br>
            <a:r>
              <a:rPr lang="ru-RU" sz="2400" dirty="0"/>
              <a:t>Оценка неопределенности единожды на калибровочной (</a:t>
            </a:r>
            <a:r>
              <a:rPr lang="ru-RU" sz="2400" dirty="0" err="1"/>
              <a:t>валидационной</a:t>
            </a:r>
            <a:r>
              <a:rPr lang="ru-RU" sz="2400" dirty="0"/>
              <a:t>) </a:t>
            </a:r>
            <a:r>
              <a:rPr lang="ru-RU" sz="2400" dirty="0" err="1"/>
              <a:t>подбвыборке</a:t>
            </a:r>
            <a:endParaRPr lang="ru-RU" sz="2400" dirty="0"/>
          </a:p>
          <a:p>
            <a:pPr algn="just"/>
            <a:endParaRPr lang="ru-RU" sz="2000" dirty="0"/>
          </a:p>
        </p:txBody>
      </p:sp>
      <p:pic>
        <p:nvPicPr>
          <p:cNvPr id="14" name="Рисунок 13"/>
          <p:cNvPicPr>
            <a:picLocks noChangeAspect="1"/>
          </p:cNvPicPr>
          <p:nvPr/>
        </p:nvPicPr>
        <p:blipFill rotWithShape="1">
          <a:blip r:embed="rId4"/>
          <a:srcRect l="201" t="-1024" r="5352" b="9453"/>
          <a:stretch/>
        </p:blipFill>
        <p:spPr>
          <a:xfrm>
            <a:off x="103107" y="4624783"/>
            <a:ext cx="4878468" cy="1856791"/>
          </a:xfrm>
          <a:prstGeom prst="rect">
            <a:avLst/>
          </a:prstGeom>
        </p:spPr>
      </p:pic>
      <p:pic>
        <p:nvPicPr>
          <p:cNvPr id="2050" name="Picture 2" descr="screenshot-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4455" y="5051205"/>
            <a:ext cx="6779895" cy="136319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Прямая соединительная линия 7"/>
          <p:cNvCxnSpPr/>
          <p:nvPr/>
        </p:nvCxnSpPr>
        <p:spPr>
          <a:xfrm>
            <a:off x="5164455" y="795072"/>
            <a:ext cx="0" cy="55549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5557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a:t>Метрики оценки неопределенности</a:t>
            </a:r>
          </a:p>
        </p:txBody>
      </p:sp>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mc:AlternateContent xmlns:mc="http://schemas.openxmlformats.org/markup-compatibility/2006" xmlns:a14="http://schemas.microsoft.com/office/drawing/2010/main">
        <mc:Choice Requires="a14">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455547">
                    <a:tc>
                      <a:txBody>
                        <a:bodyPr/>
                        <a:lstStyle/>
                        <a:p>
                          <a:pPr algn="ctr" fontAlgn="b"/>
                          <a:r>
                            <a:rPr lang="ru-RU" sz="2000" dirty="0"/>
                            <a:t>Универсальные</a:t>
                          </a:r>
                          <a:r>
                            <a:rPr lang="en-US" sz="2000" dirty="0"/>
                            <a:t> </a:t>
                          </a:r>
                          <a:r>
                            <a:rPr lang="ru-RU" sz="2000" dirty="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a:t>Универсальные</a:t>
                          </a:r>
                          <a:r>
                            <a:rPr lang="en-US" sz="2000" dirty="0"/>
                            <a:t> </a:t>
                          </a:r>
                          <a:r>
                            <a:rPr lang="ru-RU" sz="2000" dirty="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интерпретация</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072988">
                    <a:tc>
                      <a:txBody>
                        <a:bodyPr/>
                        <a:lstStyle/>
                        <a:p>
                          <a:pPr algn="ctr" fontAlgn="b"/>
                          <a:r>
                            <a:rPr lang="ru-RU" sz="2000" b="0" i="0" u="none" strike="noStrike" dirty="0">
                              <a:solidFill>
                                <a:srgbClr val="000000"/>
                              </a:solidFill>
                              <a:effectLst/>
                              <a:latin typeface="Calibri" panose="020F0502020204030204" pitchFamily="34" charset="0"/>
                            </a:rPr>
                            <a:t>Покрытие интервала </a:t>
                          </a:r>
                          <a:r>
                            <a:rPr lang="en-US" sz="2000" b="0" i="0" u="none" strike="noStrike" dirty="0">
                              <a:solidFill>
                                <a:srgbClr val="000000"/>
                              </a:solidFill>
                              <a:effectLst/>
                              <a:latin typeface="Calibri" panose="020F0502020204030204" pitchFamily="34" charset="0"/>
                            </a:rPr>
                            <a:t>(coverage,</a:t>
                          </a:r>
                          <a:r>
                            <a:rPr lang="en-US" sz="2000" b="0" i="0" u="none" strike="noStrike" baseline="0" dirty="0">
                              <a:solidFill>
                                <a:srgbClr val="000000"/>
                              </a:solidFill>
                              <a:effectLst/>
                              <a:latin typeface="Calibri" panose="020F0502020204030204" pitchFamily="34" charset="0"/>
                            </a:rPr>
                            <a:t> </a:t>
                          </a:r>
                          <a:br>
                            <a:rPr lang="en-US" sz="2000" b="0" i="0" u="none" strike="noStrike" baseline="0" dirty="0">
                              <a:solidFill>
                                <a:srgbClr val="000000"/>
                              </a:solidFill>
                              <a:effectLst/>
                              <a:latin typeface="Calibri" panose="020F0502020204030204" pitchFamily="34" charset="0"/>
                            </a:rPr>
                          </a:br>
                          <a:r>
                            <a:rPr lang="en-US" sz="1800" b="0" i="0" kern="1200" dirty="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𝑃𝐼𝐶𝑃</m:t>
                                </m:r>
                                <m:r>
                                  <a:rPr lang="ru-RU" sz="2000" i="1" dirty="0">
                                    <a:latin typeface="Cambria Math" panose="02040503050406030204" pitchFamily="18" charset="0"/>
                                  </a:rPr>
                                  <m:t>=</m:t>
                                </m:r>
                                <m:f>
                                  <m:fPr>
                                    <m:ctrlPr>
                                      <a:rPr lang="en-US" sz="2000" i="1" dirty="0">
                                        <a:solidFill>
                                          <a:srgbClr val="000000"/>
                                        </a:solidFill>
                                        <a:latin typeface="Cambria Math" panose="02040503050406030204" pitchFamily="18" charset="0"/>
                                      </a:rPr>
                                    </m:ctrlPr>
                                  </m:fPr>
                                  <m:num>
                                    <m:r>
                                      <a:rPr lang="en-US" sz="2000" dirty="0">
                                        <a:solidFill>
                                          <a:srgbClr val="000000"/>
                                        </a:solidFill>
                                        <a:latin typeface="Cambria Math" panose="02040503050406030204" pitchFamily="18" charset="0"/>
                                      </a:rPr>
                                      <m:t>1</m:t>
                                    </m:r>
                                  </m:num>
                                  <m:den>
                                    <m:r>
                                      <m:rPr>
                                        <m:sty m:val="p"/>
                                      </m:rPr>
                                      <a:rPr lang="en-US" sz="2000" dirty="0">
                                        <a:solidFill>
                                          <a:srgbClr val="000000"/>
                                        </a:solidFill>
                                        <a:latin typeface="Cambria Math" panose="02040503050406030204" pitchFamily="18" charset="0"/>
                                      </a:rPr>
                                      <m:t>h</m:t>
                                    </m:r>
                                  </m:den>
                                </m:f>
                                <m:r>
                                  <a:rPr lang="en-US" sz="2000" i="1" dirty="0">
                                    <a:solidFill>
                                      <a:srgbClr val="000000"/>
                                    </a:solidFill>
                                    <a:latin typeface="Cambria Math" panose="02040503050406030204" pitchFamily="18" charset="0"/>
                                  </a:rPr>
                                  <m:t>∑</m:t>
                                </m:r>
                                <m:r>
                                  <m:rPr>
                                    <m:sty m:val="p"/>
                                  </m:rPr>
                                  <a:rPr lang="en-US" sz="2000" i="0" dirty="0">
                                    <a:solidFill>
                                      <a:srgbClr val="000000"/>
                                    </a:solidFill>
                                    <a:latin typeface="Cambria Math" panose="02040503050406030204" pitchFamily="18" charset="0"/>
                                  </a:rPr>
                                  <m:t>I</m:t>
                                </m:r>
                                <m:d>
                                  <m:dPr>
                                    <m:ctrlPr>
                                      <a:rPr lang="en-US" sz="2000" i="1" dirty="0">
                                        <a:solidFill>
                                          <a:srgbClr val="000000"/>
                                        </a:solidFill>
                                        <a:latin typeface="Cambria Math" panose="02040503050406030204" pitchFamily="18" charset="0"/>
                                      </a:rPr>
                                    </m:ctrlPr>
                                  </m:dPr>
                                  <m:e>
                                    <m:sSub>
                                      <m:sSubPr>
                                        <m:ctrlPr>
                                          <a:rPr lang="en-US" sz="2000" b="0" i="1" dirty="0" smtClean="0">
                                            <a:solidFill>
                                              <a:srgbClr val="000000"/>
                                            </a:solidFill>
                                            <a:latin typeface="Cambria Math" panose="02040503050406030204" pitchFamily="18" charset="0"/>
                                          </a:rPr>
                                        </m:ctrlPr>
                                      </m:sSubPr>
                                      <m:e>
                                        <m:r>
                                          <a:rPr lang="en-US" sz="2000" i="1" dirty="0">
                                            <a:solidFill>
                                              <a:srgbClr val="000000"/>
                                            </a:solidFill>
                                            <a:latin typeface="Cambria Math" panose="02040503050406030204" pitchFamily="18" charset="0"/>
                                          </a:rPr>
                                          <m:t>𝑦</m:t>
                                        </m:r>
                                      </m:e>
                                      <m:sub>
                                        <m:r>
                                          <a:rPr lang="en-US" sz="2000" b="0" i="1" dirty="0" smtClean="0">
                                            <a:solidFill>
                                              <a:srgbClr val="000000"/>
                                            </a:solidFill>
                                            <a:latin typeface="Cambria Math" panose="02040503050406030204" pitchFamily="18" charset="0"/>
                                          </a:rPr>
                                          <m:t>𝑖</m:t>
                                        </m:r>
                                      </m:sub>
                                    </m:sSub>
                                    <m:r>
                                      <a:rPr lang="en-US" sz="2000" i="1" dirty="0">
                                        <a:solidFill>
                                          <a:srgbClr val="000000"/>
                                        </a:solidFill>
                                        <a:latin typeface="Cambria Math" panose="02040503050406030204" pitchFamily="18" charset="0"/>
                                      </a:rPr>
                                      <m:t>∈</m:t>
                                    </m:r>
                                    <m:d>
                                      <m:dPr>
                                        <m:begChr m:val="["/>
                                        <m:endChr m:val="]"/>
                                        <m:ctrlPr>
                                          <a:rPr lang="en-US" sz="2000" i="1" dirty="0">
                                            <a:solidFill>
                                              <a:srgbClr val="000000"/>
                                            </a:solidFill>
                                            <a:latin typeface="Cambria Math" panose="02040503050406030204" pitchFamily="18" charset="0"/>
                                          </a:rPr>
                                        </m:ctrlPr>
                                      </m:dPr>
                                      <m:e>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e>
                                </m:d>
                                <m:r>
                                  <a:rPr lang="ru-RU" sz="2000" b="0" i="0" dirty="0" smtClean="0">
                                    <a:solidFill>
                                      <a:srgbClr val="000000"/>
                                    </a:solidFill>
                                    <a:latin typeface="Cambria Math" panose="02040503050406030204" pitchFamily="18" charset="0"/>
                                  </a:rPr>
                                  <m:t>, </m:t>
                                </m:r>
                              </m:oMath>
                            </m:oMathPara>
                          </a14:m>
                          <a:endParaRPr lang="en-US" sz="2000" b="0" i="0" dirty="0">
                            <a:solidFill>
                              <a:srgbClr val="000000"/>
                            </a:solidFill>
                            <a:latin typeface="Cambria Math" panose="02040503050406030204" pitchFamily="18" charset="0"/>
                          </a:endParaRPr>
                        </a:p>
                        <a:p>
                          <a:pPr marL="0" marR="0" indent="0" algn="ctr" defTabSz="914400" rtl="0" eaLnBrk="1" fontAlgn="b" latinLnBrk="0" hangingPunct="1">
                            <a:lnSpc>
                              <a:spcPct val="100000"/>
                            </a:lnSpc>
                            <a:spcBef>
                              <a:spcPts val="0"/>
                            </a:spcBef>
                            <a:spcAft>
                              <a:spcPts val="0"/>
                            </a:spcAft>
                            <a:buClrTx/>
                            <a:buSzTx/>
                            <a:buFontTx/>
                            <a:buNone/>
                            <a:tabLst/>
                            <a:defRPr/>
                          </a:pPr>
                          <a14:m>
                            <m:oMath xmlns:m="http://schemas.openxmlformats.org/officeDocument/2006/math">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oMath>
                          </a14:m>
                          <a:r>
                            <a:rPr lang="en-US" sz="2000" dirty="0"/>
                            <a:t> - </a:t>
                          </a:r>
                          <a:r>
                            <a:rPr lang="ru-RU" sz="2000" dirty="0"/>
                            <a:t>оценки границ интервала</a:t>
                          </a:r>
                          <a:endParaRPr lang="ru-RU" sz="2000" b="0" i="0" u="none" strike="noStrike" dirty="0">
                            <a:solidFill>
                              <a:srgbClr val="000000"/>
                            </a:solidFill>
                            <a:effectLst/>
                            <a:latin typeface="Calibri" panose="020F0502020204030204" pitchFamily="34" charset="0"/>
                          </a:endParaRPr>
                        </a:p>
                        <a:p>
                          <a:pPr algn="ctr"/>
                          <a14:m>
                            <m:oMath xmlns:m="http://schemas.openxmlformats.org/officeDocument/2006/math">
                              <m:r>
                                <a:rPr lang="ru-RU" sz="1800" i="1" dirty="0" smtClean="0">
                                  <a:latin typeface="Cambria Math" panose="02040503050406030204" pitchFamily="18" charset="0"/>
                                </a:rPr>
                                <m:t>𝐼</m:t>
                              </m:r>
                              <m:r>
                                <a:rPr lang="ru-RU" sz="1800" i="1" dirty="0" smtClean="0">
                                  <a:latin typeface="Cambria Math" panose="02040503050406030204" pitchFamily="18" charset="0"/>
                                </a:rPr>
                                <m:t>(⋅)</m:t>
                              </m:r>
                            </m:oMath>
                          </a14:m>
                          <a:r>
                            <a:rPr lang="ru-RU" sz="1800" dirty="0"/>
                            <a:t> — индикаторная функция </a:t>
                          </a:r>
                          <a:endParaRPr lang="en-US" sz="1800" dirty="0"/>
                        </a:p>
                        <a:p>
                          <a:pPr algn="ctr"/>
                          <a:r>
                            <a:rPr lang="ru-RU" sz="1800" dirty="0"/>
                            <a:t>(1, если условие выполняется, иначе 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000" dirty="0"/>
                            <a:t>Чем</a:t>
                          </a:r>
                          <a:r>
                            <a:rPr lang="ru-RU" sz="2000" baseline="0" dirty="0"/>
                            <a:t> больше, тем лучше. </a:t>
                          </a:r>
                          <a:endParaRPr lang="en-US" sz="2000" baseline="0" dirty="0"/>
                        </a:p>
                        <a:p>
                          <a:pPr algn="ctr"/>
                          <a:r>
                            <a:rPr lang="ru-RU" sz="2000" baseline="0" dirty="0"/>
                            <a:t>В идеале 95% предсказаний попадает в оценку 95% интервала</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859231">
                    <a:tc>
                      <a:txBody>
                        <a:bodyPr/>
                        <a:lstStyle/>
                        <a:p>
                          <a:pPr algn="ctr" fontAlgn="b"/>
                          <a:r>
                            <a:rPr lang="ru-RU" sz="2000" b="0" i="0" u="none" strike="noStrike" dirty="0">
                              <a:solidFill>
                                <a:srgbClr val="000000"/>
                              </a:solidFill>
                              <a:effectLst/>
                              <a:latin typeface="Calibri" panose="020F0502020204030204" pitchFamily="34" charset="0"/>
                            </a:rPr>
                            <a:t>Ширина</a:t>
                          </a:r>
                          <a:r>
                            <a:rPr lang="ru-RU" sz="2000" b="0" i="0" u="none" strike="noStrike" baseline="0" dirty="0">
                              <a:solidFill>
                                <a:srgbClr val="000000"/>
                              </a:solidFill>
                              <a:effectLst/>
                              <a:latin typeface="Calibri" panose="020F0502020204030204" pitchFamily="34" charset="0"/>
                            </a:rPr>
                            <a:t> оценки интервала (</a:t>
                          </a:r>
                          <a:r>
                            <a:rPr lang="en-US" sz="1800" b="0" i="0" kern="1200" dirty="0">
                              <a:solidFill>
                                <a:schemeClr val="tx1"/>
                              </a:solidFill>
                              <a:effectLst/>
                              <a:latin typeface="+mn-lt"/>
                              <a:ea typeface="+mn-ea"/>
                              <a:cs typeface="+mn-cs"/>
                            </a:rPr>
                            <a:t>Prediction Interval Normalized Average Width</a:t>
                          </a:r>
                          <a:r>
                            <a:rPr lang="ru-RU" sz="1800" b="0" i="0" kern="1200" dirty="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m:rPr>
                                    <m:nor/>
                                  </m:rPr>
                                  <a:rPr lang="en-US" sz="1900" dirty="0" smtClean="0">
                                    <a:solidFill>
                                      <a:srgbClr val="000000"/>
                                    </a:solidFill>
                                    <a:latin typeface="Calibri" panose="020F0502020204030204" pitchFamily="34" charset="0"/>
                                  </a:rPr>
                                  <m:t>PINAW</m:t>
                                </m:r>
                                <m:r>
                                  <a:rPr lang="ru-RU" sz="1900" i="1" dirty="0">
                                    <a:latin typeface="Cambria Math" panose="02040503050406030204" pitchFamily="18" charset="0"/>
                                  </a:rPr>
                                  <m:t>=</m:t>
                                </m:r>
                                <m:f>
                                  <m:fPr>
                                    <m:ctrlPr>
                                      <a:rPr lang="en-US" sz="1900" i="1" dirty="0">
                                        <a:solidFill>
                                          <a:srgbClr val="000000"/>
                                        </a:solidFill>
                                        <a:latin typeface="Cambria Math" panose="02040503050406030204" pitchFamily="18" charset="0"/>
                                      </a:rPr>
                                    </m:ctrlPr>
                                  </m:fPr>
                                  <m:num>
                                    <m:r>
                                      <a:rPr lang="en-US" sz="1900" dirty="0">
                                        <a:solidFill>
                                          <a:srgbClr val="000000"/>
                                        </a:solidFill>
                                        <a:latin typeface="Cambria Math" panose="02040503050406030204" pitchFamily="18" charset="0"/>
                                      </a:rPr>
                                      <m:t>1</m:t>
                                    </m:r>
                                  </m:num>
                                  <m:den>
                                    <m:r>
                                      <m:rPr>
                                        <m:sty m:val="p"/>
                                      </m:rPr>
                                      <a:rPr lang="en-US" sz="1900" dirty="0">
                                        <a:solidFill>
                                          <a:srgbClr val="000000"/>
                                        </a:solidFill>
                                        <a:latin typeface="Cambria Math" panose="02040503050406030204" pitchFamily="18" charset="0"/>
                                      </a:rPr>
                                      <m:t>W</m:t>
                                    </m:r>
                                  </m:den>
                                </m:f>
                                <m:d>
                                  <m:dPr>
                                    <m:ctrlPr>
                                      <a:rPr lang="en-US" sz="1900" i="1" dirty="0" smtClean="0">
                                        <a:solidFill>
                                          <a:srgbClr val="000000"/>
                                        </a:solidFill>
                                        <a:latin typeface="Cambria Math" panose="02040503050406030204" pitchFamily="18" charset="0"/>
                                      </a:rPr>
                                    </m:ctrlPr>
                                  </m:dPr>
                                  <m:e>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en-US" sz="1900" i="1" dirty="0">
                                            <a:solidFill>
                                              <a:srgbClr val="000000"/>
                                            </a:solidFill>
                                            <a:latin typeface="Cambria Math" panose="02040503050406030204" pitchFamily="18" charset="0"/>
                                          </a:rPr>
                                          <m:t>h𝑖𝑔h</m:t>
                                        </m:r>
                                      </m:sub>
                                    </m:sSub>
                                    <m:r>
                                      <a:rPr lang="en-US" sz="1900" i="1" dirty="0">
                                        <a:solidFill>
                                          <a:srgbClr val="000000"/>
                                        </a:solidFill>
                                        <a:latin typeface="Cambria Math" panose="02040503050406030204" pitchFamily="18" charset="0"/>
                                      </a:rPr>
                                      <m:t>−</m:t>
                                    </m:r>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ru-RU" sz="1900" i="1" dirty="0">
                                            <a:solidFill>
                                              <a:srgbClr val="000000"/>
                                            </a:solidFill>
                                            <a:latin typeface="Cambria Math" panose="02040503050406030204" pitchFamily="18" charset="0"/>
                                          </a:rPr>
                                          <m:t>𝑙𝑜𝑤</m:t>
                                        </m:r>
                                      </m:sub>
                                    </m:sSub>
                                  </m:e>
                                </m:d>
                              </m:oMath>
                            </m:oMathPara>
                          </a14:m>
                          <a:endParaRPr lang="ru-RU" sz="1900" dirty="0"/>
                        </a:p>
                        <a:p>
                          <a:pPr algn="ctr"/>
                          <a:r>
                            <a:rPr lang="en-US" sz="1900" dirty="0"/>
                            <a:t> </a:t>
                          </a:r>
                          <a14:m>
                            <m:oMath xmlns:m="http://schemas.openxmlformats.org/officeDocument/2006/math">
                              <m:r>
                                <m:rPr>
                                  <m:sty m:val="p"/>
                                </m:rPr>
                                <a:rPr lang="en-US" sz="1900" dirty="0">
                                  <a:solidFill>
                                    <a:srgbClr val="000000"/>
                                  </a:solidFill>
                                  <a:latin typeface="Cambria Math" panose="02040503050406030204" pitchFamily="18" charset="0"/>
                                </a:rPr>
                                <m:t>W</m:t>
                              </m:r>
                              <m:r>
                                <a:rPr lang="en-US" sz="1900" dirty="0">
                                  <a:solidFill>
                                    <a:srgbClr val="000000"/>
                                  </a:solidFill>
                                  <a:latin typeface="Cambria Math" panose="02040503050406030204" pitchFamily="18" charset="0"/>
                                </a:rPr>
                                <m:t> −нормирован</m:t>
                              </m:r>
                              <m:r>
                                <a:rPr lang="ru-RU" sz="1900" dirty="0">
                                  <a:solidFill>
                                    <a:srgbClr val="000000"/>
                                  </a:solidFill>
                                  <a:latin typeface="Cambria Math" panose="02040503050406030204" pitchFamily="18" charset="0"/>
                                </a:rPr>
                                <m:t>ная ширина интервала</m:t>
                              </m:r>
                            </m:oMath>
                          </a14:m>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900" dirty="0"/>
                            <a:t>Чем</a:t>
                          </a:r>
                          <a:r>
                            <a:rPr lang="ru-RU" sz="1900" baseline="0" dirty="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017995">
                    <a:tc>
                      <a:txBody>
                        <a:bodyPr/>
                        <a:lstStyle/>
                        <a:p>
                          <a:pPr algn="ctr" fontAlgn="b"/>
                          <a:r>
                            <a:rPr lang="en-US" sz="2000" dirty="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m:rPr>
                                    <m:sty m:val="p"/>
                                  </m:rPr>
                                  <a:rPr lang="en-US" sz="2000" b="0" i="1" dirty="0" smtClean="0">
                                    <a:solidFill>
                                      <a:srgbClr val="000000"/>
                                    </a:solidFill>
                                    <a:latin typeface="Cambria Math" panose="02040503050406030204" pitchFamily="18" charset="0"/>
                                  </a:rPr>
                                  <m:t>W</m:t>
                                </m:r>
                                <m:sSub>
                                  <m:sSubPr>
                                    <m:ctrlPr>
                                      <a:rPr lang="en-US" sz="2000" b="0" i="1" dirty="0" smtClean="0">
                                        <a:solidFill>
                                          <a:srgbClr val="000000"/>
                                        </a:solidFill>
                                        <a:latin typeface="Cambria Math" panose="02040503050406030204" pitchFamily="18" charset="0"/>
                                      </a:rPr>
                                    </m:ctrlPr>
                                  </m:sSubPr>
                                  <m:e>
                                    <m:r>
                                      <a:rPr lang="en-US" sz="2000" b="0" i="1" dirty="0" smtClean="0">
                                        <a:solidFill>
                                          <a:srgbClr val="000000"/>
                                        </a:solidFill>
                                        <a:latin typeface="Cambria Math" panose="02040503050406030204" pitchFamily="18" charset="0"/>
                                      </a:rPr>
                                      <m:t>𝑆</m:t>
                                    </m:r>
                                  </m:e>
                                  <m:sub>
                                    <m:r>
                                      <a:rPr lang="en-US" sz="2000" b="0" i="1" dirty="0" smtClean="0">
                                        <a:solidFill>
                                          <a:srgbClr val="000000"/>
                                        </a:solidFill>
                                        <a:latin typeface="Cambria Math" panose="02040503050406030204" pitchFamily="18" charset="0"/>
                                      </a:rPr>
                                      <m:t>𝑖</m:t>
                                    </m:r>
                                  </m:sub>
                                </m:sSub>
                                <m:r>
                                  <a:rPr lang="en-US" sz="2000" b="0" i="1" dirty="0" smtClean="0">
                                    <a:solidFill>
                                      <a:srgbClr val="000000"/>
                                    </a:solidFill>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r>
                                  <a:rPr lang="en-US"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b="0" i="1" dirty="0" smtClean="0">
                                    <a:solidFill>
                                      <a:srgbClr val="000000"/>
                                    </a:solidFill>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&lt;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𝑦</m:t>
                                                </m:r>
                                              </m:e>
                                            </m:acc>
                                            <m:r>
                                              <a:rPr lang="en-US" sz="2000" b="0" i="1" smtClean="0">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&gt;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qArr>
                                  </m:e>
                                </m:d>
                              </m:oMath>
                            </m:oMathPara>
                          </a14:m>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a:solidFill>
                                <a:srgbClr val="000000"/>
                              </a:solidFill>
                              <a:effectLst/>
                              <a:latin typeface="Calibri" panose="020F0502020204030204" pitchFamily="34" charset="0"/>
                            </a:rPr>
                            <a:t>Минимаксная</a:t>
                          </a:r>
                          <a:r>
                            <a:rPr lang="ru-RU" sz="2000" b="0" i="0" u="none" strike="noStrike" baseline="0" dirty="0">
                              <a:solidFill>
                                <a:srgbClr val="000000"/>
                              </a:solidFill>
                              <a:effectLst/>
                              <a:latin typeface="Calibri" panose="020F0502020204030204" pitchFamily="34" charset="0"/>
                            </a:rPr>
                            <a:t> задача </a:t>
                          </a:r>
                          <a:r>
                            <a:rPr lang="ru-RU" sz="2000" b="0" i="0" u="none" strike="noStrike" dirty="0">
                              <a:solidFill>
                                <a:srgbClr val="000000"/>
                              </a:solidFill>
                              <a:effectLst/>
                              <a:latin typeface="Calibri" panose="020F0502020204030204" pitchFamily="34" charset="0"/>
                            </a:rPr>
                            <a:t>ширина</a:t>
                          </a:r>
                          <a:r>
                            <a:rPr lang="ru-RU" sz="2000" b="0" i="0" u="none" strike="noStrike" baseline="0" dirty="0">
                              <a:solidFill>
                                <a:srgbClr val="000000"/>
                              </a:solidFill>
                              <a:effectLst/>
                              <a:latin typeface="Calibri" panose="020F0502020204030204" pitchFamily="34" charset="0"/>
                            </a:rPr>
                            <a:t> интервала и непопадание в интервал</a:t>
                          </a:r>
                          <a:endParaRPr lang="en-US" sz="2000" b="0" i="0" u="none" strike="noStrike" dirty="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619125">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интерпретация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458278">
                    <a:tc>
                      <a:txBody>
                        <a:bodyPr/>
                        <a:lstStyle/>
                        <a:p>
                          <a:pPr algn="ctr" fontAlgn="b"/>
                          <a:r>
                            <a:rPr lang="ru-RU" sz="2000" b="0" i="0" u="none" strike="noStrike" dirty="0" smtClean="0">
                              <a:solidFill>
                                <a:srgbClr val="000000"/>
                              </a:solidFill>
                              <a:effectLst/>
                              <a:latin typeface="Calibri" panose="020F0502020204030204" pitchFamily="34" charset="0"/>
                            </a:rPr>
                            <a:t>Покрытие интервала </a:t>
                          </a:r>
                          <a:r>
                            <a:rPr lang="en-US" sz="2000" b="0" i="0" u="none" strike="noStrike" dirty="0" smtClean="0">
                              <a:solidFill>
                                <a:srgbClr val="000000"/>
                              </a:solidFill>
                              <a:effectLst/>
                              <a:latin typeface="Calibri" panose="020F0502020204030204" pitchFamily="34" charset="0"/>
                            </a:rPr>
                            <a:t>(coverage,</a:t>
                          </a:r>
                          <a:r>
                            <a:rPr lang="en-US" sz="2000" b="0" i="0" u="none" strike="noStrike" baseline="0" dirty="0" smtClean="0">
                              <a:solidFill>
                                <a:srgbClr val="000000"/>
                              </a:solidFill>
                              <a:effectLst/>
                              <a:latin typeface="Calibri" panose="020F0502020204030204" pitchFamily="34" charset="0"/>
                            </a:rPr>
                            <a:t> </a:t>
                          </a:r>
                          <a:br>
                            <a:rPr lang="en-US" sz="2000" b="0" i="0" u="none" strike="noStrike" baseline="0" dirty="0" smtClean="0">
                              <a:solidFill>
                                <a:srgbClr val="000000"/>
                              </a:solidFill>
                              <a:effectLst/>
                              <a:latin typeface="Calibri" panose="020F0502020204030204" pitchFamily="34" charset="0"/>
                            </a:rPr>
                          </a:br>
                          <a:r>
                            <a:rPr lang="en-US" sz="1800" b="0" i="0" kern="1200" dirty="0" smtClean="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47280" r="-55522" b="-185774"/>
                          </a:stretch>
                        </a:blipFill>
                      </a:tcPr>
                    </a:tc>
                    <a:tc>
                      <a:txBody>
                        <a:bodyPr/>
                        <a:lstStyle/>
                        <a:p>
                          <a:pPr algn="ctr"/>
                          <a:r>
                            <a:rPr lang="ru-RU" sz="2000" dirty="0" smtClean="0"/>
                            <a:t>Чем</a:t>
                          </a:r>
                          <a:r>
                            <a:rPr lang="ru-RU" sz="2000" baseline="0" dirty="0" smtClean="0"/>
                            <a:t> больше, тем лучше. </a:t>
                          </a:r>
                          <a:endParaRPr lang="en-US" sz="2000" baseline="0" dirty="0" smtClean="0"/>
                        </a:p>
                        <a:p>
                          <a:pPr algn="ctr"/>
                          <a:r>
                            <a:rPr lang="ru-RU" sz="2000" baseline="0" dirty="0" smtClean="0"/>
                            <a:t>В идеале 95% предсказаний попадает в оценку 95% интервала</a:t>
                          </a:r>
                          <a:endParaRPr lang="ru-RU" sz="2000" dirty="0" smtClean="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167765">
                    <a:tc>
                      <a:txBody>
                        <a:bodyPr/>
                        <a:lstStyle/>
                        <a:p>
                          <a:pPr algn="ctr" fontAlgn="b"/>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оценки интервала (</a:t>
                          </a:r>
                          <a:r>
                            <a:rPr lang="en-US" sz="1800" b="0" i="0" kern="1200" dirty="0" smtClean="0">
                              <a:solidFill>
                                <a:schemeClr val="tx1"/>
                              </a:solidFill>
                              <a:effectLst/>
                              <a:latin typeface="+mn-lt"/>
                              <a:ea typeface="+mn-ea"/>
                              <a:cs typeface="+mn-cs"/>
                            </a:rPr>
                            <a:t>Prediction Interval Normalized Average Width</a:t>
                          </a:r>
                          <a:r>
                            <a:rPr lang="ru-RU" sz="1800" b="0" i="0" kern="1200" dirty="0" smtClean="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183333" r="-55522" b="-131250"/>
                          </a:stretch>
                        </a:blipFill>
                      </a:tcPr>
                    </a:tc>
                    <a:tc>
                      <a:txBody>
                        <a:bodyPr/>
                        <a:lstStyle/>
                        <a:p>
                          <a:pPr algn="ctr"/>
                          <a:r>
                            <a:rPr lang="ru-RU" sz="1900" dirty="0" smtClean="0"/>
                            <a:t>Чем</a:t>
                          </a:r>
                          <a:r>
                            <a:rPr lang="ru-RU" sz="1900" baseline="0" dirty="0" smtClean="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383538">
                    <a:tc>
                      <a:txBody>
                        <a:bodyPr/>
                        <a:lstStyle/>
                        <a:p>
                          <a:pPr algn="ctr" fontAlgn="b"/>
                          <a:r>
                            <a:rPr lang="en-US" sz="2000" dirty="0" smtClean="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239648" r="-55522" b="-11013"/>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smtClean="0">
                              <a:solidFill>
                                <a:srgbClr val="000000"/>
                              </a:solidFill>
                              <a:effectLst/>
                              <a:latin typeface="Calibri" panose="020F0502020204030204" pitchFamily="34" charset="0"/>
                            </a:rPr>
                            <a:t>Минимаксная</a:t>
                          </a:r>
                          <a:r>
                            <a:rPr lang="ru-RU" sz="2000" b="0" i="0" u="none" strike="noStrike" baseline="0" dirty="0" smtClean="0">
                              <a:solidFill>
                                <a:srgbClr val="000000"/>
                              </a:solidFill>
                              <a:effectLst/>
                              <a:latin typeface="Calibri" panose="020F0502020204030204" pitchFamily="34" charset="0"/>
                            </a:rPr>
                            <a:t> задача </a:t>
                          </a:r>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интервала и непопадание в интервал</a:t>
                          </a:r>
                          <a:endParaRPr lang="en-US" sz="2000" b="0" i="0" u="none" strike="noStrike" dirty="0" smtClean="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Fallback>
      </mc:AlternateContent>
      <p:sp>
        <p:nvSpPr>
          <p:cNvPr id="6" name="Прямоугольник 5"/>
          <p:cNvSpPr/>
          <p:nvPr/>
        </p:nvSpPr>
        <p:spPr>
          <a:xfrm>
            <a:off x="2114550" y="6296710"/>
            <a:ext cx="7391400" cy="369332"/>
          </a:xfrm>
          <a:prstGeom prst="rect">
            <a:avLst/>
          </a:prstGeom>
        </p:spPr>
        <p:txBody>
          <a:bodyPr wrap="square">
            <a:spAutoFit/>
          </a:bodyPr>
          <a:lstStyle/>
          <a:p>
            <a:r>
              <a:rPr lang="ru-RU" dirty="0"/>
              <a:t>https://mapie.readthedocs.io/en/latest/theoretical_description_metrics.html</a:t>
            </a:r>
          </a:p>
        </p:txBody>
      </p:sp>
    </p:spTree>
    <p:extLst>
      <p:ext uri="{BB962C8B-B14F-4D97-AF65-F5344CB8AC3E}">
        <p14:creationId xmlns:p14="http://schemas.microsoft.com/office/powerpoint/2010/main" val="2114813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a:t>Метрики оценки неопределенности</a:t>
            </a:r>
          </a:p>
        </p:txBody>
      </p:sp>
      <mc:AlternateContent xmlns:mc="http://schemas.openxmlformats.org/markup-compatibility/2006" xmlns:a14="http://schemas.microsoft.com/office/drawing/2010/main">
        <mc:Choice Requires="a14">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242891">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C</a:t>
                          </a:r>
                          <a:r>
                            <a:rPr lang="ru-RU" sz="2000" b="0" i="0" u="none" strike="noStrike" dirty="0">
                              <a:solidFill>
                                <a:srgbClr val="000000"/>
                              </a:solidFill>
                              <a:effectLst/>
                              <a:latin typeface="Calibri" panose="020F0502020204030204" pitchFamily="34" charset="0"/>
                            </a:rPr>
                            <a:t>специальные метрики</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242891">
                    <a:tc>
                      <a:txBody>
                        <a:bodyPr/>
                        <a:lstStyle/>
                        <a:p>
                          <a:pPr algn="ctr" fontAlgn="b"/>
                          <a:r>
                            <a:rPr lang="ru-RU" sz="2000" b="0" i="0" u="none" strike="noStrike" dirty="0">
                              <a:solidFill>
                                <a:srgbClr val="000000"/>
                              </a:solidFill>
                              <a:effectLst/>
                              <a:latin typeface="Calibri" panose="020F0502020204030204" pitchFamily="34" charset="0"/>
                            </a:rPr>
                            <a:t>Конформное предсказание</a:t>
                          </a:r>
                          <a:endParaRPr lang="en-US" sz="2000" b="0" i="0" u="none" strike="noStrike" dirty="0">
                            <a:solidFill>
                              <a:srgbClr val="000000"/>
                            </a:solidFill>
                            <a:effectLst/>
                            <a:latin typeface="Calibri" panose="020F0502020204030204" pitchFamily="34" charset="0"/>
                          </a:endParaRPr>
                        </a:p>
                        <a:p>
                          <a:pPr algn="ctr" fontAlgn="b"/>
                          <a:r>
                            <a:rPr lang="en-US" sz="2000" b="0" i="0" u="none" strike="noStrike" dirty="0">
                              <a:solidFill>
                                <a:srgbClr val="000000"/>
                              </a:solidFill>
                              <a:effectLst/>
                              <a:latin typeface="+mj-lt"/>
                            </a:rPr>
                            <a:t>Calibration Error</a:t>
                          </a:r>
                          <a:r>
                            <a:rPr lang="ru-RU" sz="2000" b="0" i="0" u="none" strike="noStrike" dirty="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 </a:t>
                          </a:r>
                          <a14:m>
                            <m:oMath xmlns:m="http://schemas.openxmlformats.org/officeDocument/2006/math">
                              <m:r>
                                <m:rPr>
                                  <m:sty m:val="p"/>
                                </m:rPr>
                                <a:rPr lang="en-US" sz="2000" b="0" i="0" u="none" strike="noStrike" dirty="0" smtClean="0">
                                  <a:solidFill>
                                    <a:srgbClr val="000000"/>
                                  </a:solidFill>
                                  <a:effectLst/>
                                  <a:latin typeface="Cambria Math" panose="02040503050406030204" pitchFamily="18" charset="0"/>
                                </a:rPr>
                                <m:t>CE</m:t>
                              </m:r>
                              <m:r>
                                <a:rPr lang="en-US" sz="2000" b="0" i="0" u="none" strike="noStrike" dirty="0" smtClean="0">
                                  <a:solidFill>
                                    <a:srgbClr val="000000"/>
                                  </a:solidFill>
                                  <a:effectLst/>
                                  <a:latin typeface="Cambria Math" panose="02040503050406030204" pitchFamily="18" charset="0"/>
                                </a:rPr>
                                <m:t>=</m:t>
                              </m:r>
                              <m:d>
                                <m:dPr>
                                  <m:begChr m:val="|"/>
                                  <m:endChr m:val="|"/>
                                  <m:ctrlPr>
                                    <a:rPr lang="en-US" sz="2000" b="0" i="1" u="none" strike="noStrike" dirty="0" smtClean="0">
                                      <a:solidFill>
                                        <a:srgbClr val="000000"/>
                                      </a:solidFill>
                                      <a:effectLst/>
                                      <a:latin typeface="Cambria Math" panose="02040503050406030204" pitchFamily="18" charset="0"/>
                                    </a:rPr>
                                  </m:ctrlPr>
                                </m:dPr>
                                <m:e>
                                  <m:r>
                                    <a:rPr lang="en-US" sz="2000" b="1" i="1" u="none" strike="noStrike" dirty="0" smtClean="0">
                                      <a:solidFill>
                                        <a:srgbClr val="000000"/>
                                      </a:solidFill>
                                      <a:effectLst/>
                                      <a:latin typeface="Cambria Math" panose="02040503050406030204" pitchFamily="18" charset="0"/>
                                    </a:rPr>
                                    <m:t>𝑷𝑰𝑪𝑷</m:t>
                                  </m:r>
                                  <m:r>
                                    <a:rPr lang="en-US" sz="2000" b="1" i="1" dirty="0" smtClean="0">
                                      <a:latin typeface="Cambria Math" panose="02040503050406030204" pitchFamily="18" charset="0"/>
                                    </a:rPr>
                                    <m:t> −</m:t>
                                  </m:r>
                                  <m:r>
                                    <a:rPr lang="en-US" sz="2000" b="1" i="1" dirty="0" smtClean="0">
                                      <a:latin typeface="Cambria Math" panose="02040503050406030204" pitchFamily="18" charset="0"/>
                                    </a:rPr>
                                    <m:t>𝜶</m:t>
                                  </m:r>
                                </m:e>
                              </m:d>
                            </m:oMath>
                          </a14:m>
                          <a:r>
                            <a:rPr lang="ru-RU" sz="2000" b="0" i="0" u="none" strike="noStrike" dirty="0">
                              <a:solidFill>
                                <a:srgbClr val="000000"/>
                              </a:solidFill>
                              <a:effectLst/>
                              <a:latin typeface="Calibri" panose="020F0502020204030204" pitchFamily="34" charset="0"/>
                            </a:rPr>
                            <a:t> </a:t>
                          </a:r>
                          <a:endParaRPr lang="ru-RU" sz="2000" b="1" i="1" dirty="0">
                            <a:latin typeface="Cambria Math" panose="02040503050406030204" pitchFamily="18" charset="0"/>
                          </a:endParaRPr>
                        </a:p>
                        <a:p>
                          <a:pPr algn="ctr" fontAlgn="b"/>
                          <a14:m>
                            <m:oMath xmlns:m="http://schemas.openxmlformats.org/officeDocument/2006/math">
                              <m:r>
                                <a:rPr lang="en-US" sz="2000" b="1" i="1" dirty="0" smtClean="0">
                                  <a:latin typeface="Cambria Math" panose="02040503050406030204" pitchFamily="18" charset="0"/>
                                </a:rPr>
                                <m:t>𝜶</m:t>
                              </m:r>
                            </m:oMath>
                          </a14:m>
                          <a:r>
                            <a:rPr lang="en-US" sz="2000" dirty="0">
                              <a:solidFill>
                                <a:srgbClr val="2C2C36"/>
                              </a:solidFill>
                              <a:latin typeface="system-ui"/>
                            </a:rPr>
                            <a:t> </a:t>
                          </a:r>
                          <a:r>
                            <a:rPr lang="ru-RU" sz="2000" dirty="0">
                              <a:solidFill>
                                <a:srgbClr val="2C2C36"/>
                              </a:solidFill>
                              <a:latin typeface="system-ui"/>
                            </a:rPr>
                            <a:t>— заявленный уровень доверия,</a:t>
                          </a:r>
                        </a:p>
                        <a:p>
                          <a:pPr algn="ctr" fontAlgn="b"/>
                          <a:r>
                            <a:rPr lang="ru-RU" sz="2000" baseline="0" dirty="0">
                              <a:solidFill>
                                <a:srgbClr val="2C2C36"/>
                              </a:solidFill>
                              <a:latin typeface="system-ui"/>
                            </a:rPr>
                            <a:t>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Чем меньше, тем лучше.  </a:t>
                          </a:r>
                        </a:p>
                        <a:p>
                          <a:pPr algn="ctr" fontAlgn="b"/>
                          <a:r>
                            <a:rPr lang="ru-RU" sz="2000" b="0" i="0" u="none" strike="noStrike" dirty="0">
                              <a:solidFill>
                                <a:srgbClr val="000000"/>
                              </a:solidFill>
                              <a:effectLst/>
                              <a:latin typeface="Calibri" panose="020F0502020204030204" pitchFamily="34" charset="0"/>
                            </a:rPr>
                            <a:t>Если</a:t>
                          </a:r>
                          <a:r>
                            <a:rPr lang="ru-RU" sz="2000" b="0" i="0" u="none" strike="noStrike" baseline="0" dirty="0">
                              <a:solidFill>
                                <a:srgbClr val="000000"/>
                              </a:solidFill>
                              <a:effectLst/>
                              <a:latin typeface="Calibri" panose="020F0502020204030204" pitchFamily="34" charset="0"/>
                            </a:rPr>
                            <a:t> в 95% интервал попало 95% </a:t>
                          </a:r>
                          <a:r>
                            <a:rPr lang="en-US" sz="2000" b="0" i="0" u="none" strike="noStrike" baseline="0" dirty="0">
                              <a:solidFill>
                                <a:srgbClr val="000000"/>
                              </a:solidFill>
                              <a:effectLst/>
                              <a:latin typeface="Calibri" panose="020F0502020204030204" pitchFamily="34" charset="0"/>
                            </a:rPr>
                            <a:t>CE=0</a:t>
                          </a:r>
                        </a:p>
                        <a:p>
                          <a:pPr algn="ctr" fontAlgn="b"/>
                          <a:r>
                            <a:rPr lang="ru-RU" sz="1800" b="0" i="0" u="none" strike="noStrike" dirty="0">
                              <a:solidFill>
                                <a:srgbClr val="000000"/>
                              </a:solidFill>
                              <a:effectLst/>
                              <a:latin typeface="Calibri" panose="020F0502020204030204" pitchFamily="34" charset="0"/>
                            </a:rPr>
                            <a:t>Если</a:t>
                          </a:r>
                          <a:r>
                            <a:rPr lang="ru-RU" sz="1800" b="0" i="0" u="none" strike="noStrike" baseline="0" dirty="0">
                              <a:solidFill>
                                <a:srgbClr val="000000"/>
                              </a:solidFill>
                              <a:effectLst/>
                              <a:latin typeface="Calibri" panose="020F0502020204030204" pitchFamily="34" charset="0"/>
                            </a:rPr>
                            <a:t> в 95% интервал попало 100% или 90% </a:t>
                          </a:r>
                          <a:r>
                            <a:rPr lang="en-US" sz="1800" b="0" i="0" u="none" strike="noStrike" baseline="0" dirty="0">
                              <a:solidFill>
                                <a:srgbClr val="000000"/>
                              </a:solidFill>
                              <a:effectLst/>
                              <a:latin typeface="Calibri" panose="020F0502020204030204" pitchFamily="34" charset="0"/>
                            </a:rPr>
                            <a:t>CE=</a:t>
                          </a:r>
                          <a:r>
                            <a:rPr lang="ru-RU" sz="1800" b="0" i="0" u="none" strike="noStrike" baseline="0" dirty="0">
                              <a:solidFill>
                                <a:srgbClr val="000000"/>
                              </a:solidFill>
                              <a:effectLst/>
                              <a:latin typeface="Calibri" panose="020F0502020204030204" pitchFamily="34" charset="0"/>
                            </a:rPr>
                            <a:t>5%</a:t>
                          </a:r>
                          <a:endParaRPr lang="en-US" sz="1800" b="0" i="0" u="none" strike="noStrike" baseline="0"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Квантильная</a:t>
                          </a:r>
                          <a:r>
                            <a:rPr lang="ru-RU" sz="2000" b="0" i="0" u="none" strike="noStrike" dirty="0">
                              <a:solidFill>
                                <a:srgbClr val="000000"/>
                              </a:solidFill>
                              <a:effectLst/>
                              <a:latin typeface="Calibri" panose="020F0502020204030204" pitchFamily="34" charset="0"/>
                            </a:rPr>
                            <a:t> регрессия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𝑄𝑢𝑎𝑛𝑡𝑖𝑙𝑒</m:t>
                              </m:r>
                              <m:r>
                                <a:rPr lang="en-US" sz="2000" b="0" i="1" u="none" strike="noStrike" dirty="0" smtClean="0">
                                  <a:solidFill>
                                    <a:srgbClr val="000000"/>
                                  </a:solidFill>
                                  <a:effectLst/>
                                  <a:latin typeface="Cambria Math" panose="02040503050406030204" pitchFamily="18" charset="0"/>
                                </a:rPr>
                                <m:t> </m:t>
                              </m:r>
                              <m:r>
                                <a:rPr lang="en-US" sz="2000" b="0" i="1" u="none" strike="noStrike" dirty="0" smtClean="0">
                                  <a:solidFill>
                                    <a:srgbClr val="000000"/>
                                  </a:solidFill>
                                  <a:effectLst/>
                                  <a:latin typeface="Cambria Math" panose="02040503050406030204" pitchFamily="18" charset="0"/>
                                </a:rPr>
                                <m:t>𝐿𝑜𝑠𝑠</m:t>
                              </m:r>
                            </m:oMath>
                          </a14:m>
                          <a:r>
                            <a:rPr lang="ru-RU" sz="2000" b="0" i="0" u="none" strike="noStrike" dirty="0">
                              <a:solidFill>
                                <a:srgbClr val="000000"/>
                              </a:solidFill>
                              <a:effectLst/>
                              <a:latin typeface="Calibri" panose="020F050202020403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𝜏</m:t>
                                    </m:r>
                                  </m:sub>
                                </m:sSub>
                                <m:r>
                                  <a:rPr lang="ru-RU" sz="2000" b="0" i="1" smtClean="0">
                                    <a:latin typeface="Cambria Math" panose="02040503050406030204" pitchFamily="18" charset="0"/>
                                  </a:rPr>
                                  <m:t>(</m:t>
                                </m:r>
                                <m:r>
                                  <a:rPr lang="en-US" sz="2000" i="1">
                                    <a:latin typeface="Cambria Math" panose="02040503050406030204" pitchFamily="18" charset="0"/>
                                  </a:rPr>
                                  <m:t>𝑦</m:t>
                                </m:r>
                                <m:r>
                                  <a:rPr lang="en-US" sz="2000" b="0" i="1" smtClean="0">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r>
                                  <a:rPr lang="ru-RU" sz="2000" b="0" i="1" smtClean="0">
                                    <a:latin typeface="Cambria Math" panose="02040503050406030204" pitchFamily="18" charset="0"/>
                                  </a:rPr>
                                  <m:t>)</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m:t>
                                            </m:r>
                                            <m:sSub>
                                              <m:sSubPr>
                                                <m:ctrlPr>
                                                  <a:rPr lang="ru-RU"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𝜏</m:t>
                                                </m:r>
                                              </m:sub>
                                            </m:sSub>
                                          </m:e>
                                        </m:d>
                                        <m:r>
                                          <a:rPr lang="en-US" sz="2000" b="0" i="1" smtClean="0">
                                            <a:latin typeface="Cambria Math" panose="02040503050406030204" pitchFamily="18" charset="0"/>
                                          </a:rPr>
                                          <m:t>𝜏</m:t>
                                        </m:r>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e>
                                        <m:d>
                                          <m:dPr>
                                            <m:ctrlPr>
                                              <a:rPr lang="en-US"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i="1">
                                                <a:latin typeface="Cambria Math" panose="02040503050406030204" pitchFamily="18" charset="0"/>
                                              </a:rPr>
                                              <m:t>𝜏</m:t>
                                            </m:r>
                                          </m:e>
                                        </m:d>
                                        <m:r>
                                          <a:rPr lang="en-US" sz="2000" b="0" i="1" smtClean="0">
                                            <a:latin typeface="Cambria Math" panose="02040503050406030204" pitchFamily="18" charset="0"/>
                                          </a:rPr>
                                          <m:t>,</m:t>
                                        </m:r>
                                        <m:r>
                                          <a:rPr lang="en-US" sz="2000" i="1">
                                            <a:latin typeface="Cambria Math" panose="02040503050406030204" pitchFamily="18" charset="0"/>
                                          </a:rPr>
                                          <m:t> </m:t>
                                        </m:r>
                                        <m:r>
                                          <a:rPr lang="en-US" sz="2000" i="1">
                                            <a:latin typeface="Cambria Math" panose="02040503050406030204" pitchFamily="18" charset="0"/>
                                          </a:rPr>
                                          <m:t>𝑖𝑓</m:t>
                                        </m:r>
                                        <m:r>
                                          <a:rPr lang="en-US" sz="2000" i="1">
                                            <a:latin typeface="Cambria Math" panose="02040503050406030204" pitchFamily="18" charset="0"/>
                                          </a:rPr>
                                          <m:t> </m:t>
                                        </m:r>
                                        <m:r>
                                          <a:rPr lang="en-US" sz="2000" i="1">
                                            <a:latin typeface="Cambria Math" panose="02040503050406030204" pitchFamily="18" charset="0"/>
                                          </a:rPr>
                                          <m:t>𝑦</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eqArr>
                                  </m:e>
                                </m:d>
                              </m:oMath>
                            </m:oMathPara>
                          </a14:m>
                          <a:endParaRPr lang="ru-RU" sz="2000" b="0" i="0" u="none" strike="noStrike" dirty="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где τ – квантиль, </a:t>
                          </a:r>
                          <a14:m>
                            <m:oMath xmlns:m="http://schemas.openxmlformats.org/officeDocument/2006/math">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oMath>
                          </a14:m>
                          <a:r>
                            <a:rPr lang="ru-RU" sz="2000" dirty="0"/>
                            <a:t> - прогноз нужного квантиля, </a:t>
                          </a:r>
                          <a14:m>
                            <m:oMath xmlns:m="http://schemas.openxmlformats.org/officeDocument/2006/math">
                              <m:r>
                                <a:rPr lang="en-US" sz="2000" i="1">
                                  <a:latin typeface="Cambria Math" panose="02040503050406030204" pitchFamily="18" charset="0"/>
                                </a:rPr>
                                <m:t>𝑦</m:t>
                              </m:r>
                            </m:oMath>
                          </a14:m>
                          <a:r>
                            <a:rPr lang="ru-RU" sz="2000" dirty="0"/>
                            <a:t> – истинное значение</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Чем меньше, тем</a:t>
                          </a:r>
                          <a:r>
                            <a:rPr lang="ru-RU" sz="2000" baseline="0" dirty="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Регрессия смещенного</a:t>
                          </a:r>
                          <a:r>
                            <a:rPr lang="ru-RU" sz="2000" baseline="0" dirty="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00000"/>
                            </a:lnSpc>
                            <a:spcBef>
                              <a:spcPts val="0"/>
                            </a:spcBef>
                            <a:buNone/>
                          </a:pPr>
                          <a14:m>
                            <m:oMath xmlns:m="http://schemas.openxmlformats.org/officeDocument/2006/math">
                              <m:r>
                                <a:rPr lang="en-US" sz="2000" i="1" smtClean="0">
                                  <a:latin typeface="Cambria Math" panose="02040503050406030204" pitchFamily="18" charset="0"/>
                                </a:rPr>
                                <m:t>𝐶𝑅𝐼𝑆𝑃</m:t>
                              </m:r>
                              <m:r>
                                <a:rPr lang="ru-RU" sz="2000" b="0" i="1" smtClean="0">
                                  <a:latin typeface="Cambria Math" panose="02040503050406030204" pitchFamily="18" charset="0"/>
                                </a:rPr>
                                <m:t>=</m:t>
                              </m:r>
                              <m:nary>
                                <m:naryPr>
                                  <m:ctrlPr>
                                    <a:rPr lang="en-US" sz="2000" i="1" smtClean="0">
                                      <a:latin typeface="Cambria Math" panose="02040503050406030204" pitchFamily="18" charset="0"/>
                                    </a:rPr>
                                  </m:ctrlPr>
                                </m:naryPr>
                                <m:sub>
                                  <m:r>
                                    <m:rPr>
                                      <m:brk m:alnAt="23"/>
                                    </m:rPr>
                                    <a:rPr lang="en-US" sz="2000" i="1">
                                      <a:latin typeface="Cambria Math" panose="02040503050406030204" pitchFamily="18" charset="0"/>
                                    </a:rPr>
                                    <m:t>−</m:t>
                                  </m:r>
                                  <m:r>
                                    <a:rPr lang="en-US" sz="2000" i="1">
                                      <a:latin typeface="Cambria Math" panose="02040503050406030204" pitchFamily="18" charset="0"/>
                                    </a:rPr>
                                    <m:t>∞</m:t>
                                  </m:r>
                                </m:sub>
                                <m:sup>
                                  <m:r>
                                    <a:rPr lang="en-US" sz="2000" i="1">
                                      <a:latin typeface="Cambria Math" panose="02040503050406030204" pitchFamily="18" charset="0"/>
                                    </a:rPr>
                                    <m:t>∞</m:t>
                                  </m:r>
                                </m:sup>
                                <m:e>
                                  <m:d>
                                    <m:dPr>
                                      <m:ctrlPr>
                                        <a:rPr lang="en-US" sz="2000" i="1">
                                          <a:latin typeface="Cambria Math" panose="02040503050406030204" pitchFamily="18" charset="0"/>
                                        </a:rPr>
                                      </m:ctrlPr>
                                    </m:dPr>
                                    <m:e>
                                      <m:acc>
                                        <m:accPr>
                                          <m:chr m:val="̂"/>
                                          <m:ctrlPr>
                                            <a:rPr lang="en-US" sz="2000" b="0" i="1" dirty="0" smtClean="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r>
                                        <a:rPr lang="en-US" sz="2000" i="1">
                                          <a:latin typeface="Cambria Math" panose="02040503050406030204" pitchFamily="18" charset="0"/>
                                        </a:rPr>
                                        <m:t>−</m:t>
                                      </m:r>
                                      <m:r>
                                        <a:rPr lang="en-US" sz="2000" i="1">
                                          <a:latin typeface="Cambria Math" panose="02040503050406030204" pitchFamily="18" charset="0"/>
                                        </a:rPr>
                                        <m:t>𝐻</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d>
                                  <m:r>
                                    <a:rPr lang="en-US" sz="2000" i="1">
                                      <a:latin typeface="Cambria Math" panose="02040503050406030204" pitchFamily="18" charset="0"/>
                                    </a:rPr>
                                    <m:t>𝑑𝑥</m:t>
                                  </m:r>
                                </m:e>
                              </m:nary>
                            </m:oMath>
                          </a14:m>
                          <a:r>
                            <a:rPr lang="ru-RU" sz="2000" dirty="0"/>
                            <a:t> </a:t>
                          </a:r>
                        </a:p>
                        <a:p>
                          <a:pPr marL="85725" lvl="1" indent="0" algn="ctr">
                            <a:lnSpc>
                              <a:spcPct val="100000"/>
                            </a:lnSpc>
                            <a:spcBef>
                              <a:spcPts val="0"/>
                            </a:spcBef>
                            <a:buNone/>
                          </a:pPr>
                          <a:r>
                            <a:rPr lang="ru-RU" sz="2000" dirty="0"/>
                            <a:t>где</a:t>
                          </a:r>
                          <a:r>
                            <a:rPr lang="en-US" sz="2000" dirty="0"/>
                            <a:t> </a:t>
                          </a:r>
                          <a14:m>
                            <m:oMath xmlns:m="http://schemas.openxmlformats.org/officeDocument/2006/math">
                              <m:acc>
                                <m:accPr>
                                  <m:chr m:val="̂"/>
                                  <m:ctrlPr>
                                    <a:rPr lang="en-US" sz="2000" i="1" dirty="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oMath>
                          </a14:m>
                          <a:r>
                            <a:rPr lang="ru-RU" sz="2000" dirty="0"/>
                            <a:t>—</a:t>
                          </a:r>
                          <a:r>
                            <a:rPr lang="en-US" sz="2000" dirty="0"/>
                            <a:t> </a:t>
                          </a:r>
                          <a:r>
                            <a:rPr lang="ru-RU" sz="2000" dirty="0"/>
                            <a:t>оценка кумулятивного распределение для </a:t>
                          </a:r>
                          <a14:m>
                            <m:oMath xmlns:m="http://schemas.openxmlformats.org/officeDocument/2006/math">
                              <m:r>
                                <a:rPr lang="ru-RU" sz="2000" i="1" dirty="0" smtClean="0">
                                  <a:latin typeface="Cambria Math" panose="02040503050406030204" pitchFamily="18" charset="0"/>
                                </a:rPr>
                                <m:t>х</m:t>
                              </m:r>
                            </m:oMath>
                          </a14:m>
                          <a:r>
                            <a:rPr lang="ru-RU" sz="2000" dirty="0"/>
                            <a:t>,</a:t>
                          </a:r>
                          <a14:m>
                            <m:oMath xmlns:m="http://schemas.openxmlformats.org/officeDocument/2006/math">
                              <m:r>
                                <a:rPr lang="ru-RU" sz="2000" b="0" i="0" dirty="0" smtClean="0">
                                  <a:latin typeface="Cambria Math" panose="02040503050406030204" pitchFamily="18" charset="0"/>
                                </a:rPr>
                                <m:t>   </m:t>
                              </m:r>
                              <m:r>
                                <a:rPr lang="en-US" sz="2000" i="1" dirty="0" smtClean="0">
                                  <a:latin typeface="Cambria Math" panose="02040503050406030204" pitchFamily="18" charset="0"/>
                                </a:rPr>
                                <m:t>𝐻</m:t>
                              </m:r>
                              <m:r>
                                <a:rPr lang="ru-RU" sz="2000" i="1" dirty="0" smtClean="0">
                                  <a:latin typeface="Cambria Math" panose="02040503050406030204" pitchFamily="18" charset="0"/>
                                </a:rPr>
                                <m:t>(х</m:t>
                              </m:r>
                              <m:r>
                                <a:rPr lang="ru-RU" sz="2000" i="1" dirty="0">
                                  <a:latin typeface="Cambria Math" panose="02040503050406030204" pitchFamily="18" charset="0"/>
                                </a:rPr>
                                <m:t>)</m:t>
                              </m:r>
                              <m:r>
                                <a:rPr lang="en-US" sz="2000" i="1" dirty="0">
                                  <a:latin typeface="Cambria Math" panose="02040503050406030204" pitchFamily="18" charset="0"/>
                                </a:rPr>
                                <m:t>=</m:t>
                              </m:r>
                              <m:r>
                                <m:rPr>
                                  <m:sty m:val="p"/>
                                </m:rPr>
                                <a:rPr lang="en-US" sz="2000" i="1" dirty="0">
                                  <a:latin typeface="Cambria Math" panose="02040503050406030204" pitchFamily="18" charset="0"/>
                                </a:rPr>
                                <m:t>max</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dirty="0">
                                  <a:latin typeface="Cambria Math" panose="02040503050406030204" pitchFamily="18" charset="0"/>
                                </a:rPr>
                                <m:t>,0)/</m:t>
                              </m:r>
                              <m:r>
                                <a:rPr lang="en-US" sz="2000" i="1" dirty="0" smtClean="0">
                                  <a:latin typeface="Cambria Math" panose="02040503050406030204" pitchFamily="18" charset="0"/>
                                </a:rPr>
                                <m:t>𝑥</m:t>
                              </m:r>
                            </m:oMath>
                          </a14:m>
                          <a:r>
                            <a:rPr lang="ru-RU" sz="2000" dirty="0"/>
                            <a:t> (ступенька) )— это функция </a:t>
                          </a:r>
                          <a:r>
                            <a:rPr lang="ru-RU" sz="2000" dirty="0" err="1"/>
                            <a:t>Хевисайда</a:t>
                          </a:r>
                          <a:r>
                            <a:rPr lang="en-US" sz="2000" dirty="0"/>
                            <a:t> </a:t>
                          </a:r>
                          <a:endParaRPr lang="ru-RU" sz="2000" dirty="0"/>
                        </a:p>
                        <a:p>
                          <a:pPr algn="ctr" fontAlgn="b"/>
                          <a:endParaRPr lang="ru-RU" sz="2000" b="0" i="0" u="none" strike="noStrike" dirty="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i="0" dirty="0">
                              <a:latin typeface="Calibri" panose="020F0502020204030204" pitchFamily="34" charset="0"/>
                            </a:rPr>
                            <a:t>Одна из приближенных формул</a:t>
                          </a:r>
                          <a:r>
                            <a:rPr lang="en-US" sz="2000" b="0" i="0" u="none" strike="noStrike" dirty="0">
                              <a:solidFill>
                                <a:srgbClr val="000000"/>
                              </a:solidFill>
                              <a:effectLst/>
                              <a:latin typeface="Calibri" panose="020F0502020204030204" pitchFamily="34" charset="0"/>
                            </a:rPr>
                            <a:t>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𝐶𝑅𝑃𝑆</m:t>
                              </m:r>
                              <m:r>
                                <a:rPr lang="en-US" sz="2000" b="0" i="1" u="none" strike="noStrike" dirty="0" smtClean="0">
                                  <a:solidFill>
                                    <a:srgbClr val="000000"/>
                                  </a:solidFill>
                                  <a:effectLst/>
                                  <a:latin typeface="Cambria Math" panose="02040503050406030204" pitchFamily="18" charset="0"/>
                                </a:rPr>
                                <m:t>=</m:t>
                              </m:r>
                              <m:f>
                                <m:fPr>
                                  <m:ctrlPr>
                                    <a:rPr lang="en-US" sz="2000" b="0" i="1" u="none" strike="noStrike" dirty="0" smtClean="0">
                                      <a:solidFill>
                                        <a:srgbClr val="000000"/>
                                      </a:solidFill>
                                      <a:effectLst/>
                                      <a:latin typeface="Cambria Math" panose="02040503050406030204" pitchFamily="18" charset="0"/>
                                    </a:rPr>
                                  </m:ctrlPr>
                                </m:fPr>
                                <m:num>
                                  <m:r>
                                    <a:rPr lang="en-US" sz="2000" b="0" i="1" u="none" strike="noStrike" dirty="0" smtClean="0">
                                      <a:solidFill>
                                        <a:srgbClr val="000000"/>
                                      </a:solidFill>
                                      <a:effectLst/>
                                      <a:latin typeface="Cambria Math" panose="02040503050406030204" pitchFamily="18" charset="0"/>
                                    </a:rPr>
                                    <m:t>2</m:t>
                                  </m:r>
                                </m:num>
                                <m:den>
                                  <m:r>
                                    <a:rPr lang="en-US" sz="2000" b="0" i="1" u="none" strike="noStrike" dirty="0" smtClean="0">
                                      <a:solidFill>
                                        <a:srgbClr val="000000"/>
                                      </a:solidFill>
                                      <a:effectLst/>
                                      <a:latin typeface="Cambria Math" panose="02040503050406030204" pitchFamily="18" charset="0"/>
                                    </a:rPr>
                                    <m:t>𝐾</m:t>
                                  </m:r>
                                </m:den>
                              </m:f>
                              <m:nary>
                                <m:naryPr>
                                  <m:chr m:val="∑"/>
                                  <m:ctrlPr>
                                    <a:rPr lang="en-US" sz="2000" i="1">
                                      <a:latin typeface="Cambria Math" panose="02040503050406030204" pitchFamily="18" charset="0"/>
                                    </a:rPr>
                                  </m:ctrlPr>
                                </m:naryPr>
                                <m:sub>
                                  <m:r>
                                    <a:rPr lang="en-US" sz="2000" i="1">
                                      <a:latin typeface="Cambria Math" panose="02040503050406030204" pitchFamily="18" charset="0"/>
                                    </a:rPr>
                                    <m:t>𝑘</m:t>
                                  </m:r>
                                  <m:r>
                                    <a:rPr lang="en-US" sz="2000" i="1">
                                      <a:latin typeface="Cambria Math" panose="02040503050406030204" pitchFamily="18" charset="0"/>
                                    </a:rPr>
                                    <m:t>=1</m:t>
                                  </m:r>
                                </m:sub>
                                <m:sup>
                                  <m:r>
                                    <a:rPr lang="en-US" sz="2000" i="1">
                                      <a:latin typeface="Cambria Math" panose="02040503050406030204" pitchFamily="18" charset="0"/>
                                    </a:rPr>
                                    <m:t>𝐾</m:t>
                                  </m:r>
                                </m:sup>
                                <m:e>
                                  <m:sSub>
                                    <m:sSubPr>
                                      <m:ctrlPr>
                                        <a:rPr lang="en-US" sz="2000" i="1">
                                          <a:latin typeface="Cambria Math" panose="02040503050406030204" pitchFamily="18" charset="0"/>
                                        </a:rPr>
                                      </m:ctrlPr>
                                    </m:sSubPr>
                                    <m:e>
                                      <m:r>
                                        <a:rPr lang="en-US" sz="2000" i="1">
                                          <a:latin typeface="Cambria Math" panose="02040503050406030204" pitchFamily="18" charset="0"/>
                                        </a:rPr>
                                        <m:t>𝐿</m:t>
                                      </m:r>
                                    </m:e>
                                    <m:sub>
                                      <m:r>
                                        <a:rPr lang="en-US" sz="2000" i="1">
                                          <a:latin typeface="Cambria Math" panose="02040503050406030204" pitchFamily="18" charset="0"/>
                                        </a:rPr>
                                        <m:t>𝜏</m:t>
                                      </m:r>
                                    </m:sub>
                                  </m:sSub>
                                  <m:d>
                                    <m:dPr>
                                      <m:ctrlPr>
                                        <a:rPr lang="ru-RU"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sub>
                                      </m:sSub>
                                    </m:e>
                                  </m:d>
                                </m:e>
                              </m:nary>
                              <m:r>
                                <a:rPr lang="ru-RU" sz="2000" b="0" i="0" smtClean="0">
                                  <a:latin typeface="Cambria Math" panose="02040503050406030204" pitchFamily="18" charset="0"/>
                                </a:rPr>
                                <m:t>,</m:t>
                              </m:r>
                              <m:r>
                                <a:rPr lang="en-US" sz="2000" b="0" i="0" smtClean="0">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𝑘</m:t>
                                  </m:r>
                                </m:num>
                                <m:den>
                                  <m:d>
                                    <m:dPr>
                                      <m:ctrlPr>
                                        <a:rPr lang="en-US" sz="2000" i="1">
                                          <a:latin typeface="Cambria Math" panose="02040503050406030204" pitchFamily="18" charset="0"/>
                                        </a:rPr>
                                      </m:ctrlPr>
                                    </m:dPr>
                                    <m:e>
                                      <m:r>
                                        <a:rPr lang="en-US" sz="2000" i="1">
                                          <a:latin typeface="Cambria Math" panose="02040503050406030204" pitchFamily="18" charset="0"/>
                                        </a:rPr>
                                        <m:t>𝐾</m:t>
                                      </m:r>
                                      <m:r>
                                        <a:rPr lang="en-US" sz="2000" i="1">
                                          <a:latin typeface="Cambria Math" panose="02040503050406030204" pitchFamily="18" charset="0"/>
                                        </a:rPr>
                                        <m:t>+1</m:t>
                                      </m:r>
                                    </m:e>
                                  </m:d>
                                </m:den>
                              </m:f>
                            </m:oMath>
                          </a14:m>
                          <a:endParaRPr lang="ru-RU"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i="0" dirty="0">
                              <a:latin typeface="Calibri" panose="020F0502020204030204" pitchFamily="34" charset="0"/>
                            </a:rPr>
                            <a:t>Оценка всего распределения. </a:t>
                          </a:r>
                        </a:p>
                        <a:p>
                          <a:pPr algn="ctr" fontAlgn="b"/>
                          <a:r>
                            <a:rPr lang="ru-RU" sz="2000" i="0" dirty="0">
                              <a:latin typeface="Calibri" panose="020F0502020204030204" pitchFamily="34" charset="0"/>
                            </a:rPr>
                            <a:t>Чем</a:t>
                          </a:r>
                          <a:r>
                            <a:rPr lang="ru-RU" sz="2000" i="0" baseline="0" dirty="0">
                              <a:latin typeface="Calibri" panose="020F0502020204030204" pitchFamily="34" charset="0"/>
                            </a:rPr>
                            <a:t> меньше – тем лучше.</a:t>
                          </a:r>
                        </a:p>
                        <a:p>
                          <a:pPr algn="ctr" fontAlgn="b"/>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𝑆𝐹𝐶𝑅𝐼𝑆𝑃</m:t>
                                </m:r>
                                <m:r>
                                  <a:rPr lang="en-US" sz="2000" i="1" dirty="0" smtClean="0">
                                    <a:latin typeface="Cambria Math" panose="02040503050406030204" pitchFamily="18" charset="0"/>
                                  </a:rPr>
                                  <m:t> = </m:t>
                                </m:r>
                                <m:f>
                                  <m:fPr>
                                    <m:ctrlPr>
                                      <a:rPr lang="en-US" sz="2000" i="1" dirty="0" smtClean="0">
                                        <a:latin typeface="Cambria Math" panose="02040503050406030204" pitchFamily="18" charset="0"/>
                                      </a:rPr>
                                    </m:ctrlPr>
                                  </m:fPr>
                                  <m:num>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r>
                                      <a:rPr lang="en-US" sz="2000" i="1">
                                        <a:latin typeface="Cambria Math" panose="02040503050406030204" pitchFamily="18" charset="0"/>
                                      </a:rPr>
                                      <m:t>−</m:t>
                                    </m:r>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𝑚𝑜𝑑𝑒𝑙</m:t>
                                        </m:r>
                                      </m:sub>
                                    </m:sSub>
                                  </m:num>
                                  <m:den>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den>
                                </m:f>
                              </m:oMath>
                            </m:oMathPara>
                          </a14:m>
                          <a:endParaRPr lang="en-US"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314325">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C</a:t>
                          </a:r>
                          <a:r>
                            <a:rPr lang="ru-RU" sz="2000" b="0" i="0" u="none" strike="noStrike" dirty="0" smtClean="0">
                              <a:solidFill>
                                <a:srgbClr val="000000"/>
                              </a:solidFill>
                              <a:effectLst/>
                              <a:latin typeface="Calibri" panose="020F0502020204030204" pitchFamily="34" charset="0"/>
                            </a:rPr>
                            <a:t>специальные метрики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smtClean="0">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923925">
                    <a:tc>
                      <a:txBody>
                        <a:bodyPr/>
                        <a:lstStyle/>
                        <a:p>
                          <a:pPr algn="ctr" fontAlgn="b"/>
                          <a:r>
                            <a:rPr lang="ru-RU" sz="2000" b="0" i="0" u="none" strike="noStrike" dirty="0" smtClean="0">
                              <a:solidFill>
                                <a:srgbClr val="000000"/>
                              </a:solidFill>
                              <a:effectLst/>
                              <a:latin typeface="Calibri" panose="020F0502020204030204" pitchFamily="34" charset="0"/>
                            </a:rPr>
                            <a:t>Конформное предсказание</a:t>
                          </a:r>
                          <a:endParaRPr lang="en-US" sz="2000" b="0" i="0" u="none" strike="noStrike" dirty="0" smtClean="0">
                            <a:solidFill>
                              <a:srgbClr val="000000"/>
                            </a:solidFill>
                            <a:effectLst/>
                            <a:latin typeface="Calibri" panose="020F0502020204030204" pitchFamily="34" charset="0"/>
                          </a:endParaRPr>
                        </a:p>
                        <a:p>
                          <a:pPr algn="ctr" fontAlgn="b"/>
                          <a:r>
                            <a:rPr lang="en-US" sz="2000" b="0" i="0" u="none" strike="noStrike" dirty="0" smtClean="0">
                              <a:solidFill>
                                <a:srgbClr val="000000"/>
                              </a:solidFill>
                              <a:effectLst/>
                              <a:latin typeface="+mj-lt"/>
                            </a:rPr>
                            <a:t>Calibration Error</a:t>
                          </a:r>
                          <a:r>
                            <a:rPr lang="ru-RU" sz="2000" b="0" i="0" u="none" strike="noStrike" dirty="0" smtClean="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40789" r="-101850" b="-473026"/>
                          </a:stretch>
                        </a:blipFill>
                      </a:tcPr>
                    </a:tc>
                    <a:tc>
                      <a:txBody>
                        <a:bodyPr/>
                        <a:lstStyle/>
                        <a:p>
                          <a:pPr algn="ctr" fontAlgn="b"/>
                          <a:r>
                            <a:rPr lang="ru-RU" sz="2000" b="0" i="0" u="none" strike="noStrike" dirty="0" smtClean="0">
                              <a:solidFill>
                                <a:srgbClr val="000000"/>
                              </a:solidFill>
                              <a:effectLst/>
                              <a:latin typeface="Calibri" panose="020F0502020204030204" pitchFamily="34" charset="0"/>
                            </a:rPr>
                            <a:t>Чем меньше, тем лучше.  </a:t>
                          </a:r>
                        </a:p>
                        <a:p>
                          <a:pPr algn="ctr" fontAlgn="b"/>
                          <a:r>
                            <a:rPr lang="ru-RU" sz="2000" b="0" i="0" u="none" strike="noStrike" dirty="0" smtClean="0">
                              <a:solidFill>
                                <a:srgbClr val="000000"/>
                              </a:solidFill>
                              <a:effectLst/>
                              <a:latin typeface="Calibri" panose="020F0502020204030204" pitchFamily="34" charset="0"/>
                            </a:rPr>
                            <a:t>Если</a:t>
                          </a:r>
                          <a:r>
                            <a:rPr lang="ru-RU" sz="2000" b="0" i="0" u="none" strike="noStrike" baseline="0" dirty="0" smtClean="0">
                              <a:solidFill>
                                <a:srgbClr val="000000"/>
                              </a:solidFill>
                              <a:effectLst/>
                              <a:latin typeface="Calibri" panose="020F0502020204030204" pitchFamily="34" charset="0"/>
                            </a:rPr>
                            <a:t> в 95% интервал попало 95% </a:t>
                          </a:r>
                          <a:r>
                            <a:rPr lang="en-US" sz="2000" b="0" i="0" u="none" strike="noStrike" baseline="0" dirty="0" smtClean="0">
                              <a:solidFill>
                                <a:srgbClr val="000000"/>
                              </a:solidFill>
                              <a:effectLst/>
                              <a:latin typeface="Calibri" panose="020F0502020204030204" pitchFamily="34" charset="0"/>
                            </a:rPr>
                            <a:t>CE=0</a:t>
                          </a:r>
                        </a:p>
                        <a:p>
                          <a:pPr algn="ctr" fontAlgn="b"/>
                          <a:r>
                            <a:rPr lang="ru-RU" sz="1800" b="0" i="0" u="none" strike="noStrike" dirty="0" smtClean="0">
                              <a:solidFill>
                                <a:srgbClr val="000000"/>
                              </a:solidFill>
                              <a:effectLst/>
                              <a:latin typeface="Calibri" panose="020F0502020204030204" pitchFamily="34" charset="0"/>
                            </a:rPr>
                            <a:t>Если</a:t>
                          </a:r>
                          <a:r>
                            <a:rPr lang="ru-RU" sz="1800" b="0" i="0" u="none" strike="noStrike" baseline="0" dirty="0" smtClean="0">
                              <a:solidFill>
                                <a:srgbClr val="000000"/>
                              </a:solidFill>
                              <a:effectLst/>
                              <a:latin typeface="Calibri" panose="020F0502020204030204" pitchFamily="34" charset="0"/>
                            </a:rPr>
                            <a:t> в 95% интервал попало 100% или 90% </a:t>
                          </a:r>
                          <a:r>
                            <a:rPr lang="en-US" sz="1800" b="0" i="0" u="none" strike="noStrike" baseline="0" dirty="0" smtClean="0">
                              <a:solidFill>
                                <a:srgbClr val="000000"/>
                              </a:solidFill>
                              <a:effectLst/>
                              <a:latin typeface="Calibri" panose="020F0502020204030204" pitchFamily="34" charset="0"/>
                            </a:rPr>
                            <a:t>CE=</a:t>
                          </a:r>
                          <a:r>
                            <a:rPr lang="ru-RU" sz="1800" b="0" i="0" u="none" strike="noStrike" baseline="0" dirty="0" smtClean="0">
                              <a:solidFill>
                                <a:srgbClr val="000000"/>
                              </a:solidFill>
                              <a:effectLst/>
                              <a:latin typeface="Calibri" panose="020F0502020204030204" pitchFamily="34" charset="0"/>
                            </a:rPr>
                            <a:t>5%</a:t>
                          </a:r>
                          <a:endParaRPr lang="en-US" sz="1800" b="0" i="0" u="none" strike="noStrike" baseline="0"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299020">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7" t="-100469" r="-551178" b="-237559"/>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00469" r="-101850" b="-237559"/>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Чем меньше, тем</a:t>
                          </a:r>
                          <a:r>
                            <a:rPr lang="ru-RU" sz="2000" baseline="0" dirty="0" smtClean="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Регрессия смещенного</a:t>
                          </a:r>
                          <a:r>
                            <a:rPr lang="ru-RU" sz="2000" baseline="0" dirty="0" smtClean="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359089">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10052" r="-101850" b="-30412"/>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4587" t="-110052" r="-243" b="-30412"/>
                          </a:stretch>
                        </a:blipFill>
                      </a:tcPr>
                    </a:tc>
                    <a:extLst>
                      <a:ext uri="{0D108BD9-81ED-4DB2-BD59-A6C34878D82A}">
                        <a16:rowId xmlns:a16="http://schemas.microsoft.com/office/drawing/2014/main" val="3825043346"/>
                      </a:ext>
                    </a:extLst>
                  </a:tr>
                </a:tbl>
              </a:graphicData>
            </a:graphic>
          </p:graphicFrame>
        </mc:Fallback>
      </mc:AlternateContent>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p:spTree>
    <p:extLst>
      <p:ext uri="{BB962C8B-B14F-4D97-AF65-F5344CB8AC3E}">
        <p14:creationId xmlns:p14="http://schemas.microsoft.com/office/powerpoint/2010/main" val="2279755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250" y="27774"/>
            <a:ext cx="11268075" cy="1006475"/>
          </a:xfrm>
        </p:spPr>
        <p:txBody>
          <a:bodyPr/>
          <a:lstStyle/>
          <a:p>
            <a:pPr algn="ctr"/>
            <a:r>
              <a:rPr lang="ru-RU" dirty="0"/>
              <a:t>Методы оценки неопределенности</a:t>
            </a:r>
          </a:p>
        </p:txBody>
      </p:sp>
      <p:graphicFrame>
        <p:nvGraphicFramePr>
          <p:cNvPr id="4" name="Объект 3"/>
          <p:cNvGraphicFramePr>
            <a:graphicFrameLocks noGrp="1"/>
          </p:cNvGraphicFramePr>
          <p:nvPr>
            <p:ph idx="1"/>
            <p:extLst>
              <p:ext uri="{D42A27DB-BD31-4B8C-83A1-F6EECF244321}">
                <p14:modId xmlns:p14="http://schemas.microsoft.com/office/powerpoint/2010/main" val="2477142671"/>
              </p:ext>
            </p:extLst>
          </p:nvPr>
        </p:nvGraphicFramePr>
        <p:xfrm>
          <a:off x="214312" y="1034249"/>
          <a:ext cx="11715750" cy="4314825"/>
        </p:xfrm>
        <a:graphic>
          <a:graphicData uri="http://schemas.openxmlformats.org/drawingml/2006/table">
            <a:tbl>
              <a:tblPr>
                <a:tableStyleId>{616DA210-FB5B-4158-B5E0-FEB733F419BA}</a:tableStyleId>
              </a:tblPr>
              <a:tblGrid>
                <a:gridCol w="1747838">
                  <a:extLst>
                    <a:ext uri="{9D8B030D-6E8A-4147-A177-3AD203B41FA5}">
                      <a16:colId xmlns:a16="http://schemas.microsoft.com/office/drawing/2014/main" val="1118735917"/>
                    </a:ext>
                  </a:extLst>
                </a:gridCol>
                <a:gridCol w="5429250">
                  <a:extLst>
                    <a:ext uri="{9D8B030D-6E8A-4147-A177-3AD203B41FA5}">
                      <a16:colId xmlns:a16="http://schemas.microsoft.com/office/drawing/2014/main" val="1589404339"/>
                    </a:ext>
                  </a:extLst>
                </a:gridCol>
                <a:gridCol w="4538662">
                  <a:extLst>
                    <a:ext uri="{9D8B030D-6E8A-4147-A177-3AD203B41FA5}">
                      <a16:colId xmlns:a16="http://schemas.microsoft.com/office/drawing/2014/main" val="226784822"/>
                    </a:ext>
                  </a:extLst>
                </a:gridCol>
              </a:tblGrid>
              <a:tr h="181980">
                <a:tc>
                  <a:txBody>
                    <a:bodyPr/>
                    <a:lstStyle/>
                    <a:p>
                      <a:pPr algn="ctr" fontAlgn="b"/>
                      <a:r>
                        <a:rPr lang="ru-RU" sz="2000" b="1" u="none" strike="noStrike" dirty="0">
                          <a:effectLst/>
                        </a:rPr>
                        <a:t>Метод</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Плюсы</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Минусы</a:t>
                      </a:r>
                      <a:endParaRPr lang="ru-RU"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52595180"/>
                  </a:ext>
                </a:extLst>
              </a:tr>
              <a:tr h="679225">
                <a:tc>
                  <a:txBody>
                    <a:bodyPr/>
                    <a:lstStyle/>
                    <a:p>
                      <a:pPr algn="l" fontAlgn="b"/>
                      <a:r>
                        <a:rPr lang="ru-RU" sz="2000" u="none" strike="noStrike" dirty="0">
                          <a:effectLst/>
                        </a:rPr>
                        <a:t>Конформное предсказание</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Гарантированное покрытие (надежность), </a:t>
                      </a:r>
                    </a:p>
                    <a:p>
                      <a:pPr marL="342900" indent="-161925" algn="l" fontAlgn="b">
                        <a:buFont typeface="Arial" panose="020B0604020202020204" pitchFamily="34" charset="0"/>
                        <a:buChar char="•"/>
                      </a:pPr>
                      <a:r>
                        <a:rPr lang="ru-RU" sz="2000" u="none" strike="noStrike" dirty="0">
                          <a:effectLst/>
                        </a:rPr>
                        <a:t>Калибрует</a:t>
                      </a:r>
                      <a:r>
                        <a:rPr lang="ru-RU" sz="2000" u="none" strike="noStrike" baseline="0" dirty="0">
                          <a:effectLst/>
                        </a:rPr>
                        <a:t> другие методы оценки</a:t>
                      </a:r>
                      <a:endParaRPr lang="ru-RU" sz="2000" u="none" strike="noStrike" dirty="0">
                        <a:effectLst/>
                      </a:endParaRPr>
                    </a:p>
                    <a:p>
                      <a:pPr marL="342900" indent="-161925" algn="l" fontAlgn="b">
                        <a:buFont typeface="Arial" panose="020B0604020202020204" pitchFamily="34" charset="0"/>
                        <a:buChar char="•"/>
                      </a:pPr>
                      <a:r>
                        <a:rPr lang="ru-RU" sz="2000" u="none" strike="noStrike" dirty="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a:effectLst/>
                        </a:rPr>
                        <a:t>скорость</a:t>
                      </a:r>
                      <a:r>
                        <a:rPr lang="ru-RU" sz="2000" u="none" strike="noStrike" baseline="0" dirty="0">
                          <a:effectLst/>
                        </a:rPr>
                        <a:t> оценки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Требует калибровочную выборку, </a:t>
                      </a:r>
                    </a:p>
                    <a:p>
                      <a:pPr marL="342900" indent="-161925" algn="l" fontAlgn="b">
                        <a:buFont typeface="Arial" panose="020B0604020202020204" pitchFamily="34" charset="0"/>
                        <a:buChar char="•"/>
                      </a:pPr>
                      <a:r>
                        <a:rPr lang="ru-RU" sz="2000" u="none" strike="noStrike" dirty="0">
                          <a:effectLst/>
                        </a:rPr>
                        <a:t>может давать широкие интервалы</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Работает если тест и </a:t>
                      </a:r>
                      <a:r>
                        <a:rPr lang="ru-RU" sz="2000" b="0" i="0" u="none" strike="noStrike" dirty="0" err="1">
                          <a:solidFill>
                            <a:srgbClr val="000000"/>
                          </a:solidFill>
                          <a:effectLst/>
                          <a:latin typeface="Calibri" panose="020F0502020204030204" pitchFamily="34" charset="0"/>
                        </a:rPr>
                        <a:t>калиб</a:t>
                      </a:r>
                      <a:r>
                        <a:rPr lang="ru-RU" sz="2000" b="0" i="0" u="none" strike="noStrike" dirty="0">
                          <a:solidFill>
                            <a:srgbClr val="000000"/>
                          </a:solidFill>
                          <a:effectLst/>
                          <a:latin typeface="Calibri" panose="020F0502020204030204" pitchFamily="34" charset="0"/>
                        </a:rPr>
                        <a:t> </a:t>
                      </a:r>
                      <a:r>
                        <a:rPr lang="ru-RU" sz="2000" b="0" i="0" u="none" strike="noStrike" dirty="0" err="1">
                          <a:solidFill>
                            <a:srgbClr val="000000"/>
                          </a:solidFill>
                          <a:effectLst/>
                          <a:latin typeface="Calibri" panose="020F0502020204030204" pitchFamily="34" charset="0"/>
                        </a:rPr>
                        <a:t>обменны</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1885817"/>
                  </a:ext>
                </a:extLst>
              </a:tr>
              <a:tr h="510735">
                <a:tc>
                  <a:txBody>
                    <a:bodyPr/>
                    <a:lstStyle/>
                    <a:p>
                      <a:pPr algn="l" fontAlgn="b"/>
                      <a:r>
                        <a:rPr lang="ru-RU" sz="2000" u="none" strike="noStrike">
                          <a:effectLst/>
                        </a:rPr>
                        <a:t>Бутстреп</a:t>
                      </a:r>
                      <a:endParaRPr lang="ru-RU" sz="2000" b="0" i="0" u="none" strike="noStrike">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a:effectLst/>
                        </a:rPr>
                        <a:t>Работа на небольших выборках</a:t>
                      </a: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Высокие вычислительные затраты, </a:t>
                      </a:r>
                    </a:p>
                    <a:p>
                      <a:pPr marL="342900" indent="-161925" algn="l" fontAlgn="b">
                        <a:buFont typeface="Arial" panose="020B0604020202020204" pitchFamily="34" charset="0"/>
                        <a:buChar char="•"/>
                      </a:pPr>
                      <a:r>
                        <a:rPr lang="ru-RU" sz="2000" u="none" strike="noStrike" dirty="0">
                          <a:effectLst/>
                        </a:rPr>
                        <a:t>нет гарантии покрытия, </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Низка интерпретируемость</a:t>
                      </a:r>
                    </a:p>
                  </a:txBody>
                  <a:tcPr marL="9525" marR="9525" marT="9525" marB="0" anchor="b"/>
                </a:tc>
                <a:extLst>
                  <a:ext uri="{0D108BD9-81ED-4DB2-BD59-A6C34878D82A}">
                    <a16:rowId xmlns:a16="http://schemas.microsoft.com/office/drawing/2014/main" val="157202843"/>
                  </a:ext>
                </a:extLst>
              </a:tr>
              <a:tr h="355082">
                <a:tc>
                  <a:txBody>
                    <a:bodyPr/>
                    <a:lstStyle/>
                    <a:p>
                      <a:pPr algn="l" fontAlgn="b"/>
                      <a:r>
                        <a:rPr lang="ru-RU" sz="1800" b="0" i="0" kern="1200" dirty="0" err="1">
                          <a:solidFill>
                            <a:schemeClr val="tx1"/>
                          </a:solidFill>
                          <a:effectLst/>
                          <a:latin typeface="+mn-lt"/>
                          <a:ea typeface="+mn-ea"/>
                          <a:cs typeface="+mn-cs"/>
                        </a:rPr>
                        <a:t>Квантильная</a:t>
                      </a:r>
                      <a:r>
                        <a:rPr lang="ru-RU" sz="1800" b="0" i="0" kern="1200" dirty="0">
                          <a:solidFill>
                            <a:schemeClr val="tx1"/>
                          </a:solidFill>
                          <a:effectLst/>
                          <a:latin typeface="+mn-lt"/>
                          <a:ea typeface="+mn-ea"/>
                          <a:cs typeface="+mn-cs"/>
                        </a:rPr>
                        <a:t> регрессия</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b="0" i="0" kern="1200" dirty="0">
                          <a:solidFill>
                            <a:schemeClr val="tx1"/>
                          </a:solidFill>
                          <a:effectLst/>
                          <a:latin typeface="+mn-lt"/>
                          <a:ea typeface="+mn-ea"/>
                          <a:cs typeface="+mn-cs"/>
                        </a:rPr>
                        <a:t>Прогнозирование только нужных квантилей</a:t>
                      </a:r>
                    </a:p>
                    <a:p>
                      <a:pPr marL="342900" marR="0" indent="-161925"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ru-RU" sz="2000" u="none" strike="noStrike" dirty="0">
                          <a:effectLst/>
                        </a:rPr>
                        <a:t>Не требует предположений о распределении, </a:t>
                      </a:r>
                    </a:p>
                  </a:txBody>
                  <a:tcPr marL="9525" marR="9525" marT="9525" marB="0" anchor="b"/>
                </a:tc>
                <a:tc>
                  <a:txBody>
                    <a:bodyPr/>
                    <a:lstStyle/>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Нет гарантий покрытия</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Зависит от метрики</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Только экстремальные</a:t>
                      </a:r>
                      <a:r>
                        <a:rPr lang="ru-RU" sz="2000" b="0" i="0" u="none" strike="noStrike" baseline="0" dirty="0">
                          <a:solidFill>
                            <a:srgbClr val="000000"/>
                          </a:solidFill>
                          <a:effectLst/>
                          <a:latin typeface="Calibri" panose="020F0502020204030204" pitchFamily="34" charset="0"/>
                        </a:rPr>
                        <a:t> события</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44914360"/>
                  </a:ext>
                </a:extLst>
              </a:tr>
              <a:tr h="711378">
                <a:tc>
                  <a:txBody>
                    <a:bodyPr/>
                    <a:lstStyle/>
                    <a:p>
                      <a:pPr algn="l" fontAlgn="b"/>
                      <a:r>
                        <a:rPr lang="ru-RU" sz="2000" u="none" strike="noStrike" dirty="0">
                          <a:effectLst/>
                        </a:rPr>
                        <a:t>Аналитический метод</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Быстрый, </a:t>
                      </a:r>
                    </a:p>
                    <a:p>
                      <a:pPr marL="342900" indent="-161925" algn="l" fontAlgn="b">
                        <a:buFont typeface="Arial" panose="020B0604020202020204" pitchFamily="34" charset="0"/>
                        <a:buChar char="•"/>
                      </a:pPr>
                      <a:r>
                        <a:rPr lang="ru-RU" sz="2000" u="none" strike="noStrike" dirty="0">
                          <a:effectLst/>
                        </a:rPr>
                        <a:t>Интерпретируемый, </a:t>
                      </a:r>
                    </a:p>
                    <a:p>
                      <a:pPr marL="342900" indent="-161925" algn="l" fontAlgn="b">
                        <a:buFont typeface="Arial" panose="020B0604020202020204" pitchFamily="34" charset="0"/>
                        <a:buChar char="•"/>
                      </a:pPr>
                      <a:r>
                        <a:rPr lang="ru-RU" sz="2000" u="none" strike="noStrike" dirty="0" err="1">
                          <a:effectLst/>
                        </a:rPr>
                        <a:t>бенчмарк</a:t>
                      </a:r>
                      <a:r>
                        <a:rPr lang="ru-RU" sz="2000" u="none" strike="noStrike" baseline="0" dirty="0">
                          <a:effectLst/>
                        </a:rPr>
                        <a:t> оценки неопределённости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Работает</a:t>
                      </a:r>
                      <a:r>
                        <a:rPr lang="ru-RU" sz="2000" u="none" strike="noStrike" baseline="0" dirty="0">
                          <a:effectLst/>
                        </a:rPr>
                        <a:t> только для некоторых моделей</a:t>
                      </a:r>
                    </a:p>
                    <a:p>
                      <a:pPr marL="342900" indent="-161925" algn="l" fontAlgn="b">
                        <a:buFont typeface="Arial" panose="020B0604020202020204" pitchFamily="34" charset="0"/>
                        <a:buChar char="•"/>
                      </a:pPr>
                      <a:r>
                        <a:rPr lang="ru-RU" sz="2000" b="0" i="0" u="none" strike="noStrike" baseline="0" dirty="0">
                          <a:solidFill>
                            <a:srgbClr val="000000"/>
                          </a:solidFill>
                          <a:effectLst/>
                          <a:latin typeface="Calibri" panose="020F0502020204030204" pitchFamily="34" charset="0"/>
                        </a:rPr>
                        <a:t>Требует нормального распределения</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14957530"/>
                  </a:ext>
                </a:extLst>
              </a:tr>
            </a:tbl>
          </a:graphicData>
        </a:graphic>
      </p:graphicFrame>
      <p:sp>
        <p:nvSpPr>
          <p:cNvPr id="5" name="Прямоугольник 4"/>
          <p:cNvSpPr/>
          <p:nvPr/>
        </p:nvSpPr>
        <p:spPr>
          <a:xfrm>
            <a:off x="214312" y="6470877"/>
            <a:ext cx="11458575" cy="276999"/>
          </a:xfrm>
          <a:prstGeom prst="rect">
            <a:avLst/>
          </a:prstGeom>
        </p:spPr>
        <p:txBody>
          <a:bodyPr wrap="square">
            <a:spAutoFit/>
          </a:bodyPr>
          <a:lstStyle/>
          <a:p>
            <a:r>
              <a:rPr lang="ru-RU" sz="1200" dirty="0"/>
              <a:t>https://nixtlaverse.nixtla.io/mlforecast/docs/tutorials/prediction_intervals_in_forecasting_models.html#prediction-intervals-from-bootstrapped-residuals</a:t>
            </a:r>
          </a:p>
        </p:txBody>
      </p:sp>
    </p:spTree>
    <p:extLst>
      <p:ext uri="{BB962C8B-B14F-4D97-AF65-F5344CB8AC3E}">
        <p14:creationId xmlns:p14="http://schemas.microsoft.com/office/powerpoint/2010/main" val="2806667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Мониторинг </a:t>
            </a:r>
          </a:p>
        </p:txBody>
      </p:sp>
      <p:sp>
        <p:nvSpPr>
          <p:cNvPr id="3" name="Объект 2"/>
          <p:cNvSpPr>
            <a:spLocks noGrp="1"/>
          </p:cNvSpPr>
          <p:nvPr>
            <p:ph idx="1"/>
          </p:nvPr>
        </p:nvSpPr>
        <p:spPr>
          <a:xfrm>
            <a:off x="155576" y="704851"/>
            <a:ext cx="11920582" cy="5972174"/>
          </a:xfrm>
        </p:spPr>
        <p:txBody>
          <a:bodyPr>
            <a:normAutofit fontScale="92500" lnSpcReduction="20000"/>
          </a:bodyPr>
          <a:lstStyle/>
          <a:p>
            <a:pPr marL="447675" lvl="1" indent="-352425">
              <a:lnSpc>
                <a:spcPct val="110000"/>
              </a:lnSpc>
              <a:spcBef>
                <a:spcPts val="600"/>
              </a:spcBef>
            </a:pPr>
            <a:r>
              <a:rPr lang="ru-RU" b="1" dirty="0"/>
              <a:t>Дрейф данных </a:t>
            </a:r>
            <a:r>
              <a:rPr lang="en-US" b="1" dirty="0"/>
              <a:t>(P(x))</a:t>
            </a:r>
            <a:r>
              <a:rPr lang="ru-RU" dirty="0"/>
              <a:t>– изменение в распределение значений ВР на тесте</a:t>
            </a:r>
          </a:p>
          <a:p>
            <a:pPr lvl="2">
              <a:lnSpc>
                <a:spcPct val="110000"/>
              </a:lnSpc>
              <a:spcBef>
                <a:spcPts val="600"/>
              </a:spcBef>
            </a:pPr>
            <a:r>
              <a:rPr lang="ru-RU" sz="2400" dirty="0"/>
              <a:t>из за ограниченности выборки не все паттерны учтены в </a:t>
            </a:r>
            <a:r>
              <a:rPr lang="ru-RU" sz="2400" dirty="0" err="1"/>
              <a:t>трейне</a:t>
            </a:r>
            <a:endParaRPr lang="ru-RU" sz="2400" dirty="0"/>
          </a:p>
          <a:p>
            <a:pPr lvl="3">
              <a:lnSpc>
                <a:spcPct val="110000"/>
              </a:lnSpc>
              <a:spcBef>
                <a:spcPts val="600"/>
              </a:spcBef>
            </a:pPr>
            <a:r>
              <a:rPr lang="ru-RU" sz="2400" dirty="0"/>
              <a:t>Напр., на выборке в 3 года не учтены факторы високосного года.</a:t>
            </a:r>
          </a:p>
          <a:p>
            <a:pPr lvl="4">
              <a:lnSpc>
                <a:spcPct val="110000"/>
              </a:lnSpc>
              <a:spcBef>
                <a:spcPts val="600"/>
              </a:spcBef>
            </a:pPr>
            <a:r>
              <a:rPr lang="ru-RU" sz="2400" dirty="0"/>
              <a:t> Нужно учесть в </a:t>
            </a:r>
            <a:r>
              <a:rPr lang="ru-RU" sz="2400" dirty="0" err="1"/>
              <a:t>трейне</a:t>
            </a:r>
            <a:r>
              <a:rPr lang="ru-RU" sz="2400" dirty="0"/>
              <a:t> и </a:t>
            </a:r>
            <a:r>
              <a:rPr lang="ru-RU" sz="2400" dirty="0" err="1"/>
              <a:t>дообуёчить</a:t>
            </a:r>
            <a:r>
              <a:rPr lang="ru-RU" sz="2400" dirty="0"/>
              <a:t> модель</a:t>
            </a:r>
            <a:endParaRPr lang="en-US" sz="2400" dirty="0"/>
          </a:p>
          <a:p>
            <a:pPr marL="447675" lvl="1" indent="-361950">
              <a:lnSpc>
                <a:spcPct val="110000"/>
              </a:lnSpc>
              <a:spcBef>
                <a:spcPts val="600"/>
              </a:spcBef>
            </a:pPr>
            <a:r>
              <a:rPr lang="ru-RU" b="1" dirty="0"/>
              <a:t>Дрейф концепции</a:t>
            </a:r>
            <a:r>
              <a:rPr lang="en-US" b="1" dirty="0"/>
              <a:t> (P(y))</a:t>
            </a:r>
            <a:r>
              <a:rPr lang="ru-RU" b="1" dirty="0"/>
              <a:t> </a:t>
            </a:r>
            <a:r>
              <a:rPr lang="ru-RU" dirty="0"/>
              <a:t>– Появление истинно новых паттернов в тесте</a:t>
            </a:r>
          </a:p>
          <a:p>
            <a:pPr lvl="3">
              <a:lnSpc>
                <a:spcPct val="110000"/>
              </a:lnSpc>
              <a:spcBef>
                <a:spcPts val="600"/>
              </a:spcBef>
            </a:pPr>
            <a:r>
              <a:rPr lang="ru-RU" sz="2400" dirty="0"/>
              <a:t>Напр., объявлена 4 дневная рабочая неделя. – Нужно учесть пересмотреть модель</a:t>
            </a:r>
          </a:p>
          <a:p>
            <a:pPr marL="0" indent="0">
              <a:lnSpc>
                <a:spcPct val="110000"/>
              </a:lnSpc>
              <a:spcBef>
                <a:spcPts val="600"/>
              </a:spcBef>
              <a:buNone/>
            </a:pPr>
            <a:r>
              <a:rPr lang="ru-RU" sz="2400" b="1" dirty="0"/>
              <a:t>Ковариационный дрейф</a:t>
            </a:r>
            <a:r>
              <a:rPr lang="en-US" sz="2400" b="1" dirty="0"/>
              <a:t> (P(</a:t>
            </a:r>
            <a:r>
              <a:rPr lang="en-US" sz="2400" b="1" dirty="0" err="1"/>
              <a:t>y|x</a:t>
            </a:r>
            <a:r>
              <a:rPr lang="en-US" sz="2400" b="1" dirty="0"/>
              <a:t>))</a:t>
            </a:r>
            <a:r>
              <a:rPr lang="ru-RU" sz="2400" b="1" dirty="0"/>
              <a:t> </a:t>
            </a:r>
            <a:r>
              <a:rPr lang="ru-RU" sz="2400" dirty="0"/>
              <a:t>– поведение объясняющих переменных поменялось.</a:t>
            </a:r>
          </a:p>
          <a:p>
            <a:pPr marL="0" indent="0">
              <a:lnSpc>
                <a:spcPct val="110000"/>
              </a:lnSpc>
              <a:spcBef>
                <a:spcPts val="600"/>
              </a:spcBef>
              <a:buNone/>
            </a:pPr>
            <a:r>
              <a:rPr lang="ru-RU" sz="2400" dirty="0"/>
              <a:t>	напр. продажи мороженного основывались на том, что в </a:t>
            </a:r>
            <a:r>
              <a:rPr lang="ru-RU" sz="2400" dirty="0" err="1"/>
              <a:t>трейне</a:t>
            </a:r>
            <a:r>
              <a:rPr lang="ru-RU" sz="2400" dirty="0"/>
              <a:t> были солнечные дни.</a:t>
            </a:r>
          </a:p>
          <a:p>
            <a:pPr marL="0" indent="0">
              <a:lnSpc>
                <a:spcPct val="110000"/>
              </a:lnSpc>
              <a:spcBef>
                <a:spcPts val="600"/>
              </a:spcBef>
              <a:buNone/>
            </a:pPr>
            <a:r>
              <a:rPr lang="ru-RU" sz="2400" dirty="0"/>
              <a:t>		погода стала чаще пасмурной –продаже падают.</a:t>
            </a:r>
            <a:endParaRPr lang="en-US" sz="2400" dirty="0"/>
          </a:p>
          <a:p>
            <a:pPr marL="0" indent="0">
              <a:buNone/>
            </a:pPr>
            <a:endParaRPr lang="en-US" sz="2100" dirty="0"/>
          </a:p>
          <a:p>
            <a:pPr marL="0" indent="0">
              <a:buNone/>
            </a:pPr>
            <a:r>
              <a:rPr lang="ru-RU" sz="2100" dirty="0"/>
              <a:t>Дрейф можно охарактеризовать как </a:t>
            </a:r>
            <a:r>
              <a:rPr lang="en-US" sz="2100" dirty="0"/>
              <a:t>out-of-distribution</a:t>
            </a:r>
            <a:r>
              <a:rPr lang="ru-RU" sz="2100" dirty="0"/>
              <a:t> </a:t>
            </a:r>
            <a:r>
              <a:rPr lang="en-US" sz="2100" dirty="0"/>
              <a:t>forecasting</a:t>
            </a:r>
            <a:r>
              <a:rPr lang="ru-RU" sz="2100" dirty="0"/>
              <a:t> </a:t>
            </a:r>
            <a:r>
              <a:rPr lang="en-US" sz="2100" dirty="0"/>
              <a:t>(OOD).</a:t>
            </a:r>
          </a:p>
          <a:p>
            <a:pPr marL="0" indent="0">
              <a:buNone/>
            </a:pPr>
            <a:r>
              <a:rPr lang="ru-RU" sz="2100" dirty="0"/>
              <a:t>Часто</a:t>
            </a:r>
            <a:r>
              <a:rPr lang="ru-RU" sz="2100" b="1" dirty="0"/>
              <a:t> </a:t>
            </a:r>
            <a:r>
              <a:rPr lang="en-US" sz="2100" b="1" dirty="0"/>
              <a:t>OOD </a:t>
            </a:r>
            <a:r>
              <a:rPr lang="en-US" sz="2100" dirty="0"/>
              <a:t>– </a:t>
            </a:r>
            <a:r>
              <a:rPr lang="ru-RU" sz="2100" dirty="0"/>
              <a:t>новизна в данных (новое распределение – результат).</a:t>
            </a:r>
            <a:endParaRPr lang="en-US" sz="2100" dirty="0"/>
          </a:p>
          <a:p>
            <a:r>
              <a:rPr lang="ru-RU" sz="2300" dirty="0"/>
              <a:t>Стресс-тесты моделей (искусственные испытания моделей)</a:t>
            </a:r>
          </a:p>
          <a:p>
            <a:r>
              <a:rPr lang="ru-RU" sz="2300" dirty="0"/>
              <a:t>Использование более устойчивых моделей (ансамбли, </a:t>
            </a:r>
            <a:r>
              <a:rPr lang="ru-RU" sz="2300" dirty="0" err="1"/>
              <a:t>бустинг</a:t>
            </a:r>
            <a:r>
              <a:rPr lang="ru-RU" sz="2300" dirty="0"/>
              <a:t> моделей)</a:t>
            </a:r>
          </a:p>
          <a:p>
            <a:r>
              <a:rPr lang="ru-RU" sz="2300" dirty="0"/>
              <a:t>Мониторинг входных  данных и результатов предсказания (</a:t>
            </a:r>
            <a:r>
              <a:rPr lang="ru-RU" sz="2300" dirty="0" err="1"/>
              <a:t>сат.тесты</a:t>
            </a:r>
            <a:r>
              <a:rPr lang="ru-RU" sz="2300" dirty="0"/>
              <a:t>)</a:t>
            </a:r>
          </a:p>
          <a:p>
            <a:r>
              <a:rPr lang="ru-RU" sz="2300" dirty="0"/>
              <a:t>Обучение новых моделей по расписанию (мл </a:t>
            </a:r>
            <a:r>
              <a:rPr lang="ru-RU" sz="2300" dirty="0" err="1"/>
              <a:t>опс</a:t>
            </a:r>
            <a:r>
              <a:rPr lang="ru-RU" sz="2300" dirty="0"/>
              <a:t>)</a:t>
            </a:r>
          </a:p>
          <a:p>
            <a:pPr marL="0" indent="0">
              <a:buNone/>
            </a:pPr>
            <a:endParaRPr lang="ru-RU" sz="2100"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9331196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5835" y="271122"/>
            <a:ext cx="11417181" cy="737282"/>
          </a:xfrm>
        </p:spPr>
        <p:txBody>
          <a:bodyPr/>
          <a:lstStyle/>
          <a:p>
            <a:pPr algn="ctr"/>
            <a:r>
              <a:rPr lang="ru-RU" dirty="0"/>
              <a:t>Вопросы для самоконтроля</a:t>
            </a:r>
          </a:p>
        </p:txBody>
      </p:sp>
      <p:sp>
        <p:nvSpPr>
          <p:cNvPr id="3" name="Объект 2"/>
          <p:cNvSpPr>
            <a:spLocks noGrp="1"/>
          </p:cNvSpPr>
          <p:nvPr>
            <p:ph idx="1"/>
          </p:nvPr>
        </p:nvSpPr>
        <p:spPr>
          <a:xfrm>
            <a:off x="350379" y="1008405"/>
            <a:ext cx="11502638" cy="5563312"/>
          </a:xfrm>
        </p:spPr>
        <p:txBody>
          <a:bodyPr/>
          <a:lstStyle/>
          <a:p>
            <a:pPr lvl="0"/>
            <a:r>
              <a:rPr lang="ru-RU" dirty="0"/>
              <a:t>Объясните термин надежность предсказаний. Какие методы оценки надежности можно предложить. Приведите примеры задач для названных методов.</a:t>
            </a:r>
          </a:p>
          <a:p>
            <a:r>
              <a:rPr lang="ru-RU" dirty="0"/>
              <a:t>Приведите примеры ВР, соответствующие рискам надежности ВР. Какие при этом будут особенности остатков модели. Как можно выявить проблемы на метриках и как это скажется на бизнес-метриках.</a:t>
            </a:r>
          </a:p>
          <a:p>
            <a:r>
              <a:rPr lang="ru-RU" dirty="0"/>
              <a:t>Проанализируйте ситуацию когда для одного ВР есть несколько допустимых методов предсказаний. Какие методы какую надежность дадут? Обоснуйте ответ.</a:t>
            </a:r>
          </a:p>
          <a:p>
            <a:r>
              <a:rPr lang="ru-RU" dirty="0"/>
              <a:t>Предложите </a:t>
            </a:r>
            <a:r>
              <a:rPr lang="ru-RU" dirty="0" err="1"/>
              <a:t>пайплайн</a:t>
            </a:r>
            <a:r>
              <a:rPr lang="ru-RU" dirty="0"/>
              <a:t> мониторинга работы метода предсказаний ВР. Как при этом будет надежность провялятся, какие будут риски для бизнес-метрик.</a:t>
            </a:r>
          </a:p>
        </p:txBody>
      </p:sp>
    </p:spTree>
    <p:extLst>
      <p:ext uri="{BB962C8B-B14F-4D97-AF65-F5344CB8AC3E}">
        <p14:creationId xmlns:p14="http://schemas.microsoft.com/office/powerpoint/2010/main" val="1109120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365126"/>
            <a:ext cx="11087100" cy="806450"/>
          </a:xfrm>
        </p:spPr>
        <p:txBody>
          <a:bodyPr/>
          <a:lstStyle/>
          <a:p>
            <a:r>
              <a:rPr lang="ru-RU" dirty="0"/>
              <a:t>Мониторинг </a:t>
            </a:r>
            <a:r>
              <a:rPr lang="en-US" dirty="0"/>
              <a:t>OOD</a:t>
            </a:r>
            <a:endParaRPr lang="ru-RU" dirty="0"/>
          </a:p>
        </p:txBody>
      </p:sp>
      <p:sp>
        <p:nvSpPr>
          <p:cNvPr id="3" name="Объект 2"/>
          <p:cNvSpPr>
            <a:spLocks noGrp="1"/>
          </p:cNvSpPr>
          <p:nvPr>
            <p:ph idx="1"/>
          </p:nvPr>
        </p:nvSpPr>
        <p:spPr>
          <a:xfrm>
            <a:off x="419100" y="1171576"/>
            <a:ext cx="10934700" cy="5005387"/>
          </a:xfrm>
        </p:spPr>
        <p:txBody>
          <a:bodyPr/>
          <a:lstStyle/>
          <a:p>
            <a:r>
              <a:rPr lang="ru-RU" dirty="0"/>
              <a:t>Мониторинг основывается на сравнении распределений и отдельных характеристик обучающей и рабочей выборок.</a:t>
            </a:r>
          </a:p>
          <a:p>
            <a:pPr lvl="1"/>
            <a:r>
              <a:rPr lang="ru-RU" dirty="0"/>
              <a:t>Напр. тест </a:t>
            </a:r>
            <a:r>
              <a:rPr lang="ru-RU" dirty="0" err="1"/>
              <a:t>Калмогорова</a:t>
            </a:r>
            <a:r>
              <a:rPr lang="ru-RU" dirty="0"/>
              <a:t>-Смирнова или </a:t>
            </a:r>
            <a:r>
              <a:rPr lang="en-US" dirty="0" err="1"/>
              <a:t>Kullback</a:t>
            </a:r>
            <a:r>
              <a:rPr lang="en-US" dirty="0"/>
              <a:t>–</a:t>
            </a:r>
            <a:r>
              <a:rPr lang="en-US" dirty="0" err="1"/>
              <a:t>Leibler</a:t>
            </a:r>
            <a:r>
              <a:rPr lang="en-US" dirty="0"/>
              <a:t> divergence</a:t>
            </a:r>
            <a:endParaRPr lang="ru-RU" dirty="0"/>
          </a:p>
          <a:p>
            <a:pPr lvl="1"/>
            <a:r>
              <a:rPr lang="ru-RU" dirty="0"/>
              <a:t>Мониторинг средних значений остатков предсказаний</a:t>
            </a:r>
          </a:p>
          <a:p>
            <a:pPr lvl="1"/>
            <a:r>
              <a:rPr lang="ru-RU" dirty="0"/>
              <a:t>Мониторинг суммарной накопленной ошибки предсказаний</a:t>
            </a:r>
          </a:p>
        </p:txBody>
      </p:sp>
    </p:spTree>
    <p:extLst>
      <p:ext uri="{BB962C8B-B14F-4D97-AF65-F5344CB8AC3E}">
        <p14:creationId xmlns:p14="http://schemas.microsoft.com/office/powerpoint/2010/main" val="1718881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3" name="Объект 2"/>
          <p:cNvSpPr>
            <a:spLocks noGrp="1"/>
          </p:cNvSpPr>
          <p:nvPr>
            <p:ph idx="1"/>
          </p:nvPr>
        </p:nvSpPr>
        <p:spPr>
          <a:xfrm>
            <a:off x="155575" y="654681"/>
            <a:ext cx="5094605" cy="5555619"/>
          </a:xfrm>
        </p:spPr>
        <p:txBody>
          <a:bodyPr>
            <a:normAutofit lnSpcReduction="10000"/>
          </a:bodyPr>
          <a:lstStyle/>
          <a:p>
            <a:r>
              <a:rPr lang="ru-RU" dirty="0" err="1"/>
              <a:t>Бутстреп</a:t>
            </a:r>
            <a:r>
              <a:rPr lang="ru-RU" dirty="0"/>
              <a:t> </a:t>
            </a:r>
          </a:p>
          <a:p>
            <a:r>
              <a:rPr lang="ru-RU" dirty="0"/>
              <a:t>Преимущества:</a:t>
            </a:r>
            <a:endParaRPr lang="ru-RU" b="1" dirty="0"/>
          </a:p>
          <a:p>
            <a:pPr lvl="1"/>
            <a:r>
              <a:rPr lang="ru-RU" dirty="0"/>
              <a:t>Не требует предположений о распределении</a:t>
            </a:r>
          </a:p>
          <a:p>
            <a:pPr lvl="1"/>
            <a:r>
              <a:rPr lang="ru-RU" dirty="0"/>
              <a:t>Применим к любым моделям </a:t>
            </a:r>
          </a:p>
          <a:p>
            <a:pPr lvl="1"/>
            <a:r>
              <a:rPr lang="ru-RU" dirty="0"/>
              <a:t>Хорошо работает с нестационарными и шумными данными</a:t>
            </a:r>
          </a:p>
          <a:p>
            <a:pPr lvl="1"/>
            <a:r>
              <a:rPr lang="ru-RU" dirty="0" err="1"/>
              <a:t>Хоршо</a:t>
            </a:r>
            <a:r>
              <a:rPr lang="ru-RU" dirty="0"/>
              <a:t> работает на коротких ВР</a:t>
            </a:r>
          </a:p>
          <a:p>
            <a:r>
              <a:rPr lang="ru-RU" dirty="0"/>
              <a:t>Недостатки:</a:t>
            </a:r>
            <a:endParaRPr lang="ru-RU" b="1" dirty="0"/>
          </a:p>
          <a:p>
            <a:pPr lvl="1"/>
            <a:r>
              <a:rPr lang="ru-RU" dirty="0"/>
              <a:t>Высокие вычислительные затраты</a:t>
            </a:r>
          </a:p>
          <a:p>
            <a:pPr lvl="1"/>
            <a:r>
              <a:rPr lang="ru-RU" dirty="0"/>
              <a:t>Может давать неточные результаты при малом количестве остатков</a:t>
            </a:r>
          </a:p>
          <a:p>
            <a:pPr marL="0" indent="0">
              <a:buNone/>
            </a:pPr>
            <a:endParaRPr lang="ru-RU" sz="2100" b="1"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en-US" sz="1200" dirty="0"/>
              <a:t>https://mapie.readthedocs.io/en/stable/theoretical_description_regression.html#the-split-method</a:t>
            </a:r>
            <a:endParaRPr lang="ru-RU" sz="1200" dirty="0"/>
          </a:p>
        </p:txBody>
      </p:sp>
      <p:sp>
        <p:nvSpPr>
          <p:cNvPr id="10" name="Прямоугольник 9"/>
          <p:cNvSpPr/>
          <p:nvPr/>
        </p:nvSpPr>
        <p:spPr>
          <a:xfrm>
            <a:off x="6268720" y="6543066"/>
            <a:ext cx="6096000" cy="276999"/>
          </a:xfrm>
          <a:prstGeom prst="rect">
            <a:avLst/>
          </a:prstGeom>
        </p:spPr>
        <p:txBody>
          <a:bodyPr>
            <a:spAutoFit/>
          </a:bodyPr>
          <a:lstStyle/>
          <a:p>
            <a:r>
              <a:rPr lang="ru-RU" sz="1200" dirty="0"/>
              <a:t>https://skforecast.org/0.16.0/user_guides/probabilistic-forecasting-overview</a:t>
            </a:r>
          </a:p>
        </p:txBody>
      </p:sp>
      <p:sp>
        <p:nvSpPr>
          <p:cNvPr id="12" name="Объект 2"/>
          <p:cNvSpPr txBox="1">
            <a:spLocks/>
          </p:cNvSpPr>
          <p:nvPr/>
        </p:nvSpPr>
        <p:spPr>
          <a:xfrm>
            <a:off x="5402580" y="795072"/>
            <a:ext cx="6408420" cy="57232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Конформное предсказание (</a:t>
            </a:r>
            <a:r>
              <a:rPr lang="ru-RU" dirty="0" err="1"/>
              <a:t>Conformal</a:t>
            </a:r>
            <a:r>
              <a:rPr lang="ru-RU" dirty="0"/>
              <a:t> </a:t>
            </a:r>
            <a:r>
              <a:rPr lang="ru-RU" dirty="0" err="1"/>
              <a:t>Prediction</a:t>
            </a:r>
            <a:r>
              <a:rPr lang="ru-RU" dirty="0"/>
              <a:t>)</a:t>
            </a:r>
            <a:endParaRPr lang="ru-RU" b="1" dirty="0"/>
          </a:p>
          <a:p>
            <a:r>
              <a:rPr lang="ru-RU" dirty="0"/>
              <a:t>Преимущества:</a:t>
            </a:r>
            <a:endParaRPr lang="ru-RU" b="1" dirty="0"/>
          </a:p>
          <a:p>
            <a:pPr lvl="1"/>
            <a:r>
              <a:rPr lang="ru-RU" dirty="0"/>
              <a:t>Гарантированное покрытие (например, 95% интервал действительно покроет 95% реальных значений)</a:t>
            </a:r>
          </a:p>
          <a:p>
            <a:pPr lvl="1"/>
            <a:r>
              <a:rPr lang="ru-RU" dirty="0"/>
              <a:t>Не требует предположений о распределении</a:t>
            </a:r>
          </a:p>
          <a:p>
            <a:pPr lvl="1"/>
            <a:r>
              <a:rPr lang="ru-RU" dirty="0"/>
              <a:t>Одноразовое оценивание</a:t>
            </a:r>
          </a:p>
          <a:p>
            <a:pPr lvl="1"/>
            <a:r>
              <a:rPr lang="ru-RU" dirty="0"/>
              <a:t>могут калибровать интервалы прогнозирования, сгенерированные с помощью других методов, </a:t>
            </a:r>
          </a:p>
          <a:p>
            <a:r>
              <a:rPr lang="ru-RU" dirty="0"/>
              <a:t>Недостатки:</a:t>
            </a:r>
            <a:endParaRPr lang="ru-RU" b="1" dirty="0"/>
          </a:p>
          <a:p>
            <a:pPr lvl="1"/>
            <a:r>
              <a:rPr lang="ru-RU" dirty="0"/>
              <a:t>Требуется калибровочная выборка</a:t>
            </a:r>
          </a:p>
          <a:p>
            <a:pPr lvl="1"/>
            <a:r>
              <a:rPr lang="ru-RU" dirty="0"/>
              <a:t>Интервалы могут быть слишком широкими , если ошибка модели высока</a:t>
            </a:r>
          </a:p>
        </p:txBody>
      </p:sp>
    </p:spTree>
    <p:extLst>
      <p:ext uri="{BB962C8B-B14F-4D97-AF65-F5344CB8AC3E}">
        <p14:creationId xmlns:p14="http://schemas.microsoft.com/office/powerpoint/2010/main" val="2574023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5122" name="Picture 2" descr="https://kolodezev.ru/images/mlsysd10ods-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068" y="423635"/>
            <a:ext cx="5762978" cy="32416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kolodezev.ru/images/mlsysd10ods-13.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096000" y="3982131"/>
            <a:ext cx="4505074" cy="253410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kolodezev.ru/images/mlsysd10ods-14.png"/>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0" y="423635"/>
            <a:ext cx="5065486" cy="2849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490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sp>
        <p:nvSpPr>
          <p:cNvPr id="4" name="Прямоугольник 3"/>
          <p:cNvSpPr/>
          <p:nvPr/>
        </p:nvSpPr>
        <p:spPr>
          <a:xfrm>
            <a:off x="5631180" y="-61357"/>
            <a:ext cx="6096000" cy="8125301"/>
          </a:xfrm>
          <a:prstGeom prst="rect">
            <a:avLst/>
          </a:prstGeom>
        </p:spPr>
        <p:txBody>
          <a:bodyPr>
            <a:spAutoFit/>
          </a:bodyPr>
          <a:lstStyle/>
          <a:p>
            <a:br>
              <a:rPr lang="en-US" b="1" dirty="0">
                <a:latin typeface="Inter"/>
              </a:rPr>
            </a:br>
            <a:r>
              <a:rPr lang="en-US" b="1" dirty="0">
                <a:latin typeface="Inter"/>
              </a:rPr>
              <a:t>Importance of Confidence Interval Prediction in Time Series:</a:t>
            </a:r>
          </a:p>
          <a:p>
            <a:pPr>
              <a:buFont typeface="+mj-lt"/>
              <a:buAutoNum type="arabicPeriod"/>
            </a:pPr>
            <a:r>
              <a:rPr lang="en-US" dirty="0">
                <a:latin typeface="Inter"/>
              </a:rPr>
              <a:t>Uncertainty Estimation: The confidence interval provides a measure of the uncertainty associated with time series predictions. It enables variability and the range of possible future values to be quantified, which is essential for making informed decisions.</a:t>
            </a:r>
          </a:p>
          <a:p>
            <a:pPr>
              <a:buFont typeface="+mj-lt"/>
              <a:buAutoNum type="arabicPeriod"/>
            </a:pPr>
            <a:r>
              <a:rPr lang="en-US" dirty="0">
                <a:latin typeface="Inter"/>
              </a:rPr>
              <a:t>Precision evaluation: By having a confidence interval, the precision of the predictions can be evaluated. If the interval is narrow, it indicates that the forecast is more accurate and reliable. On the other hand, if the interval is wide, it indicates greater uncertainty and less precision in the predictions.</a:t>
            </a:r>
          </a:p>
          <a:p>
            <a:pPr>
              <a:buFont typeface="+mj-lt"/>
              <a:buAutoNum type="arabicPeriod"/>
            </a:pPr>
            <a:r>
              <a:rPr lang="en-US" dirty="0">
                <a:latin typeface="Inter"/>
              </a:rPr>
              <a:t>Risk management: The confidence interval helps in risk management by providing information about possible future scenarios. It allows identifying the ranges in which the real values could be located and making decisions based on those possible scenarios.</a:t>
            </a:r>
          </a:p>
          <a:p>
            <a:pPr>
              <a:buFont typeface="+mj-lt"/>
              <a:buAutoNum type="arabicPeriod"/>
            </a:pPr>
            <a:r>
              <a:rPr lang="en-US" dirty="0">
                <a:latin typeface="Inter"/>
              </a:rPr>
              <a:t>Effective communication: The confidence interval is a useful tool for communicating predictions clearly and accurately. It allows the variability and uncertainty associated with the predictions to be conveyed to the stakeholders, avoiding a wrong or overly optimistic interpretation of the results.</a:t>
            </a:r>
          </a:p>
          <a:p>
            <a:r>
              <a:rPr lang="en-US" dirty="0">
                <a:latin typeface="Inter"/>
              </a:rPr>
              <a:t>Therefore, confidence interval prediction in time series is essential to understand and manage uncertainty, assess the accuracy of predictions, and make informed decisions based on possible future scenarios.</a:t>
            </a:r>
            <a:endParaRPr lang="en-US" b="0" i="0" dirty="0">
              <a:effectLst/>
              <a:latin typeface="Inter"/>
            </a:endParaRPr>
          </a:p>
        </p:txBody>
      </p:sp>
      <p:sp>
        <p:nvSpPr>
          <p:cNvPr id="5" name="Прямоугольник 4"/>
          <p:cNvSpPr/>
          <p:nvPr/>
        </p:nvSpPr>
        <p:spPr>
          <a:xfrm>
            <a:off x="-472440" y="3504445"/>
            <a:ext cx="6096000" cy="923330"/>
          </a:xfrm>
          <a:prstGeom prst="rect">
            <a:avLst/>
          </a:prstGeom>
        </p:spPr>
        <p:txBody>
          <a:bodyPr>
            <a:spAutoFit/>
          </a:bodyPr>
          <a:lstStyle/>
          <a:p>
            <a:r>
              <a:rPr lang="ru-RU" dirty="0"/>
              <a:t>https://nixtlaverse.nixtla.io/mlforecast/docs/tutorials/prediction_intervals_in_forecasting_models.html#importance-of-confidence-interval-prediction-in-time-series</a:t>
            </a:r>
          </a:p>
        </p:txBody>
      </p:sp>
    </p:spTree>
    <p:extLst>
      <p:ext uri="{BB962C8B-B14F-4D97-AF65-F5344CB8AC3E}">
        <p14:creationId xmlns:p14="http://schemas.microsoft.com/office/powerpoint/2010/main" val="4025077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A3B1A5-BEEC-B3CA-D0EB-A7DFC318C66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3A9E8C0-6911-F041-2725-769B2E4125BF}"/>
              </a:ext>
            </a:extLst>
          </p:cNvPr>
          <p:cNvSpPr>
            <a:spLocks noGrp="1"/>
          </p:cNvSpPr>
          <p:nvPr>
            <p:ph idx="1"/>
          </p:nvPr>
        </p:nvSpPr>
        <p:spPr>
          <a:xfrm>
            <a:off x="97971" y="1690688"/>
            <a:ext cx="11255829" cy="5080226"/>
          </a:xfrm>
        </p:spPr>
        <p:txBody>
          <a:bodyPr>
            <a:normAutofit fontScale="55000" lnSpcReduction="20000"/>
          </a:bodyPr>
          <a:lstStyle/>
          <a:p>
            <a:r>
              <a:rPr lang="ru-RU" dirty="0"/>
              <a:t>В случае временного ряда кросс валидация может быть выполнена в скользящем окне по данным </a:t>
            </a:r>
            <a:r>
              <a:rPr lang="en" dirty="0">
                <a:hlinkClick r:id="rId2"/>
              </a:rPr>
              <a:t>rolling backtest evaluation</a:t>
            </a:r>
            <a:r>
              <a:rPr lang="en" dirty="0"/>
              <a:t>.</a:t>
            </a:r>
          </a:p>
          <a:p>
            <a:r>
              <a:rPr lang="ru-RU" dirty="0">
                <a:hlinkClick r:id="rId3"/>
              </a:rPr>
              <a:t>Приемущественно метода</a:t>
            </a:r>
            <a:r>
              <a:rPr lang="ru-RU" dirty="0"/>
              <a:t> </a:t>
            </a:r>
            <a:r>
              <a:rPr lang="ru-RU" dirty="0" err="1"/>
              <a:t>бектеста</a:t>
            </a:r>
            <a:r>
              <a:rPr lang="ru-RU" dirty="0"/>
              <a:t> скользящим окном следующие:</a:t>
            </a:r>
          </a:p>
          <a:p>
            <a:r>
              <a:rPr lang="ru-RU" dirty="0"/>
              <a:t>позволяет быть уверенным, что прогнозы точны и последовательны в течение длительного периода времени.</a:t>
            </a:r>
          </a:p>
          <a:p>
            <a:r>
              <a:rPr lang="ru-RU" dirty="0"/>
              <a:t>может помочь найти и исправить "</a:t>
            </a:r>
            <a:r>
              <a:rPr lang="ru-RU" dirty="0" err="1"/>
              <a:t>плавоющие</a:t>
            </a:r>
            <a:r>
              <a:rPr lang="ru-RU" dirty="0"/>
              <a:t>" ошибки в модели данных. То есть редкие, но достаточно регулярные ошибки (неучтенную </a:t>
            </a:r>
            <a:r>
              <a:rPr lang="ru-RU" dirty="0" err="1"/>
              <a:t>информоацию</a:t>
            </a:r>
            <a:r>
              <a:rPr lang="ru-RU" dirty="0"/>
              <a:t>), которые можно участь в модели.</a:t>
            </a:r>
          </a:p>
          <a:p>
            <a:r>
              <a:rPr lang="ru-RU" dirty="0"/>
              <a:t>может помочь выявить недостающие внешние факторы в данных, которые помогут модели делать более точные прогнозы.</a:t>
            </a:r>
          </a:p>
          <a:p>
            <a:r>
              <a:rPr lang="ru-RU" dirty="0"/>
              <a:t>Напомним, что в прогнозировании временных рядов под </a:t>
            </a:r>
            <a:r>
              <a:rPr lang="ru-RU" dirty="0" err="1"/>
              <a:t>бэктестингом</a:t>
            </a:r>
            <a:r>
              <a:rPr lang="ru-RU" dirty="0"/>
              <a:t> понимается процесс проверки модели прогноза на исторических данных. Этот метод предполагает пошаговое движение назад во времени, чтобы оценить, насколько хорошо показала бы себя модель, если бы она использовалась для прогнозирования в этот период времени.</a:t>
            </a:r>
          </a:p>
          <a:p>
            <a:r>
              <a:rPr lang="ru-RU" dirty="0"/>
              <a:t>С технической точки зрения идея тут </a:t>
            </a:r>
            <a:r>
              <a:rPr lang="ru-RU" dirty="0">
                <a:hlinkClick r:id="rId4"/>
              </a:rPr>
              <a:t>заключается следующем</a:t>
            </a:r>
            <a:r>
              <a:rPr lang="ru-RU" dirty="0"/>
              <a:t>. Задается </a:t>
            </a:r>
            <a:r>
              <a:rPr lang="ru-RU" dirty="0" err="1"/>
              <a:t>некторая</a:t>
            </a:r>
            <a:r>
              <a:rPr lang="ru-RU" dirty="0"/>
              <a:t> ширина окна временного ряда. Заданное окно скользит по временному ряду с начального положения, например, таким образом, что все данные перед ним являются тренировочными, а после тестовыми. Могут быть и </a:t>
            </a:r>
            <a:r>
              <a:rPr lang="ru-RU" dirty="0">
                <a:hlinkClick r:id="rId5"/>
              </a:rPr>
              <a:t>другие стратегии</a:t>
            </a:r>
            <a:r>
              <a:rPr lang="ru-RU" dirty="0"/>
              <a:t>, например, что только лишь выборка заданного размера перед окном является тренировочной. Такие стратегии называются </a:t>
            </a:r>
            <a:r>
              <a:rPr lang="en" dirty="0" err="1"/>
              <a:t>ExpandingWindowSplitter</a:t>
            </a:r>
            <a:r>
              <a:rPr lang="en" dirty="0"/>
              <a:t> </a:t>
            </a:r>
            <a:r>
              <a:rPr lang="ru-RU" dirty="0"/>
              <a:t>и </a:t>
            </a:r>
            <a:r>
              <a:rPr lang="en" dirty="0" err="1"/>
              <a:t>SlidingWindowSplitter</a:t>
            </a:r>
            <a:r>
              <a:rPr lang="en" dirty="0"/>
              <a:t> </a:t>
            </a:r>
            <a:r>
              <a:rPr lang="ru-RU" dirty="0"/>
              <a:t>соответственно.</a:t>
            </a:r>
          </a:p>
          <a:p>
            <a:r>
              <a:rPr lang="ru-RU" dirty="0"/>
              <a:t>Для использования данных стратегий рекомендуем задавать </a:t>
            </a:r>
            <a:r>
              <a:rPr lang="ru-RU" dirty="0" err="1"/>
              <a:t>оконо</a:t>
            </a:r>
            <a:r>
              <a:rPr lang="ru-RU" dirty="0"/>
              <a:t> списком чисел вместо дат. Попробуем для начала визуализировать </a:t>
            </a:r>
            <a:r>
              <a:rPr lang="en" dirty="0" err="1"/>
              <a:t>ExpandingWindowSplitter</a:t>
            </a:r>
            <a:endParaRPr lang="en" dirty="0"/>
          </a:p>
          <a:p>
            <a:r>
              <a:rPr lang="ru-RU" dirty="0"/>
              <a:t>Отметим что по своей </a:t>
            </a:r>
            <a:r>
              <a:rPr lang="ru-RU" dirty="0" err="1"/>
              <a:t>идеалогии</a:t>
            </a:r>
            <a:r>
              <a:rPr lang="ru-RU" dirty="0"/>
              <a:t> данная процедура аналогична тому, что модель бы тестировалась на поступающих данных в соответствующих рабочих </a:t>
            </a:r>
            <a:r>
              <a:rPr lang="ru-RU" dirty="0" err="1"/>
              <a:t>режмах</a:t>
            </a:r>
            <a:r>
              <a:rPr lang="ru-RU" dirty="0"/>
              <a:t>. При этом целью такого тестирования бы была оценка работоспособности модели. Другими словами тестирование гипотезы о необходимости сменить модель (например переобучить). Такая процедура называется </a:t>
            </a:r>
            <a:r>
              <a:rPr lang="en" dirty="0">
                <a:hlinkClick r:id="rId6"/>
              </a:rPr>
              <a:t>walk-forward validation</a:t>
            </a:r>
            <a:r>
              <a:rPr lang="en" dirty="0"/>
              <a:t>.</a:t>
            </a:r>
          </a:p>
          <a:p>
            <a:endParaRPr lang="ru-RU" dirty="0"/>
          </a:p>
        </p:txBody>
      </p:sp>
    </p:spTree>
    <p:extLst>
      <p:ext uri="{BB962C8B-B14F-4D97-AF65-F5344CB8AC3E}">
        <p14:creationId xmlns:p14="http://schemas.microsoft.com/office/powerpoint/2010/main" val="244562067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5342</TotalTime>
  <Words>3960</Words>
  <Application>Microsoft Macintosh PowerPoint</Application>
  <PresentationFormat>Широкоэкранный</PresentationFormat>
  <Paragraphs>424</Paragraphs>
  <Slides>28</Slides>
  <Notes>2</Notes>
  <HiddenSlides>4</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28</vt:i4>
      </vt:variant>
    </vt:vector>
  </HeadingPairs>
  <TitlesOfParts>
    <vt:vector size="35" baseType="lpstr">
      <vt:lpstr>Arial</vt:lpstr>
      <vt:lpstr>Calibri</vt:lpstr>
      <vt:lpstr>Calibri Light</vt:lpstr>
      <vt:lpstr>Cambria Math</vt:lpstr>
      <vt:lpstr>Inter</vt:lpstr>
      <vt:lpstr>system-ui</vt:lpstr>
      <vt:lpstr>Тема Office</vt:lpstr>
      <vt:lpstr>Оценка надежности предсказаний ВР</vt:lpstr>
      <vt:lpstr>Надёжность предсказания временных рядов</vt:lpstr>
      <vt:lpstr>Источники ошибки предсказаний во ВР</vt:lpstr>
      <vt:lpstr>Пути оценки точности предсказаний модели</vt:lpstr>
      <vt:lpstr>Temporal split</vt:lpstr>
      <vt:lpstr>Walk-forward кросс-валидация </vt:lpstr>
      <vt:lpstr>Walk-forward кросс-валидация </vt:lpstr>
      <vt:lpstr>Backtesting</vt:lpstr>
      <vt:lpstr>Backtesting</vt:lpstr>
      <vt:lpstr>Преимущества Walk-forward cross validation</vt:lpstr>
      <vt:lpstr>Особенности кросс-валидации</vt:lpstr>
      <vt:lpstr>Замечание. Backcast-дополнительная оценка надежности</vt:lpstr>
      <vt:lpstr>Особенности оценки неопределенности </vt:lpstr>
      <vt:lpstr>Особенности оценки неопределенности </vt:lpstr>
      <vt:lpstr>Необходимость вероятностных оценок</vt:lpstr>
      <vt:lpstr>Необходимость вероятностных оценок</vt:lpstr>
      <vt:lpstr>Особенности оценки неопределенности </vt:lpstr>
      <vt:lpstr>Особенности оценки неопределенности </vt:lpstr>
      <vt:lpstr>Метрики оценки неопределенности</vt:lpstr>
      <vt:lpstr>Метрики оценки неопределенности</vt:lpstr>
      <vt:lpstr>Методы оценки неопределенности</vt:lpstr>
      <vt:lpstr>Мониторинг </vt:lpstr>
      <vt:lpstr>Вопросы для самоконтроля</vt:lpstr>
      <vt:lpstr>Мониторинг OOD</vt:lpstr>
      <vt:lpstr>Особенности оценки неопределенности </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296</cp:revision>
  <dcterms:created xsi:type="dcterms:W3CDTF">2021-10-31T10:57:36Z</dcterms:created>
  <dcterms:modified xsi:type="dcterms:W3CDTF">2026-05-15T16:57:36Z</dcterms:modified>
</cp:coreProperties>
</file>