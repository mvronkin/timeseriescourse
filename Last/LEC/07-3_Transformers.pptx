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428" r:id="rId3"/>
    <p:sldId id="433" r:id="rId4"/>
    <p:sldId id="429" r:id="rId5"/>
    <p:sldId id="432" r:id="rId6"/>
    <p:sldId id="441" r:id="rId7"/>
    <p:sldId id="434" r:id="rId8"/>
    <p:sldId id="366" r:id="rId9"/>
    <p:sldId id="443" r:id="rId10"/>
    <p:sldId id="454" r:id="rId11"/>
    <p:sldId id="450" r:id="rId12"/>
    <p:sldId id="453" r:id="rId13"/>
    <p:sldId id="455" r:id="rId14"/>
    <p:sldId id="452" r:id="rId15"/>
    <p:sldId id="458" r:id="rId16"/>
    <p:sldId id="456" r:id="rId17"/>
    <p:sldId id="465" r:id="rId18"/>
    <p:sldId id="461" r:id="rId19"/>
    <p:sldId id="466" r:id="rId20"/>
    <p:sldId id="459" r:id="rId21"/>
    <p:sldId id="463" r:id="rId22"/>
    <p:sldId id="460" r:id="rId23"/>
    <p:sldId id="457" r:id="rId24"/>
    <p:sldId id="46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18" autoAdjust="0"/>
    <p:restoredTop sz="84521" autoAdjust="0"/>
  </p:normalViewPr>
  <p:slideViewPr>
    <p:cSldViewPr snapToGrid="0">
      <p:cViewPr varScale="1">
        <p:scale>
          <a:sx n="102" d="100"/>
          <a:sy n="102" d="100"/>
        </p:scale>
        <p:origin x="1272" y="176"/>
      </p:cViewPr>
      <p:guideLst/>
    </p:cSldViewPr>
  </p:slideViewPr>
  <p:notesTextViewPr>
    <p:cViewPr>
      <p:scale>
        <a:sx n="50" d="100"/>
        <a:sy n="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3D302D-D8E5-5146-B626-737F192C3BD3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180E86-9708-4F42-A49B-C22D9D956F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8342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FC39F-7386-47E9-0BB9-547BA9949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78BEE13-2BE9-58A6-4DB3-E461BBA6C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CC42B24-BAF7-E64C-8D52-F383FAA676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Локальная нормализация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Вместо глобальной нормализации (по всему ряду) — нормализация на уровне окна.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каждого входного окна: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Вычисляется среднее и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std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 по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encoder-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части.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Эти параметры применяются и к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encoder,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к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decoder.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Преимущества: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Устойчивость к трендам и сдвигам.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требует "возврата" шкалы при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инференсе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b="0" dirty="0">
                <a:effectLst/>
              </a:rPr>
              <a:t>Рекомендация: не удаляйте тренд и сезонность заранее — современные модели (включая глубокие) лучше справляются с этим внутри себя (см. </a:t>
            </a:r>
            <a:r>
              <a:rPr lang="en" b="0" dirty="0">
                <a:effectLst/>
              </a:rPr>
              <a:t>ES-RNN, </a:t>
            </a:r>
            <a:r>
              <a:rPr lang="ru-RU" b="0" dirty="0">
                <a:effectLst/>
              </a:rPr>
              <a:t>победитель </a:t>
            </a:r>
            <a:r>
              <a:rPr lang="en" b="0" dirty="0">
                <a:effectLst/>
              </a:rPr>
              <a:t>M4). </a:t>
            </a:r>
          </a:p>
          <a:p>
            <a:br>
              <a:rPr lang="en" dirty="0"/>
            </a:b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C49BCA0-50D7-DA83-EE4F-EAB19877C9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2588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8794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71F5F-C4B4-2A5D-54F8-FF8A3F4C0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236B792-CA68-DA1E-B2F4-86193ED09A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7442F3B-58BB-5C2E-ACD3-1ECAD11E37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584F9ED-7EE5-D087-84B1-BE4061758B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030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25277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CA455-73D2-E92A-4379-F8C16EB81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8A75659-4989-2AB3-2E65-9F6333285A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2AC9B71-B0DA-E3D8-B706-8F227AEED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1B65B8-8D85-438A-5F21-DA63A6BF0F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6590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2800" dirty="0"/>
              <a:t>- Различные головы могут фокусироваться на разных аспектах: - Краткосрочные паттерны - Долгосрочные тренды - Сезонные циклы - Взаимодействия между переменными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113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3467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24052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97763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65275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32389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92515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81673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96854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74377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https://nixtlaverse.nixtla.io/neuralforecast/docs/capabilities/overview.html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3320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8857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9758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0671D0-2BDB-45AF-A851-D661F6D3C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E451CD-2A5A-4E46-AFCE-79644189A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91DB95-3757-4C7E-9F81-5F60BF055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4EC4B4-1367-4D8E-98C3-AEEF96014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66ED29-C873-4543-B7E1-E79BD42C1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052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C2B7CF-4E40-4185-8260-B4FC838AA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145DE7-F6E6-4997-8029-9B80694E3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606A06-4FF1-422C-8D52-F4C6F4EC4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E736CE-F5D0-4002-ADD5-399C62910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5AE779-A848-4796-9479-123BA3A55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72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842B49-AEBD-4573-84CE-134E86D11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53F6D9-0132-470C-8C1F-99E53343B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877F16-A63D-45E3-9E07-B99763F7E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784523-6B3B-4688-A33F-31D12B50A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A97AF9-930F-44FA-AE70-F46166F2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44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D1B7ED-3B4D-4CF3-9AF8-DCFA79455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C7095C-D1F3-448E-A163-D811235902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660A3BF-C8DE-4139-AE13-92B32F003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B7D209-7CF1-481D-A144-80767B40C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B842DF-EF65-4F50-B173-AF5777146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7E9F67-8E18-48D2-8851-11289DBE5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490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E13AA4-4B3E-47CC-84F7-84A4A9120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6C2EB5-78BA-457C-B172-19C0A1917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330350A-7A80-410B-9621-CD22137447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34978DF-27EF-44A3-8C76-B3143C0309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9C3C9DE-74D8-4AC4-BC28-30DCC12920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458EBA5-17CA-4BCA-98D6-C529D9EE4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5/29/26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D42B907-DAD8-46DF-965D-0B85D9D61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47FE150-31C6-4D57-9A40-2BEEDE2DD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745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EDD412-A49B-4A60-BDA9-4DE98A6E7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6332180-815A-4A37-B56E-259D59B73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352E8DE-1155-454F-BB6A-7FB7A49FF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86F4679-CA96-4CE4-872E-B105DE6EB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11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0E88BB0-CD50-48ED-8CDC-08B1E4C22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5/29/26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5A81452-4D20-4FB6-84E4-002112616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D58415-FB42-4A51-9C33-5FC3C862E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334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580E52-EBD8-4698-BC00-B913EC32D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80B661-234C-4994-93A0-D2B9787F9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FEC5A4-924A-4780-B408-DFCD1F4C3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4EEA3B6-18B1-4F03-81C0-729F3C08C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F8AFA4F-041E-4869-8D5B-C232A4DE7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4F7C73E-5593-4555-81D8-EE7DEC175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768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3BDD2B-B107-4E97-B23F-240320E0B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0284E83-FF34-4A04-ACA2-5913DC0EFC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B5989CA-DA16-41CF-9FD1-E3548A24A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633ABB5-76C9-422A-B6D3-931B70C96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AECAB4-441B-4BA1-9EB9-CE05AF6B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F852E05-DB3B-4B02-9658-B1682F2DF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891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84F6BC-9C7D-44E3-8FB3-A5D3FEC50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DDFA137-9E72-4D4E-9A9B-9B642B1F5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D56E9F-9208-4121-85E1-3069D24C1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443664-6186-48C2-95DF-9567CE3B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8714A1-E3E5-42B3-B82F-97C26E3CA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36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4496B09-4BEB-4AD3-BCC9-B01888D24C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5B18123-2CC5-4AFC-90FD-68FBE07BE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13529F-3052-4090-BDE7-86EAB3196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9C83CC-6A2F-4599-A82B-3AA20D976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5489EC-BA6C-4295-ADF3-CF230364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244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D0249F-5E6F-435B-8BA6-2A7715856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024CB9-05D5-4CEB-A431-24500E1B2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934E13-6B72-4799-A173-50AE9991F0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E1671-358D-4BAB-9EB2-DC8D65251B89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D8DB70-5BC0-49E9-831B-FA9902663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CCAF82-71F2-4F04-AEC5-AD970EB35F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989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5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BB7B41-7122-497A-A583-FEDA914639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4166"/>
            <a:ext cx="9144000" cy="3034834"/>
          </a:xfrm>
        </p:spPr>
        <p:txBody>
          <a:bodyPr>
            <a:normAutofit/>
          </a:bodyPr>
          <a:lstStyle/>
          <a:p>
            <a:r>
              <a:rPr lang="ru-RU" b="1" dirty="0"/>
              <a:t>Использование методов глубокого обучения в анализе временных рядов</a:t>
            </a:r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6596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04F54-9DA4-3637-B7F6-B2C151912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3DFAFD-0F73-242A-2215-9CF55804E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26" y="149031"/>
            <a:ext cx="11166513" cy="5713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/>
              <a:t>Осо</a:t>
            </a:r>
            <a:r>
              <a:rPr lang="ru-RU" b="1" dirty="0" err="1"/>
              <a:t>бенности</a:t>
            </a:r>
            <a:r>
              <a:rPr lang="ru-RU" b="1" dirty="0"/>
              <a:t> </a:t>
            </a:r>
            <a:r>
              <a:rPr lang="en-US" b="1" dirty="0"/>
              <a:t>RNN</a:t>
            </a:r>
            <a:r>
              <a:rPr lang="ru-RU" b="1" dirty="0"/>
              <a:t> в режиме </a:t>
            </a:r>
            <a:r>
              <a:rPr lang="ru-RU" dirty="0" err="1"/>
              <a:t>Seq</a:t>
            </a:r>
            <a:r>
              <a:rPr lang="en-US" dirty="0"/>
              <a:t>2Seq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517ED8B-EC79-48E8-1D5D-73DBF85002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2862" y="587086"/>
                <a:ext cx="11942800" cy="568382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500"/>
                  </a:spcBef>
                  <a:buNone/>
                </a:pPr>
                <a:r>
                  <a:rPr lang="ru-RU" sz="2200" dirty="0"/>
                  <a:t>Пусть требуется предсказать последовательность значений</a:t>
                </a:r>
                <a:r>
                  <a:rPr lang="en-US" sz="2200" dirty="0"/>
                  <a:t> </a:t>
                </a:r>
                <a:r>
                  <a:rPr lang="ru-RU" sz="2200" dirty="0"/>
                  <a:t>ВР по входным данным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ru-RU" sz="2200" dirty="0"/>
                  <a:t>горизонт </a:t>
                </a:r>
                <a:r>
                  <a:rPr lang="en-US" sz="2200" dirty="0"/>
                  <a:t>H</a:t>
                </a:r>
                <a:r>
                  <a:rPr lang="ru-RU" sz="2200" dirty="0"/>
                  <a:t> большой – предсказывается итеративно 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ru-RU" sz="2200" dirty="0"/>
                  <a:t>Напомним: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i="1" dirty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𝑁𝑁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2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ru-RU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200" i="1" dirty="0">
                            <a:latin typeface="Cambria Math" panose="02040503050406030204" pitchFamily="18" charset="0"/>
                          </a:rPr>
                          <m:t>𝐴</m:t>
                        </m:r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ru-RU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𝐵</m:t>
                        </m:r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200" dirty="0"/>
                  <a:t> </a:t>
                </a:r>
                <a:r>
                  <a:rPr lang="en-US" sz="2200" dirty="0"/>
                  <a:t>;</a:t>
                </a: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2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200" dirty="0"/>
                  <a:t> –</a:t>
                </a:r>
                <a:r>
                  <a:rPr lang="ru-RU" sz="2200" dirty="0"/>
                  <a:t> выход слоя (</a:t>
                </a:r>
                <a:r>
                  <a:rPr lang="en-US" sz="2200" dirty="0" err="1"/>
                  <a:t>ко</a:t>
                </a:r>
                <a:r>
                  <a:rPr lang="ru-RU" sz="2200" dirty="0" err="1"/>
                  <a:t>нтекст</a:t>
                </a:r>
                <a:r>
                  <a:rPr lang="en-US" sz="2200" dirty="0"/>
                  <a:t>)</a:t>
                </a:r>
                <a:r>
                  <a:rPr lang="ru-RU" sz="2200" dirty="0"/>
                  <a:t> для предсказания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2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sz="2200" dirty="0"/>
              </a:p>
              <a:p>
                <a:pPr>
                  <a:lnSpc>
                    <a:spcPct val="100000"/>
                  </a:lnSpc>
                  <a:spcBef>
                    <a:spcPts val="500"/>
                  </a:spcBef>
                </a:pPr>
                <a:r>
                  <a:rPr lang="en-US" sz="2200" dirty="0" err="1"/>
                  <a:t>Если</a:t>
                </a:r>
                <a:r>
                  <a:rPr lang="ru-RU" sz="2200" dirty="0"/>
                  <a:t>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200" dirty="0"/>
                  <a:t> – </a:t>
                </a:r>
                <a:r>
                  <a:rPr lang="ru-RU" sz="2200" dirty="0"/>
                  <a:t>последнее известное состояние системы, 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100" b="1" i="1" dirty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2100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ru-RU" sz="2100" b="1" i="1" dirty="0" smtClean="0"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ru-RU" sz="2100" b="1" dirty="0"/>
                  <a:t>компактное представление системы</a:t>
                </a:r>
                <a:r>
                  <a:rPr lang="ru-RU" sz="2200" dirty="0"/>
                  <a:t>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b="1" dirty="0"/>
                  <a:t>Проблемы RNN</a:t>
                </a:r>
                <a:endParaRPr lang="en-US" sz="2200" b="1" dirty="0"/>
              </a:p>
              <a:p>
                <a:pPr lvl="1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000" dirty="0"/>
                  <a:t>Ограниченный контекст из-за </a:t>
                </a:r>
                <a:r>
                  <a:rPr lang="ru-RU" sz="2000" dirty="0" err="1"/>
                  <a:t>переиспользования</a:t>
                </a:r>
                <a:r>
                  <a:rPr lang="ru-RU" sz="2000" dirty="0"/>
                  <a:t> единого вектора скрытых состояний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1" i="1" dirty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ru-RU" sz="2000" dirty="0"/>
              </a:p>
              <a:p>
                <a:pPr lvl="2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dirty="0"/>
                  <a:t>Последние</a:t>
                </a:r>
                <a:r>
                  <a:rPr lang="en-US" dirty="0"/>
                  <a:t> </a:t>
                </a:r>
                <a:r>
                  <a:rPr lang="ru-RU" dirty="0"/>
                  <a:t>известные скрытое состояние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b="1" i="1" dirty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1800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 задают все состояния предсказания</a:t>
                </a:r>
              </a:p>
              <a:p>
                <a:pPr lvl="3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dirty="0"/>
                  <a:t>Скрытое состояние – это "бутылочное горлышко": вся информация из прошлого сжимается в фиксированный вектор, что приводит к потере деталей.</a:t>
                </a:r>
              </a:p>
              <a:p>
                <a:pPr lvl="2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dirty="0"/>
                  <a:t>Ограниченный горизонт предсказаний</a:t>
                </a:r>
              </a:p>
              <a:p>
                <a:pPr lvl="1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000" dirty="0"/>
                  <a:t>Проблема долгого обучения (веса или затухают или взрываются)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517ED8B-EC79-48E8-1D5D-73DBF85002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2862" y="587086"/>
                <a:ext cx="11942800" cy="5683828"/>
              </a:xfrm>
              <a:blipFill>
                <a:blip r:embed="rId2"/>
                <a:stretch>
                  <a:fillRect l="-664" t="-6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>
            <a:extLst>
              <a:ext uri="{FF2B5EF4-FFF2-40B4-BE49-F238E27FC236}">
                <a16:creationId xmlns:a16="http://schemas.microsoft.com/office/drawing/2014/main" id="{3CE0A56B-0917-A450-C416-08AAC828BE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7720C5C-7990-C77A-277B-D0F34C858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0367" y="4933454"/>
            <a:ext cx="5528007" cy="1726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B06905D7-D972-1816-3D45-1AAC8CA8E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2452" y="4815131"/>
            <a:ext cx="5333210" cy="1544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2066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A1BBB-E711-8264-4033-23630B4BD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F893B7-7D0B-85C1-0A0D-2192CEA18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88" y="232406"/>
            <a:ext cx="11166513" cy="5713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/>
              <a:t>Осо</a:t>
            </a:r>
            <a:r>
              <a:rPr lang="ru-RU" b="1" dirty="0" err="1"/>
              <a:t>бенности</a:t>
            </a:r>
            <a:r>
              <a:rPr lang="ru-RU" b="1" dirty="0"/>
              <a:t> </a:t>
            </a:r>
            <a:r>
              <a:rPr lang="en-US" b="1" dirty="0"/>
              <a:t>RNN</a:t>
            </a:r>
            <a:r>
              <a:rPr lang="ru-RU" b="1" dirty="0"/>
              <a:t> в режиме </a:t>
            </a:r>
            <a:r>
              <a:rPr lang="ru-RU" dirty="0" err="1"/>
              <a:t>Seq</a:t>
            </a:r>
            <a:r>
              <a:rPr lang="en-US" dirty="0"/>
              <a:t>2Seq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912A3EB-2F64-0781-E5D5-840697FBDD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7288" y="691837"/>
                <a:ext cx="11731086" cy="5683828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300" dirty="0"/>
                  <a:t>Задача </a:t>
                </a:r>
                <a:r>
                  <a:rPr lang="ru-RU" sz="2300" dirty="0" err="1"/>
                  <a:t>seq</a:t>
                </a:r>
                <a:r>
                  <a:rPr lang="en-US" sz="2300" dirty="0" err="1"/>
                  <a:t>uence</a:t>
                </a:r>
                <a:r>
                  <a:rPr lang="en-US" sz="2300" dirty="0"/>
                  <a:t>-to-sequence (Seq2Seq) –</a:t>
                </a:r>
                <a:r>
                  <a:rPr lang="ru-RU" sz="2300" dirty="0"/>
                  <a:t> это </a:t>
                </a:r>
                <a:r>
                  <a:rPr lang="ru-RU" sz="2300" dirty="0" err="1"/>
                  <a:t>задачапредсказания</a:t>
                </a:r>
                <a:r>
                  <a:rPr lang="ru-RU" sz="2300" dirty="0"/>
                  <a:t> набора будущих </a:t>
                </a:r>
                <a:br>
                  <a:rPr lang="ru-RU" sz="2300" dirty="0"/>
                </a:br>
                <a:r>
                  <a:rPr lang="ru-RU" sz="2300" dirty="0"/>
                  <a:t>значений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3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3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3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300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300" b="0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3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3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3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3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3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3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2300" dirty="0"/>
                  <a:t> </a:t>
                </a:r>
                <a:r>
                  <a:rPr lang="ru-RU" sz="2300" dirty="0"/>
                  <a:t>по входным данным</a:t>
                </a:r>
                <a:r>
                  <a:rPr lang="en-US" sz="23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ru-RU" sz="2300" dirty="0"/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200" dirty="0"/>
                  <a:t>Задачу можно разделить на две части: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200" dirty="0"/>
                  <a:t>Часть 1 – </a:t>
                </a:r>
                <a:r>
                  <a:rPr lang="ru-RU" sz="2200" b="1" dirty="0" err="1"/>
                  <a:t>энкодер</a:t>
                </a:r>
                <a:r>
                  <a:rPr lang="ru-RU" sz="2200" dirty="0"/>
                  <a:t>: формирование вектора скрытого состояния (контекст, память) на основе движения окна по известным данным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200" dirty="0"/>
                  <a:t>Часть 2 – </a:t>
                </a:r>
                <a:r>
                  <a:rPr lang="ru-RU" sz="2200" b="1" dirty="0"/>
                  <a:t>декодер</a:t>
                </a:r>
                <a:r>
                  <a:rPr lang="ru-RU" sz="2200" dirty="0"/>
                  <a:t>: формирование последовательности предсказаний (</a:t>
                </a:r>
                <a:r>
                  <a:rPr lang="ru-RU" sz="2200" dirty="0" err="1"/>
                  <a:t>авторегрессионной</a:t>
                </a:r>
                <a:r>
                  <a:rPr lang="ru-RU" sz="2200" dirty="0"/>
                  <a:t>/итеративно) на основе последнего положения окна и скрытого состояния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200" dirty="0"/>
                  <a:t>Прогноз производится последовательно</a:t>
                </a:r>
                <a:endParaRPr lang="en-US" sz="2200" dirty="0"/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endParaRPr lang="ru-RU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912A3EB-2F64-0781-E5D5-840697FBDD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7288" y="691837"/>
                <a:ext cx="11731086" cy="5683828"/>
              </a:xfrm>
              <a:blipFill>
                <a:blip r:embed="rId3"/>
                <a:stretch>
                  <a:fillRect l="-624" t="-750" r="-3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0" name="Picture 6">
            <a:extLst>
              <a:ext uri="{FF2B5EF4-FFF2-40B4-BE49-F238E27FC236}">
                <a16:creationId xmlns:a16="http://schemas.microsoft.com/office/drawing/2014/main" id="{3BA25769-C260-84C0-F3F1-1A61003AD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94" y="4231595"/>
            <a:ext cx="6852953" cy="2535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1A10BCC-061E-806F-50B1-2D5EBEAB3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1396" y="4730927"/>
            <a:ext cx="3810218" cy="1922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FADCBF9-6474-CB34-8E67-423567137B8D}"/>
              </a:ext>
            </a:extLst>
          </p:cNvPr>
          <p:cNvSpPr txBox="1"/>
          <p:nvPr/>
        </p:nvSpPr>
        <p:spPr>
          <a:xfrm>
            <a:off x="6839594" y="6659465"/>
            <a:ext cx="60938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800" dirty="0" err="1"/>
              <a:t>https</a:t>
            </a:r>
            <a:r>
              <a:rPr lang="ru-RU" sz="800" dirty="0"/>
              <a:t>://</a:t>
            </a:r>
            <a:r>
              <a:rPr lang="ru-RU" sz="800" dirty="0" err="1"/>
              <a:t>readmedium.com</a:t>
            </a:r>
            <a:r>
              <a:rPr lang="ru-RU" sz="800" dirty="0"/>
              <a:t>/implementing-seq2seq-models-for-efficient-time-series-forecasting-88dba1d66187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5D9B53-6450-E64F-372F-ECC27BD8C313}"/>
              </a:ext>
            </a:extLst>
          </p:cNvPr>
          <p:cNvSpPr txBox="1"/>
          <p:nvPr/>
        </p:nvSpPr>
        <p:spPr>
          <a:xfrm>
            <a:off x="840047" y="3487584"/>
            <a:ext cx="74143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effectLst/>
              </a:rPr>
              <a:t>Ключевая идея: модель принимает последовательность → преобразует в компактное представление → генерирует другую последовательность. </a:t>
            </a:r>
            <a:endParaRPr lang="ru-RU" dirty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B06905D7-D972-1816-3D45-1AAC8CA8E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8161" y="4038108"/>
            <a:ext cx="4040368" cy="1170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9525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35183-457B-4563-0A7E-271B75511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699C88-3961-C5D9-AAED-2F377BA51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890" y="256380"/>
            <a:ext cx="10344219" cy="5713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/>
              <a:t>Осо</a:t>
            </a:r>
            <a:r>
              <a:rPr lang="ru-RU" b="1" dirty="0" err="1"/>
              <a:t>бенности</a:t>
            </a:r>
            <a:r>
              <a:rPr lang="ru-RU" b="1" dirty="0"/>
              <a:t> </a:t>
            </a:r>
            <a:r>
              <a:rPr lang="en-US" b="1" dirty="0"/>
              <a:t>RNN</a:t>
            </a:r>
            <a:r>
              <a:rPr lang="ru-RU" b="1" dirty="0"/>
              <a:t> в режиме </a:t>
            </a:r>
            <a:r>
              <a:rPr lang="ru-RU" dirty="0" err="1"/>
              <a:t>Seq</a:t>
            </a:r>
            <a:r>
              <a:rPr lang="en-US" dirty="0"/>
              <a:t>2Seq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E043784-8F80-5804-0527-435AD8BB70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5207" y="732641"/>
                <a:ext cx="11731086" cy="508791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200" b="1" dirty="0"/>
                  <a:t>Гипотеза: </a:t>
                </a:r>
                <a:r>
                  <a:rPr lang="ru-RU" sz="2200" dirty="0"/>
                  <a:t>Регуляризация переобучения </a:t>
                </a:r>
                <a:r>
                  <a:rPr lang="en-US" sz="2200" dirty="0"/>
                  <a:t>RNN </a:t>
                </a:r>
                <a:r>
                  <a:rPr lang="ru-RU" sz="2200" dirty="0"/>
                  <a:t>возможна, если расширить скрытое представление</a:t>
                </a:r>
              </a:p>
              <a:p>
                <a:r>
                  <a:rPr lang="ru-RU" sz="2200" dirty="0"/>
                  <a:t>по сути требуется расширить контекст</a:t>
                </a:r>
                <a:r>
                  <a:rPr lang="ru-RU" sz="2200" b="1" dirty="0"/>
                  <a:t> </a:t>
                </a:r>
                <a:endParaRPr lang="en-US" sz="2200" b="1" dirty="0"/>
              </a:p>
              <a:p>
                <a:pPr marL="0" indent="0">
                  <a:buNone/>
                </a:pPr>
                <a:r>
                  <a:rPr lang="ru-RU" sz="2200" b="1" dirty="0"/>
                  <a:t>Идея: модель могла бы </a:t>
                </a:r>
                <a:r>
                  <a:rPr lang="ru-RU" sz="2200" dirty="0"/>
                  <a:t>смотреть</a:t>
                </a:r>
                <a:r>
                  <a:rPr lang="ru-RU" sz="2200" b="1" dirty="0"/>
                  <a:t> на набор значений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200" b="1" i="1" dirty="0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2200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2200" b="1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2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2200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200" b="1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200" b="1" i="1" dirty="0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US" sz="2200" b="1" dirty="0"/>
                  <a:t> </a:t>
                </a:r>
              </a:p>
              <a:p>
                <a:pPr marL="0" indent="0">
                  <a:buNone/>
                </a:pPr>
                <a:r>
                  <a:rPr lang="ru-RU" sz="2200" b="1" dirty="0"/>
                  <a:t>Реализация:</a:t>
                </a:r>
                <a:r>
                  <a:rPr lang="en-US" sz="2200" b="1" dirty="0"/>
                  <a:t> </a:t>
                </a:r>
                <a:r>
                  <a:rPr lang="ru-RU" sz="2200" dirty="0"/>
                  <a:t>Пусть </a:t>
                </a:r>
                <a:r>
                  <a:rPr lang="ru-RU" sz="2200" dirty="0" err="1"/>
                  <a:t>энкодер</a:t>
                </a:r>
                <a:r>
                  <a:rPr lang="ru-RU" sz="2200" dirty="0"/>
                  <a:t> глубины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и  горизонт предсказания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ru-RU" sz="2200" dirty="0"/>
              </a:p>
              <a:p>
                <a:pPr marL="0" indent="0">
                  <a:buNone/>
                </a:pPr>
                <a:r>
                  <a:rPr lang="ru-RU" sz="2200" b="1" dirty="0"/>
                  <a:t>Перепишем</a:t>
                </a:r>
                <a:r>
                  <a:rPr lang="en-US" sz="2200" b="1" dirty="0"/>
                  <a:t> </a:t>
                </a:r>
                <a:r>
                  <a:rPr lang="ru-RU" sz="2200" b="1" dirty="0"/>
                  <a:t>скрытое состояние декодер </a:t>
                </a:r>
                <a:r>
                  <a:rPr lang="en-US" sz="2200" b="1" dirty="0"/>
                  <a:t>Seq2Seq RNN</a:t>
                </a:r>
                <a:endParaRPr lang="ru-RU" sz="2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2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b="1" i="1" dirty="0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a:rPr lang="ru-RU" sz="22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5"/>
                                </m:r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m:rPr>
                                  <m:brk m:alnAt="25"/>
                                </m:r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ru-RU" sz="2200" b="1" dirty="0"/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en-US" sz="2200" i="1" dirty="0" err="1">
                    <a:latin typeface="Cambria Math" panose="02040503050406030204" pitchFamily="18" charset="0"/>
                  </a:rPr>
                  <a:t>гд</a:t>
                </a:r>
                <a:r>
                  <a:rPr lang="ru-RU" sz="2200" i="1" dirty="0">
                    <a:latin typeface="Cambria Math" panose="02040503050406030204" pitchFamily="18" charset="0"/>
                  </a:rPr>
                  <a:t>е</a:t>
                </a:r>
                <a14:m>
                  <m:oMath xmlns:m="http://schemas.openxmlformats.org/officeDocument/2006/math">
                    <m:r>
                      <a:rPr lang="en-US" sz="2200" b="0" i="0" dirty="0" smtClean="0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25"/>
                          </m:rPr>
                          <a:rPr lang="en-US" sz="2200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brk m:alnAt="25"/>
                          </m:rPr>
                          <a:rPr lang="en-US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200" i="1" dirty="0">
                    <a:latin typeface="Cambria Math" panose="02040503050406030204" pitchFamily="18" charset="0"/>
                  </a:rPr>
                  <a:t>- текущее скрытое состояние</a:t>
                </a:r>
                <a:r>
                  <a:rPr lang="en-US" sz="2200" i="1" dirty="0">
                    <a:latin typeface="Cambria Math" panose="02040503050406030204" pitchFamily="18" charset="0"/>
                  </a:rPr>
                  <a:t> (</a:t>
                </a:r>
                <a:r>
                  <a:rPr lang="ru-RU" sz="2200" i="1" dirty="0">
                    <a:latin typeface="Cambria Math" panose="02040503050406030204" pitchFamily="18" charset="0"/>
                  </a:rPr>
                  <a:t>контекст), как результат предыдущих (</a:t>
                </a:r>
                <a:r>
                  <a:rPr lang="en-US" sz="2200" i="1" dirty="0" err="1">
                    <a:latin typeface="Cambria Math" panose="02040503050406030204" pitchFamily="18" charset="0"/>
                  </a:rPr>
                  <a:t>p,q</a:t>
                </a:r>
                <a:r>
                  <a:rPr lang="ru-RU" sz="2200" i="1" dirty="0">
                    <a:latin typeface="Cambria Math" panose="02040503050406030204" pitchFamily="18" charset="0"/>
                  </a:rPr>
                  <a:t>) состояний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en-US" sz="2200" i="1" dirty="0" err="1">
                    <a:latin typeface="Cambria Math" panose="02040503050406030204" pitchFamily="18" charset="0"/>
                  </a:rPr>
                  <a:t>Та</a:t>
                </a:r>
                <a:r>
                  <a:rPr lang="ru-RU" sz="2200" i="1" dirty="0">
                    <a:latin typeface="Cambria Math" panose="02040503050406030204" pitchFamily="18" charset="0"/>
                  </a:rPr>
                  <a:t>кая идея называется внимание </a:t>
                </a:r>
                <a:r>
                  <a:rPr lang="ru-RU" sz="2200" i="1" dirty="0" err="1">
                    <a:latin typeface="Cambria Math" panose="02040503050406030204" pitchFamily="18" charset="0"/>
                  </a:rPr>
                  <a:t>энкодер</a:t>
                </a:r>
                <a:r>
                  <a:rPr lang="ru-RU" sz="2200" i="1" dirty="0">
                    <a:latin typeface="Cambria Math" panose="02040503050406030204" pitchFamily="18" charset="0"/>
                  </a:rPr>
                  <a:t>-декодер</a:t>
                </a:r>
              </a:p>
              <a:p>
                <a:pPr marL="0" indent="0">
                  <a:buNone/>
                </a:pPr>
                <a:endParaRPr lang="ru-RU" sz="2200" b="1" dirty="0"/>
              </a:p>
              <a:p>
                <a:pPr marL="0" indent="0">
                  <a:buNone/>
                </a:pPr>
                <a:endParaRPr lang="ru-RU" sz="2200" b="1" dirty="0"/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endParaRPr lang="ru-RU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E043784-8F80-5804-0527-435AD8BB70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5207" y="732641"/>
                <a:ext cx="11731086" cy="5087918"/>
              </a:xfrm>
              <a:blipFill>
                <a:blip r:embed="rId3"/>
                <a:stretch>
                  <a:fillRect l="-675" t="-1557" r="-2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>
            <a:extLst>
              <a:ext uri="{FF2B5EF4-FFF2-40B4-BE49-F238E27FC236}">
                <a16:creationId xmlns:a16="http://schemas.microsoft.com/office/drawing/2014/main" id="{AB187092-B5EF-33CC-9675-B208B075D2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580579" y="5278390"/>
                <a:ext cx="620368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200"/>
                  </a:spcBef>
                </a:pPr>
                <a:r>
                  <a:rPr lang="ru-RU" i="1" dirty="0">
                    <a:latin typeface="Cambria Math" panose="02040503050406030204" pitchFamily="18" charset="0"/>
                  </a:rPr>
                  <a:t>В примере из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i="1" dirty="0">
                    <a:latin typeface="Cambria Math" panose="02040503050406030204" pitchFamily="18" charset="0"/>
                  </a:rPr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ru-RU" i="1" dirty="0">
                    <a:latin typeface="Cambria Math" panose="02040503050406030204" pitchFamily="18" charset="0"/>
                  </a:rPr>
                  <a:t> </a:t>
                </a:r>
                <a:br>
                  <a:rPr lang="en-US" i="1" dirty="0">
                    <a:latin typeface="Cambria Math" panose="02040503050406030204" pitchFamily="18" charset="0"/>
                  </a:rPr>
                </a:br>
                <a:r>
                  <a:rPr lang="ru-RU" i="1" dirty="0">
                    <a:latin typeface="Cambria Math" panose="02040503050406030204" pitchFamily="18" charset="0"/>
                  </a:rPr>
                  <a:t>создается новый вектор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ru-RU" i="1" dirty="0">
                    <a:latin typeface="Cambria Math" panose="02040503050406030204" pitchFamily="18" charset="0"/>
                  </a:rPr>
                  <a:t> для  предсказания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endParaRPr lang="ru-RU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579" y="5278390"/>
                <a:ext cx="6203680" cy="646331"/>
              </a:xfrm>
              <a:prstGeom prst="rect">
                <a:avLst/>
              </a:prstGeom>
              <a:blipFill>
                <a:blip r:embed="rId4"/>
                <a:stretch>
                  <a:fillRect l="-786" t="-6604" b="-132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3589" y="3676479"/>
            <a:ext cx="4987738" cy="300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947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790A6-B18E-84C1-CEF6-BD3F4BD07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E5488-89EB-0E0A-4510-645ACDFDE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88" y="232406"/>
            <a:ext cx="11166513" cy="5713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/>
              <a:t>Осо</a:t>
            </a:r>
            <a:r>
              <a:rPr lang="ru-RU" b="1" dirty="0" err="1"/>
              <a:t>бенности</a:t>
            </a:r>
            <a:r>
              <a:rPr lang="ru-RU" b="1" dirty="0"/>
              <a:t> блока внимания </a:t>
            </a:r>
            <a:r>
              <a:rPr lang="ru-RU" dirty="0" err="1"/>
              <a:t>Seq</a:t>
            </a:r>
            <a:r>
              <a:rPr lang="en-US" dirty="0"/>
              <a:t>2Seq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CB84CAF-915D-223E-8BD5-3C8A6DF034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7288" y="752422"/>
                <a:ext cx="11731086" cy="568382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i="1" dirty="0"/>
                  <a:t>Зададим блок внимания: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200" b="0" i="1" dirty="0" smtClean="0">
                          <a:latin typeface="Cambria Math" panose="02040503050406030204" pitchFamily="18" charset="0"/>
                        </a:rPr>
                        <m:t>𝑠𝑜𝑓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𝑡𝑚𝑎𝑥</m:t>
                      </m:r>
                      <m:d>
                        <m:d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  <m:sSup>
                            <m:sSup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ru-RU" sz="2200" i="1" dirty="0"/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ru-RU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u-RU" sz="2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200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ru-RU" sz="2200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p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200" dirty="0"/>
                  <a:t>  –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latin typeface="Cambria Math" panose="02040503050406030204" pitchFamily="18" charset="0"/>
                      </a:rPr>
                      <m:t>𝒒𝒖𝒆𝒓𝒚</m:t>
                    </m:r>
                  </m:oMath>
                </a14:m>
                <a:r>
                  <a:rPr lang="en-US" sz="2200" dirty="0"/>
                  <a:t> – </a:t>
                </a:r>
                <a:r>
                  <a:rPr lang="en-US" sz="2200" dirty="0" err="1"/>
                  <a:t>запро</a:t>
                </a:r>
                <a:r>
                  <a:rPr lang="ru-RU" sz="2200" dirty="0"/>
                  <a:t>с (важность информации декодера)</a:t>
                </a:r>
                <a:r>
                  <a:rPr lang="en-US" sz="2200" dirty="0"/>
                  <a:t>,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ru-RU" sz="2200" dirty="0"/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en-US" sz="2200" dirty="0"/>
                  <a:t> 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latin typeface="Cambria Math" panose="02040503050406030204" pitchFamily="18" charset="0"/>
                      </a:rPr>
                      <m:t>𝒌𝒆𝒚</m:t>
                    </m:r>
                  </m:oMath>
                </a14:m>
                <a:r>
                  <a:rPr lang="en-US" sz="2200" dirty="0"/>
                  <a:t> –</a:t>
                </a:r>
                <a:r>
                  <a:rPr lang="ru-RU" sz="2200" dirty="0"/>
                  <a:t> </a:t>
                </a:r>
                <a:r>
                  <a:rPr lang="ru-RU" sz="2200" dirty="0" err="1"/>
                  <a:t>ключь</a:t>
                </a:r>
                <a:r>
                  <a:rPr lang="ru-RU" sz="2200" dirty="0"/>
                  <a:t> – важность информации </a:t>
                </a:r>
                <a:r>
                  <a:rPr lang="ru-RU" sz="2200" dirty="0" err="1"/>
                  <a:t>энкодера</a:t>
                </a:r>
                <a:r>
                  <a:rPr lang="ru-RU" sz="22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ru-RU" sz="2200" dirty="0"/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ru-RU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u-RU" sz="2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200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ru-RU" sz="2200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p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ru-RU" sz="2200" i="1" dirty="0"/>
                  <a:t>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latin typeface="Cambria Math" panose="02040503050406030204" pitchFamily="18" charset="0"/>
                      </a:rPr>
                      <m:t>𝒗𝒂𝒍𝒖𝒆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важность информации </a:t>
                </a:r>
                <a:r>
                  <a:rPr lang="ru-RU" sz="2200" dirty="0" err="1"/>
                  <a:t>энкодара</a:t>
                </a:r>
                <a:r>
                  <a:rPr lang="ru-RU" sz="2200" dirty="0"/>
                  <a:t> на текущем шаге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sz="22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200" dirty="0"/>
                  <a:t>важность значений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ru-RU" sz="2200" dirty="0"/>
                  <a:t> для текущего </a:t>
                </a:r>
                <a:r>
                  <a:rPr lang="ru-RU" sz="2200" dirty="0" err="1"/>
                  <a:t>предсказкания</a:t>
                </a:r>
                <a:r>
                  <a:rPr lang="ru-RU" sz="2200" dirty="0"/>
                  <a:t> </a:t>
                </a:r>
                <a:r>
                  <a:rPr lang="ru-RU" sz="2200" i="1" dirty="0"/>
                  <a:t>(вес от 0 до 1) </a:t>
                </a:r>
                <a:endParaRPr lang="ru-RU" sz="2200" dirty="0"/>
              </a:p>
              <a:p>
                <a:pPr lvl="1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200" b="1" dirty="0"/>
                  <a:t>Интуиция</a:t>
                </a:r>
                <a:r>
                  <a:rPr lang="en-US" sz="2200" b="1" dirty="0"/>
                  <a:t>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200" dirty="0"/>
                  <a:t>: если </a:t>
                </a:r>
                <a:r>
                  <a:rPr lang="en" sz="2200" dirty="0"/>
                  <a:t>decoder</a:t>
                </a:r>
                <a:r>
                  <a:rPr lang="ru-RU" sz="2200" dirty="0"/>
                  <a:t> (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ru-RU" sz="2200" dirty="0"/>
                  <a:t>)</a:t>
                </a:r>
                <a:r>
                  <a:rPr lang="en" sz="2200" dirty="0"/>
                  <a:t> </a:t>
                </a:r>
                <a:r>
                  <a:rPr lang="ru-RU" sz="2200" dirty="0"/>
                  <a:t>прогнозирует трафик в пятницу, </a:t>
                </a:r>
                <a:r>
                  <a:rPr lang="ru-RU" sz="2200" i="1" dirty="0"/>
                  <a:t>важность</a:t>
                </a:r>
                <a:r>
                  <a:rPr lang="en-US" sz="2200" i="1" dirty="0"/>
                  <a:t> </a:t>
                </a:r>
                <a:r>
                  <a:rPr lang="ru-RU" sz="2200" i="1" dirty="0"/>
                  <a:t>предыдущих значений </a:t>
                </a:r>
                <a:r>
                  <a:rPr lang="ru-RU" sz="2200" dirty="0"/>
                  <a:t>пятниц </a:t>
                </a:r>
                <a:r>
                  <a:rPr lang="en-US" sz="2200" dirty="0"/>
                  <a:t>(K)</a:t>
                </a:r>
                <a:r>
                  <a:rPr lang="ru-RU" sz="2200" dirty="0"/>
                  <a:t> будет большой.</a:t>
                </a:r>
                <a:endParaRPr lang="en-US" sz="2200" dirty="0"/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=1/√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ru-RU" sz="2200" i="1" dirty="0">
                        <a:latin typeface="Cambria Math" panose="02040503050406030204" pitchFamily="18" charset="0"/>
                      </a:rPr>
                      <m:t> − </m:t>
                    </m:r>
                  </m:oMath>
                </a14:m>
                <a:r>
                  <a:rPr lang="ru-RU" sz="2200" dirty="0"/>
                  <a:t>размерность векторов</a:t>
                </a:r>
                <a:r>
                  <a:rPr lang="en-US" sz="2200" dirty="0"/>
                  <a:t> </a:t>
                </a:r>
                <a:endParaRPr lang="ru-RU" sz="2200" dirty="0"/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200" dirty="0"/>
                  <a:t>Интерпретация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ru-RU" sz="2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ru-RU" sz="2200" dirty="0"/>
                  <a:t> – может меняться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200" dirty="0"/>
                  <a:t>Указанная </a:t>
                </a:r>
                <a:r>
                  <a:rPr lang="ru-RU" sz="2200" dirty="0" err="1"/>
                  <a:t>трактова</a:t>
                </a:r>
                <a:r>
                  <a:rPr lang="ru-RU" sz="2200" dirty="0"/>
                  <a:t> внимания – это т.н. </a:t>
                </a:r>
                <a:br>
                  <a:rPr lang="ru-RU" sz="2200" dirty="0"/>
                </a:br>
                <a:r>
                  <a:rPr lang="en-US" sz="2200" b="1" dirty="0"/>
                  <a:t>Encoder-decoder attention (</a:t>
                </a:r>
                <a:r>
                  <a:rPr lang="en-US" sz="2200" b="1" dirty="0" err="1"/>
                  <a:t>corss</a:t>
                </a:r>
                <a:r>
                  <a:rPr lang="en-US" sz="2200" b="1" dirty="0"/>
                  <a:t>-attention</a:t>
                </a:r>
                <a:r>
                  <a:rPr lang="en-US" sz="2200" b="1" dirty="0">
                    <a:latin typeface="Cambria Math" panose="02040503050406030204" pitchFamily="18" charset="0"/>
                  </a:rPr>
                  <a:t>)</a:t>
                </a:r>
                <a:endParaRPr lang="ru-RU" sz="2200" b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endParaRPr lang="ru-RU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CB84CAF-915D-223E-8BD5-3C8A6DF034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7288" y="752422"/>
                <a:ext cx="11731086" cy="5683828"/>
              </a:xfrm>
              <a:blipFill>
                <a:blip r:embed="rId3"/>
                <a:stretch>
                  <a:fillRect l="-676" t="-6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>
            <a:extLst>
              <a:ext uri="{FF2B5EF4-FFF2-40B4-BE49-F238E27FC236}">
                <a16:creationId xmlns:a16="http://schemas.microsoft.com/office/drawing/2014/main" id="{72783A13-7FFF-46B6-5D83-5A332A10CB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3C1DC0-275A-F3EA-23CC-B8D7831E937A}"/>
              </a:ext>
            </a:extLst>
          </p:cNvPr>
          <p:cNvSpPr txBox="1"/>
          <p:nvPr/>
        </p:nvSpPr>
        <p:spPr>
          <a:xfrm>
            <a:off x="2013204" y="6436250"/>
            <a:ext cx="78607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100" dirty="0"/>
              <a:t>https://</a:t>
            </a:r>
            <a:r>
              <a:rPr lang="en" sz="1100" dirty="0" err="1"/>
              <a:t>epichka.com</a:t>
            </a:r>
            <a:r>
              <a:rPr lang="en" sz="1100" dirty="0"/>
              <a:t>/blog/2023/</a:t>
            </a:r>
            <a:r>
              <a:rPr lang="en" sz="1100" dirty="0" err="1"/>
              <a:t>qkv</a:t>
            </a:r>
            <a:r>
              <a:rPr lang="en" sz="1100" dirty="0"/>
              <a:t>-transformer/</a:t>
            </a:r>
            <a:endParaRPr lang="ru-RU" sz="1100" dirty="0"/>
          </a:p>
        </p:txBody>
      </p:sp>
      <p:pic>
        <p:nvPicPr>
          <p:cNvPr id="5128" name="Picture 8" descr="cross_attention_">
            <a:extLst>
              <a:ext uri="{FF2B5EF4-FFF2-40B4-BE49-F238E27FC236}">
                <a16:creationId xmlns:a16="http://schemas.microsoft.com/office/drawing/2014/main" id="{CF4795A2-3425-32D3-4F1E-532AF0D13F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2831" y="3429000"/>
            <a:ext cx="5708609" cy="2854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5B14CF6-1C52-7877-66A6-9D30E8804FE6}"/>
              </a:ext>
            </a:extLst>
          </p:cNvPr>
          <p:cNvSpPr txBox="1"/>
          <p:nvPr/>
        </p:nvSpPr>
        <p:spPr>
          <a:xfrm>
            <a:off x="6248400" y="6436250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err="1"/>
              <a:t>https</a:t>
            </a:r>
            <a:r>
              <a:rPr lang="ru-RU" sz="1100" dirty="0"/>
              <a:t>://</a:t>
            </a:r>
            <a:r>
              <a:rPr lang="ru-RU" sz="1100" dirty="0" err="1"/>
              <a:t>www.geeksforgeeks.org</a:t>
            </a:r>
            <a:r>
              <a:rPr lang="ru-RU" sz="1100" dirty="0"/>
              <a:t>/</a:t>
            </a:r>
            <a:r>
              <a:rPr lang="ru-RU" sz="1100" dirty="0" err="1"/>
              <a:t>nlp</a:t>
            </a:r>
            <a:r>
              <a:rPr lang="ru-RU" sz="1100" dirty="0"/>
              <a:t>/</a:t>
            </a:r>
            <a:r>
              <a:rPr lang="ru-RU" sz="1100" dirty="0" err="1"/>
              <a:t>cross-attention-mechanism-in-transformers</a:t>
            </a:r>
            <a:r>
              <a:rPr lang="ru-RU" sz="11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748231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1554" y="149226"/>
            <a:ext cx="10515600" cy="52961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 работы слоя внимания </a:t>
            </a:r>
            <a:r>
              <a:rPr lang="en-US" b="1" dirty="0"/>
              <a:t>Encoder-decoder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37650" y="678836"/>
                <a:ext cx="11307098" cy="604581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sz="1900" dirty="0">
                    <a:solidFill>
                      <a:schemeClr val="tx1"/>
                    </a:solidFill>
                  </a:rPr>
                  <a:t>Пусть есть временной ряд:</a:t>
                </a:r>
                <a:r>
                  <a:rPr lang="en-US" sz="19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​</m:t>
                    </m:r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b>
                    </m:sSub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" sz="1900" dirty="0">
                    <a:solidFill>
                      <a:schemeClr val="tx1"/>
                    </a:solidFill>
                  </a:rPr>
                  <a:t>​,</a:t>
                </a:r>
              </a:p>
              <a:p>
                <a:pPr marL="0" indent="0">
                  <a:buNone/>
                </a:pPr>
                <a:r>
                  <a:rPr lang="ru-RU" sz="1900" dirty="0">
                    <a:solidFill>
                      <a:schemeClr val="tx1"/>
                    </a:solidFill>
                  </a:rPr>
                  <a:t>хотим спрогнозировать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" sz="1900" dirty="0">
                    <a:solidFill>
                      <a:schemeClr val="tx1"/>
                    </a:solidFill>
                  </a:rPr>
                  <a:t>, </a:t>
                </a:r>
                <a:r>
                  <a:rPr lang="ru-RU" sz="1900" dirty="0">
                    <a:solidFill>
                      <a:schemeClr val="tx1"/>
                    </a:solidFill>
                  </a:rPr>
                  <a:t>используя историю из 3 шагов:</a:t>
                </a:r>
              </a:p>
              <a:p>
                <a:r>
                  <a:rPr lang="en" sz="1900" dirty="0">
                    <a:solidFill>
                      <a:schemeClr val="tx1"/>
                    </a:solidFill>
                  </a:rPr>
                  <a:t>Encoder: RNN , </a:t>
                </a:r>
                <a:r>
                  <a:rPr lang="ru-RU" sz="1900" dirty="0">
                    <a:solidFill>
                      <a:schemeClr val="tx1"/>
                    </a:solidFill>
                  </a:rPr>
                  <a:t>обрабатывает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​,</m:t>
                    </m:r>
                    <m:sSub>
                      <m:sSubPr>
                        <m:ctrlPr>
                          <a:rPr lang="ru-RU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2​</m:t>
                        </m:r>
                      </m:sub>
                    </m:sSub>
                    <m:r>
                      <a:rPr lang="en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" sz="1900" dirty="0">
                    <a:solidFill>
                      <a:schemeClr val="tx1"/>
                    </a:solidFill>
                  </a:rPr>
                  <a:t>​</a:t>
                </a:r>
                <a:endParaRPr lang="ru-RU" sz="1900" dirty="0">
                  <a:solidFill>
                    <a:schemeClr val="tx1"/>
                  </a:solidFill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" sz="19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" sz="19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1​=</m:t>
                      </m:r>
                      <m:d>
                        <m:dPr>
                          <m:begChr m:val="["/>
                          <m:endChr m:val="]"/>
                          <m:ctrlPr>
                            <a:rPr lang="en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0.1,0.9</m:t>
                          </m:r>
                        </m:e>
                      </m:d>
                      <m:r>
                        <a:rPr lang="en" sz="19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sz="19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" sz="19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" sz="19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2​=</m:t>
                      </m:r>
                      <m:d>
                        <m:dPr>
                          <m:begChr m:val="["/>
                          <m:endChr m:val="]"/>
                          <m:ctrlPr>
                            <a:rPr lang="en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0.4,0.6</m:t>
                          </m:r>
                        </m:e>
                      </m:d>
                      <m:r>
                        <a:rPr lang="en" sz="19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sz="19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" sz="19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" sz="19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3​=[0.8,0.2]</m:t>
                      </m:r>
                    </m:oMath>
                  </m:oMathPara>
                </a14:m>
                <a:endParaRPr lang="en" sz="1900" dirty="0">
                  <a:solidFill>
                    <a:schemeClr val="tx1"/>
                  </a:solidFill>
                </a:endParaRPr>
              </a:p>
              <a:p>
                <a:r>
                  <a:rPr lang="en" sz="1900" dirty="0">
                    <a:solidFill>
                      <a:schemeClr val="tx1"/>
                    </a:solidFill>
                  </a:rPr>
                  <a:t>Decoder: </a:t>
                </a:r>
                <a:r>
                  <a:rPr lang="ru-RU" sz="1900" dirty="0">
                    <a:solidFill>
                      <a:schemeClr val="tx1"/>
                    </a:solidFill>
                  </a:rPr>
                  <a:t>генерирует прогнозы </a:t>
                </a:r>
                <a:r>
                  <a:rPr lang="ru-RU" sz="1900" dirty="0" err="1">
                    <a:solidFill>
                      <a:schemeClr val="tx1"/>
                    </a:solidFill>
                  </a:rPr>
                  <a:t>авторегрессионно</a:t>
                </a:r>
                <a:r>
                  <a:rPr lang="ru-RU" sz="1900" dirty="0">
                    <a:solidFill>
                      <a:schemeClr val="tx1"/>
                    </a:solidFill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ru-RU" sz="15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5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" sz="15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ru-RU" sz="15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" sz="15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𝐿𝑖𝑛𝑒𝑎𝑟</m:t>
                    </m:r>
                    <m:d>
                      <m:dPr>
                        <m:ctrlPr>
                          <a:rPr lang="en" sz="15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" sz="15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ru-RU" sz="15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ru-RU" sz="15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5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5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5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b>
                          <m:sSubPr>
                            <m:ctrlPr>
                              <a:rPr lang="en-US" sz="15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5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15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5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15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/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- </a:t>
                </a:r>
                <a:r>
                  <a:rPr lang="ru-RU" sz="1600" dirty="0">
                    <a:solidFill>
                      <a:schemeClr val="tx1"/>
                    </a:solidFill>
                  </a:rPr>
                  <a:t>веса </a:t>
                </a:r>
                <a:r>
                  <a:rPr lang="ru-RU" sz="1600" dirty="0" err="1">
                    <a:solidFill>
                      <a:schemeClr val="tx1"/>
                    </a:solidFill>
                  </a:rPr>
                  <a:t>полносвязного</a:t>
                </a:r>
                <a:r>
                  <a:rPr lang="ru-RU" sz="1600" dirty="0">
                    <a:solidFill>
                      <a:schemeClr val="tx1"/>
                    </a:solidFill>
                  </a:rPr>
                  <a:t> слоя</a:t>
                </a:r>
                <a:endParaRPr lang="ru-RU" sz="1500" dirty="0">
                  <a:solidFill>
                    <a:schemeClr val="tx1"/>
                  </a:solidFill>
                </a:endParaRPr>
              </a:p>
              <a:p>
                <a:r>
                  <a:rPr lang="ru-RU" sz="1900" dirty="0">
                    <a:solidFill>
                      <a:schemeClr val="tx1"/>
                    </a:solidFill>
                  </a:rPr>
                  <a:t>Пусть размерность скрытых состояний </a:t>
                </a:r>
                <a:r>
                  <a:rPr lang="en" sz="1900" i="1" dirty="0">
                    <a:solidFill>
                      <a:schemeClr val="tx1"/>
                    </a:solidFill>
                  </a:rPr>
                  <a:t>d</a:t>
                </a:r>
                <a:r>
                  <a:rPr lang="en" sz="1900" dirty="0">
                    <a:solidFill>
                      <a:schemeClr val="tx1"/>
                    </a:solidFill>
                  </a:rPr>
                  <a:t>=2 ,</a:t>
                </a:r>
                <a:endParaRPr lang="ru-RU" sz="1900" dirty="0">
                  <a:solidFill>
                    <a:schemeClr val="tx1"/>
                  </a:solidFill>
                </a:endParaRPr>
              </a:p>
              <a:p>
                <a:pPr marL="452438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9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" sz="19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" sz="19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r>
                        <a:rPr lang="en" sz="19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​=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9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" sz="19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" sz="19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" sz="19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" sz="19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" sz="19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" sz="19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9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en-US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" sz="19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" sz="19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" sz="19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" sz="19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" sz="19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" sz="19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9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en" sz="19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​=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" sz="19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9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" sz="19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" sz="19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9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" sz="19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en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​⋅</m:t>
                    </m:r>
                    <m:sSub>
                      <m:sSubPr>
                        <m:ctrlP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​=[0.8,0.2]</m:t>
                    </m:r>
                  </m:oMath>
                </a14:m>
                <a:endParaRPr lang="en" sz="19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𝑠𝑐𝑜𝑟</m:t>
                    </m:r>
                    <m:sSub>
                      <m:sSubPr>
                        <m:ctrlP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sz="19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bSup>
                      <m:sSubSupPr>
                        <m:ctrlP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" sz="1900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𝑠𝑐𝑜𝑟</m:t>
                    </m:r>
                    <m:sSub>
                      <m:sSubPr>
                        <m:ctrlP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​=</m:t>
                    </m:r>
                    <m:r>
                      <a:rPr lang="en-US" sz="19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0.707⋅[</m:t>
                    </m:r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0.8,0.2]⋅</m:t>
                    </m:r>
                    <m:sSup>
                      <m:sSupPr>
                        <m:ctrlP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" sz="19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" sz="19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0.1,0.9</m:t>
                            </m:r>
                          </m:e>
                        </m:d>
                      </m:e>
                      <m:sup>
                        <m: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0.707⋅(</m:t>
                    </m:r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0.8×0.1+0.2×0.9</m:t>
                    </m:r>
                    <m:r>
                      <a:rPr lang="en-US" sz="19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sz="19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en" sz="1900" dirty="0">
                  <a:solidFill>
                    <a:schemeClr val="tx1"/>
                  </a:solidFill>
                  <a:latin typeface="system-ui"/>
                </a:endParaRP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𝑠𝑐𝑜𝑟</m:t>
                    </m:r>
                    <m:sSub>
                      <m:sSubPr>
                        <m:ctrlP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​=</m:t>
                    </m:r>
                    <m:r>
                      <a:rPr lang="en-US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0.707⋅[</m:t>
                    </m:r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0.8,0.2]⋅</m:t>
                    </m:r>
                    <m:sSup>
                      <m:sSupPr>
                        <m:ctrlP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" sz="19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" sz="19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0.4,0.6</m:t>
                            </m:r>
                          </m:e>
                        </m:d>
                      </m:e>
                      <m:sup>
                        <m:r>
                          <a:rPr lang="en-US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sz="19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311</m:t>
                    </m:r>
                  </m:oMath>
                </a14:m>
                <a:endParaRPr lang="en" sz="1900" dirty="0">
                  <a:solidFill>
                    <a:schemeClr val="tx1"/>
                  </a:solidFill>
                  <a:latin typeface="system-ui"/>
                </a:endParaRP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𝑠𝑐𝑜𝑟</m:t>
                    </m:r>
                    <m:sSub>
                      <m:sSubPr>
                        <m:ctrlP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​=</m:t>
                    </m:r>
                    <m:r>
                      <a:rPr lang="en-US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0.707⋅[</m:t>
                    </m:r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0.8,0.2]⋅</m:t>
                    </m:r>
                    <m:sSup>
                      <m:sSupPr>
                        <m:ctrlP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" sz="19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" sz="19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0.8,0.2</m:t>
                            </m:r>
                          </m:e>
                        </m:d>
                      </m:e>
                      <m:sup>
                        <m: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sz="19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en" sz="1900" dirty="0">
                  <a:solidFill>
                    <a:schemeClr val="tx1"/>
                  </a:solidFill>
                  <a:latin typeface="system-ui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​=</m:t>
                    </m:r>
                    <m:r>
                      <a:rPr lang="en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𝑠𝑜𝑓𝑡𝑚𝑎𝑥</m:t>
                    </m:r>
                    <m:d>
                      <m:dPr>
                        <m:ctrlPr>
                          <a:rPr lang="en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𝑠𝑐𝑜𝑟</m:t>
                        </m:r>
                        <m:sSub>
                          <m:sSubPr>
                            <m:ctrlPr>
                              <a:rPr lang="en-US" sz="19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19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d>
                    <m:r>
                      <a:rPr lang="en-US" sz="19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​</m:t>
                    </m:r>
                    <m:r>
                      <a:rPr lang="en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sz="19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9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0.28,0.32.0.38</m:t>
                        </m:r>
                      </m:e>
                    </m:d>
                  </m:oMath>
                </a14:m>
                <a:endParaRPr lang="en" sz="1900" dirty="0">
                  <a:solidFill>
                    <a:schemeClr val="tx1"/>
                  </a:solidFill>
                  <a:latin typeface="system-ui"/>
                </a:endParaRPr>
              </a:p>
              <a:p>
                <a14:m>
                  <m:oMath xmlns:m="http://schemas.openxmlformats.org/officeDocument/2006/math">
                    <m:r>
                      <a:rPr lang="en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sSub>
                          <m:sSubPr>
                            <m:ctrlPr>
                              <a:rPr lang="en-US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9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9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ru-RU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" sz="1900" i="1" spc="-5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" sz="1900" i="1" spc="-5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=0.28⋅[0.2,1.8]+0.32⋅[0.8,1.2]+0.38⋅[1.6,0.4] =[0.92,1.04]</m:t>
                    </m:r>
                  </m:oMath>
                </a14:m>
                <a:endParaRPr lang="en" sz="1900" dirty="0">
                  <a:solidFill>
                    <a:schemeClr val="tx1"/>
                  </a:solidFill>
                  <a:latin typeface="system-ui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​= </m:t>
                    </m:r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𝐿𝑖𝑛𝑒𝑎𝑟</m:t>
                    </m:r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​⋅0.92+</m:t>
                    </m:r>
                    <m:sSub>
                      <m:sSubPr>
                        <m:ctrlP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​⋅1.04</m:t>
                    </m:r>
                  </m:oMath>
                </a14:m>
                <a:r>
                  <a:rPr lang="en-US" sz="1900" dirty="0">
                    <a:solidFill>
                      <a:schemeClr val="tx1"/>
                    </a:solidFill>
                  </a:rPr>
                  <a:t>, </a:t>
                </a:r>
                <a:endParaRPr lang="ru-RU" sz="1900" dirty="0">
                  <a:solidFill>
                    <a:schemeClr val="tx1"/>
                  </a:solidFill>
                </a:endParaRPr>
              </a:p>
              <a:p>
                <a:endParaRPr lang="ru-RU" sz="1900" dirty="0"/>
              </a:p>
              <a:p>
                <a:endParaRPr lang="ru-RU" sz="19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650" y="678836"/>
                <a:ext cx="11307098" cy="6045814"/>
              </a:xfrm>
              <a:blipFill>
                <a:blip r:embed="rId3"/>
                <a:stretch>
                  <a:fillRect l="-539" t="-131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Таблица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527878"/>
                  </p:ext>
                </p:extLst>
              </p:nvPr>
            </p:nvGraphicFramePr>
            <p:xfrm>
              <a:off x="6523145" y="2420068"/>
              <a:ext cx="5029758" cy="1318872"/>
            </p:xfrm>
            <a:graphic>
              <a:graphicData uri="http://schemas.openxmlformats.org/drawingml/2006/table">
                <a:tbl>
                  <a:tblPr/>
                  <a:tblGrid>
                    <a:gridCol w="360223">
                      <a:extLst>
                        <a:ext uri="{9D8B030D-6E8A-4147-A177-3AD203B41FA5}">
                          <a16:colId xmlns:a16="http://schemas.microsoft.com/office/drawing/2014/main" val="2299429922"/>
                        </a:ext>
                      </a:extLst>
                    </a:gridCol>
                    <a:gridCol w="987552">
                      <a:extLst>
                        <a:ext uri="{9D8B030D-6E8A-4147-A177-3AD203B41FA5}">
                          <a16:colId xmlns:a16="http://schemas.microsoft.com/office/drawing/2014/main" val="7508714"/>
                        </a:ext>
                      </a:extLst>
                    </a:gridCol>
                    <a:gridCol w="1645920">
                      <a:extLst>
                        <a:ext uri="{9D8B030D-6E8A-4147-A177-3AD203B41FA5}">
                          <a16:colId xmlns:a16="http://schemas.microsoft.com/office/drawing/2014/main" val="844120334"/>
                        </a:ext>
                      </a:extLst>
                    </a:gridCol>
                    <a:gridCol w="2036063">
                      <a:extLst>
                        <a:ext uri="{9D8B030D-6E8A-4147-A177-3AD203B41FA5}">
                          <a16:colId xmlns:a16="http://schemas.microsoft.com/office/drawing/2014/main" val="334214037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" sz="1700" b="1" dirty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 n </a:t>
                          </a:r>
                          <a:endParaRPr lang="en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0B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" sz="1700" b="1" dirty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" sz="17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" sz="17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17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oMath>
                          </a14:m>
                          <a:r>
                            <a:rPr lang="en" sz="1700" b="1" dirty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 </a:t>
                          </a:r>
                          <a:endParaRPr lang="en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0B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" sz="1700" b="1" dirty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" sz="17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" sz="17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</m:e>
                                <m:sub>
                                  <m:r>
                                    <a:rPr lang="en-US" sz="17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  <m:r>
                                <a:rPr lang="en" sz="1700" b="1" i="1" dirty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 = </m:t>
                              </m:r>
                              <m:sSub>
                                <m:sSubPr>
                                  <m:ctrlPr>
                                    <a:rPr lang="en" sz="1700" b="1" i="1" dirty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" sz="1700" b="1" i="1" dirty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e>
                                <m:sub>
                                  <m:r>
                                    <a:rPr lang="en" sz="1700" b="1" i="1" dirty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" sz="17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" sz="17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17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oMath>
                          </a14:m>
                          <a:r>
                            <a:rPr lang="en" sz="1700" b="1" dirty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 </a:t>
                          </a:r>
                          <a:endParaRPr lang="en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0B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" sz="1700" b="1" dirty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" sz="17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" sz="17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7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  <m:r>
                                <a:rPr lang="en" sz="1700" b="1" i="1" dirty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 = </m:t>
                              </m:r>
                              <m:sSub>
                                <m:sSubPr>
                                  <m:ctrlPr>
                                    <a:rPr lang="en" sz="1700" b="1" i="1" dirty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" sz="1700" b="1" i="1" dirty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e>
                                <m:sub>
                                  <m:r>
                                    <a:rPr lang="en" sz="1700" b="1" i="1" dirty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sub>
                              </m:sSub>
                              <m:r>
                                <a:rPr lang="en" sz="1700" b="1" i="1" dirty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" sz="1700" b="1" i="1" dirty="0" err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" sz="1700" b="1" i="1" dirty="0" err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17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  <m:r>
                                <a:rPr lang="en" sz="1700" b="1" i="1" dirty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endParaRPr lang="en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0B3B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454675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ru-RU" sz="1700" b="1" dirty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1</a:t>
                          </a:r>
                          <a:endParaRPr lang="ru-RU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4D4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7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[0.1, 0.9]</m:t>
                                </m:r>
                              </m:oMath>
                            </m:oMathPara>
                          </a14:m>
                          <a:endParaRPr lang="ru-RU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7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[0.1, 0.9]</m:t>
                                </m:r>
                              </m:oMath>
                            </m:oMathPara>
                          </a14:m>
                          <a:endParaRPr lang="ru-RU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7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[0.2, 1.8]</m:t>
                                </m:r>
                              </m:oMath>
                            </m:oMathPara>
                          </a14:m>
                          <a:endParaRPr lang="ru-RU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821931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ru-RU" sz="1700" b="1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2</a:t>
                          </a:r>
                          <a:endParaRPr lang="ru-RU" sz="170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4D4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7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[0.4, 0.6]</m:t>
                                </m:r>
                              </m:oMath>
                            </m:oMathPara>
                          </a14:m>
                          <a:endParaRPr lang="ru-RU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7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[0.4, 0.6]</m:t>
                                </m:r>
                              </m:oMath>
                            </m:oMathPara>
                          </a14:m>
                          <a:endParaRPr lang="ru-RU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7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[0.8, 1.2]</m:t>
                                </m:r>
                              </m:oMath>
                            </m:oMathPara>
                          </a14:m>
                          <a:endParaRPr lang="ru-RU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6623422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ru-RU" sz="1700" b="1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3</a:t>
                          </a:r>
                          <a:endParaRPr lang="ru-RU" sz="170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4D4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7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[0.8, 0.2]</m:t>
                                </m:r>
                              </m:oMath>
                            </m:oMathPara>
                          </a14:m>
                          <a:endParaRPr lang="ru-RU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7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[0.8, 0.2]</m:t>
                                </m:r>
                              </m:oMath>
                            </m:oMathPara>
                          </a14:m>
                          <a:endParaRPr lang="ru-RU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7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[1.6, 0.4]</m:t>
                                </m:r>
                              </m:oMath>
                            </m:oMathPara>
                          </a14:m>
                          <a:endParaRPr lang="ru-RU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182032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Таблица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527878"/>
                  </p:ext>
                </p:extLst>
              </p:nvPr>
            </p:nvGraphicFramePr>
            <p:xfrm>
              <a:off x="6523145" y="2420068"/>
              <a:ext cx="5029758" cy="1350495"/>
            </p:xfrm>
            <a:graphic>
              <a:graphicData uri="http://schemas.openxmlformats.org/drawingml/2006/table">
                <a:tbl>
                  <a:tblPr/>
                  <a:tblGrid>
                    <a:gridCol w="360223">
                      <a:extLst>
                        <a:ext uri="{9D8B030D-6E8A-4147-A177-3AD203B41FA5}">
                          <a16:colId xmlns:a16="http://schemas.microsoft.com/office/drawing/2014/main" val="2299429922"/>
                        </a:ext>
                      </a:extLst>
                    </a:gridCol>
                    <a:gridCol w="987552">
                      <a:extLst>
                        <a:ext uri="{9D8B030D-6E8A-4147-A177-3AD203B41FA5}">
                          <a16:colId xmlns:a16="http://schemas.microsoft.com/office/drawing/2014/main" val="7508714"/>
                        </a:ext>
                      </a:extLst>
                    </a:gridCol>
                    <a:gridCol w="1645920">
                      <a:extLst>
                        <a:ext uri="{9D8B030D-6E8A-4147-A177-3AD203B41FA5}">
                          <a16:colId xmlns:a16="http://schemas.microsoft.com/office/drawing/2014/main" val="844120334"/>
                        </a:ext>
                      </a:extLst>
                    </a:gridCol>
                    <a:gridCol w="2036063">
                      <a:extLst>
                        <a:ext uri="{9D8B030D-6E8A-4147-A177-3AD203B41FA5}">
                          <a16:colId xmlns:a16="http://schemas.microsoft.com/office/drawing/2014/main" val="3342140378"/>
                        </a:ext>
                      </a:extLst>
                    </a:gridCol>
                  </a:tblGrid>
                  <a:tr h="36134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" sz="1700" b="1" dirty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 </a:t>
                          </a:r>
                          <a:r>
                            <a:rPr lang="en" sz="1700" b="1" dirty="0" smtClean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n</a:t>
                          </a:r>
                          <a:r>
                            <a:rPr lang="en" sz="1700" b="1" dirty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 </a:t>
                          </a:r>
                          <a:endParaRPr lang="en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0B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7037" t="-5000" r="-374074" b="-29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1919" t="-5000" r="-123616" b="-29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7605" t="-5000" r="-299" b="-29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4546755"/>
                      </a:ext>
                    </a:extLst>
                  </a:tr>
                  <a:tr h="32971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ru-RU" sz="1700" b="1" dirty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1</a:t>
                          </a:r>
                          <a:endParaRPr lang="ru-RU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4D4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7037" t="-116667" r="-374074" b="-2314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1919" t="-116667" r="-123616" b="-2314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7605" t="-116667" r="-299" b="-2314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8219310"/>
                      </a:ext>
                    </a:extLst>
                  </a:tr>
                  <a:tr h="32971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ru-RU" sz="1700" b="1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2</a:t>
                          </a:r>
                          <a:endParaRPr lang="ru-RU" sz="170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4D4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7037" t="-212727" r="-374074" b="-1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1919" t="-212727" r="-123616" b="-1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7605" t="-212727" r="-299" b="-127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6234226"/>
                      </a:ext>
                    </a:extLst>
                  </a:tr>
                  <a:tr h="32971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ru-RU" sz="1700" b="1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3</a:t>
                          </a:r>
                          <a:endParaRPr lang="ru-RU" sz="170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4D4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7037" t="-318519" r="-374074" b="-296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1919" t="-318519" r="-123616" b="-296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7605" t="-318519" r="-299" b="-296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82032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6913A18-E42E-DC4F-696D-7667DB03A85C}"/>
              </a:ext>
            </a:extLst>
          </p:cNvPr>
          <p:cNvSpPr txBox="1"/>
          <p:nvPr/>
        </p:nvSpPr>
        <p:spPr>
          <a:xfrm>
            <a:off x="7286625" y="4992951"/>
            <a:ext cx="49053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0" i="0" dirty="0">
                <a:effectLst/>
              </a:rPr>
              <a:t>При прогнозировании нагрузки на электросеть в 18:00, модель может "обратить внимание" на:</a:t>
            </a:r>
          </a:p>
          <a:p>
            <a:pPr marL="2857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аналогичное время вчера,</a:t>
            </a:r>
          </a:p>
          <a:p>
            <a:pPr marL="2857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пик в 19:00 прошлой пятницы (выходные),</a:t>
            </a:r>
          </a:p>
          <a:p>
            <a:pPr marL="2857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резкий скачок из-за шторма неделю назад.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 flipH="1" flipV="1">
            <a:off x="7197213" y="4896465"/>
            <a:ext cx="9833" cy="1961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64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6B2C3-9014-036C-C47A-00FDD2618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6AC2F7-7DD6-4F4B-39E7-F28DCA46B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44" y="236131"/>
            <a:ext cx="11166513" cy="5713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/>
              <a:t>Осо</a:t>
            </a:r>
            <a:r>
              <a:rPr lang="ru-RU" b="1" dirty="0" err="1"/>
              <a:t>бенности</a:t>
            </a:r>
            <a:r>
              <a:rPr lang="ru-RU" b="1" dirty="0"/>
              <a:t> </a:t>
            </a:r>
            <a:r>
              <a:rPr lang="en-US" b="1" dirty="0"/>
              <a:t>RNN</a:t>
            </a:r>
            <a:r>
              <a:rPr lang="ru-RU" b="1" dirty="0"/>
              <a:t> в режиме </a:t>
            </a:r>
            <a:r>
              <a:rPr lang="ru-RU" dirty="0"/>
              <a:t>одного блока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C35C589-C055-E0E5-21C6-39FDA2A3D6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7288" y="671449"/>
                <a:ext cx="11738012" cy="5683828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b="1" dirty="0">
                    <a:latin typeface="Cambria Math" panose="02040503050406030204" pitchFamily="18" charset="0"/>
                  </a:rPr>
                  <a:t>Гипотеза</a:t>
                </a:r>
                <a:r>
                  <a:rPr lang="ru-RU" sz="2200" dirty="0">
                    <a:latin typeface="Cambria Math" panose="02040503050406030204" pitchFamily="18" charset="0"/>
                  </a:rPr>
                  <a:t>: анализ набора скрытых состояний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ru-RU" sz="2200" dirty="0">
                    <a:latin typeface="Cambria Math" panose="02040503050406030204" pitchFamily="18" charset="0"/>
                  </a:rPr>
                  <a:t>  позволяет </a:t>
                </a:r>
                <a:r>
                  <a:rPr lang="ru-RU" sz="2200" dirty="0"/>
                  <a:t>выявить внутренние зависимости ВР при формировании состояния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в </a:t>
                </a:r>
                <a:r>
                  <a:rPr lang="ru-RU" sz="2200" dirty="0" err="1"/>
                  <a:t>энкодере</a:t>
                </a:r>
                <a:r>
                  <a:rPr lang="ru-RU" sz="2200" dirty="0"/>
                  <a:t>. В том числе:</a:t>
                </a:r>
                <a:endParaRPr lang="en-US" sz="2200" dirty="0"/>
              </a:p>
              <a:p>
                <a:pPr marL="457200" lvl="1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dirty="0"/>
                  <a:t>— Схожесть паттернов(регулярность, сезонность)?</a:t>
                </a:r>
                <a:br>
                  <a:rPr lang="ru-RU" sz="2200" dirty="0"/>
                </a:br>
                <a:r>
                  <a:rPr lang="ru-RU" sz="2200" dirty="0"/>
                  <a:t>— Влияние прошлых паттернов на будущее (тренд, новизна, цикличность)?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dirty="0"/>
                  <a:t>— Выявление нерегулярных паттернов(аномалии)?</a:t>
                </a:r>
              </a:p>
              <a:p>
                <a:pPr marL="0" lvl="1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dirty="0"/>
                  <a:t>Такая гипотеза называется </a:t>
                </a:r>
                <a:r>
                  <a:rPr lang="ru-RU" sz="2200" b="1" dirty="0"/>
                  <a:t>само-внимание </a:t>
                </a:r>
                <a:r>
                  <a:rPr lang="en-US" sz="2200" b="1" dirty="0"/>
                  <a:t>(self-attention)</a:t>
                </a:r>
                <a:r>
                  <a:rPr lang="ru-RU" sz="2200" b="1" dirty="0"/>
                  <a:t>:</a:t>
                </a:r>
                <a:endParaRPr lang="ru-RU" sz="22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2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2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2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5"/>
                                </m:r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m:rPr>
                                  <m:brk m:alnAt="25"/>
                                </m:r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200" dirty="0"/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en-US" sz="2200" dirty="0" err="1"/>
                  <a:t>где</a:t>
                </a:r>
                <a:r>
                  <a:rPr lang="ru-RU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25"/>
                          </m:rPr>
                          <a:rPr lang="en-US" sz="2200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brk m:alnAt="25"/>
                          </m:rPr>
                          <a:rPr lang="en-US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00" dirty="0"/>
                  <a:t> - </a:t>
                </a:r>
                <a:r>
                  <a:rPr lang="en-US" sz="2200" dirty="0" err="1"/>
                  <a:t>слой</a:t>
                </a:r>
                <a:r>
                  <a:rPr lang="ru-RU" sz="2200" dirty="0"/>
                  <a:t> задающий вектор текущих скрытых состояний из предыдущих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sz="2200" dirty="0"/>
                  <a:t> скрытых состояний</a:t>
                </a:r>
                <a:r>
                  <a:rPr lang="en-US" sz="2200" dirty="0"/>
                  <a:t>;</a:t>
                </a:r>
                <a:endParaRPr lang="ru-RU" sz="2200" dirty="0"/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dirty="0"/>
                  <a:t>	если кросс-внимание – дает предсказание, то </a:t>
                </a:r>
                <a:r>
                  <a:rPr lang="ru-RU" sz="2200" dirty="0" err="1"/>
                  <a:t>самовнимание</a:t>
                </a:r>
                <a:r>
                  <a:rPr lang="ru-RU" sz="2200" dirty="0"/>
                  <a:t> дает анализ</a:t>
                </a:r>
                <a:endParaRPr lang="en-US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C35C589-C055-E0E5-21C6-39FDA2A3D6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7288" y="671449"/>
                <a:ext cx="11738012" cy="5683828"/>
              </a:xfrm>
              <a:blipFill>
                <a:blip r:embed="rId3"/>
                <a:stretch>
                  <a:fillRect l="-675" t="-8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>
            <a:extLst>
              <a:ext uri="{FF2B5EF4-FFF2-40B4-BE49-F238E27FC236}">
                <a16:creationId xmlns:a16="http://schemas.microsoft.com/office/drawing/2014/main" id="{D82902AE-9B6E-75B2-2701-491882EDFA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6009909-BBC8-0B2C-31DD-9B714C9E22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48" t="4920" r="24994" b="50310"/>
          <a:stretch/>
        </p:blipFill>
        <p:spPr bwMode="auto">
          <a:xfrm>
            <a:off x="40255" y="4522839"/>
            <a:ext cx="4782373" cy="2033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501E1B-7386-56D1-CE84-9BC1335DEE1A}"/>
              </a:ext>
            </a:extLst>
          </p:cNvPr>
          <p:cNvSpPr txBox="1"/>
          <p:nvPr/>
        </p:nvSpPr>
        <p:spPr>
          <a:xfrm>
            <a:off x="1018799" y="6544271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err="1"/>
              <a:t>https</a:t>
            </a:r>
            <a:r>
              <a:rPr lang="ru-RU" sz="1100" dirty="0"/>
              <a:t>://</a:t>
            </a:r>
            <a:r>
              <a:rPr lang="ru-RU" sz="1100" dirty="0" err="1"/>
              <a:t>readmedium.com</a:t>
            </a:r>
            <a:r>
              <a:rPr lang="ru-RU" sz="1100" dirty="0"/>
              <a:t>/transformer-implementation-for-time-series-forecasting-a9db2db5c820</a:t>
            </a:r>
          </a:p>
        </p:txBody>
      </p:sp>
      <p:grpSp>
        <p:nvGrpSpPr>
          <p:cNvPr id="17" name="Группа 16"/>
          <p:cNvGrpSpPr/>
          <p:nvPr/>
        </p:nvGrpSpPr>
        <p:grpSpPr>
          <a:xfrm>
            <a:off x="4679778" y="4510746"/>
            <a:ext cx="4363558" cy="2216449"/>
            <a:chOff x="6096000" y="4584192"/>
            <a:chExt cx="3840480" cy="1962958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3706DF6B-AD59-A011-9894-54776250AE6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45" t="49642" r="25397" b="-3450"/>
            <a:stretch>
              <a:fillRect/>
            </a:stretch>
          </p:blipFill>
          <p:spPr bwMode="auto">
            <a:xfrm>
              <a:off x="6096000" y="4584192"/>
              <a:ext cx="3840480" cy="19629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8" name="Прямая со стрелкой 7"/>
            <p:cNvCxnSpPr/>
            <p:nvPr/>
          </p:nvCxnSpPr>
          <p:spPr>
            <a:xfrm flipV="1">
              <a:off x="6815138" y="5181601"/>
              <a:ext cx="242887" cy="95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Прямая со стрелкой 10"/>
            <p:cNvCxnSpPr/>
            <p:nvPr/>
          </p:nvCxnSpPr>
          <p:spPr>
            <a:xfrm>
              <a:off x="7548563" y="5191126"/>
              <a:ext cx="21907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 стрелкой 11"/>
            <p:cNvCxnSpPr/>
            <p:nvPr/>
          </p:nvCxnSpPr>
          <p:spPr>
            <a:xfrm>
              <a:off x="8239125" y="5162551"/>
              <a:ext cx="2238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 стрелкой 15"/>
            <p:cNvCxnSpPr/>
            <p:nvPr/>
          </p:nvCxnSpPr>
          <p:spPr>
            <a:xfrm>
              <a:off x="8967787" y="5167314"/>
              <a:ext cx="2238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2">
              <a:extLst>
                <a:ext uri="{FF2B5EF4-FFF2-40B4-BE49-F238E27FC236}">
                  <a16:creationId xmlns:a16="http://schemas.microsoft.com/office/drawing/2014/main" id="{F6009909-BBC8-0B2C-31DD-9B714C9E223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481" t="4258" r="48032" b="90371"/>
            <a:stretch/>
          </p:blipFill>
          <p:spPr bwMode="auto">
            <a:xfrm>
              <a:off x="8528049" y="4584192"/>
              <a:ext cx="503341" cy="2120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Стрелка вправо 18"/>
          <p:cNvSpPr/>
          <p:nvPr/>
        </p:nvSpPr>
        <p:spPr>
          <a:xfrm>
            <a:off x="4242125" y="5618970"/>
            <a:ext cx="711200" cy="2341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 descr="Understanding and Coding the Self-Attention Mechanism of Large Language  Models From Scratch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4468" y="4397192"/>
            <a:ext cx="3134725" cy="2285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Прямоугольник 19"/>
          <p:cNvSpPr/>
          <p:nvPr/>
        </p:nvSpPr>
        <p:spPr>
          <a:xfrm>
            <a:off x="7114799" y="6587743"/>
            <a:ext cx="481050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dirty="0"/>
              <a:t>https://sebastianraschka.com/blog/2023/self-attention-from-scratch.html</a:t>
            </a:r>
          </a:p>
        </p:txBody>
      </p:sp>
    </p:spTree>
    <p:extLst>
      <p:ext uri="{BB962C8B-B14F-4D97-AF65-F5344CB8AC3E}">
        <p14:creationId xmlns:p14="http://schemas.microsoft.com/office/powerpoint/2010/main" val="3301438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ru-RU" sz="3200" b="1" dirty="0"/>
              <a:t>Многоголовое внимание</a:t>
            </a:r>
            <a:endParaRPr lang="ru-RU" altLang="ru-RU" sz="3200" b="1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b="1" dirty="0">
                    <a:latin typeface="Cambria Math" panose="02040503050406030204" pitchFamily="18" charset="0"/>
                  </a:rPr>
                  <a:t>Гипотеза</a:t>
                </a:r>
                <a:r>
                  <a:rPr lang="ru-RU" sz="2200" dirty="0">
                    <a:latin typeface="Cambria Math" panose="02040503050406030204" pitchFamily="18" charset="0"/>
                  </a:rPr>
                  <a:t>: блок </a:t>
                </a:r>
                <a:r>
                  <a:rPr lang="ru-RU" sz="2200" dirty="0" err="1">
                    <a:latin typeface="Cambria Math" panose="02040503050406030204" pitchFamily="18" charset="0"/>
                  </a:rPr>
                  <a:t>самовнимания</a:t>
                </a:r>
                <a:r>
                  <a:rPr lang="ru-RU" sz="2200" dirty="0">
                    <a:latin typeface="Cambria Math" panose="02040503050406030204" pitchFamily="18" charset="0"/>
                  </a:rPr>
                  <a:t> формирует контекст как один признак временного ряда.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dirty="0">
                    <a:latin typeface="Cambria Math" panose="02040503050406030204" pitchFamily="18" charset="0"/>
                  </a:rPr>
                  <a:t>По аналогии с  ансамблями (или каналами карт признаков в сверточных сетях) -  число формируемых признаков задается числом параллельных блоков </a:t>
                </a:r>
                <a:r>
                  <a:rPr lang="ru-RU" sz="2200" dirty="0" err="1">
                    <a:latin typeface="Cambria Math" panose="02040503050406030204" pitchFamily="18" charset="0"/>
                  </a:rPr>
                  <a:t>самовнимания</a:t>
                </a:r>
                <a:r>
                  <a:rPr lang="ru-RU" sz="2200" dirty="0">
                    <a:latin typeface="Cambria Math" panose="02040503050406030204" pitchFamily="18" charset="0"/>
                  </a:rPr>
                  <a:t>.</a:t>
                </a:r>
                <a:endParaRPr lang="ru-RU" sz="2200" dirty="0"/>
              </a:p>
              <a:p>
                <a:pPr marL="0" lvl="1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dirty="0"/>
                  <a:t>Такая гипотеза называется многоголовое-</a:t>
                </a:r>
                <a:r>
                  <a:rPr lang="ru-RU" sz="2200" b="1" dirty="0"/>
                  <a:t>само-внимание</a:t>
                </a:r>
                <a:r>
                  <a:rPr lang="en-US" sz="2200" b="1" dirty="0"/>
                  <a:t> (multi-head self attention)</a:t>
                </a:r>
                <a:r>
                  <a:rPr lang="ru-RU" sz="2200" b="1" dirty="0"/>
                  <a:t>:</a:t>
                </a:r>
                <a:endParaRPr lang="ru-RU" sz="2200" i="1" dirty="0">
                  <a:latin typeface="Cambria Math" panose="02040503050406030204" pitchFamily="18" charset="0"/>
                </a:endParaRPr>
              </a:p>
              <a:p>
                <a:pPr marL="0" indent="0" algn="l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000" i="1" dirty="0" err="1" smtClean="0">
                          <a:latin typeface="Cambria Math" panose="02040503050406030204" pitchFamily="18" charset="0"/>
                        </a:rPr>
                        <m:t>𝑀𝑢𝑙𝑡𝑖𝐻𝑒𝑎𝑑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𝑂</m:t>
                          </m:r>
                        </m:sup>
                      </m:sSup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</a:rPr>
                        <m:t>𝑐𝑜𝑛𝑐𝑎𝑡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h𝑒𝑎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; …; 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h𝑒𝑎</m:t>
                          </m:r>
                          <m:sSub>
                            <m:sSubPr>
                              <m:ctrlPr>
                                <a:rPr lang="en-US" sz="2000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 err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2000" i="1" dirty="0" err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  </m:t>
                      </m:r>
                    </m:oMath>
                  </m:oMathPara>
                </a14:m>
                <a:endParaRPr lang="ru-RU" sz="20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000" dirty="0"/>
                  <a:t>где</a:t>
                </a:r>
                <a:r>
                  <a:rPr lang="en-US" sz="2000" dirty="0"/>
                  <a:t>: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h𝑒𝑎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𝑠𝑜𝑓𝑡𝑚𝑎𝑥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𝑄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sz="20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𝑂</m:t>
                        </m:r>
                      </m:sup>
                    </m:sSup>
                  </m:oMath>
                </a14:m>
                <a:r>
                  <a:rPr lang="en-US" sz="2000" dirty="0"/>
                  <a:t> - </a:t>
                </a:r>
                <a:r>
                  <a:rPr lang="en-US" sz="2000" dirty="0" err="1"/>
                  <a:t>матрица</a:t>
                </a:r>
                <a:r>
                  <a:rPr lang="en-US" sz="2000" dirty="0"/>
                  <a:t> </a:t>
                </a:r>
                <a:r>
                  <a:rPr lang="en-US" sz="2000" dirty="0" err="1"/>
                  <a:t>весов</a:t>
                </a:r>
                <a:r>
                  <a:rPr lang="ru-RU" sz="2000" dirty="0"/>
                  <a:t> каждой головы</a:t>
                </a:r>
                <a:r>
                  <a:rPr lang="en-US" sz="2000" dirty="0"/>
                  <a:t>.</a:t>
                </a:r>
                <a:endParaRPr lang="ru-RU" sz="20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000" dirty="0"/>
                  <a:t> Пример простой сети с многоголовым вниманием</a:t>
                </a:r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  <a:blipFill>
                <a:blip r:embed="rId3"/>
                <a:stretch>
                  <a:fillRect l="-670" t="-6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5935" y="3185651"/>
            <a:ext cx="5320757" cy="3101241"/>
          </a:xfrm>
          <a:prstGeom prst="rect">
            <a:avLst/>
          </a:prstGeom>
        </p:spPr>
      </p:pic>
      <p:sp>
        <p:nvSpPr>
          <p:cNvPr id="22" name="Прямоугольник 21"/>
          <p:cNvSpPr/>
          <p:nvPr/>
        </p:nvSpPr>
        <p:spPr>
          <a:xfrm>
            <a:off x="8856173" y="2834858"/>
            <a:ext cx="319356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https://www.mdpi.com/1996-1073/13/18/4722</a:t>
            </a:r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375" y="3630484"/>
            <a:ext cx="3966659" cy="1767945"/>
          </a:xfrm>
          <a:prstGeom prst="rect">
            <a:avLst/>
          </a:prstGeom>
        </p:spPr>
      </p:pic>
      <p:sp>
        <p:nvSpPr>
          <p:cNvPr id="25" name="Прямоугольник 24"/>
          <p:cNvSpPr/>
          <p:nvPr/>
        </p:nvSpPr>
        <p:spPr>
          <a:xfrm>
            <a:off x="8239506" y="2946465"/>
            <a:ext cx="28905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111827"/>
                </a:solidFill>
                <a:latin typeface="system-ui"/>
              </a:rPr>
              <a:t>Attention-augmented RNN</a:t>
            </a:r>
            <a:endParaRPr lang="ru-RU" dirty="0"/>
          </a:p>
        </p:txBody>
      </p:sp>
      <p:pic>
        <p:nvPicPr>
          <p:cNvPr id="27" name="Рисунок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999" y="2502612"/>
            <a:ext cx="6045665" cy="4309599"/>
          </a:xfrm>
          <a:prstGeom prst="rect">
            <a:avLst/>
          </a:prstGeom>
        </p:spPr>
      </p:pic>
      <p:sp>
        <p:nvSpPr>
          <p:cNvPr id="28" name="Прямоугольник 27"/>
          <p:cNvSpPr/>
          <p:nvPr/>
        </p:nvSpPr>
        <p:spPr>
          <a:xfrm>
            <a:off x="8943163" y="6218301"/>
            <a:ext cx="261969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https://arxiv.org/pdf/2205.01138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65" y="5591662"/>
            <a:ext cx="65507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Самовнимание</a:t>
            </a:r>
            <a:r>
              <a:rPr lang="ru-RU" dirty="0"/>
              <a:t> аналогично адаптивной ядерной фильтрации</a:t>
            </a:r>
            <a:br>
              <a:rPr lang="ru-RU" dirty="0"/>
            </a:br>
            <a:r>
              <a:rPr lang="ru-RU" dirty="0"/>
              <a:t> ВР – цель фильтрации выделение одного паттерна</a:t>
            </a:r>
          </a:p>
          <a:p>
            <a:r>
              <a:rPr lang="ru-RU" dirty="0"/>
              <a:t>Цель многоголового </a:t>
            </a:r>
            <a:r>
              <a:rPr lang="ru-RU" dirty="0" err="1"/>
              <a:t>самовнимания</a:t>
            </a:r>
            <a:r>
              <a:rPr lang="ru-RU" dirty="0"/>
              <a:t> – выделение набора паттернов во ВР</a:t>
            </a:r>
          </a:p>
        </p:txBody>
      </p:sp>
    </p:spTree>
    <p:extLst>
      <p:ext uri="{BB962C8B-B14F-4D97-AF65-F5344CB8AC3E}">
        <p14:creationId xmlns:p14="http://schemas.microsoft.com/office/powerpoint/2010/main" val="313731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177801"/>
            <a:ext cx="11125200" cy="6350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Идеи перехода от </a:t>
            </a:r>
            <a:r>
              <a:rPr lang="en-US" dirty="0"/>
              <a:t>RNN </a:t>
            </a:r>
            <a:r>
              <a:rPr lang="ru-RU" dirty="0"/>
              <a:t>к авторегрессии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591651"/>
                <a:ext cx="11884742" cy="5631835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b="1" dirty="0"/>
                  <a:t>Рассмотрим слой </a:t>
                </a:r>
                <a:r>
                  <a:rPr lang="en-US" sz="2200" b="1" dirty="0"/>
                  <a:t>RNN c </a:t>
                </a:r>
                <a:r>
                  <a:rPr lang="ru-RU" sz="2200" b="1" dirty="0" err="1"/>
                  <a:t>самовниманием</a:t>
                </a:r>
                <a:endParaRPr lang="ru-RU" sz="2200" b="1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2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2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2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5"/>
                                </m:r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m:rPr>
                                  <m:brk m:alnAt="25"/>
                                </m:r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d>
                      <m:r>
                        <a:rPr lang="ru-RU" sz="2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2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2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ru-RU" sz="22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ru-RU" sz="22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subSup"/>
                              <m:ctrlPr>
                                <a:rPr lang="ru-RU" sz="220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5"/>
                                </m:r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ru-RU" sz="2200" dirty="0"/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2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+1</m:t>
                            </m:r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200" dirty="0"/>
                  <a:t>, </a:t>
                </a:r>
                <a:endParaRPr lang="ru-RU" sz="2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/>
                  <a:t>где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200" dirty="0"/>
                  <a:t> – </a:t>
                </a:r>
                <a:r>
                  <a:rPr lang="ru-RU" sz="2200" dirty="0"/>
                  <a:t>размер вектора </a:t>
                </a:r>
                <a14:m>
                  <m:oMath xmlns:m="http://schemas.openxmlformats.org/officeDocument/2006/math">
                    <m:r>
                      <a:rPr lang="ru-RU" sz="22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200" b="0" i="0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b="0" i="0" dirty="0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ru-RU" sz="2200" b="0" i="0" dirty="0" smtClean="0">
                        <a:latin typeface="Cambria Math" panose="02040503050406030204" pitchFamily="18" charset="0"/>
                      </a:rPr>
                      <m:t>коэффициент учитывающий</m:t>
                    </m:r>
                    <m:r>
                      <a:rPr lang="ru-RU" sz="22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𝛼</m:t>
                    </m:r>
                    <m:sSup>
                      <m:sSupPr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200" b="0" i="0" dirty="0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p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p>
                    <m:r>
                      <a:rPr lang="ru-RU" sz="2200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sz="2200" dirty="0"/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dirty="0"/>
                  <a:t>По сути это выражение представляет собой </a:t>
                </a:r>
                <a:r>
                  <a:rPr lang="en-US" sz="2200" dirty="0"/>
                  <a:t>AR-NET </a:t>
                </a:r>
                <a:r>
                  <a:rPr lang="ru-RU" sz="2200" dirty="0"/>
                  <a:t>с экзогенными факторами 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dirty="0"/>
                  <a:t>и динамически рассчитываемыми коэффициентами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sz="2200" dirty="0"/>
              </a:p>
              <a:p>
                <a:pPr marL="0" indent="0">
                  <a:buNone/>
                </a:pPr>
                <a:r>
                  <a:rPr lang="ru-RU" sz="2200" b="1" dirty="0"/>
                  <a:t>Гипотеза</a:t>
                </a:r>
                <a:r>
                  <a:rPr lang="ru-RU" sz="2200" dirty="0"/>
                  <a:t>: Если есть </a:t>
                </a:r>
                <a:r>
                  <a:rPr lang="ru-RU" sz="2200" dirty="0" err="1"/>
                  <a:t>самовнимание</a:t>
                </a:r>
                <a:r>
                  <a:rPr lang="ru-RU" sz="2200" dirty="0"/>
                  <a:t> и кросс-внимание,</a:t>
                </a:r>
                <a:r>
                  <a:rPr lang="en-US" sz="2200" dirty="0"/>
                  <a:t> </a:t>
                </a:r>
                <a:r>
                  <a:rPr lang="ru-RU" sz="2200" dirty="0"/>
                  <a:t>то </a:t>
                </a:r>
                <a:r>
                  <a:rPr lang="en-US" sz="2200" dirty="0"/>
                  <a:t>RNN </a:t>
                </a:r>
                <a:r>
                  <a:rPr lang="ru-RU" sz="2200" dirty="0"/>
                  <a:t>не нужно.</a:t>
                </a:r>
              </a:p>
              <a:p>
                <a:pPr marL="0" indent="0">
                  <a:buNone/>
                </a:pPr>
                <a:br>
                  <a:rPr lang="ru-RU" sz="2200" dirty="0"/>
                </a:br>
                <a:endParaRPr lang="ru-RU" sz="22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591651"/>
                <a:ext cx="11884742" cy="5631835"/>
              </a:xfrm>
              <a:blipFill>
                <a:blip r:embed="rId3"/>
                <a:stretch>
                  <a:fillRect l="-667" t="-7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Объект 2"/>
          <p:cNvSpPr txBox="1">
            <a:spLocks/>
          </p:cNvSpPr>
          <p:nvPr/>
        </p:nvSpPr>
        <p:spPr>
          <a:xfrm>
            <a:off x="149942" y="3060931"/>
            <a:ext cx="9989574" cy="36640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None/>
            </a:pPr>
            <a:endParaRPr lang="ru-RU" sz="22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88491" y="5960228"/>
            <a:ext cx="9419304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Реализация гипотезы – архитектуры </a:t>
            </a:r>
            <a:r>
              <a:rPr lang="ru-RU" sz="2000" b="1" dirty="0" err="1"/>
              <a:t>Трансформер</a:t>
            </a:r>
            <a:r>
              <a:rPr lang="ru-RU" sz="2000" b="1" dirty="0"/>
              <a:t> </a:t>
            </a:r>
            <a:r>
              <a:rPr lang="ru-RU" sz="2000" dirty="0"/>
              <a:t>(</a:t>
            </a:r>
            <a:r>
              <a:rPr lang="en-US" sz="2000" dirty="0"/>
              <a:t>Transformer Architecture</a:t>
            </a:r>
            <a:r>
              <a:rPr lang="ru-RU" dirty="0"/>
              <a:t>)</a:t>
            </a:r>
            <a:br>
              <a:rPr lang="ru-RU" dirty="0"/>
            </a:b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8760540" y="6514495"/>
            <a:ext cx="34314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https://ar5iv.labs.arxiv.org/html/2304.04912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2924808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177801"/>
            <a:ext cx="11125200" cy="6350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Идеи перехода от </a:t>
            </a:r>
            <a:r>
              <a:rPr lang="en-US" dirty="0"/>
              <a:t>RNN </a:t>
            </a:r>
            <a:r>
              <a:rPr lang="ru-RU" dirty="0"/>
              <a:t>к авторегрессии</a:t>
            </a:r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149942" y="3060931"/>
            <a:ext cx="9989574" cy="36640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None/>
            </a:pPr>
            <a:endParaRPr lang="ru-RU" sz="22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521110" y="2906773"/>
            <a:ext cx="3647767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Реализация гипотезы – архитектуры </a:t>
            </a:r>
            <a:r>
              <a:rPr lang="ru-RU" sz="2000" b="1" dirty="0" err="1"/>
              <a:t>Трансформер</a:t>
            </a:r>
            <a:r>
              <a:rPr lang="ru-RU" sz="2000" b="1" dirty="0"/>
              <a:t> </a:t>
            </a:r>
            <a:r>
              <a:rPr lang="ru-RU" sz="2000" dirty="0"/>
              <a:t>(</a:t>
            </a:r>
            <a:r>
              <a:rPr lang="en-US" sz="2000" dirty="0"/>
              <a:t>Transformer Architecture</a:t>
            </a:r>
            <a:r>
              <a:rPr lang="ru-RU" dirty="0"/>
              <a:t>)</a:t>
            </a:r>
            <a:br>
              <a:rPr lang="ru-RU" dirty="0"/>
            </a:b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28600" y="659169"/>
            <a:ext cx="11668432" cy="4351338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sz="2200" b="1" dirty="0"/>
              <a:t>Гипотеза</a:t>
            </a:r>
            <a:r>
              <a:rPr lang="ru-RU" sz="2200" dirty="0"/>
              <a:t>: Если есть </a:t>
            </a:r>
            <a:r>
              <a:rPr lang="ru-RU" sz="2200" dirty="0" err="1"/>
              <a:t>самовнимание</a:t>
            </a:r>
            <a:r>
              <a:rPr lang="ru-RU" sz="2200" dirty="0"/>
              <a:t> и кросс-внимание,</a:t>
            </a:r>
            <a:r>
              <a:rPr lang="en-US" sz="2200" dirty="0"/>
              <a:t> </a:t>
            </a:r>
            <a:r>
              <a:rPr lang="ru-RU" sz="2200" dirty="0"/>
              <a:t>то </a:t>
            </a:r>
            <a:r>
              <a:rPr lang="en-US" sz="2200" dirty="0"/>
              <a:t>RNN </a:t>
            </a:r>
            <a:r>
              <a:rPr lang="ru-RU" sz="2200" dirty="0"/>
              <a:t>не нужно.</a:t>
            </a:r>
          </a:p>
          <a:p>
            <a:pPr lvl="2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Внимание уже задает необходимый контекст.</a:t>
            </a:r>
          </a:p>
          <a:p>
            <a:pPr lvl="2">
              <a:lnSpc>
                <a:spcPct val="100000"/>
              </a:lnSpc>
              <a:spcBef>
                <a:spcPts val="200"/>
              </a:spcBef>
            </a:pPr>
            <a:r>
              <a:rPr lang="en-US" sz="2200" dirty="0"/>
              <a:t>MLP </a:t>
            </a:r>
            <a:r>
              <a:rPr lang="ru-RU" sz="2200" dirty="0"/>
              <a:t>слой удобнее – позволяет обрабатывать данные параллельно,</a:t>
            </a:r>
          </a:p>
          <a:p>
            <a:pPr lvl="2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Нет проблем с рекуррентным обучением.</a:t>
            </a:r>
          </a:p>
          <a:p>
            <a:pPr lvl="2">
              <a:lnSpc>
                <a:spcPct val="100000"/>
              </a:lnSpc>
              <a:spcBef>
                <a:spcPts val="200"/>
              </a:spcBef>
            </a:pPr>
            <a:r>
              <a:rPr lang="ru-RU" sz="2200" b="1" dirty="0"/>
              <a:t>Однако</a:t>
            </a:r>
            <a:r>
              <a:rPr lang="ru-RU" sz="2200" dirty="0"/>
              <a:t>, нужно учитывать последовательный характер данных.</a:t>
            </a:r>
          </a:p>
          <a:p>
            <a:pPr lvl="3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Для этого можно «пометить» позицию каждого положения окна, идущего по ВР</a:t>
            </a:r>
          </a:p>
          <a:p>
            <a:endParaRPr lang="ru-RU" dirty="0"/>
          </a:p>
        </p:txBody>
      </p:sp>
      <p:pic>
        <p:nvPicPr>
          <p:cNvPr id="10" name="Picture 8" descr="PDF] Deep Transformer Models for Time Series Forecasting: The Influenza  Prevalence Case | Semantic Schola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38" t="587" r="139" b="-587"/>
          <a:stretch/>
        </p:blipFill>
        <p:spPr bwMode="auto">
          <a:xfrm>
            <a:off x="4650659" y="3060931"/>
            <a:ext cx="5992328" cy="3642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238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135" y="206477"/>
            <a:ext cx="11523407" cy="560439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Идеи архитектуры </a:t>
            </a:r>
            <a:r>
              <a:rPr lang="ru-RU" b="1" dirty="0" err="1"/>
              <a:t>Трансформер</a:t>
            </a:r>
            <a:r>
              <a:rPr lang="ru-RU" b="1" dirty="0"/>
              <a:t>. </a:t>
            </a:r>
            <a:r>
              <a:rPr lang="en-US" b="1" dirty="0"/>
              <a:t>Encoder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378" y="766915"/>
            <a:ext cx="9383752" cy="561421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200" dirty="0"/>
              <a:t>Входной поток </a:t>
            </a:r>
            <a:r>
              <a:rPr lang="en-US" sz="2200" dirty="0"/>
              <a:t>(</a:t>
            </a:r>
            <a:r>
              <a:rPr lang="en-US" sz="2200" b="1" dirty="0"/>
              <a:t>Encoder</a:t>
            </a:r>
            <a:r>
              <a:rPr lang="en-US" sz="2200" dirty="0"/>
              <a:t>)</a:t>
            </a:r>
            <a:r>
              <a:rPr lang="ru-RU" sz="2200" dirty="0"/>
              <a:t>. </a:t>
            </a:r>
            <a:r>
              <a:rPr lang="ru-RU" sz="2200" b="1" dirty="0"/>
              <a:t>Цель: </a:t>
            </a:r>
            <a:r>
              <a:rPr lang="ru-RU" sz="2200" dirty="0"/>
              <a:t>обработка последовательности  с сохранением порядка без рекуррентных связей</a:t>
            </a:r>
          </a:p>
          <a:p>
            <a:r>
              <a:rPr lang="en-US" sz="2200" b="1" dirty="0"/>
              <a:t>Pathing</a:t>
            </a:r>
            <a:r>
              <a:rPr lang="en-US" sz="2200" dirty="0"/>
              <a:t>: </a:t>
            </a:r>
            <a:r>
              <a:rPr lang="ru-RU" sz="2200" dirty="0"/>
              <a:t>разбиваем входную последовательность на элементы. </a:t>
            </a:r>
            <a:r>
              <a:rPr lang="ru-RU" sz="2200" b="1" dirty="0"/>
              <a:t>Цель</a:t>
            </a:r>
            <a:r>
              <a:rPr lang="ru-RU" sz="2200" dirty="0"/>
              <a:t>: 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усреднение (снижение избыточности) 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выделить локальные признаки по каждому </a:t>
            </a:r>
            <a:r>
              <a:rPr lang="en-US" sz="2200" dirty="0"/>
              <a:t>path</a:t>
            </a:r>
            <a:r>
              <a:rPr lang="ru-RU" sz="2200" dirty="0"/>
              <a:t>.</a:t>
            </a:r>
          </a:p>
          <a:p>
            <a:pPr lvl="2">
              <a:lnSpc>
                <a:spcPct val="100000"/>
              </a:lnSpc>
            </a:pPr>
            <a:r>
              <a:rPr lang="ru-RU" sz="2200" dirty="0"/>
              <a:t>могут быть разные интерпретации </a:t>
            </a:r>
            <a:r>
              <a:rPr lang="ru-RU" sz="2200" dirty="0" err="1"/>
              <a:t>патча</a:t>
            </a:r>
            <a:endParaRPr lang="en-US" sz="2200" dirty="0"/>
          </a:p>
          <a:p>
            <a:r>
              <a:rPr lang="en-US" sz="2200" b="1" dirty="0"/>
              <a:t>Embedding</a:t>
            </a:r>
            <a:r>
              <a:rPr lang="en-US" sz="2200" dirty="0"/>
              <a:t> (input layer)</a:t>
            </a:r>
            <a:r>
              <a:rPr lang="ru-RU" sz="2200" dirty="0"/>
              <a:t>: встраивание, представление </a:t>
            </a:r>
            <a:r>
              <a:rPr lang="ru-RU" sz="2200" dirty="0" err="1"/>
              <a:t>патча</a:t>
            </a:r>
            <a:r>
              <a:rPr lang="ru-RU" sz="2200" dirty="0"/>
              <a:t> многомерным массивом. </a:t>
            </a:r>
            <a:r>
              <a:rPr lang="ru-RU" sz="2200" b="1" dirty="0"/>
              <a:t>Цель</a:t>
            </a:r>
            <a:r>
              <a:rPr lang="ru-RU" sz="2200" dirty="0"/>
              <a:t>: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Модель сама учит какое представление признаков лучше.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Более содержательное пространство признаков.</a:t>
            </a:r>
          </a:p>
          <a:p>
            <a:r>
              <a:rPr lang="en-US" sz="2200" b="1" dirty="0"/>
              <a:t>Positional Encoding</a:t>
            </a:r>
            <a:r>
              <a:rPr lang="en-US" sz="2200" dirty="0"/>
              <a:t> : </a:t>
            </a:r>
            <a:r>
              <a:rPr lang="ru-RU" sz="2200" dirty="0"/>
              <a:t>Добавляет к вектору каждого </a:t>
            </a:r>
            <a:r>
              <a:rPr lang="ru-RU" sz="2200" dirty="0" err="1"/>
              <a:t>патча</a:t>
            </a:r>
            <a:r>
              <a:rPr lang="ru-RU" sz="2200" dirty="0"/>
              <a:t> информацию о его абсолютной позиции во всей последовательности. </a:t>
            </a:r>
            <a:r>
              <a:rPr lang="ru-RU" sz="2200" b="1" dirty="0"/>
              <a:t>Цель</a:t>
            </a:r>
            <a:r>
              <a:rPr lang="ru-RU" sz="2200" dirty="0"/>
              <a:t>:</a:t>
            </a:r>
            <a:endParaRPr lang="en-US" sz="2200" dirty="0"/>
          </a:p>
          <a:p>
            <a:pPr lvl="1">
              <a:lnSpc>
                <a:spcPct val="100000"/>
              </a:lnSpc>
            </a:pPr>
            <a:r>
              <a:rPr lang="ru-RU" sz="2200" dirty="0"/>
              <a:t>Задание последовательного порядка в </a:t>
            </a:r>
            <a:r>
              <a:rPr lang="ru-RU" sz="2200" dirty="0" err="1"/>
              <a:t>полносвязной</a:t>
            </a:r>
            <a:r>
              <a:rPr lang="ru-RU" sz="2200" dirty="0"/>
              <a:t> структуре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Экзогенная переменная(напр. при синусоидальном порядке </a:t>
            </a:r>
            <a:r>
              <a:rPr lang="ru-RU" sz="2200" dirty="0" err="1"/>
              <a:t>патч</a:t>
            </a:r>
            <a:r>
              <a:rPr lang="ru-RU" sz="2200" dirty="0"/>
              <a:t> на позиции 5 так же относится к позиции 10, как </a:t>
            </a:r>
            <a:r>
              <a:rPr lang="ru-RU" sz="2200" dirty="0" err="1"/>
              <a:t>патч</a:t>
            </a:r>
            <a:r>
              <a:rPr lang="ru-RU" sz="2200" dirty="0"/>
              <a:t> 15 к позиции 20)</a:t>
            </a:r>
            <a:endParaRPr lang="ru-RU" sz="22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891243" y="6532141"/>
            <a:ext cx="944174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https://www.researchgate.net/publication/354541471_Evaluation_of_the_Transformer_Architecture_for_Univariate_Time_Series_Forecasting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423799" y="576715"/>
            <a:ext cx="2477728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dirty="0">
                <a:solidFill>
                  <a:srgbClr val="404040"/>
                </a:solidFill>
                <a:latin typeface="Menlo"/>
              </a:rPr>
              <a:t>y</a:t>
            </a:r>
            <a:r>
              <a:rPr lang="ru-RU" altLang="ru-RU" dirty="0">
                <a:solidFill>
                  <a:srgbClr val="404040"/>
                </a:solidFill>
                <a:latin typeface="Menlo"/>
              </a:rPr>
              <a:t> = [</a:t>
            </a:r>
            <a:r>
              <a:rPr lang="en-US" altLang="ru-RU" dirty="0">
                <a:solidFill>
                  <a:srgbClr val="404040"/>
                </a:solidFill>
                <a:latin typeface="Menlo"/>
              </a:rPr>
              <a:t>y</a:t>
            </a:r>
            <a:r>
              <a:rPr lang="ru-RU" altLang="ru-RU" dirty="0">
                <a:solidFill>
                  <a:srgbClr val="404040"/>
                </a:solidFill>
                <a:latin typeface="Menlo"/>
              </a:rPr>
              <a:t>₁, ..., </a:t>
            </a:r>
            <a:r>
              <a:rPr lang="en-US" altLang="ru-RU" dirty="0">
                <a:solidFill>
                  <a:srgbClr val="404040"/>
                </a:solidFill>
                <a:latin typeface="Menlo"/>
              </a:rPr>
              <a:t>y</a:t>
            </a:r>
            <a:r>
              <a:rPr lang="ru-RU" altLang="ru-RU" dirty="0">
                <a:solidFill>
                  <a:srgbClr val="404040"/>
                </a:solidFill>
                <a:latin typeface="Menlo"/>
              </a:rPr>
              <a:t>₁₀₀] ∈ ℝ¹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9488130" y="1660881"/>
            <a:ext cx="250421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404040"/>
                </a:solidFill>
                <a:latin typeface="Menlo"/>
              </a:rPr>
              <a:t>P₁ = [x₁, ..., x₁₀],</a:t>
            </a:r>
          </a:p>
          <a:p>
            <a:r>
              <a:rPr lang="en-US" dirty="0">
                <a:solidFill>
                  <a:srgbClr val="404040"/>
                </a:solidFill>
                <a:latin typeface="Menlo"/>
              </a:rPr>
              <a:t>P₂ = [x₆, ..., x₁₅]</a:t>
            </a:r>
          </a:p>
          <a:p>
            <a:r>
              <a:rPr lang="ru-RU" dirty="0"/>
              <a:t>...</a:t>
            </a:r>
            <a:endParaRPr lang="en-US" dirty="0"/>
          </a:p>
          <a:p>
            <a:r>
              <a:rPr lang="en-US" dirty="0">
                <a:solidFill>
                  <a:srgbClr val="404040"/>
                </a:solidFill>
                <a:latin typeface="Menlo"/>
              </a:rPr>
              <a:t>P₁₉ = [x₉₁, x₉₂, ..., x₁₀₀]</a:t>
            </a:r>
            <a:endParaRPr lang="ru-RU" dirty="0">
              <a:solidFill>
                <a:srgbClr val="404040"/>
              </a:solidFill>
              <a:latin typeface="Menlo"/>
            </a:endParaRP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9531954" y="3143417"/>
            <a:ext cx="2477728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dirty="0" err="1">
                <a:solidFill>
                  <a:srgbClr val="404040"/>
                </a:solidFill>
                <a:latin typeface="Menlo"/>
              </a:rPr>
              <a:t>e</a:t>
            </a:r>
            <a:r>
              <a:rPr lang="en-US" altLang="ru-RU" baseline="-25000" dirty="0" err="1">
                <a:solidFill>
                  <a:srgbClr val="404040"/>
                </a:solidFill>
                <a:latin typeface="Menlo"/>
              </a:rPr>
              <a:t>i</a:t>
            </a:r>
            <a:r>
              <a:rPr lang="ru-RU" altLang="ru-RU" dirty="0">
                <a:solidFill>
                  <a:srgbClr val="404040"/>
                </a:solidFill>
                <a:latin typeface="Menlo"/>
              </a:rPr>
              <a:t> </a:t>
            </a:r>
            <a:r>
              <a:rPr lang="en-US" altLang="ru-RU" dirty="0">
                <a:solidFill>
                  <a:srgbClr val="404040"/>
                </a:solidFill>
                <a:latin typeface="Menlo"/>
              </a:rPr>
              <a:t>=</a:t>
            </a:r>
            <a:r>
              <a:rPr lang="ru-RU" altLang="ru-RU" dirty="0">
                <a:solidFill>
                  <a:srgbClr val="404040"/>
                </a:solidFill>
                <a:latin typeface="Menlo"/>
              </a:rPr>
              <a:t> </a:t>
            </a:r>
            <a:r>
              <a:rPr lang="en-US" altLang="ru-RU" dirty="0" err="1">
                <a:solidFill>
                  <a:srgbClr val="404040"/>
                </a:solidFill>
                <a:latin typeface="Menlo"/>
              </a:rPr>
              <a:t>W</a:t>
            </a:r>
            <a:r>
              <a:rPr lang="en-US" altLang="ru-RU" baseline="30000" dirty="0" err="1">
                <a:solidFill>
                  <a:srgbClr val="404040"/>
                </a:solidFill>
                <a:latin typeface="Menlo"/>
              </a:rPr>
              <a:t>p</a:t>
            </a:r>
            <a:r>
              <a:rPr lang="en-US" altLang="ru-RU" dirty="0">
                <a:solidFill>
                  <a:srgbClr val="404040"/>
                </a:solidFill>
                <a:latin typeface="Menlo"/>
              </a:rPr>
              <a:t> P</a:t>
            </a:r>
            <a:r>
              <a:rPr lang="en-US" altLang="ru-RU" baseline="-25000" dirty="0">
                <a:solidFill>
                  <a:srgbClr val="404040"/>
                </a:solidFill>
                <a:latin typeface="Menlo"/>
              </a:rPr>
              <a:t>i  </a:t>
            </a:r>
            <a:r>
              <a:rPr lang="en-US" altLang="ru-RU" dirty="0" err="1">
                <a:solidFill>
                  <a:srgbClr val="404040"/>
                </a:solidFill>
                <a:latin typeface="Menlo"/>
              </a:rPr>
              <a:t>e</a:t>
            </a:r>
            <a:r>
              <a:rPr lang="en-US" altLang="ru-RU" baseline="-25000" dirty="0" err="1">
                <a:solidFill>
                  <a:srgbClr val="404040"/>
                </a:solidFill>
                <a:latin typeface="Menlo"/>
              </a:rPr>
              <a:t>i</a:t>
            </a:r>
            <a:r>
              <a:rPr lang="ru-RU" altLang="ru-RU" dirty="0">
                <a:solidFill>
                  <a:srgbClr val="404040"/>
                </a:solidFill>
                <a:latin typeface="Menlo"/>
              </a:rPr>
              <a:t>∈ ℝ</a:t>
            </a:r>
            <a:r>
              <a:rPr lang="en-US" altLang="ru-RU" baseline="30000" dirty="0">
                <a:solidFill>
                  <a:srgbClr val="404040"/>
                </a:solidFill>
                <a:latin typeface="Menlo"/>
              </a:rPr>
              <a:t>D</a:t>
            </a:r>
            <a:r>
              <a:rPr lang="en-US" altLang="ru-RU" baseline="-25000" dirty="0">
                <a:solidFill>
                  <a:srgbClr val="404040"/>
                </a:solidFill>
                <a:latin typeface="Menlo"/>
              </a:rPr>
              <a:t> </a:t>
            </a:r>
            <a:endParaRPr lang="ru-RU" altLang="ru-RU" baseline="-25000" dirty="0">
              <a:solidFill>
                <a:srgbClr val="404040"/>
              </a:solidFill>
              <a:latin typeface="Menlo"/>
            </a:endParaRPr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9659480" y="4633730"/>
            <a:ext cx="1347018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2000" dirty="0" err="1">
                <a:solidFill>
                  <a:srgbClr val="404040"/>
                </a:solidFill>
                <a:latin typeface="Menlo"/>
              </a:rPr>
              <a:t>e</a:t>
            </a:r>
            <a:r>
              <a:rPr lang="en-US" altLang="ru-RU" sz="2000" baseline="-25000" dirty="0" err="1">
                <a:solidFill>
                  <a:srgbClr val="404040"/>
                </a:solidFill>
                <a:latin typeface="Menlo"/>
              </a:rPr>
              <a:t>i</a:t>
            </a:r>
            <a:r>
              <a:rPr lang="en-US" altLang="ru-RU" sz="2000" baseline="-25000" dirty="0">
                <a:solidFill>
                  <a:srgbClr val="404040"/>
                </a:solidFill>
                <a:latin typeface="Menlo"/>
              </a:rPr>
              <a:t> </a:t>
            </a:r>
            <a:r>
              <a:rPr lang="en-US" altLang="ru-RU" sz="2000" dirty="0">
                <a:solidFill>
                  <a:srgbClr val="404040"/>
                </a:solidFill>
                <a:latin typeface="Menlo"/>
              </a:rPr>
              <a:t>=</a:t>
            </a:r>
            <a:r>
              <a:rPr lang="ru-RU" altLang="ru-RU" sz="2000" dirty="0">
                <a:solidFill>
                  <a:srgbClr val="404040"/>
                </a:solidFill>
                <a:latin typeface="Menlo"/>
              </a:rPr>
              <a:t> </a:t>
            </a:r>
            <a:r>
              <a:rPr lang="en-US" altLang="ru-RU" sz="2000" dirty="0" err="1">
                <a:solidFill>
                  <a:srgbClr val="404040"/>
                </a:solidFill>
                <a:latin typeface="Menlo"/>
              </a:rPr>
              <a:t>e</a:t>
            </a:r>
            <a:r>
              <a:rPr lang="en-US" altLang="ru-RU" sz="2000" baseline="-25000" dirty="0" err="1">
                <a:solidFill>
                  <a:srgbClr val="404040"/>
                </a:solidFill>
                <a:latin typeface="Menlo"/>
              </a:rPr>
              <a:t>i</a:t>
            </a:r>
            <a:r>
              <a:rPr lang="en-US" altLang="ru-RU" sz="2000" baseline="-25000" dirty="0">
                <a:solidFill>
                  <a:srgbClr val="404040"/>
                </a:solidFill>
                <a:latin typeface="Menlo"/>
              </a:rPr>
              <a:t> </a:t>
            </a:r>
            <a:r>
              <a:rPr lang="en-US" altLang="ru-RU" sz="2000" dirty="0">
                <a:solidFill>
                  <a:srgbClr val="404040"/>
                </a:solidFill>
                <a:latin typeface="Menlo"/>
              </a:rPr>
              <a:t>+PE </a:t>
            </a:r>
            <a:r>
              <a:rPr lang="en-US" altLang="ru-RU" sz="2000" baseline="-25000" dirty="0">
                <a:solidFill>
                  <a:srgbClr val="404040"/>
                </a:solidFill>
                <a:latin typeface="Menlo"/>
              </a:rPr>
              <a:t> </a:t>
            </a:r>
            <a:endParaRPr lang="ru-RU" altLang="ru-RU" sz="2000" baseline="-25000" dirty="0">
              <a:solidFill>
                <a:srgbClr val="404040"/>
              </a:solidFill>
              <a:latin typeface="Menlo"/>
            </a:endParaRPr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>
            <a:off x="9379974" y="766915"/>
            <a:ext cx="0" cy="57652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1"/>
              <p:cNvSpPr>
                <a:spLocks noChangeArrowheads="1"/>
              </p:cNvSpPr>
              <p:nvPr/>
            </p:nvSpPr>
            <p:spPr bwMode="auto">
              <a:xfrm>
                <a:off x="4796254" y="6960147"/>
                <a:ext cx="2477728" cy="198246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ru-RU" i="1" dirty="0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altLang="ru-RU" b="0" i="1" dirty="0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ru-RU" i="1" dirty="0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ru-RU" b="0" i="1" dirty="0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ru-RU" b="0" i="1" dirty="0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ru-RU" b="0" i="1" dirty="0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ru-RU" b="0" i="1" dirty="0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ru-RU" b="0" i="1" dirty="0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ru-RU" b="0" i="1" dirty="0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unc>
                                <m:funcPr>
                                  <m:ctrlPr>
                                    <a:rPr lang="en-US" altLang="ru-RU" b="0" i="1" dirty="0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ru-RU" b="0" i="0" dirty="0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ru-RU" b="0" i="1" dirty="0" smtClean="0">
                                          <a:solidFill>
                                            <a:srgbClr val="40404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ru-RU" b="0" i="1" dirty="0" smtClean="0">
                                              <a:solidFill>
                                                <a:srgbClr val="40404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ru-RU" b="0" i="1" dirty="0" smtClean="0">
                                              <a:solidFill>
                                                <a:srgbClr val="40404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en-US" altLang="ru-RU" b="0" i="1" dirty="0" smtClean="0">
                                                  <a:solidFill>
                                                    <a:srgbClr val="40404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ru-RU" b="0" i="1" dirty="0" smtClean="0">
                                                  <a:solidFill>
                                                    <a:srgbClr val="40404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1000</m:t>
                                              </m:r>
                                            </m:e>
                                            <m:sup>
                                              <m:f>
                                                <m:fPr>
                                                  <m:ctrlPr>
                                                    <a:rPr lang="en-US" altLang="ru-RU" b="0" i="1" dirty="0" smtClean="0">
                                                      <a:solidFill>
                                                        <a:srgbClr val="40404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r>
                                                    <a:rPr lang="en-US" altLang="ru-RU" b="0" i="1" dirty="0" smtClean="0">
                                                      <a:solidFill>
                                                        <a:srgbClr val="40404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  <m:r>
                                                    <a:rPr lang="en-US" altLang="ru-RU" b="0" i="1" dirty="0" smtClean="0">
                                                      <a:solidFill>
                                                        <a:srgbClr val="40404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num>
                                                <m:den>
                                                  <m:r>
                                                    <a:rPr lang="en-US" altLang="ru-RU" b="0" i="1" dirty="0" smtClean="0">
                                                      <a:solidFill>
                                                        <a:srgbClr val="40404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𝐷</m:t>
                                                  </m:r>
                                                </m:den>
                                              </m:f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  <m:r>
                                    <a:rPr lang="en-US" altLang="ru-RU" b="0" i="1" dirty="0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ru-RU" b="0" i="1" dirty="0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ru-RU" b="0" i="1" dirty="0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  <m:t> чет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altLang="ru-RU" i="1" dirty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ru-RU" b="0" i="0" dirty="0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ru-RU" i="1" dirty="0">
                                          <a:solidFill>
                                            <a:srgbClr val="40404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ru-RU" i="1" dirty="0">
                                              <a:solidFill>
                                                <a:srgbClr val="40404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ru-RU" i="1" dirty="0">
                                              <a:solidFill>
                                                <a:srgbClr val="40404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en-US" altLang="ru-RU" i="1" dirty="0">
                                                  <a:solidFill>
                                                    <a:srgbClr val="40404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ru-RU" i="1" dirty="0">
                                                  <a:solidFill>
                                                    <a:srgbClr val="40404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1000</m:t>
                                              </m:r>
                                            </m:e>
                                            <m:sup>
                                              <m:f>
                                                <m:fPr>
                                                  <m:ctrlPr>
                                                    <a:rPr lang="en-US" altLang="ru-RU" i="1" dirty="0">
                                                      <a:solidFill>
                                                        <a:srgbClr val="40404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r>
                                                    <a:rPr lang="en-US" altLang="ru-RU" i="1" dirty="0">
                                                      <a:solidFill>
                                                        <a:srgbClr val="40404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  <m:r>
                                                    <a:rPr lang="en-US" altLang="ru-RU" i="1" dirty="0">
                                                      <a:solidFill>
                                                        <a:srgbClr val="40404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num>
                                                <m:den>
                                                  <m:r>
                                                    <a:rPr lang="en-US" altLang="ru-RU" i="1" dirty="0">
                                                      <a:solidFill>
                                                        <a:srgbClr val="40404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𝐷</m:t>
                                                  </m:r>
                                                </m:den>
                                              </m:f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  <m:r>
                                    <a:rPr lang="en-US" altLang="ru-RU" i="1" dirty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ru-RU" i="1" dirty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ru-RU" i="1" dirty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  <m:t> нечет</m:t>
                                  </m:r>
                                </m:e>
                              </m:func>
                            </m:e>
                          </m:eqArr>
                        </m:e>
                      </m:d>
                    </m:oMath>
                  </m:oMathPara>
                </a14:m>
                <a:endParaRPr lang="ru-RU" altLang="ru-RU" dirty="0">
                  <a:solidFill>
                    <a:srgbClr val="404040"/>
                  </a:solidFill>
                  <a:latin typeface="Menlo"/>
                </a:endParaRPr>
              </a:p>
            </p:txBody>
          </p:sp>
        </mc:Choice>
        <mc:Fallback xmlns="">
          <p:sp>
            <p:nvSpPr>
              <p:cNvPr id="21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96254" y="6960147"/>
                <a:ext cx="2477728" cy="1982466"/>
              </a:xfrm>
              <a:prstGeom prst="rect">
                <a:avLst/>
              </a:prstGeom>
              <a:blipFill>
                <a:blip r:embed="rId3"/>
                <a:stretch>
                  <a:fillRect r="-714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Прямоугольник 18"/>
          <p:cNvSpPr/>
          <p:nvPr/>
        </p:nvSpPr>
        <p:spPr>
          <a:xfrm>
            <a:off x="9336150" y="5058580"/>
            <a:ext cx="262437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ru-RU" dirty="0">
                <a:solidFill>
                  <a:srgbClr val="404040"/>
                </a:solidFill>
                <a:latin typeface="Menlo"/>
              </a:rPr>
              <a:t>PE</a:t>
            </a:r>
            <a:r>
              <a:rPr lang="ru-RU" altLang="ru-RU" dirty="0">
                <a:solidFill>
                  <a:srgbClr val="404040"/>
                </a:solidFill>
                <a:latin typeface="Menlo"/>
              </a:rPr>
              <a:t> может быть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ru-RU" dirty="0">
                <a:solidFill>
                  <a:srgbClr val="404040"/>
                </a:solidFill>
                <a:latin typeface="Menlo"/>
              </a:rPr>
              <a:t>Синусоидальный,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Обучаемый,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Эмбединг</a:t>
            </a:r>
            <a:r>
              <a:rPr lang="ru-RU" dirty="0"/>
              <a:t> </a:t>
            </a:r>
            <a:r>
              <a:rPr lang="ru-RU" dirty="0" err="1"/>
              <a:t>ковариатов</a:t>
            </a:r>
            <a:endParaRPr lang="ru-RU" dirty="0"/>
          </a:p>
        </p:txBody>
      </p:sp>
      <p:cxnSp>
        <p:nvCxnSpPr>
          <p:cNvPr id="23" name="Прямая соединительная линия 22"/>
          <p:cNvCxnSpPr/>
          <p:nvPr/>
        </p:nvCxnSpPr>
        <p:spPr>
          <a:xfrm>
            <a:off x="285135" y="1497560"/>
            <a:ext cx="1143479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>
            <a:off x="285135" y="3065645"/>
            <a:ext cx="1143479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285135" y="4658470"/>
            <a:ext cx="1128983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Прямоугольник 17"/>
              <p:cNvSpPr/>
              <p:nvPr/>
            </p:nvSpPr>
            <p:spPr>
              <a:xfrm>
                <a:off x="9379974" y="856281"/>
                <a:ext cx="25638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type m:val="lin"/>
                        <m:ctrlPr>
                          <a:rPr lang="en-US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b="0" i="1" dirty="0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 dirty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dirty="0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num>
                      <m:den>
                        <m:r>
                          <a:rPr lang="en-US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=</a:t>
                </a:r>
                <a:r>
                  <a:rPr lang="en-US" dirty="0" err="1"/>
                  <a:t>std</a:t>
                </a:r>
                <a:r>
                  <a:rPr lang="en-US" dirty="0"/>
                  <a:t> or MAD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=mean or median </a:t>
                </a:r>
                <a:endParaRPr lang="ru-RU" dirty="0"/>
              </a:p>
            </p:txBody>
          </p:sp>
        </mc:Choice>
        <mc:Fallback xmlns="">
          <p:sp>
            <p:nvSpPr>
              <p:cNvPr id="18" name="Прямоугольник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9974" y="856281"/>
                <a:ext cx="2563845" cy="646331"/>
              </a:xfrm>
              <a:prstGeom prst="rect">
                <a:avLst/>
              </a:prstGeom>
              <a:blipFill>
                <a:blip r:embed="rId4"/>
                <a:stretch>
                  <a:fillRect l="-2143" t="-66981" r="-3571" b="-584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1"/>
          <p:cNvSpPr>
            <a:spLocks noChangeArrowheads="1"/>
          </p:cNvSpPr>
          <p:nvPr/>
        </p:nvSpPr>
        <p:spPr bwMode="auto">
          <a:xfrm>
            <a:off x="9455965" y="3470939"/>
            <a:ext cx="2477728" cy="9233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dirty="0">
                <a:solidFill>
                  <a:srgbClr val="404040"/>
                </a:solidFill>
                <a:latin typeface="Menlo"/>
              </a:rPr>
              <a:t>В некоторых арх. </a:t>
            </a:r>
            <a:r>
              <a:rPr lang="ru-RU" altLang="ru-RU" dirty="0" err="1">
                <a:solidFill>
                  <a:srgbClr val="404040"/>
                </a:solidFill>
                <a:latin typeface="Menlo"/>
              </a:rPr>
              <a:t>Патчей</a:t>
            </a:r>
            <a:r>
              <a:rPr lang="ru-RU" altLang="ru-RU" dirty="0">
                <a:solidFill>
                  <a:srgbClr val="404040"/>
                </a:solidFill>
                <a:latin typeface="Menlo"/>
              </a:rPr>
              <a:t> нет! тогда</a:t>
            </a:r>
          </a:p>
          <a:p>
            <a:pPr eaLnBrk="1" hangingPunct="1"/>
            <a:r>
              <a:rPr lang="en-US" altLang="ru-RU" dirty="0" err="1">
                <a:solidFill>
                  <a:srgbClr val="404040"/>
                </a:solidFill>
                <a:latin typeface="Menlo"/>
              </a:rPr>
              <a:t>e</a:t>
            </a:r>
            <a:r>
              <a:rPr lang="en-US" altLang="ru-RU" baseline="-25000" dirty="0" err="1">
                <a:solidFill>
                  <a:srgbClr val="404040"/>
                </a:solidFill>
                <a:latin typeface="Menlo"/>
              </a:rPr>
              <a:t>i</a:t>
            </a:r>
            <a:r>
              <a:rPr lang="ru-RU" altLang="ru-RU" dirty="0">
                <a:solidFill>
                  <a:srgbClr val="404040"/>
                </a:solidFill>
                <a:latin typeface="Menlo"/>
              </a:rPr>
              <a:t> </a:t>
            </a:r>
            <a:r>
              <a:rPr lang="en-US" altLang="ru-RU" dirty="0">
                <a:solidFill>
                  <a:srgbClr val="404040"/>
                </a:solidFill>
                <a:latin typeface="Menlo"/>
              </a:rPr>
              <a:t>=</a:t>
            </a:r>
            <a:r>
              <a:rPr lang="ru-RU" altLang="ru-RU" dirty="0">
                <a:solidFill>
                  <a:srgbClr val="404040"/>
                </a:solidFill>
                <a:latin typeface="Menlo"/>
              </a:rPr>
              <a:t> </a:t>
            </a:r>
            <a:r>
              <a:rPr lang="en-US" altLang="ru-RU" dirty="0" err="1">
                <a:solidFill>
                  <a:srgbClr val="404040"/>
                </a:solidFill>
                <a:latin typeface="Menlo"/>
              </a:rPr>
              <a:t>W</a:t>
            </a:r>
            <a:r>
              <a:rPr lang="en-US" altLang="ru-RU" baseline="30000" dirty="0" err="1">
                <a:solidFill>
                  <a:srgbClr val="404040"/>
                </a:solidFill>
                <a:latin typeface="Menlo"/>
              </a:rPr>
              <a:t>p</a:t>
            </a:r>
            <a:r>
              <a:rPr lang="en-US" altLang="ru-RU" dirty="0">
                <a:solidFill>
                  <a:srgbClr val="404040"/>
                </a:solidFill>
                <a:latin typeface="Menlo"/>
              </a:rPr>
              <a:t> x</a:t>
            </a:r>
            <a:r>
              <a:rPr lang="en-US" altLang="ru-RU" baseline="-25000" dirty="0">
                <a:solidFill>
                  <a:srgbClr val="404040"/>
                </a:solidFill>
                <a:latin typeface="Menlo"/>
              </a:rPr>
              <a:t>i</a:t>
            </a:r>
            <a:endParaRPr lang="ru-RU" altLang="ru-RU" baseline="-25000" dirty="0">
              <a:solidFill>
                <a:srgbClr val="404040"/>
              </a:solidFill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538957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8" descr="PDF] Deep Transformer Models for Time Series Forecasting: The Influenza  Prevalence Case | Semantic Schola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26" r="50902"/>
          <a:stretch/>
        </p:blipFill>
        <p:spPr bwMode="auto">
          <a:xfrm>
            <a:off x="9316423" y="3825172"/>
            <a:ext cx="2692609" cy="2944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135" y="206477"/>
            <a:ext cx="11523407" cy="560439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Идеи архитектуры </a:t>
            </a:r>
            <a:r>
              <a:rPr lang="ru-RU" b="1" dirty="0" err="1"/>
              <a:t>Трансформер</a:t>
            </a:r>
            <a:r>
              <a:rPr lang="ru-RU" b="1" dirty="0"/>
              <a:t>. </a:t>
            </a:r>
            <a:r>
              <a:rPr lang="en-US" b="1" dirty="0"/>
              <a:t>Encoder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377" y="691494"/>
            <a:ext cx="11884921" cy="57390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200" b="1" dirty="0"/>
              <a:t>Блок – </a:t>
            </a:r>
            <a:r>
              <a:rPr lang="ru-RU" sz="2200" b="1" dirty="0" err="1"/>
              <a:t>трансформер</a:t>
            </a:r>
            <a:r>
              <a:rPr lang="ru-RU" sz="2200" dirty="0"/>
              <a:t>:  </a:t>
            </a:r>
          </a:p>
          <a:p>
            <a:r>
              <a:rPr lang="ru-RU" sz="2600" b="1" dirty="0" err="1"/>
              <a:t>Самованимание</a:t>
            </a:r>
            <a:r>
              <a:rPr lang="ru-RU" sz="2600" dirty="0"/>
              <a:t> </a:t>
            </a:r>
            <a:r>
              <a:rPr lang="en-US" sz="2600" dirty="0"/>
              <a:t>MHSA</a:t>
            </a:r>
            <a:r>
              <a:rPr lang="ru-RU" sz="2600" dirty="0"/>
              <a:t>: Цель:</a:t>
            </a:r>
            <a:r>
              <a:rPr lang="en-US" sz="2600" dirty="0"/>
              <a:t> </a:t>
            </a:r>
            <a:endParaRPr lang="ru-RU" sz="2600" dirty="0"/>
          </a:p>
          <a:p>
            <a:pPr lvl="1"/>
            <a:r>
              <a:rPr lang="ru-RU" sz="1800" dirty="0"/>
              <a:t>Выявить важные </a:t>
            </a:r>
            <a:r>
              <a:rPr lang="ru-RU" sz="1800" dirty="0" err="1"/>
              <a:t>патчи</a:t>
            </a:r>
            <a:r>
              <a:rPr lang="ru-RU" sz="1800" dirty="0"/>
              <a:t> каждой головы – локальные связи, </a:t>
            </a:r>
            <a:endParaRPr lang="en-US" sz="1800" dirty="0"/>
          </a:p>
          <a:p>
            <a:pPr lvl="1"/>
            <a:r>
              <a:rPr lang="ru-RU" sz="1800" dirty="0"/>
              <a:t>Каждая голова – тип признака, напр. тренд, сезон, новизна и т.д.</a:t>
            </a:r>
          </a:p>
          <a:p>
            <a:pPr lvl="1"/>
            <a:r>
              <a:rPr lang="ru-RU" sz="1800" dirty="0"/>
              <a:t>Обмен информацией между </a:t>
            </a:r>
            <a:r>
              <a:rPr lang="ru-RU" sz="1800" dirty="0" err="1"/>
              <a:t>патчами</a:t>
            </a:r>
            <a:r>
              <a:rPr lang="ru-RU" sz="1800" dirty="0"/>
              <a:t> – глобальные связи.</a:t>
            </a:r>
          </a:p>
          <a:p>
            <a:r>
              <a:rPr lang="ru-RU" sz="2600" b="1" dirty="0"/>
              <a:t>Нормировка</a:t>
            </a:r>
            <a:r>
              <a:rPr lang="en-US" sz="2600" dirty="0"/>
              <a:t> (shift, scale)</a:t>
            </a:r>
            <a:r>
              <a:rPr lang="ru-RU" sz="2600" dirty="0"/>
              <a:t> + </a:t>
            </a:r>
            <a:r>
              <a:rPr lang="en-US" sz="2600" dirty="0"/>
              <a:t>Residual </a:t>
            </a:r>
            <a:r>
              <a:rPr lang="ru-RU" sz="2600" dirty="0"/>
              <a:t> </a:t>
            </a:r>
          </a:p>
          <a:p>
            <a:r>
              <a:rPr lang="ru-RU" sz="2600" b="1" dirty="0" err="1"/>
              <a:t>Полносвязная</a:t>
            </a:r>
            <a:r>
              <a:rPr lang="ru-RU" sz="2600" dirty="0"/>
              <a:t> сеть цель </a:t>
            </a:r>
            <a:r>
              <a:rPr lang="ru-RU" dirty="0"/>
              <a:t>обогащение контекста</a:t>
            </a:r>
            <a:endParaRPr lang="ru-RU" sz="2600" dirty="0"/>
          </a:p>
          <a:p>
            <a:pPr lvl="1"/>
            <a:r>
              <a:rPr lang="en-US" sz="2200" dirty="0"/>
              <a:t>MLP - AE </a:t>
            </a:r>
            <a:r>
              <a:rPr lang="ru-RU" sz="2200" dirty="0"/>
              <a:t>по каждому </a:t>
            </a:r>
            <a:r>
              <a:rPr lang="ru-RU" sz="2200" dirty="0" err="1"/>
              <a:t>патчу</a:t>
            </a:r>
            <a:endParaRPr lang="ru-RU" sz="2200" dirty="0"/>
          </a:p>
          <a:p>
            <a:pPr lvl="1"/>
            <a:r>
              <a:rPr lang="ru-RU" sz="2200" dirty="0" err="1"/>
              <a:t>денойзинг</a:t>
            </a:r>
            <a:r>
              <a:rPr lang="ru-RU" sz="2200" dirty="0"/>
              <a:t>, </a:t>
            </a:r>
          </a:p>
          <a:p>
            <a:pPr lvl="1"/>
            <a:r>
              <a:rPr lang="ru-RU" sz="2200" dirty="0"/>
              <a:t>концентрация на важной информации </a:t>
            </a:r>
            <a:r>
              <a:rPr lang="en-US" sz="2200" dirty="0"/>
              <a:t> </a:t>
            </a:r>
            <a:r>
              <a:rPr lang="ru-RU" sz="2200" dirty="0"/>
              <a:t> </a:t>
            </a:r>
          </a:p>
          <a:p>
            <a:pPr lvl="1"/>
            <a:r>
              <a:rPr lang="ru-RU" sz="2200" dirty="0"/>
              <a:t>Повышение нелинейностей – абстрактности признаков.</a:t>
            </a:r>
          </a:p>
          <a:p>
            <a:r>
              <a:rPr lang="ru-RU" sz="2600" b="1" dirty="0"/>
              <a:t>Нормировка</a:t>
            </a:r>
            <a:r>
              <a:rPr lang="en-US" sz="2600" dirty="0"/>
              <a:t> (shift, scale)</a:t>
            </a:r>
            <a:r>
              <a:rPr lang="ru-RU" sz="2600" dirty="0"/>
              <a:t> + </a:t>
            </a:r>
            <a:r>
              <a:rPr lang="en-US" sz="2600" dirty="0"/>
              <a:t>Residual </a:t>
            </a:r>
            <a:r>
              <a:rPr lang="ru-RU" sz="2600" dirty="0"/>
              <a:t> </a:t>
            </a:r>
          </a:p>
          <a:p>
            <a:r>
              <a:rPr lang="ru-RU" sz="2600" dirty="0"/>
              <a:t>Выход </a:t>
            </a:r>
            <a:r>
              <a:rPr lang="ru-RU" sz="2600" dirty="0" err="1"/>
              <a:t>энкодера</a:t>
            </a:r>
            <a:r>
              <a:rPr lang="ru-RU" sz="2600" dirty="0"/>
              <a:t> – скрытые состояния входного окна</a:t>
            </a:r>
            <a:endParaRPr lang="en-US" sz="2600" dirty="0"/>
          </a:p>
          <a:p>
            <a:pPr lvl="1"/>
            <a:r>
              <a:rPr lang="ru-RU" sz="2200" dirty="0"/>
              <a:t>Каждый </a:t>
            </a:r>
            <a:r>
              <a:rPr lang="en-US" sz="2200" dirty="0"/>
              <a:t>path -</a:t>
            </a:r>
            <a:r>
              <a:rPr lang="ru-RU" sz="2200" dirty="0"/>
              <a:t> это некоторое представление. </a:t>
            </a:r>
          </a:p>
        </p:txBody>
      </p:sp>
      <p:sp>
        <p:nvSpPr>
          <p:cNvPr id="10" name="Овал 9"/>
          <p:cNvSpPr/>
          <p:nvPr/>
        </p:nvSpPr>
        <p:spPr>
          <a:xfrm>
            <a:off x="10021848" y="3749750"/>
            <a:ext cx="394711" cy="35691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891243" y="6532141"/>
            <a:ext cx="944174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https://www.researchgate.net/publication/354541471_Evaluation_of_the_Transformer_Architecture_for_Univariate_Time_Series_Forecasting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7914967" y="678425"/>
            <a:ext cx="0" cy="57652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8035053" y="728513"/>
                <a:ext cx="3546088" cy="12596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defTabSz="446088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𝑀𝐻𝑆𝐴</m:t>
                      </m:r>
                      <m:r>
                        <a:rPr lang="ru-RU" b="0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𝑠𝑝𝑙𝑖𝑡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:[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h𝑒𝑎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h𝑒𝑎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h𝑒𝑎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ru-RU" b="0" i="1" dirty="0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𝑄𝐾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=1/</m:t>
                    </m:r>
                    <m:rad>
                      <m:radPr>
                        <m:degHide m:val="on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5053" y="728513"/>
                <a:ext cx="3546088" cy="1259640"/>
              </a:xfrm>
              <a:prstGeom prst="rect">
                <a:avLst/>
              </a:prstGeom>
              <a:blipFill>
                <a:blip r:embed="rId4"/>
                <a:stretch>
                  <a:fillRect l="-344" b="-63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7914967" y="2539780"/>
                <a:ext cx="342831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𝐿𝑎𝑦𝑒𝑟𝑁𝑜𝑟𝑚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𝑀𝐻𝑆𝐴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4967" y="2539780"/>
                <a:ext cx="3428311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Прямоугольник 11"/>
              <p:cNvSpPr/>
              <p:nvPr/>
            </p:nvSpPr>
            <p:spPr>
              <a:xfrm>
                <a:off x="7984772" y="3052432"/>
                <a:ext cx="2842445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𝑅𝑒𝐿𝑈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i="1" dirty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" name="Прямоугольник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772" y="3052432"/>
                <a:ext cx="2842445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Прямая соединительная линия 8"/>
          <p:cNvCxnSpPr/>
          <p:nvPr/>
        </p:nvCxnSpPr>
        <p:spPr>
          <a:xfrm>
            <a:off x="423746" y="2539780"/>
            <a:ext cx="105825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23746" y="3021077"/>
            <a:ext cx="109195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423746" y="5051922"/>
            <a:ext cx="75610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Прямоугольник 19"/>
              <p:cNvSpPr/>
              <p:nvPr/>
            </p:nvSpPr>
            <p:spPr>
              <a:xfrm>
                <a:off x="7954437" y="2073667"/>
                <a:ext cx="40949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𝑀𝐻𝑆𝐴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i="1" dirty="0">
                          <a:latin typeface="Cambria Math" panose="02040503050406030204" pitchFamily="18" charset="0"/>
                        </a:rPr>
                        <m:t>𝑐𝑜𝑛𝑐𝑎𝑡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:[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h𝑒𝑎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h𝑒𝑎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Прямоугольник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4437" y="2073667"/>
                <a:ext cx="4094904" cy="369332"/>
              </a:xfrm>
              <a:prstGeom prst="rect">
                <a:avLst/>
              </a:prstGeom>
              <a:blipFill>
                <a:blip r:embed="rId7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5804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135" y="206477"/>
            <a:ext cx="11523407" cy="560439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Идеи архитектуры </a:t>
            </a:r>
            <a:r>
              <a:rPr lang="ru-RU" b="1" dirty="0" err="1"/>
              <a:t>Трансформер</a:t>
            </a:r>
            <a:r>
              <a:rPr lang="en-US" b="1" dirty="0"/>
              <a:t>. Decoder</a:t>
            </a:r>
            <a:endParaRPr lang="ru-RU" b="1" dirty="0"/>
          </a:p>
        </p:txBody>
      </p:sp>
      <p:sp>
        <p:nvSpPr>
          <p:cNvPr id="10" name="Овал 9"/>
          <p:cNvSpPr/>
          <p:nvPr/>
        </p:nvSpPr>
        <p:spPr>
          <a:xfrm>
            <a:off x="10021848" y="3749750"/>
            <a:ext cx="394711" cy="35691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6111" y="6532140"/>
            <a:ext cx="944174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https://www.researchgate.net/publication/354541471_Evaluation_of_the_Transformer_Architecture_for_Univariate_Time_Series_Forecasting</a:t>
            </a:r>
          </a:p>
        </p:txBody>
      </p:sp>
      <p:pic>
        <p:nvPicPr>
          <p:cNvPr id="11" name="Picture 8" descr="PDF] Deep Transformer Models for Time Series Forecasting: The Influenza  Prevalence Case | Semantic Schola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38" t="587" r="139" b="-587"/>
          <a:stretch/>
        </p:blipFill>
        <p:spPr bwMode="auto">
          <a:xfrm>
            <a:off x="6545703" y="3361321"/>
            <a:ext cx="5443596" cy="3309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9155151" y="6204514"/>
            <a:ext cx="72610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rgbClr val="404040"/>
                </a:solidFill>
                <a:latin typeface="Menlo"/>
              </a:rPr>
              <a:t>&lt;</a:t>
            </a:r>
            <a:r>
              <a:rPr lang="en-US" sz="1000" dirty="0"/>
              <a:t> mask </a:t>
            </a:r>
            <a:r>
              <a:rPr lang="en-US" sz="1000" b="1" dirty="0">
                <a:solidFill>
                  <a:srgbClr val="404040"/>
                </a:solidFill>
                <a:latin typeface="Menlo"/>
              </a:rPr>
              <a:t>&gt;</a:t>
            </a:r>
            <a:endParaRPr lang="ru-RU" sz="1000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9447856" y="3738834"/>
            <a:ext cx="43339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rgbClr val="404040"/>
                </a:solidFill>
                <a:latin typeface="Menlo"/>
              </a:rPr>
              <a:t>T4</a:t>
            </a:r>
            <a:endParaRPr lang="ru-RU" sz="1000" b="1" dirty="0"/>
          </a:p>
        </p:txBody>
      </p:sp>
      <p:sp>
        <p:nvSpPr>
          <p:cNvPr id="9" name="Объект 2"/>
          <p:cNvSpPr txBox="1">
            <a:spLocks/>
          </p:cNvSpPr>
          <p:nvPr/>
        </p:nvSpPr>
        <p:spPr>
          <a:xfrm>
            <a:off x="256777" y="830826"/>
            <a:ext cx="11884921" cy="26014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ru-RU" sz="2200" dirty="0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>
          <a:xfrm>
            <a:off x="256778" y="856411"/>
            <a:ext cx="12037320" cy="2423504"/>
          </a:xfrm>
        </p:spPr>
        <p:txBody>
          <a:bodyPr/>
          <a:lstStyle/>
          <a:p>
            <a:pPr marL="0" indent="0">
              <a:buNone/>
            </a:pPr>
            <a:r>
              <a:rPr lang="ru-RU" sz="2200" b="1" dirty="0"/>
              <a:t>Цель: </a:t>
            </a:r>
            <a:r>
              <a:rPr lang="ru-RU" sz="2200" dirty="0"/>
              <a:t>добавляем декодер чтобы из скрытого состояния получить предсказание</a:t>
            </a:r>
            <a:endParaRPr lang="en-US" sz="2200" dirty="0"/>
          </a:p>
          <a:p>
            <a:pPr marL="0" indent="0">
              <a:buNone/>
            </a:pPr>
            <a:r>
              <a:rPr lang="ru-RU" sz="2200" b="1" dirty="0"/>
              <a:t>Выход </a:t>
            </a:r>
            <a:r>
              <a:rPr lang="en-US" sz="2200" b="1" dirty="0"/>
              <a:t>Encoder</a:t>
            </a:r>
            <a:r>
              <a:rPr lang="ru-RU" sz="2200" b="1" dirty="0"/>
              <a:t> </a:t>
            </a:r>
            <a:r>
              <a:rPr lang="ru-RU" sz="2200" dirty="0"/>
              <a:t>подается на блок </a:t>
            </a:r>
            <a:r>
              <a:rPr lang="ru-RU" sz="2200" dirty="0" err="1"/>
              <a:t>трансформер</a:t>
            </a:r>
            <a:r>
              <a:rPr lang="ru-RU" sz="2200" dirty="0"/>
              <a:t> декодера.  </a:t>
            </a:r>
            <a:r>
              <a:rPr lang="ru-RU" sz="2200" b="1" dirty="0"/>
              <a:t>Цель</a:t>
            </a:r>
            <a:r>
              <a:rPr lang="ru-RU" sz="2200" dirty="0"/>
              <a:t> – создание кросс-внимания.</a:t>
            </a:r>
          </a:p>
          <a:p>
            <a:pPr marL="0" indent="0">
              <a:buNone/>
            </a:pPr>
            <a:r>
              <a:rPr lang="ru-RU" sz="2200" b="1" dirty="0"/>
              <a:t>Вход декодера</a:t>
            </a:r>
            <a:r>
              <a:rPr lang="ru-RU" sz="2200" dirty="0"/>
              <a:t>: в режиме обучения – сдвинутая входная последовательность. </a:t>
            </a:r>
            <a:r>
              <a:rPr lang="ru-RU" sz="2200" b="1" dirty="0"/>
              <a:t>Цель</a:t>
            </a:r>
          </a:p>
          <a:p>
            <a:r>
              <a:rPr lang="en-US" sz="2200" b="1" dirty="0"/>
              <a:t>Teaching forcing</a:t>
            </a:r>
            <a:r>
              <a:rPr lang="ru-RU" sz="2200" b="1" dirty="0"/>
              <a:t> </a:t>
            </a:r>
            <a:r>
              <a:rPr lang="ru-RU" sz="2200" dirty="0"/>
              <a:t>– мы генерируем выход </a:t>
            </a:r>
            <a:r>
              <a:rPr lang="ru-RU" sz="2200" dirty="0" err="1"/>
              <a:t>декодра</a:t>
            </a:r>
            <a:r>
              <a:rPr lang="ru-RU" sz="2200" dirty="0"/>
              <a:t> не только из информации </a:t>
            </a:r>
            <a:r>
              <a:rPr lang="ru-RU" sz="2200" dirty="0" err="1"/>
              <a:t>энкодера</a:t>
            </a:r>
            <a:r>
              <a:rPr lang="ru-RU" sz="2200" dirty="0"/>
              <a:t>, но и из последних известных данных. Это попытка коррекции ошибок обучения (ускорение обучения)</a:t>
            </a:r>
            <a:endParaRPr lang="en-US" sz="2200" dirty="0"/>
          </a:p>
          <a:p>
            <a:pPr lvl="1"/>
            <a:r>
              <a:rPr lang="ru-RU" sz="2200" dirty="0"/>
              <a:t>В режиме работы </a:t>
            </a:r>
            <a:r>
              <a:rPr lang="ru-RU" sz="2200" dirty="0" err="1"/>
              <a:t>авторегрессионно</a:t>
            </a:r>
            <a:r>
              <a:rPr lang="ru-RU" sz="2200" dirty="0"/>
              <a:t> генерируются </a:t>
            </a:r>
            <a:r>
              <a:rPr lang="en-US" sz="2200" dirty="0"/>
              <a:t>[&lt;mask&gt;</a:t>
            </a:r>
            <a:r>
              <a:rPr lang="ru-RU" sz="2200" dirty="0"/>
              <a:t>-</a:t>
            </a:r>
            <a:r>
              <a:rPr lang="en-US" sz="2200" dirty="0"/>
              <a:t>&gt; ŷ₁], [&lt; mask &gt; ŷ₁ </a:t>
            </a:r>
            <a:r>
              <a:rPr lang="ru-RU" sz="2200" dirty="0"/>
              <a:t>-</a:t>
            </a:r>
            <a:r>
              <a:rPr lang="en-US" sz="2200" dirty="0"/>
              <a:t>&gt; ŷ₁ ŷ₂] </a:t>
            </a:r>
            <a:r>
              <a:rPr lang="ru-RU" sz="2200" dirty="0"/>
              <a:t>И ТД</a:t>
            </a:r>
          </a:p>
        </p:txBody>
      </p:sp>
    </p:spTree>
    <p:extLst>
      <p:ext uri="{BB962C8B-B14F-4D97-AF65-F5344CB8AC3E}">
        <p14:creationId xmlns:p14="http://schemas.microsoft.com/office/powerpoint/2010/main" val="3234187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135" y="206477"/>
            <a:ext cx="11523407" cy="560439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Идеи архитектуры </a:t>
            </a:r>
            <a:r>
              <a:rPr lang="ru-RU" b="1" dirty="0" err="1"/>
              <a:t>Трансформер</a:t>
            </a:r>
            <a:r>
              <a:rPr lang="en-US" b="1" dirty="0"/>
              <a:t>. Decoder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04377" y="794217"/>
                <a:ext cx="11884921" cy="4869164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2200" b="1" dirty="0"/>
                  <a:t>Блок декодера</a:t>
                </a:r>
                <a:r>
                  <a:rPr lang="ru-RU" sz="2200" dirty="0"/>
                  <a:t>:</a:t>
                </a:r>
              </a:p>
              <a:p>
                <a:pPr marL="0" indent="0">
                  <a:buNone/>
                </a:pPr>
                <a:r>
                  <a:rPr lang="ru-RU" sz="2200" b="1" dirty="0"/>
                  <a:t>Маскированное </a:t>
                </a:r>
                <a:r>
                  <a:rPr lang="ru-RU" sz="2200" b="1" dirty="0" err="1"/>
                  <a:t>самовнимание</a:t>
                </a:r>
                <a:r>
                  <a:rPr lang="en-US" sz="2200" b="1" dirty="0"/>
                  <a:t> (</a:t>
                </a:r>
                <a:r>
                  <a:rPr lang="en-US" dirty="0"/>
                  <a:t>Causal Multi-Head Attention)</a:t>
                </a:r>
                <a:r>
                  <a:rPr lang="ru-RU" sz="2200" dirty="0"/>
                  <a:t>. Цель</a:t>
                </a:r>
              </a:p>
              <a:p>
                <a:r>
                  <a:rPr lang="ru-RU" sz="2200" dirty="0"/>
                  <a:t>Маска закрывает будущие значения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ru-RU" sz="22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h𝑒𝑎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ru-RU" sz="2200" i="1" dirty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200" dirty="0">
                        <a:latin typeface="Cambria Math" panose="02040503050406030204" pitchFamily="18" charset="0"/>
                      </a:rPr>
                      <m:t>softmax</m:t>
                    </m:r>
                    <m:d>
                      <m:d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𝑄𝐾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sz="2200" i="1" dirty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200" dirty="0"/>
                  <a:t> 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−∞</m:t>
                              </m:r>
                            </m:e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−∞</m:t>
                              </m:r>
                            </m:e>
                          </m:mr>
                          <m:mr>
                            <m:e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−∞</m:t>
                              </m:r>
                            </m:e>
                          </m:mr>
                          <m:mr>
                            <m:e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200" dirty="0"/>
              </a:p>
              <a:p>
                <a:r>
                  <a:rPr lang="ru-RU" sz="2200" dirty="0"/>
                  <a:t>внимание становится последовательным</a:t>
                </a:r>
                <a:endParaRPr lang="en-US" sz="2200" dirty="0"/>
              </a:p>
              <a:p>
                <a:pPr lvl="1"/>
                <a:r>
                  <a:rPr lang="ru-RU" sz="2200" dirty="0" err="1"/>
                  <a:t>Патчи</a:t>
                </a:r>
                <a:r>
                  <a:rPr lang="ru-RU" sz="2200" dirty="0"/>
                  <a:t> смотрят только на свои прошлые значения</a:t>
                </a:r>
              </a:p>
              <a:p>
                <a:pPr marL="0" indent="0">
                  <a:buNone/>
                </a:pPr>
                <a:r>
                  <a:rPr lang="ru-RU" sz="2200" b="1" dirty="0"/>
                  <a:t>Перекрестное внимание (</a:t>
                </a:r>
                <a:r>
                  <a:rPr lang="en-US" sz="2200" b="1" dirty="0"/>
                  <a:t>Encoder-Decoder Attention):</a:t>
                </a:r>
                <a:r>
                  <a:rPr lang="en-US" sz="2200" dirty="0"/>
                  <a:t> </a:t>
                </a:r>
                <a:endParaRPr lang="ru-RU" sz="2200" dirty="0"/>
              </a:p>
              <a:p>
                <a:r>
                  <a:rPr lang="en-US" sz="2200" dirty="0"/>
                  <a:t>Q – </a:t>
                </a:r>
                <a:r>
                  <a:rPr lang="ru-RU" sz="2200" dirty="0"/>
                  <a:t>из декодера, </a:t>
                </a:r>
                <a:r>
                  <a:rPr lang="en-US" sz="2200" dirty="0"/>
                  <a:t>K,V</a:t>
                </a:r>
                <a:r>
                  <a:rPr lang="ru-RU" sz="2200" dirty="0"/>
                  <a:t> из </a:t>
                </a:r>
                <a:r>
                  <a:rPr lang="ru-RU" sz="2200" dirty="0" err="1"/>
                  <a:t>энкодера</a:t>
                </a:r>
                <a:r>
                  <a:rPr lang="ru-RU" sz="2200" dirty="0"/>
                  <a:t> – учет взаимной информации.</a:t>
                </a:r>
              </a:p>
              <a:p>
                <a:r>
                  <a:rPr lang="ru-RU" sz="2200" dirty="0"/>
                  <a:t>Каждый шаг – предсказание скрытого состояния </a:t>
                </a:r>
                <a:r>
                  <a:rPr lang="ru-RU" sz="2200" dirty="0" err="1"/>
                  <a:t>патча</a:t>
                </a:r>
                <a:r>
                  <a:rPr lang="ru-RU" sz="2200" dirty="0"/>
                  <a:t> в слоях декодера</a:t>
                </a:r>
              </a:p>
              <a:p>
                <a:r>
                  <a:rPr lang="ru-RU" sz="2200" dirty="0"/>
                  <a:t>На выходе декодирование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𝑊</m:t>
                    </m:r>
                    <m:sSub>
                      <m:sSubPr>
                        <m:ctrlPr>
                          <a:rPr lang="en-US" sz="2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ru-RU" sz="2200" dirty="0"/>
              </a:p>
              <a:p>
                <a:r>
                  <a:rPr lang="ru-RU" sz="2200" dirty="0" err="1"/>
                  <a:t>autoregressive</a:t>
                </a:r>
                <a:r>
                  <a:rPr lang="ru-RU" sz="2200" dirty="0"/>
                  <a:t> генерация (по одному</a:t>
                </a:r>
                <a:r>
                  <a:rPr lang="en-US" sz="2200" dirty="0"/>
                  <a:t> </a:t>
                </a:r>
                <a:r>
                  <a:rPr lang="ru-RU" sz="2200" dirty="0" err="1"/>
                  <a:t>патчу</a:t>
                </a:r>
                <a:r>
                  <a:rPr lang="ru-RU" sz="2200" dirty="0"/>
                  <a:t> за шаг)</a:t>
                </a:r>
                <a:endParaRPr lang="ru-RU" sz="2200" b="1" dirty="0"/>
              </a:p>
              <a:p>
                <a:endParaRPr lang="ru-RU" sz="2200" dirty="0"/>
              </a:p>
              <a:p>
                <a:pPr marL="0" indent="0">
                  <a:buNone/>
                </a:pPr>
                <a:endParaRPr lang="en-US" sz="2200" dirty="0"/>
              </a:p>
              <a:p>
                <a:pPr marL="0" indent="0">
                  <a:buNone/>
                </a:pPr>
                <a:r>
                  <a:rPr lang="en-US" sz="2200" dirty="0"/>
                  <a:t> </a:t>
                </a:r>
                <a:endParaRPr lang="ru-RU" sz="22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4377" y="794217"/>
                <a:ext cx="11884921" cy="4869164"/>
              </a:xfrm>
              <a:blipFill>
                <a:blip r:embed="rId3"/>
                <a:stretch>
                  <a:fillRect l="-667" t="-1502" b="-926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Овал 9"/>
          <p:cNvSpPr/>
          <p:nvPr/>
        </p:nvSpPr>
        <p:spPr>
          <a:xfrm>
            <a:off x="10021848" y="3749750"/>
            <a:ext cx="394711" cy="35691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6111" y="6532140"/>
            <a:ext cx="944174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https://www.researchgate.net/publication/354541471_Evaluation_of_the_Transformer_Architecture_for_Univariate_Time_Series_Forecasting</a:t>
            </a:r>
          </a:p>
        </p:txBody>
      </p:sp>
      <p:pic>
        <p:nvPicPr>
          <p:cNvPr id="11" name="Picture 8" descr="PDF] Deep Transformer Models for Time Series Forecasting: The Influenza  Prevalence Case | Semantic Scholar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45" t="587" r="139" b="-587"/>
          <a:stretch/>
        </p:blipFill>
        <p:spPr bwMode="auto">
          <a:xfrm>
            <a:off x="9547123" y="3513721"/>
            <a:ext cx="2442175" cy="3156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9231157" y="6270530"/>
            <a:ext cx="60357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rgbClr val="404040"/>
                </a:solidFill>
                <a:latin typeface="Menlo"/>
              </a:rPr>
              <a:t>&lt;SOS&gt;</a:t>
            </a:r>
            <a:endParaRPr lang="ru-RU" sz="1000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9401336" y="3655211"/>
            <a:ext cx="43339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rgbClr val="404040"/>
                </a:solidFill>
                <a:latin typeface="Menlo"/>
              </a:rPr>
              <a:t>T4</a:t>
            </a:r>
            <a:endParaRPr lang="ru-RU" sz="1000" b="1" dirty="0"/>
          </a:p>
        </p:txBody>
      </p:sp>
    </p:spTree>
    <p:extLst>
      <p:ext uri="{BB962C8B-B14F-4D97-AF65-F5344CB8AC3E}">
        <p14:creationId xmlns:p14="http://schemas.microsoft.com/office/powerpoint/2010/main" val="1514476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237CF4-19DA-26A8-E312-B89F88BEE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193" y="365126"/>
            <a:ext cx="11012607" cy="654050"/>
          </a:xfrm>
        </p:spPr>
        <p:txBody>
          <a:bodyPr>
            <a:normAutofit fontScale="90000"/>
          </a:bodyPr>
          <a:lstStyle/>
          <a:p>
            <a:r>
              <a:rPr lang="ru-RU" dirty="0"/>
              <a:t>Архитектуры </a:t>
            </a:r>
            <a:r>
              <a:rPr lang="ru-RU" dirty="0" err="1"/>
              <a:t>Энкодер</a:t>
            </a:r>
            <a:r>
              <a:rPr lang="ru-RU" dirty="0"/>
              <a:t>-Декодер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F3927E-D387-C8EB-1B29-A859C067C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71" y="952500"/>
            <a:ext cx="11525249" cy="59054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/>
              <a:t> </a:t>
            </a:r>
            <a:r>
              <a:rPr lang="ru-RU" sz="2200" b="1" dirty="0" err="1"/>
              <a:t>Энкодер</a:t>
            </a:r>
            <a:r>
              <a:rPr lang="ru-RU" sz="2200" dirty="0"/>
              <a:t> – анализ входной последовательности (пересечение </a:t>
            </a:r>
            <a:r>
              <a:rPr lang="ru-RU" sz="2200" dirty="0" err="1"/>
              <a:t>пачтей</a:t>
            </a:r>
            <a:r>
              <a:rPr lang="ru-RU" sz="2200" dirty="0"/>
              <a:t>, на выходе скрытое состояние для всех </a:t>
            </a:r>
            <a:r>
              <a:rPr lang="ru-RU" sz="2200" dirty="0" err="1"/>
              <a:t>патчей</a:t>
            </a:r>
            <a:r>
              <a:rPr lang="ru-RU" sz="2200" dirty="0"/>
              <a:t>) . </a:t>
            </a:r>
          </a:p>
          <a:p>
            <a:pPr lvl="1"/>
            <a:r>
              <a:rPr lang="ru-RU" sz="2200" dirty="0"/>
              <a:t>Цель скрытого состояния – выделение признаков</a:t>
            </a:r>
          </a:p>
          <a:p>
            <a:pPr marL="0" indent="0">
              <a:buNone/>
            </a:pPr>
            <a:r>
              <a:rPr lang="ru-RU" sz="2200" b="1" dirty="0"/>
              <a:t>Декодер</a:t>
            </a:r>
            <a:r>
              <a:rPr lang="ru-RU" sz="2200" dirty="0"/>
              <a:t> – </a:t>
            </a:r>
            <a:r>
              <a:rPr lang="ru-RU" sz="2200" dirty="0" err="1"/>
              <a:t>авторегрессионное</a:t>
            </a:r>
            <a:r>
              <a:rPr lang="ru-RU" sz="2200" dirty="0"/>
              <a:t> предсказание значений на основе входных данных и скрытого состояния, полученного из </a:t>
            </a:r>
            <a:r>
              <a:rPr lang="ru-RU" sz="2200" dirty="0" err="1"/>
              <a:t>энкодера</a:t>
            </a:r>
            <a:r>
              <a:rPr lang="ru-RU" sz="2200" dirty="0"/>
              <a:t>.</a:t>
            </a:r>
          </a:p>
          <a:p>
            <a:pPr lvl="1"/>
            <a:r>
              <a:rPr lang="ru-RU" sz="2200" dirty="0"/>
              <a:t>Цель декодера предсказания следующего </a:t>
            </a:r>
            <a:r>
              <a:rPr lang="ru-RU" sz="2200" dirty="0" err="1"/>
              <a:t>патча</a:t>
            </a:r>
            <a:r>
              <a:rPr lang="en-US" sz="2200" dirty="0"/>
              <a:t> </a:t>
            </a:r>
            <a:r>
              <a:rPr lang="ru-RU" sz="2200" dirty="0"/>
              <a:t>на основе предыстории и запроса.</a:t>
            </a:r>
          </a:p>
          <a:p>
            <a:pPr marL="0" indent="0">
              <a:buNone/>
            </a:pPr>
            <a:r>
              <a:rPr lang="ru-RU" sz="2200" b="1" dirty="0"/>
              <a:t>Однако </a:t>
            </a:r>
            <a:r>
              <a:rPr lang="ru-RU" sz="2200" dirty="0"/>
              <a:t>Архитектуры </a:t>
            </a:r>
            <a:r>
              <a:rPr lang="ru-RU" sz="2200" dirty="0" err="1"/>
              <a:t>энкодер</a:t>
            </a:r>
            <a:r>
              <a:rPr lang="ru-RU" sz="2200" dirty="0"/>
              <a:t>-декодер:</a:t>
            </a:r>
            <a:endParaRPr lang="ru-RU" sz="2200" b="1" dirty="0"/>
          </a:p>
          <a:p>
            <a:r>
              <a:rPr lang="ru-RU" sz="2200" dirty="0"/>
              <a:t>Архитектуры объемы.</a:t>
            </a:r>
          </a:p>
          <a:p>
            <a:pPr lvl="1"/>
            <a:r>
              <a:rPr lang="ru-RU" sz="2000" dirty="0" err="1"/>
              <a:t>энкодер</a:t>
            </a:r>
            <a:r>
              <a:rPr lang="ru-RU" sz="2000" dirty="0"/>
              <a:t>-декодер имеет </a:t>
            </a:r>
            <a:r>
              <a:rPr lang="en-US" sz="2000" dirty="0"/>
              <a:t>&gt;2 </a:t>
            </a:r>
            <a:r>
              <a:rPr lang="ru-RU" sz="2000" dirty="0"/>
              <a:t>раза больше параметров чем </a:t>
            </a:r>
            <a:r>
              <a:rPr lang="ru-RU" sz="2000" dirty="0" err="1"/>
              <a:t>энкодер</a:t>
            </a:r>
            <a:r>
              <a:rPr lang="ru-RU" sz="2000" dirty="0"/>
              <a:t> </a:t>
            </a:r>
          </a:p>
          <a:p>
            <a:pPr lvl="1"/>
            <a:r>
              <a:rPr lang="ru-RU" sz="2000" dirty="0"/>
              <a:t>Внимание в декодере </a:t>
            </a:r>
            <a:r>
              <a:rPr lang="en-US" sz="2000" dirty="0"/>
              <a:t>O(T</a:t>
            </a:r>
            <a:r>
              <a:rPr lang="en-US" sz="2000" baseline="30000" dirty="0"/>
              <a:t>2</a:t>
            </a:r>
            <a:r>
              <a:rPr lang="en-US" sz="2000" dirty="0"/>
              <a:t>)</a:t>
            </a:r>
            <a:r>
              <a:rPr lang="ru-RU" sz="2000" dirty="0"/>
              <a:t>, в </a:t>
            </a:r>
            <a:r>
              <a:rPr lang="ru-RU" sz="2000" dirty="0" err="1"/>
              <a:t>энкодере</a:t>
            </a:r>
            <a:r>
              <a:rPr lang="ru-RU" sz="2000" dirty="0"/>
              <a:t> доступны варианты </a:t>
            </a:r>
          </a:p>
          <a:p>
            <a:r>
              <a:rPr lang="en-US" sz="2200" dirty="0"/>
              <a:t>Exposure bias</a:t>
            </a:r>
            <a:endParaRPr lang="ru-RU" sz="2200" dirty="0"/>
          </a:p>
          <a:p>
            <a:pPr lvl="1"/>
            <a:r>
              <a:rPr lang="ru-RU" sz="1800" dirty="0"/>
              <a:t>На обучении — </a:t>
            </a:r>
            <a:r>
              <a:rPr lang="en-US" sz="1800" dirty="0"/>
              <a:t>teacher forcing, </a:t>
            </a:r>
            <a:r>
              <a:rPr lang="ru-RU" sz="1800" dirty="0"/>
              <a:t>на </a:t>
            </a:r>
            <a:r>
              <a:rPr lang="ru-RU" sz="1800" dirty="0" err="1"/>
              <a:t>инференсе</a:t>
            </a:r>
            <a:r>
              <a:rPr lang="ru-RU" sz="1800" dirty="0"/>
              <a:t> — </a:t>
            </a:r>
            <a:r>
              <a:rPr lang="en-US" sz="1800" dirty="0"/>
              <a:t>autoregressive → </a:t>
            </a:r>
            <a:r>
              <a:rPr lang="ru-RU" sz="1800" dirty="0"/>
              <a:t>разница в динамике</a:t>
            </a:r>
          </a:p>
          <a:p>
            <a:r>
              <a:rPr lang="ru-RU" sz="2200" dirty="0"/>
              <a:t>Сложность масштабирования</a:t>
            </a:r>
          </a:p>
          <a:p>
            <a:pPr lvl="1"/>
            <a:r>
              <a:rPr lang="ru-RU" sz="1800" dirty="0"/>
              <a:t>Требует длинной предыстории для каждого </a:t>
            </a:r>
            <a:r>
              <a:rPr lang="ru-RU" sz="1800" dirty="0" err="1"/>
              <a:t>патча</a:t>
            </a:r>
            <a:endParaRPr lang="ru-RU" sz="1800" dirty="0"/>
          </a:p>
        </p:txBody>
      </p:sp>
      <p:pic>
        <p:nvPicPr>
          <p:cNvPr id="4" name="Picture 8" descr="PDF] Deep Transformer Models for Time Series Forecasting: The Influenza  Prevalence Case | Semantic Scholar"/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38" t="587" r="139" b="-587"/>
          <a:stretch/>
        </p:blipFill>
        <p:spPr bwMode="auto">
          <a:xfrm>
            <a:off x="10187802" y="5929313"/>
            <a:ext cx="1297954" cy="789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4771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9250" y="5687"/>
            <a:ext cx="11029950" cy="654049"/>
          </a:xfrm>
        </p:spPr>
        <p:txBody>
          <a:bodyPr>
            <a:normAutofit fontScale="90000"/>
          </a:bodyPr>
          <a:lstStyle/>
          <a:p>
            <a:r>
              <a:rPr lang="ru-RU" dirty="0"/>
              <a:t>Использование сокращенных трансформеров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294" y="497913"/>
            <a:ext cx="6010714" cy="3144653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600" b="1" dirty="0"/>
              <a:t>Encoder-only transformers</a:t>
            </a:r>
            <a:endParaRPr lang="ru-RU" sz="4600" b="1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4600" dirty="0"/>
              <a:t>Возможен </a:t>
            </a:r>
            <a:r>
              <a:rPr lang="en-US" sz="4600" dirty="0"/>
              <a:t>non- autoregressive forecasting (</a:t>
            </a:r>
            <a:r>
              <a:rPr lang="ru-RU" sz="4600" dirty="0"/>
              <a:t>скорость)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4600" dirty="0"/>
              <a:t>Доступно упрощенное внимание: </a:t>
            </a:r>
            <a:br>
              <a:rPr lang="en-US" sz="4600" dirty="0"/>
            </a:br>
            <a:r>
              <a:rPr lang="en-US" sz="4600" dirty="0"/>
              <a:t>linear </a:t>
            </a:r>
            <a:r>
              <a:rPr lang="en-US" sz="4600" dirty="0" err="1"/>
              <a:t>att</a:t>
            </a:r>
            <a:r>
              <a:rPr lang="en-US" sz="4600" dirty="0"/>
              <a:t>, sparse </a:t>
            </a:r>
            <a:r>
              <a:rPr lang="en-US" sz="4600" dirty="0" err="1"/>
              <a:t>att</a:t>
            </a:r>
            <a:r>
              <a:rPr lang="en-US" sz="4600" dirty="0"/>
              <a:t>,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4600" dirty="0"/>
              <a:t>Self training </a:t>
            </a:r>
            <a:r>
              <a:rPr lang="ru-RU" sz="4600" dirty="0"/>
              <a:t>через </a:t>
            </a:r>
            <a:r>
              <a:rPr lang="en-US" sz="4600" dirty="0"/>
              <a:t> masking (</a:t>
            </a:r>
            <a:r>
              <a:rPr lang="ru-RU" sz="4600" dirty="0"/>
              <a:t>закрываем часть </a:t>
            </a:r>
            <a:r>
              <a:rPr lang="ru-RU" sz="4600" dirty="0" err="1"/>
              <a:t>патчей</a:t>
            </a:r>
            <a:r>
              <a:rPr lang="ru-RU" sz="4600" dirty="0"/>
              <a:t>, учим их восстанавливать)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4600" dirty="0"/>
              <a:t>Анализ глубокой предыстории ВР</a:t>
            </a:r>
            <a:endParaRPr lang="en-US" sz="46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2200" dirty="0"/>
            </a:br>
            <a:endParaRPr lang="ru-RU" sz="2200" dirty="0"/>
          </a:p>
        </p:txBody>
      </p:sp>
      <p:pic>
        <p:nvPicPr>
          <p:cNvPr id="1026" name="Picture 2" descr="https://www.signalpop.com/wp-content/uploads/2023/11/1_patchtst_overview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352" b="1"/>
          <a:stretch/>
        </p:blipFill>
        <p:spPr bwMode="auto">
          <a:xfrm>
            <a:off x="4688643" y="3100039"/>
            <a:ext cx="7185446" cy="3297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236794" y="6624486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https://www.signalpop.com/2023/11/06/understanding-the-patchtst-model-for-time-series-prediction/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6459794" y="6596390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https://research.google/blog/a-decoder-only-foundation-model-for-time-series-forecasting/</a:t>
            </a:r>
          </a:p>
        </p:txBody>
      </p:sp>
      <p:sp>
        <p:nvSpPr>
          <p:cNvPr id="9" name="Объект 2"/>
          <p:cNvSpPr txBox="1">
            <a:spLocks/>
          </p:cNvSpPr>
          <p:nvPr/>
        </p:nvSpPr>
        <p:spPr>
          <a:xfrm>
            <a:off x="5863374" y="488357"/>
            <a:ext cx="6166625" cy="3530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2200" dirty="0"/>
            </a:br>
            <a:r>
              <a:rPr lang="ru-RU" sz="2200" dirty="0"/>
              <a:t>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6014225" y="669292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ru-RU" sz="2000" b="1" dirty="0"/>
              <a:t>Примеры </a:t>
            </a:r>
            <a:r>
              <a:rPr lang="en-US" sz="2000" b="1" dirty="0" err="1"/>
              <a:t>PathTST</a:t>
            </a:r>
            <a:r>
              <a:rPr lang="en-US" sz="2000" b="1" dirty="0"/>
              <a:t>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000" dirty="0"/>
              <a:t>Пересекающиеся </a:t>
            </a:r>
            <a:r>
              <a:rPr lang="ru-RU" sz="2000" dirty="0" err="1"/>
              <a:t>патчи</a:t>
            </a:r>
            <a:r>
              <a:rPr lang="ru-RU" sz="2000" dirty="0"/>
              <a:t> по каждой переменной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Linear attention (MLP)</a:t>
            </a:r>
            <a:endParaRPr lang="ru-RU" sz="20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Self training </a:t>
            </a:r>
            <a:r>
              <a:rPr lang="ru-RU" sz="2000" dirty="0"/>
              <a:t>через </a:t>
            </a:r>
            <a:r>
              <a:rPr lang="en-US" sz="2000" dirty="0"/>
              <a:t> masking</a:t>
            </a:r>
            <a:endParaRPr lang="ru-RU" sz="20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Non-autoregressive forecasting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228357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7A6ACE-02E7-DB7E-C222-A0FFC0C62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727" y="231733"/>
            <a:ext cx="10990545" cy="315912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Модели трансформеры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F320CA-A7E7-C277-770A-06D8195EC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160" y="681038"/>
            <a:ext cx="5558391" cy="6045439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ru-RU" sz="2200" b="1" dirty="0"/>
              <a:t>Достоинства:</a:t>
            </a:r>
          </a:p>
          <a:p>
            <a:pPr algn="just"/>
            <a:r>
              <a:rPr lang="ru-RU" sz="2200" b="1" dirty="0"/>
              <a:t>Параллелизм</a:t>
            </a:r>
            <a:r>
              <a:rPr lang="ru-RU" sz="2200" dirty="0"/>
              <a:t>: возможность обучаться на больших объемах данных без ограничений </a:t>
            </a:r>
            <a:r>
              <a:rPr lang="en-US" sz="2200" dirty="0"/>
              <a:t>RNN</a:t>
            </a:r>
          </a:p>
          <a:p>
            <a:pPr algn="just"/>
            <a:r>
              <a:rPr lang="en-US" sz="2200" b="1" dirty="0" err="1"/>
              <a:t>М</a:t>
            </a:r>
            <a:r>
              <a:rPr lang="ru-RU" sz="2200" b="1" dirty="0" err="1"/>
              <a:t>оделирование</a:t>
            </a:r>
            <a:r>
              <a:rPr lang="ru-RU" sz="2200" b="1" dirty="0"/>
              <a:t> долгосрочных зависимостей</a:t>
            </a:r>
          </a:p>
          <a:p>
            <a:pPr lvl="1" algn="just"/>
            <a:r>
              <a:rPr lang="ru-RU" sz="1700" dirty="0"/>
              <a:t>SOTA</a:t>
            </a:r>
            <a:r>
              <a:rPr lang="en-US" sz="1700" dirty="0"/>
              <a:t> </a:t>
            </a:r>
            <a:r>
              <a:rPr lang="en" sz="1700" dirty="0"/>
              <a:t>Informer, </a:t>
            </a:r>
            <a:r>
              <a:rPr lang="en" sz="1700" dirty="0" err="1"/>
              <a:t>FEDformer</a:t>
            </a:r>
            <a:r>
              <a:rPr lang="en" sz="1700" dirty="0"/>
              <a:t>, </a:t>
            </a:r>
            <a:r>
              <a:rPr lang="en" sz="1700" dirty="0" err="1"/>
              <a:t>iTransformer</a:t>
            </a:r>
            <a:endParaRPr lang="ru-RU" sz="1300" dirty="0"/>
          </a:p>
          <a:p>
            <a:pPr algn="just"/>
            <a:r>
              <a:rPr lang="ru-RU" sz="2200" dirty="0"/>
              <a:t>Выявление глобальных связей (особенно в МВР)</a:t>
            </a:r>
          </a:p>
          <a:p>
            <a:pPr algn="just"/>
            <a:r>
              <a:rPr lang="ru-RU" sz="2200" b="1" dirty="0"/>
              <a:t>Интерпретируемость </a:t>
            </a:r>
            <a:r>
              <a:rPr lang="ru-RU" sz="2200" dirty="0"/>
              <a:t>Матрицы внимания (</a:t>
            </a:r>
            <a:r>
              <a:rPr lang="en" sz="2200" dirty="0"/>
              <a:t>Attention Maps) — </a:t>
            </a:r>
            <a:r>
              <a:rPr lang="ru-RU" sz="2200" dirty="0"/>
              <a:t>это, по сути, цифровое воплощение ваших автокорреляционных и кросс-корреляционных функций. Мы можем </a:t>
            </a:r>
            <a:r>
              <a:rPr lang="ru-RU" sz="2200" i="1" dirty="0"/>
              <a:t>посмотреть</a:t>
            </a:r>
            <a:r>
              <a:rPr lang="ru-RU" sz="2200" dirty="0"/>
              <a:t>, на какие предыдущие моменты времени модель обращает внимание для прогноза в точке </a:t>
            </a:r>
            <a:r>
              <a:rPr lang="en" sz="2200" dirty="0"/>
              <a:t>t. </a:t>
            </a:r>
            <a:endParaRPr lang="ru-RU" sz="2200" dirty="0"/>
          </a:p>
          <a:p>
            <a:pPr algn="just"/>
            <a:r>
              <a:rPr lang="ru-RU" sz="2200" dirty="0"/>
              <a:t>Архитектуры, адаптированные к структуре ВР</a:t>
            </a:r>
            <a:endParaRPr lang="en-US" sz="2200" dirty="0"/>
          </a:p>
          <a:p>
            <a:pPr algn="just"/>
            <a:r>
              <a:rPr lang="en-US" sz="2200" b="1" dirty="0"/>
              <a:t>Representation learning </a:t>
            </a:r>
            <a:r>
              <a:rPr lang="en-US" sz="2200" dirty="0" err="1"/>
              <a:t>пар</a:t>
            </a:r>
            <a:r>
              <a:rPr lang="ru-RU" sz="2200" dirty="0" err="1"/>
              <a:t>адигма</a:t>
            </a:r>
            <a:r>
              <a:rPr lang="ru-RU" sz="2200" dirty="0"/>
              <a:t> ( напр. доступно Самообучение)</a:t>
            </a:r>
          </a:p>
          <a:p>
            <a:pPr algn="just"/>
            <a:endParaRPr lang="ru-RU" sz="2200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C4D4BD83-AF06-56E3-BE66-EDEB459E4F1C}"/>
              </a:ext>
            </a:extLst>
          </p:cNvPr>
          <p:cNvSpPr txBox="1">
            <a:spLocks/>
          </p:cNvSpPr>
          <p:nvPr/>
        </p:nvSpPr>
        <p:spPr>
          <a:xfrm>
            <a:off x="5917503" y="681038"/>
            <a:ext cx="5911241" cy="59452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ru-RU" sz="2200" b="1" dirty="0"/>
              <a:t>Недостатки:</a:t>
            </a:r>
          </a:p>
          <a:p>
            <a:pPr algn="just"/>
            <a:r>
              <a:rPr lang="ru-RU" sz="2200" dirty="0"/>
              <a:t>Т</a:t>
            </a:r>
            <a:r>
              <a:rPr lang="en-US" sz="2200" dirty="0" err="1"/>
              <a:t>ре</a:t>
            </a:r>
            <a:r>
              <a:rPr lang="ru-RU" sz="2200" dirty="0" err="1"/>
              <a:t>бует</a:t>
            </a:r>
            <a:r>
              <a:rPr lang="ru-RU" sz="2200" dirty="0"/>
              <a:t> много данных особенно для выучивания локальных связей. Дообучение под задачу обязательно</a:t>
            </a:r>
          </a:p>
          <a:p>
            <a:pPr algn="just"/>
            <a:r>
              <a:rPr lang="ru-RU" sz="2200" dirty="0"/>
              <a:t>Избыточная сложность для коротких горизонтов и сравнительно простых ВР</a:t>
            </a:r>
          </a:p>
          <a:p>
            <a:pPr algn="just"/>
            <a:r>
              <a:rPr lang="ru-RU" sz="2200" dirty="0"/>
              <a:t>Требуется опты настройки (патчи и </a:t>
            </a:r>
            <a:r>
              <a:rPr lang="ru-RU" sz="2200" dirty="0" err="1"/>
              <a:t>тд</a:t>
            </a:r>
            <a:r>
              <a:rPr lang="ru-RU" sz="2200" dirty="0"/>
              <a:t> особенно на очень больших объемах данных)</a:t>
            </a:r>
          </a:p>
          <a:p>
            <a:pPr algn="just"/>
            <a:r>
              <a:rPr lang="ru-RU" sz="2200" dirty="0"/>
              <a:t>Внимание может дать артефакты особенно на коротких ВР</a:t>
            </a:r>
          </a:p>
          <a:p>
            <a:pPr algn="just"/>
            <a:r>
              <a:rPr lang="ru-RU" sz="2200" dirty="0"/>
              <a:t>Требуется регулярность ВР. На ВР с явным трендом могут дать смещенную оценку</a:t>
            </a:r>
          </a:p>
          <a:p>
            <a:pPr algn="just"/>
            <a:endParaRPr lang="ru-RU" sz="2200" dirty="0"/>
          </a:p>
          <a:p>
            <a:pPr algn="just"/>
            <a:endParaRPr lang="ru-RU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4B01CE-81B0-6AC1-B1D5-77137FA6002E}"/>
              </a:ext>
            </a:extLst>
          </p:cNvPr>
          <p:cNvSpPr txBox="1"/>
          <p:nvPr/>
        </p:nvSpPr>
        <p:spPr>
          <a:xfrm>
            <a:off x="5917503" y="6441601"/>
            <a:ext cx="6093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</a:t>
            </a:r>
            <a:r>
              <a:rPr lang="ru-RU" dirty="0" err="1"/>
              <a:t>fpppy</a:t>
            </a:r>
            <a:r>
              <a:rPr lang="ru-RU" dirty="0"/>
              <a:t>/</a:t>
            </a:r>
            <a:r>
              <a:rPr lang="ru-RU" dirty="0" err="1"/>
              <a:t>nbs</a:t>
            </a:r>
            <a:r>
              <a:rPr lang="ru-RU" dirty="0"/>
              <a:t>/15-foundation-models.html</a:t>
            </a:r>
          </a:p>
        </p:txBody>
      </p:sp>
    </p:spTree>
    <p:extLst>
      <p:ext uri="{BB962C8B-B14F-4D97-AF65-F5344CB8AC3E}">
        <p14:creationId xmlns:p14="http://schemas.microsoft.com/office/powerpoint/2010/main" val="39061700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9571" y="168752"/>
            <a:ext cx="11164229" cy="749997"/>
          </a:xfrm>
        </p:spPr>
        <p:txBody>
          <a:bodyPr/>
          <a:lstStyle/>
          <a:p>
            <a:r>
              <a:rPr lang="ru-RU" dirty="0"/>
              <a:t>Некоторые модели </a:t>
            </a:r>
            <a:r>
              <a:rPr lang="ru-RU" dirty="0" err="1"/>
              <a:t>трансформеры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142805"/>
              </p:ext>
            </p:extLst>
          </p:nvPr>
        </p:nvGraphicFramePr>
        <p:xfrm>
          <a:off x="189571" y="918749"/>
          <a:ext cx="11654419" cy="540896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74129">
                  <a:extLst>
                    <a:ext uri="{9D8B030D-6E8A-4147-A177-3AD203B41FA5}">
                      <a16:colId xmlns:a16="http://schemas.microsoft.com/office/drawing/2014/main" val="3249311741"/>
                    </a:ext>
                  </a:extLst>
                </a:gridCol>
                <a:gridCol w="976838">
                  <a:extLst>
                    <a:ext uri="{9D8B030D-6E8A-4147-A177-3AD203B41FA5}">
                      <a16:colId xmlns:a16="http://schemas.microsoft.com/office/drawing/2014/main" val="3305048369"/>
                    </a:ext>
                  </a:extLst>
                </a:gridCol>
                <a:gridCol w="1321862">
                  <a:extLst>
                    <a:ext uri="{9D8B030D-6E8A-4147-A177-3AD203B41FA5}">
                      <a16:colId xmlns:a16="http://schemas.microsoft.com/office/drawing/2014/main" val="1989492488"/>
                    </a:ext>
                  </a:extLst>
                </a:gridCol>
                <a:gridCol w="4032506">
                  <a:extLst>
                    <a:ext uri="{9D8B030D-6E8A-4147-A177-3AD203B41FA5}">
                      <a16:colId xmlns:a16="http://schemas.microsoft.com/office/drawing/2014/main" val="4075952491"/>
                    </a:ext>
                  </a:extLst>
                </a:gridCol>
                <a:gridCol w="3081262">
                  <a:extLst>
                    <a:ext uri="{9D8B030D-6E8A-4147-A177-3AD203B41FA5}">
                      <a16:colId xmlns:a16="http://schemas.microsoft.com/office/drawing/2014/main" val="1485279407"/>
                    </a:ext>
                  </a:extLst>
                </a:gridCol>
                <a:gridCol w="767822">
                  <a:extLst>
                    <a:ext uri="{9D8B030D-6E8A-4147-A177-3AD203B41FA5}">
                      <a16:colId xmlns:a16="http://schemas.microsoft.com/office/drawing/2014/main" val="1073697996"/>
                    </a:ext>
                  </a:extLst>
                </a:gridCol>
              </a:tblGrid>
              <a:tr h="148576">
                <a:tc>
                  <a:txBody>
                    <a:bodyPr/>
                    <a:lstStyle/>
                    <a:p>
                      <a:r>
                        <a:rPr lang="ru-RU" sz="2000" dirty="0"/>
                        <a:t>Модель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сложность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Ключевые особенности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Применение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Год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1286795480"/>
                  </a:ext>
                </a:extLst>
              </a:tr>
              <a:tr h="144612">
                <a:tc>
                  <a:txBody>
                    <a:bodyPr/>
                    <a:lstStyle/>
                    <a:p>
                      <a:r>
                        <a:rPr lang="en-US" sz="2000" b="1" dirty="0"/>
                        <a:t>Vanilla Transformer</a:t>
                      </a:r>
                      <a:endParaRPr lang="en-US" sz="20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Encoder-decoder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O(N²)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Стандартная архитектура </a:t>
                      </a:r>
                      <a:r>
                        <a:rPr lang="ru-RU" sz="2000" dirty="0" err="1"/>
                        <a:t>трансформера</a:t>
                      </a:r>
                      <a:endParaRPr lang="ru-RU" sz="20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Base</a:t>
                      </a:r>
                      <a:r>
                        <a:rPr lang="en-US" sz="2000" baseline="0" dirty="0"/>
                        <a:t> line</a:t>
                      </a:r>
                      <a:endParaRPr lang="ru-RU" sz="20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2017</a:t>
                      </a:r>
                    </a:p>
                  </a:txBody>
                  <a:tcPr marL="23521" marR="23521" marT="11760" marB="11760" anchor="ctr"/>
                </a:tc>
                <a:extLst>
                  <a:ext uri="{0D108BD9-81ED-4DB2-BD59-A6C34878D82A}">
                    <a16:rowId xmlns:a16="http://schemas.microsoft.com/office/drawing/2014/main" val="520311545"/>
                  </a:ext>
                </a:extLst>
              </a:tr>
              <a:tr h="75278">
                <a:tc>
                  <a:txBody>
                    <a:bodyPr/>
                    <a:lstStyle/>
                    <a:p>
                      <a:r>
                        <a:rPr lang="en-US" sz="2000" b="1" dirty="0"/>
                        <a:t>TFT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Encoder-decoder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O(N²)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рекуррентные сети + </a:t>
                      </a:r>
                      <a:r>
                        <a:rPr lang="ru-RU" sz="2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трансформер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sz="20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интерпретация</a:t>
                      </a:r>
                      <a:endParaRPr lang="ru-RU" sz="20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/>
                        <a:t>Heterogen</a:t>
                      </a:r>
                      <a:r>
                        <a:rPr lang="en-US" sz="2000" dirty="0"/>
                        <a:t> data</a:t>
                      </a:r>
                      <a:r>
                        <a:rPr lang="en-US" sz="2000" baseline="0" dirty="0"/>
                        <a:t>, </a:t>
                      </a:r>
                      <a:r>
                        <a:rPr lang="en-US" sz="2000" baseline="0" dirty="0" err="1"/>
                        <a:t>exogen</a:t>
                      </a:r>
                      <a:endParaRPr lang="ru-RU" sz="20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2022</a:t>
                      </a:r>
                      <a:endParaRPr lang="ru-RU" sz="2000" dirty="0"/>
                    </a:p>
                  </a:txBody>
                  <a:tcPr marL="23521" marR="23521" marT="11760" marB="11760" anchor="ctr"/>
                </a:tc>
                <a:extLst>
                  <a:ext uri="{0D108BD9-81ED-4DB2-BD59-A6C34878D82A}">
                    <a16:rowId xmlns:a16="http://schemas.microsoft.com/office/drawing/2014/main" val="1960122855"/>
                  </a:ext>
                </a:extLst>
              </a:tr>
              <a:tr h="75278">
                <a:tc>
                  <a:txBody>
                    <a:bodyPr/>
                    <a:lstStyle/>
                    <a:p>
                      <a:r>
                        <a:rPr lang="en-US" sz="2000" b="1" dirty="0"/>
                        <a:t>Informer</a:t>
                      </a:r>
                      <a:endParaRPr lang="en-US" sz="20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Encoder-decoder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O(N log N)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ProbSparse</a:t>
                      </a:r>
                      <a:r>
                        <a:rPr lang="en-US" sz="2000" dirty="0"/>
                        <a:t> </a:t>
                      </a:r>
                      <a:r>
                        <a:rPr lang="ru-RU" sz="2000" dirty="0"/>
                        <a:t>внимание, генеративный декодер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Long</a:t>
                      </a:r>
                      <a:r>
                        <a:rPr lang="en-US" sz="2000" baseline="0" dirty="0"/>
                        <a:t> horizon, low </a:t>
                      </a:r>
                      <a:r>
                        <a:rPr lang="en-US" sz="2000" baseline="0" dirty="0" err="1"/>
                        <a:t>comput</a:t>
                      </a:r>
                      <a:r>
                        <a:rPr lang="en-US" sz="2000" baseline="0" dirty="0"/>
                        <a:t>. require</a:t>
                      </a:r>
                      <a:endParaRPr lang="ru-RU" sz="20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2021</a:t>
                      </a:r>
                    </a:p>
                  </a:txBody>
                  <a:tcPr marL="23521" marR="23521" marT="11760" marB="11760" anchor="ctr"/>
                </a:tc>
                <a:extLst>
                  <a:ext uri="{0D108BD9-81ED-4DB2-BD59-A6C34878D82A}">
                    <a16:rowId xmlns:a16="http://schemas.microsoft.com/office/drawing/2014/main" val="308783238"/>
                  </a:ext>
                </a:extLst>
              </a:tr>
              <a:tr h="75278"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Autoformer</a:t>
                      </a:r>
                      <a:endParaRPr lang="en-US" sz="20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Encoder-decoder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O(N log N)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Авто-корреляция, декомпозиция сезон-тренд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Long</a:t>
                      </a:r>
                      <a:r>
                        <a:rPr lang="en-US" sz="2000" baseline="0" dirty="0"/>
                        <a:t> horizon, complex patterns</a:t>
                      </a:r>
                      <a:endParaRPr lang="ru-RU" sz="20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2021</a:t>
                      </a:r>
                    </a:p>
                  </a:txBody>
                  <a:tcPr marL="23521" marR="23521" marT="11760" marB="11760" anchor="ctr"/>
                </a:tc>
                <a:extLst>
                  <a:ext uri="{0D108BD9-81ED-4DB2-BD59-A6C34878D82A}">
                    <a16:rowId xmlns:a16="http://schemas.microsoft.com/office/drawing/2014/main" val="3704454812"/>
                  </a:ext>
                </a:extLst>
              </a:tr>
              <a:tr h="144612"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PatchTST</a:t>
                      </a:r>
                      <a:endParaRPr lang="en-US" sz="20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Encoder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O(N)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000" dirty="0" err="1"/>
                        <a:t>Патч</a:t>
                      </a:r>
                      <a:r>
                        <a:rPr lang="ru-RU" sz="2000" dirty="0"/>
                        <a:t>-сегментация, канально-независимое обучение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Long</a:t>
                      </a:r>
                      <a:r>
                        <a:rPr lang="en-US" sz="2000" baseline="0" dirty="0"/>
                        <a:t> horizon, multivariate</a:t>
                      </a:r>
                      <a:endParaRPr lang="ru-RU" sz="20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2023</a:t>
                      </a:r>
                    </a:p>
                  </a:txBody>
                  <a:tcPr marL="23521" marR="23521" marT="11760" marB="11760" anchor="ctr"/>
                </a:tc>
                <a:extLst>
                  <a:ext uri="{0D108BD9-81ED-4DB2-BD59-A6C34878D82A}">
                    <a16:rowId xmlns:a16="http://schemas.microsoft.com/office/drawing/2014/main" val="3302619383"/>
                  </a:ext>
                </a:extLst>
              </a:tr>
              <a:tr h="144612"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iTransformer</a:t>
                      </a:r>
                      <a:endParaRPr lang="en-US" sz="20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Encoder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O(N²)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Инвертированная архитектура, переменные как </a:t>
                      </a:r>
                      <a:r>
                        <a:rPr lang="ru-RU" sz="2000" dirty="0" err="1"/>
                        <a:t>патчи</a:t>
                      </a:r>
                      <a:endParaRPr lang="ru-RU" sz="20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Многомерное прогнозирование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2024</a:t>
                      </a:r>
                    </a:p>
                  </a:txBody>
                  <a:tcPr marL="23521" marR="23521" marT="11760" marB="11760" anchor="ctr"/>
                </a:tc>
                <a:extLst>
                  <a:ext uri="{0D108BD9-81ED-4DB2-BD59-A6C34878D82A}">
                    <a16:rowId xmlns:a16="http://schemas.microsoft.com/office/drawing/2014/main" val="3557155647"/>
                  </a:ext>
                </a:extLst>
              </a:tr>
              <a:tr h="144612"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TimeMixer</a:t>
                      </a:r>
                      <a:endParaRPr lang="en-US" sz="20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Mixer Encoder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O(N)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Декомпозируемое многомасштабное смешивание</a:t>
                      </a:r>
                      <a:r>
                        <a:rPr lang="en-US" sz="2000" dirty="0"/>
                        <a:t> (</a:t>
                      </a:r>
                      <a:r>
                        <a:rPr lang="ru-RU" sz="2000" b="1" dirty="0"/>
                        <a:t>Миксер</a:t>
                      </a:r>
                      <a:r>
                        <a:rPr lang="ru-RU" sz="2000" b="1" baseline="0" dirty="0"/>
                        <a:t>, не </a:t>
                      </a:r>
                      <a:r>
                        <a:rPr lang="ru-RU" sz="2000" b="1" baseline="0" dirty="0" err="1"/>
                        <a:t>трансформер</a:t>
                      </a:r>
                      <a:r>
                        <a:rPr lang="ru-RU" sz="2000" baseline="0" dirty="0"/>
                        <a:t>!)</a:t>
                      </a:r>
                      <a:endParaRPr lang="ru-RU" sz="20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Универсальный анализ временных рядов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2024</a:t>
                      </a:r>
                    </a:p>
                  </a:txBody>
                  <a:tcPr marL="23521" marR="23521" marT="11760" marB="11760" anchor="ctr"/>
                </a:tc>
                <a:extLst>
                  <a:ext uri="{0D108BD9-81ED-4DB2-BD59-A6C34878D82A}">
                    <a16:rowId xmlns:a16="http://schemas.microsoft.com/office/drawing/2014/main" val="2621592546"/>
                  </a:ext>
                </a:extLst>
              </a:tr>
              <a:tr h="144612"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Dlinear</a:t>
                      </a:r>
                      <a:endParaRPr lang="en-US" sz="2000" b="1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Linear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Не</a:t>
                      </a:r>
                      <a:r>
                        <a:rPr lang="ru-RU" sz="2000" baseline="0" dirty="0"/>
                        <a:t> </a:t>
                      </a:r>
                      <a:r>
                        <a:rPr lang="ru-RU" sz="2000" baseline="0" dirty="0" err="1"/>
                        <a:t>трансформер</a:t>
                      </a:r>
                      <a:endParaRPr lang="ru-RU" sz="20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Base</a:t>
                      </a:r>
                      <a:r>
                        <a:rPr lang="en-US" sz="2000" baseline="0" dirty="0"/>
                        <a:t> line</a:t>
                      </a:r>
                      <a:r>
                        <a:rPr lang="ru-RU" sz="2000" baseline="0" dirty="0"/>
                        <a:t> </a:t>
                      </a:r>
                      <a:r>
                        <a:rPr lang="en-US" sz="2000" baseline="0" dirty="0"/>
                        <a:t>for </a:t>
                      </a:r>
                      <a:r>
                        <a:rPr lang="en-US" sz="2000" dirty="0"/>
                        <a:t>Long</a:t>
                      </a:r>
                      <a:r>
                        <a:rPr lang="en-US" sz="2000" baseline="0" dirty="0"/>
                        <a:t> horizon</a:t>
                      </a:r>
                      <a:endParaRPr lang="ru-RU" sz="20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2023</a:t>
                      </a:r>
                      <a:endParaRPr lang="ru-RU" sz="2000" dirty="0"/>
                    </a:p>
                  </a:txBody>
                  <a:tcPr marL="23521" marR="23521" marT="11760" marB="11760" anchor="ctr"/>
                </a:tc>
                <a:extLst>
                  <a:ext uri="{0D108BD9-81ED-4DB2-BD59-A6C34878D82A}">
                    <a16:rowId xmlns:a16="http://schemas.microsoft.com/office/drawing/2014/main" val="115333207"/>
                  </a:ext>
                </a:extLst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110350" y="6519446"/>
            <a:ext cx="96246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https://readmedium.com/a-brief-history-of-time-series-models-38455c2cd78d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6527180" y="6519446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https://nixtlaverse.nixtla.io/neuralforecast/docs/capabilities/overview.html</a:t>
            </a:r>
          </a:p>
        </p:txBody>
      </p:sp>
    </p:spTree>
    <p:extLst>
      <p:ext uri="{BB962C8B-B14F-4D97-AF65-F5344CB8AC3E}">
        <p14:creationId xmlns:p14="http://schemas.microsoft.com/office/powerpoint/2010/main" val="38579783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8FB28-F0A6-C205-12F2-94B5061BC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E88F0C-9F44-3159-36DC-87061338F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989" y="365125"/>
            <a:ext cx="10877811" cy="687061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Гипотезы</a:t>
            </a:r>
            <a:r>
              <a:rPr lang="ru-RU" dirty="0"/>
              <a:t>: 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9BC521-45CF-B615-5578-EF7A59217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625" y="701458"/>
            <a:ext cx="11461315" cy="57914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100" dirty="0"/>
              <a:t>Использование гетерогенного набор датасетов позволяет модели выучить (обобщить) широкий набор представлений ВР.</a:t>
            </a:r>
          </a:p>
          <a:p>
            <a:pPr lvl="1"/>
            <a:r>
              <a:rPr lang="en-US" sz="2100" b="1" dirty="0"/>
              <a:t>Scaling-low</a:t>
            </a:r>
            <a:r>
              <a:rPr lang="en-US" sz="2100" dirty="0"/>
              <a:t> </a:t>
            </a:r>
            <a:r>
              <a:rPr lang="ru-RU" sz="2100" dirty="0"/>
              <a:t>(обобщение достаточного количества наборов данных позволяет обобщать любые похожие (между ними) наборы данных если параметров достаточно</a:t>
            </a:r>
          </a:p>
          <a:p>
            <a:pPr lvl="2"/>
            <a:r>
              <a:rPr lang="ru-RU" sz="2100" dirty="0"/>
              <a:t>В том числе на коротких данных</a:t>
            </a:r>
          </a:p>
          <a:p>
            <a:pPr lvl="2"/>
            <a:r>
              <a:rPr lang="en" sz="2100" b="1" dirty="0"/>
              <a:t>zero-shot</a:t>
            </a:r>
            <a:r>
              <a:rPr lang="en" sz="2100" dirty="0"/>
              <a:t> </a:t>
            </a:r>
            <a:r>
              <a:rPr lang="ru-RU" sz="2100" dirty="0"/>
              <a:t>подход – модель может работать даже если не видела данных</a:t>
            </a:r>
          </a:p>
          <a:p>
            <a:r>
              <a:rPr lang="en-US" sz="2100" b="1" dirty="0"/>
              <a:t>In-context forecasting</a:t>
            </a:r>
            <a:r>
              <a:rPr lang="ru-RU" sz="2100" b="1" dirty="0"/>
              <a:t>  </a:t>
            </a:r>
            <a:r>
              <a:rPr lang="ru-RU" sz="2100" dirty="0"/>
              <a:t>– каждое предсказание есть наиболее вероятное значение своего контекста. </a:t>
            </a:r>
          </a:p>
          <a:p>
            <a:pPr lvl="1"/>
            <a:r>
              <a:rPr lang="ru-RU" sz="2100" dirty="0"/>
              <a:t>Будем говорить о входных данных </a:t>
            </a:r>
            <a:r>
              <a:rPr lang="ru-RU" sz="2100" dirty="0" err="1"/>
              <a:t>промпте</a:t>
            </a:r>
            <a:r>
              <a:rPr lang="ru-RU" sz="2100" dirty="0"/>
              <a:t> – запрос предсказания. </a:t>
            </a:r>
            <a:r>
              <a:rPr lang="ru-RU" sz="2100" dirty="0" err="1"/>
              <a:t>Промпт</a:t>
            </a:r>
            <a:r>
              <a:rPr lang="ru-RU" sz="2100" dirty="0"/>
              <a:t> может быть любым: текст, ВР, видео и </a:t>
            </a:r>
            <a:r>
              <a:rPr lang="ru-RU" sz="2100" dirty="0" err="1"/>
              <a:t>тд</a:t>
            </a:r>
            <a:r>
              <a:rPr lang="ru-RU" sz="2100" dirty="0"/>
              <a:t>.</a:t>
            </a:r>
          </a:p>
          <a:p>
            <a:r>
              <a:rPr lang="ru-RU" sz="2100" dirty="0"/>
              <a:t>Предсказания можно выучить как результат представления </a:t>
            </a:r>
            <a:r>
              <a:rPr lang="en-US" sz="2100" b="1" dirty="0"/>
              <a:t>(representation learning)</a:t>
            </a:r>
            <a:endParaRPr lang="ru-RU" sz="2100" b="1" dirty="0"/>
          </a:p>
          <a:p>
            <a:pPr lvl="1"/>
            <a:r>
              <a:rPr lang="ru-RU" sz="2100" dirty="0"/>
              <a:t>можно выучивать без полноценной разметки например </a:t>
            </a:r>
            <a:r>
              <a:rPr lang="ru-RU" sz="2100" dirty="0" err="1"/>
              <a:t>авторегрессионно</a:t>
            </a:r>
            <a:r>
              <a:rPr lang="ru-RU" sz="2100" dirty="0"/>
              <a:t> или восстановлением частей зависимости</a:t>
            </a:r>
          </a:p>
          <a:p>
            <a:pPr lvl="1"/>
            <a:r>
              <a:rPr lang="ru-RU" sz="2100" dirty="0"/>
              <a:t>Все еще доступно дообучение для отдельных задач</a:t>
            </a:r>
          </a:p>
          <a:p>
            <a:r>
              <a:rPr lang="en-US" sz="2500" dirty="0" err="1"/>
              <a:t>Для</a:t>
            </a:r>
            <a:r>
              <a:rPr lang="ru-RU" sz="2500" dirty="0"/>
              <a:t> </a:t>
            </a:r>
            <a:r>
              <a:rPr lang="ru-RU" sz="2500" dirty="0" err="1"/>
              <a:t>авторегрессионного</a:t>
            </a:r>
            <a:r>
              <a:rPr lang="ru-RU" sz="2500" dirty="0"/>
              <a:t> предсказания достаточно декодера и закодированный контекст</a:t>
            </a:r>
          </a:p>
          <a:p>
            <a:endParaRPr lang="ru-RU" sz="2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B63D47-E653-1B59-1915-0968E9136859}"/>
              </a:ext>
            </a:extLst>
          </p:cNvPr>
          <p:cNvSpPr txBox="1"/>
          <p:nvPr/>
        </p:nvSpPr>
        <p:spPr>
          <a:xfrm>
            <a:off x="5914894" y="6123543"/>
            <a:ext cx="6093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</a:t>
            </a:r>
            <a:r>
              <a:rPr lang="ru-RU" dirty="0" err="1"/>
              <a:t>fpppy</a:t>
            </a:r>
            <a:r>
              <a:rPr lang="ru-RU" dirty="0"/>
              <a:t>/</a:t>
            </a:r>
            <a:r>
              <a:rPr lang="ru-RU" dirty="0" err="1"/>
              <a:t>nbs</a:t>
            </a:r>
            <a:r>
              <a:rPr lang="ru-RU" dirty="0"/>
              <a:t>/15-foundation-models.html</a:t>
            </a:r>
          </a:p>
        </p:txBody>
      </p:sp>
    </p:spTree>
    <p:extLst>
      <p:ext uri="{BB962C8B-B14F-4D97-AF65-F5344CB8AC3E}">
        <p14:creationId xmlns:p14="http://schemas.microsoft.com/office/powerpoint/2010/main" val="2973193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9250" y="5687"/>
            <a:ext cx="11029950" cy="654049"/>
          </a:xfrm>
        </p:spPr>
        <p:txBody>
          <a:bodyPr>
            <a:normAutofit fontScale="90000"/>
          </a:bodyPr>
          <a:lstStyle/>
          <a:p>
            <a:r>
              <a:rPr lang="ru-RU" dirty="0"/>
              <a:t>Использование сокращенных трансформеров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294" y="497914"/>
            <a:ext cx="6010714" cy="3731856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400" b="1" dirty="0"/>
              <a:t>Decoder-only transformers</a:t>
            </a:r>
            <a:endParaRPr lang="ru-RU" sz="4400" b="1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4400" dirty="0"/>
              <a:t>autoregressive forecasting – </a:t>
            </a:r>
            <a:r>
              <a:rPr lang="ru-RU" sz="4400" dirty="0"/>
              <a:t>для дальних горизонтов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4400" dirty="0"/>
              <a:t>Masked/casual self-attention,</a:t>
            </a:r>
            <a:endParaRPr lang="ru-RU" sz="44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4400" dirty="0"/>
              <a:t>Вероятностное предсказание</a:t>
            </a:r>
            <a:endParaRPr lang="en-US" sz="44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4400" dirty="0"/>
              <a:t>Генеративный подход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4400" dirty="0"/>
              <a:t>Доступен </a:t>
            </a:r>
            <a:r>
              <a:rPr lang="en-US" sz="4400" dirty="0"/>
              <a:t>Zero-shot </a:t>
            </a:r>
            <a:r>
              <a:rPr lang="ru-RU" sz="4400" dirty="0"/>
              <a:t>и подключение </a:t>
            </a:r>
            <a:r>
              <a:rPr lang="ru-RU" sz="4400" dirty="0" err="1"/>
              <a:t>промпта</a:t>
            </a:r>
            <a:endParaRPr lang="ru-RU" sz="4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2200" dirty="0"/>
            </a:br>
            <a:endParaRPr lang="ru-RU" sz="22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459794" y="6596390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https://research.google/blog/a-decoder-only-foundation-model-for-time-series-forecasting/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/>
          <a:srcRect t="8349"/>
          <a:stretch/>
        </p:blipFill>
        <p:spPr>
          <a:xfrm>
            <a:off x="0" y="3532440"/>
            <a:ext cx="5607374" cy="3194755"/>
          </a:xfrm>
          <a:prstGeom prst="rect">
            <a:avLst/>
          </a:prstGeom>
        </p:spPr>
      </p:pic>
      <p:sp>
        <p:nvSpPr>
          <p:cNvPr id="9" name="Объект 2"/>
          <p:cNvSpPr txBox="1">
            <a:spLocks/>
          </p:cNvSpPr>
          <p:nvPr/>
        </p:nvSpPr>
        <p:spPr>
          <a:xfrm>
            <a:off x="5815669" y="497914"/>
            <a:ext cx="6376331" cy="42133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200" b="1" dirty="0"/>
              <a:t>Примеры </a:t>
            </a:r>
            <a:r>
              <a:rPr lang="en-US" sz="2200" b="1" dirty="0" err="1"/>
              <a:t>TimesFM</a:t>
            </a:r>
            <a:r>
              <a:rPr lang="en-US" sz="2200" b="1" dirty="0"/>
              <a:t>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200" dirty="0"/>
              <a:t>Выходной </a:t>
            </a:r>
            <a:r>
              <a:rPr lang="ru-RU" sz="2200" dirty="0" err="1"/>
              <a:t>патч</a:t>
            </a:r>
            <a:r>
              <a:rPr lang="ru-RU" sz="2200" dirty="0"/>
              <a:t> можно варьировать от 32 до 128 (шире входного </a:t>
            </a:r>
            <a:r>
              <a:rPr lang="ru-RU" sz="2200" dirty="0" err="1"/>
              <a:t>патча</a:t>
            </a:r>
            <a:r>
              <a:rPr lang="ru-RU" sz="2200" dirty="0"/>
              <a:t>)</a:t>
            </a:r>
            <a:endParaRPr lang="en-US" sz="22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200" dirty="0"/>
              <a:t> остаток идет в контекст семплов. ( шаг </a:t>
            </a:r>
            <a:r>
              <a:rPr lang="ru-RU" sz="2200" dirty="0" err="1"/>
              <a:t>авторегресси</a:t>
            </a:r>
            <a:r>
              <a:rPr lang="ru-RU" sz="2200" dirty="0"/>
              <a:t> 1 </a:t>
            </a:r>
            <a:r>
              <a:rPr lang="ru-RU" sz="2200" dirty="0" err="1"/>
              <a:t>патч</a:t>
            </a:r>
            <a:r>
              <a:rPr lang="ru-RU" sz="2200" dirty="0"/>
              <a:t>) </a:t>
            </a:r>
            <a:endParaRPr lang="en-US" sz="22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200" dirty="0"/>
              <a:t>Можно </a:t>
            </a:r>
            <a:r>
              <a:rPr lang="ru-RU" sz="2200" dirty="0" err="1"/>
              <a:t>ансаблить</a:t>
            </a:r>
            <a:r>
              <a:rPr lang="ru-RU" sz="2200" dirty="0"/>
              <a:t> предсказания разным размером </a:t>
            </a:r>
            <a:r>
              <a:rPr lang="ru-RU" sz="2200" dirty="0" err="1"/>
              <a:t>патча</a:t>
            </a:r>
            <a:endParaRPr lang="ru-RU" sz="22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200" dirty="0"/>
              <a:t>Self training</a:t>
            </a:r>
            <a:r>
              <a:rPr lang="ru-RU" sz="2200" dirty="0"/>
              <a:t> через маскировку семплов в </a:t>
            </a:r>
            <a:r>
              <a:rPr lang="ru-RU" sz="2200" dirty="0" err="1"/>
              <a:t>патче</a:t>
            </a:r>
            <a:endParaRPr lang="ru-RU" sz="22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200" dirty="0"/>
              <a:t>Доступен </a:t>
            </a:r>
            <a:r>
              <a:rPr lang="en-US" sz="2200" dirty="0"/>
              <a:t>Zero-shot</a:t>
            </a:r>
            <a:r>
              <a:rPr lang="ru-RU" sz="2200" dirty="0"/>
              <a:t>, вход и выход переменной длины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2200" dirty="0"/>
            </a:br>
            <a:r>
              <a:rPr lang="ru-RU" sz="2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631132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8420" y="365126"/>
            <a:ext cx="11175380" cy="816904"/>
          </a:xfrm>
        </p:spPr>
        <p:txBody>
          <a:bodyPr/>
          <a:lstStyle/>
          <a:p>
            <a:r>
              <a:rPr lang="ru-RU" dirty="0"/>
              <a:t>Некоторые модели </a:t>
            </a:r>
            <a:r>
              <a:rPr lang="en-US" dirty="0"/>
              <a:t>foundation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78420" y="6504056"/>
            <a:ext cx="383137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https://otexts.com/fpppy/nbs/15-foundation-models.html</a:t>
            </a:r>
          </a:p>
        </p:txBody>
      </p:sp>
      <p:graphicFrame>
        <p:nvGraphicFramePr>
          <p:cNvPr id="5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957444"/>
              </p:ext>
            </p:extLst>
          </p:nvPr>
        </p:nvGraphicFramePr>
        <p:xfrm>
          <a:off x="267629" y="1212808"/>
          <a:ext cx="11552663" cy="420368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08267">
                  <a:extLst>
                    <a:ext uri="{9D8B030D-6E8A-4147-A177-3AD203B41FA5}">
                      <a16:colId xmlns:a16="http://schemas.microsoft.com/office/drawing/2014/main" val="3249311741"/>
                    </a:ext>
                  </a:extLst>
                </a:gridCol>
                <a:gridCol w="4356552">
                  <a:extLst>
                    <a:ext uri="{9D8B030D-6E8A-4147-A177-3AD203B41FA5}">
                      <a16:colId xmlns:a16="http://schemas.microsoft.com/office/drawing/2014/main" val="4075952491"/>
                    </a:ext>
                  </a:extLst>
                </a:gridCol>
                <a:gridCol w="4938568">
                  <a:extLst>
                    <a:ext uri="{9D8B030D-6E8A-4147-A177-3AD203B41FA5}">
                      <a16:colId xmlns:a16="http://schemas.microsoft.com/office/drawing/2014/main" val="1485279407"/>
                    </a:ext>
                  </a:extLst>
                </a:gridCol>
                <a:gridCol w="949276">
                  <a:extLst>
                    <a:ext uri="{9D8B030D-6E8A-4147-A177-3AD203B41FA5}">
                      <a16:colId xmlns:a16="http://schemas.microsoft.com/office/drawing/2014/main" val="1073697996"/>
                    </a:ext>
                  </a:extLst>
                </a:gridCol>
              </a:tblGrid>
              <a:tr h="148576">
                <a:tc>
                  <a:txBody>
                    <a:bodyPr/>
                    <a:lstStyle/>
                    <a:p>
                      <a:r>
                        <a:rPr lang="ru-RU" sz="2200" dirty="0"/>
                        <a:t>Модель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ru-RU" sz="2200" dirty="0"/>
                        <a:t>Ключевые особенности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ru-RU" sz="2200" dirty="0"/>
                        <a:t>Применение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ru-RU" sz="2200" dirty="0"/>
                        <a:t>Год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1286795480"/>
                  </a:ext>
                </a:extLst>
              </a:tr>
              <a:tr h="144612">
                <a:tc>
                  <a:txBody>
                    <a:bodyPr/>
                    <a:lstStyle/>
                    <a:p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TimeGPT-1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Transformer (encoder-decoder),</a:t>
                      </a:r>
                      <a:r>
                        <a:rPr lang="en-US" sz="22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&gt;1B </a:t>
                      </a:r>
                      <a:r>
                        <a:rPr lang="ru-RU" sz="22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парамеров</a:t>
                      </a:r>
                      <a:r>
                        <a:rPr lang="ru-RU" sz="22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local positional encoding</a:t>
                      </a:r>
                      <a:endParaRPr lang="ru-RU" sz="22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200" dirty="0"/>
                        <a:t>Закрытая модель (</a:t>
                      </a:r>
                      <a:r>
                        <a:rPr lang="en-US" sz="2200" dirty="0"/>
                        <a:t>API)</a:t>
                      </a:r>
                      <a:r>
                        <a:rPr lang="ru-RU" sz="2200" baseline="0" dirty="0"/>
                        <a:t> для </a:t>
                      </a:r>
                      <a:r>
                        <a:rPr lang="ru-RU" sz="2200" baseline="0" dirty="0" err="1"/>
                        <a:t>деплоя</a:t>
                      </a:r>
                      <a:r>
                        <a:rPr lang="ru-RU" sz="2200" baseline="0" dirty="0"/>
                        <a:t>, </a:t>
                      </a:r>
                      <a:r>
                        <a:rPr lang="en-US" sz="2200" baseline="0" dirty="0"/>
                        <a:t>long horizon</a:t>
                      </a:r>
                      <a:endParaRPr lang="ru-RU" sz="22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200" dirty="0"/>
                        <a:t>2023</a:t>
                      </a:r>
                    </a:p>
                  </a:txBody>
                  <a:tcPr marL="23521" marR="23521" marT="11760" marB="11760" anchor="ctr"/>
                </a:tc>
                <a:extLst>
                  <a:ext uri="{0D108BD9-81ED-4DB2-BD59-A6C34878D82A}">
                    <a16:rowId xmlns:a16="http://schemas.microsoft.com/office/drawing/2014/main" val="520311545"/>
                  </a:ext>
                </a:extLst>
              </a:tr>
              <a:tr h="75278">
                <a:tc>
                  <a:txBody>
                    <a:bodyPr/>
                    <a:lstStyle/>
                    <a:p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TimesFM</a:t>
                      </a:r>
                      <a:endParaRPr lang="en-US" sz="2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decoder-only</a:t>
                      </a:r>
                      <a:r>
                        <a:rPr lang="ru-RU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переменные</a:t>
                      </a:r>
                      <a:r>
                        <a:rPr lang="ru-RU" sz="22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2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патчи</a:t>
                      </a:r>
                      <a:r>
                        <a:rPr lang="ru-RU" sz="22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ru-RU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200M </a:t>
                      </a:r>
                      <a:r>
                        <a:rPr lang="ru-RU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параметров</a:t>
                      </a:r>
                      <a:endParaRPr lang="ru-RU" sz="22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Zero-shot,</a:t>
                      </a:r>
                      <a:r>
                        <a:rPr lang="en-US" sz="2200" baseline="0" dirty="0"/>
                        <a:t> </a:t>
                      </a:r>
                      <a:r>
                        <a:rPr lang="ru-RU" sz="2200" baseline="0" dirty="0"/>
                        <a:t>средний горизонт</a:t>
                      </a:r>
                      <a:endParaRPr lang="ru-RU" sz="22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200" dirty="0"/>
                        <a:t>2024</a:t>
                      </a:r>
                    </a:p>
                  </a:txBody>
                  <a:tcPr marL="23521" marR="23521" marT="11760" marB="11760" anchor="ctr"/>
                </a:tc>
                <a:extLst>
                  <a:ext uri="{0D108BD9-81ED-4DB2-BD59-A6C34878D82A}">
                    <a16:rowId xmlns:a16="http://schemas.microsoft.com/office/drawing/2014/main" val="1960122855"/>
                  </a:ext>
                </a:extLst>
              </a:tr>
              <a:tr h="75278">
                <a:tc>
                  <a:txBody>
                    <a:bodyPr/>
                    <a:lstStyle/>
                    <a:p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Lag-Llama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decoder-only </a:t>
                      </a:r>
                      <a:r>
                        <a:rPr lang="ru-RU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лаги как </a:t>
                      </a:r>
                      <a:r>
                        <a:rPr lang="ru-RU" sz="2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ковариаты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(контекст),</a:t>
                      </a:r>
                      <a:r>
                        <a:rPr lang="ru-RU" sz="22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легковесная архитектура, вероятностные предсказания (</a:t>
                      </a:r>
                      <a:r>
                        <a:rPr lang="en-US" sz="22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&lt;150M)</a:t>
                      </a:r>
                      <a:r>
                        <a:rPr lang="ru-RU" sz="22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ru-RU" sz="22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короткие/средние ряды горизонты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fine-tune</a:t>
                      </a:r>
                      <a:endParaRPr lang="ru-RU" sz="22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200" dirty="0"/>
                        <a:t>2023</a:t>
                      </a:r>
                    </a:p>
                  </a:txBody>
                  <a:tcPr marL="23521" marR="23521" marT="11760" marB="11760" anchor="ctr"/>
                </a:tc>
                <a:extLst>
                  <a:ext uri="{0D108BD9-81ED-4DB2-BD59-A6C34878D82A}">
                    <a16:rowId xmlns:a16="http://schemas.microsoft.com/office/drawing/2014/main" val="308783238"/>
                  </a:ext>
                </a:extLst>
              </a:tr>
              <a:tr h="75278">
                <a:tc>
                  <a:txBody>
                    <a:bodyPr/>
                    <a:lstStyle/>
                    <a:p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Moria</a:t>
                      </a:r>
                      <a:endParaRPr lang="en-US" sz="2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Encoder-only,</a:t>
                      </a:r>
                      <a:r>
                        <a:rPr lang="en-US" sz="2200" baseline="0" dirty="0"/>
                        <a:t> 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mixture distribution</a:t>
                      </a:r>
                      <a:endParaRPr lang="en-US" sz="22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Предсказание, </a:t>
                      </a:r>
                      <a:r>
                        <a:rPr lang="ru-RU" sz="2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Детекция</a:t>
                      </a:r>
                      <a:r>
                        <a:rPr lang="ru-RU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аномалий</a:t>
                      </a:r>
                      <a:endParaRPr lang="ru-RU" sz="22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200" dirty="0"/>
                        <a:t>2023</a:t>
                      </a:r>
                    </a:p>
                  </a:txBody>
                  <a:tcPr marL="23521" marR="23521" marT="11760" marB="11760" anchor="ctr"/>
                </a:tc>
                <a:extLst>
                  <a:ext uri="{0D108BD9-81ED-4DB2-BD59-A6C34878D82A}">
                    <a16:rowId xmlns:a16="http://schemas.microsoft.com/office/drawing/2014/main" val="3704454812"/>
                  </a:ext>
                </a:extLst>
              </a:tr>
              <a:tr h="144612">
                <a:tc>
                  <a:txBody>
                    <a:bodyPr/>
                    <a:lstStyle/>
                    <a:p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Chornos</a:t>
                      </a:r>
                      <a:endParaRPr lang="en-US" sz="2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Decoder-only</a:t>
                      </a:r>
                      <a:r>
                        <a:rPr lang="ru-RU" sz="2200" dirty="0"/>
                        <a:t> </a:t>
                      </a:r>
                      <a:r>
                        <a:rPr lang="en-US" sz="2200" dirty="0"/>
                        <a:t>–</a:t>
                      </a:r>
                      <a:r>
                        <a:rPr lang="en-US" sz="2200" baseline="0" dirty="0"/>
                        <a:t> </a:t>
                      </a:r>
                      <a:r>
                        <a:rPr lang="ru-RU" sz="2200" baseline="0" dirty="0"/>
                        <a:t>ВР как текст, </a:t>
                      </a:r>
                      <a:r>
                        <a:rPr lang="en-US" sz="2200" baseline="0" dirty="0"/>
                        <a:t> (200M)</a:t>
                      </a:r>
                      <a:r>
                        <a:rPr lang="ru-RU" sz="2200" dirty="0"/>
                        <a:t>, 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Zero-shot,</a:t>
                      </a:r>
                      <a:r>
                        <a:rPr lang="en-US" sz="2200" baseline="0" dirty="0"/>
                        <a:t> </a:t>
                      </a:r>
                      <a:r>
                        <a:rPr lang="ru-RU" sz="2200" baseline="0" dirty="0"/>
                        <a:t>средний горизонт</a:t>
                      </a:r>
                      <a:endParaRPr lang="ru-RU" sz="22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200" dirty="0"/>
                        <a:t>2023</a:t>
                      </a:r>
                    </a:p>
                  </a:txBody>
                  <a:tcPr marL="23521" marR="23521" marT="11760" marB="11760" anchor="ctr"/>
                </a:tc>
                <a:extLst>
                  <a:ext uri="{0D108BD9-81ED-4DB2-BD59-A6C34878D82A}">
                    <a16:rowId xmlns:a16="http://schemas.microsoft.com/office/drawing/2014/main" val="3302619383"/>
                  </a:ext>
                </a:extLst>
              </a:tr>
              <a:tr h="144612">
                <a:tc>
                  <a:txBody>
                    <a:bodyPr/>
                    <a:lstStyle/>
                    <a:p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TTM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Tiny Time Mixers 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от</a:t>
                      </a:r>
                      <a:r>
                        <a:rPr lang="ru-RU" sz="18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1М</a:t>
                      </a:r>
                      <a:r>
                        <a:rPr lang="en-US" sz="18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параметров</a:t>
                      </a:r>
                      <a:endParaRPr lang="ru-RU" sz="22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Zero-shot in Poor</a:t>
                      </a:r>
                      <a:r>
                        <a:rPr lang="en-US" sz="2200" baseline="0" dirty="0"/>
                        <a:t> performance devices</a:t>
                      </a:r>
                      <a:endParaRPr lang="ru-RU" sz="22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2024</a:t>
                      </a:r>
                      <a:endParaRPr lang="ru-RU" sz="2200" dirty="0"/>
                    </a:p>
                  </a:txBody>
                  <a:tcPr marL="23521" marR="23521" marT="11760" marB="11760" anchor="ctr"/>
                </a:tc>
                <a:extLst>
                  <a:ext uri="{0D108BD9-81ED-4DB2-BD59-A6C34878D82A}">
                    <a16:rowId xmlns:a16="http://schemas.microsoft.com/office/drawing/2014/main" val="2067914610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4513370" y="6504056"/>
            <a:ext cx="261969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https://arxiv.org/pdf/2403.14735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7133062" y="6534834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https://readmedium.com/a-brief-history-of-time-series-models-38455c2cd78d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78420" y="6257835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https://mingjin.dev/other/kdd24-jin-time-series-foundation-models.pdf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629" y="5535016"/>
            <a:ext cx="89464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ru-RU" dirty="0"/>
              <a:t>бывают также диффузионные, </a:t>
            </a:r>
            <a:r>
              <a:rPr lang="en-US" dirty="0"/>
              <a:t>state-space-, </a:t>
            </a:r>
            <a:r>
              <a:rPr lang="ru-RU" dirty="0"/>
              <a:t>и другие типы экспериментальных моделей,</a:t>
            </a:r>
          </a:p>
          <a:p>
            <a:r>
              <a:rPr lang="ru-RU" dirty="0"/>
              <a:t>Также </a:t>
            </a:r>
            <a:r>
              <a:rPr lang="ru-RU" dirty="0" err="1"/>
              <a:t>мультимодальные</a:t>
            </a:r>
            <a:r>
              <a:rPr lang="ru-RU" dirty="0"/>
              <a:t>, и другие модели. </a:t>
            </a:r>
          </a:p>
        </p:txBody>
      </p:sp>
    </p:spTree>
    <p:extLst>
      <p:ext uri="{BB962C8B-B14F-4D97-AF65-F5344CB8AC3E}">
        <p14:creationId xmlns:p14="http://schemas.microsoft.com/office/powerpoint/2010/main" val="2987257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5036" y="86345"/>
            <a:ext cx="10515600" cy="917265"/>
          </a:xfrm>
        </p:spPr>
        <p:txBody>
          <a:bodyPr/>
          <a:lstStyle/>
          <a:p>
            <a:r>
              <a:rPr lang="ru-RU" b="1" dirty="0"/>
              <a:t>Когда использовать </a:t>
            </a:r>
            <a:r>
              <a:rPr lang="ru-RU" b="1" dirty="0" err="1"/>
              <a:t>Foundation</a:t>
            </a:r>
            <a:r>
              <a:rPr lang="ru-RU" b="1" dirty="0"/>
              <a:t> </a:t>
            </a:r>
            <a:r>
              <a:rPr lang="ru-RU" b="1" dirty="0" err="1"/>
              <a:t>Models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5687" y="1003610"/>
            <a:ext cx="11508059" cy="54975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/>
              <a:t>Преимущества:</a:t>
            </a:r>
          </a:p>
          <a:p>
            <a:r>
              <a:rPr lang="ru-RU" sz="2400" dirty="0"/>
              <a:t>Малые данные: эффективны при ограниченных исторических данных</a:t>
            </a:r>
          </a:p>
          <a:p>
            <a:r>
              <a:rPr lang="ru-RU" sz="2400" dirty="0"/>
              <a:t>Новые домены:</a:t>
            </a:r>
            <a:r>
              <a:rPr lang="en-US" sz="2400" dirty="0"/>
              <a:t> </a:t>
            </a:r>
            <a:r>
              <a:rPr lang="ru-RU" sz="2400" dirty="0"/>
              <a:t>быстрая адаптация к новым типам временных рядов</a:t>
            </a:r>
            <a:r>
              <a:rPr lang="en-US" sz="2400" dirty="0"/>
              <a:t> (</a:t>
            </a:r>
            <a:r>
              <a:rPr lang="ru-RU" sz="2400" dirty="0" err="1"/>
              <a:t>Cold</a:t>
            </a:r>
            <a:r>
              <a:rPr lang="ru-RU" sz="2400" dirty="0"/>
              <a:t> </a:t>
            </a:r>
            <a:r>
              <a:rPr lang="ru-RU" sz="2400" dirty="0" err="1"/>
              <a:t>start</a:t>
            </a:r>
            <a:r>
              <a:rPr lang="en-US" sz="2400" dirty="0"/>
              <a:t>)</a:t>
            </a:r>
            <a:endParaRPr lang="ru-RU" sz="2400" dirty="0"/>
          </a:p>
          <a:p>
            <a:r>
              <a:rPr lang="ru-RU" sz="2400" dirty="0"/>
              <a:t>Множественные задачи: одна модель для различных </a:t>
            </a:r>
            <a:r>
              <a:rPr lang="ru-RU" sz="2400" dirty="0" err="1"/>
              <a:t>forecasting</a:t>
            </a:r>
            <a:r>
              <a:rPr lang="ru-RU" sz="2400" dirty="0"/>
              <a:t> задач</a:t>
            </a:r>
          </a:p>
          <a:p>
            <a:pPr marL="0" indent="0">
              <a:buNone/>
            </a:pPr>
            <a:r>
              <a:rPr lang="ru-RU" sz="2400" b="1" dirty="0"/>
              <a:t>Ограничения:</a:t>
            </a:r>
          </a:p>
          <a:p>
            <a:r>
              <a:rPr lang="ru-RU" sz="2400" dirty="0"/>
              <a:t>Вычислительные требования: высокие требования к GPU/TPU</a:t>
            </a:r>
          </a:p>
          <a:p>
            <a:r>
              <a:rPr lang="ru-RU" sz="2400" dirty="0"/>
              <a:t>Интерпретируемость:</a:t>
            </a:r>
            <a:r>
              <a:rPr lang="en-US" sz="2400" dirty="0"/>
              <a:t> </a:t>
            </a:r>
            <a:r>
              <a:rPr lang="ru-RU" sz="2400" dirty="0"/>
              <a:t>сложно понять логику принятия решений</a:t>
            </a:r>
          </a:p>
          <a:p>
            <a:r>
              <a:rPr lang="ru-RU" sz="2400" dirty="0" err="1"/>
              <a:t>Domain</a:t>
            </a:r>
            <a:r>
              <a:rPr lang="ru-RU" sz="2400" dirty="0"/>
              <a:t> </a:t>
            </a:r>
            <a:r>
              <a:rPr lang="ru-RU" sz="2400" dirty="0" err="1"/>
              <a:t>expertise</a:t>
            </a:r>
            <a:r>
              <a:rPr lang="ru-RU" sz="2400" dirty="0"/>
              <a:t>: могут пропускать специфичные для домена знания</a:t>
            </a:r>
          </a:p>
          <a:p>
            <a:r>
              <a:rPr lang="ru-RU" sz="2400" dirty="0"/>
              <a:t>Калибровка неопределенности: сложность в оценке </a:t>
            </a:r>
            <a:r>
              <a:rPr lang="ru-RU" sz="2400" dirty="0" err="1"/>
              <a:t>confidence</a:t>
            </a:r>
            <a:r>
              <a:rPr lang="ru-RU" sz="2400" dirty="0"/>
              <a:t> </a:t>
            </a:r>
            <a:r>
              <a:rPr lang="ru-RU" sz="2400" dirty="0" err="1"/>
              <a:t>intervals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6110664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0639" y="1589176"/>
            <a:ext cx="5815361" cy="4351338"/>
          </a:xfrm>
        </p:spPr>
        <p:txBody>
          <a:bodyPr>
            <a:normAutofit fontScale="25000" lnSpcReduction="20000"/>
          </a:bodyPr>
          <a:lstStyle/>
          <a:p>
            <a:r>
              <a:rPr lang="ru-RU" b="1" dirty="0"/>
              <a:t>Новые ключевые разделы:</a:t>
            </a:r>
          </a:p>
          <a:p>
            <a:r>
              <a:rPr lang="ru-RU" sz="7200" b="1" dirty="0"/>
              <a:t>1. </a:t>
            </a:r>
            <a:r>
              <a:rPr lang="en-US" sz="7200" b="1" dirty="0"/>
              <a:t>Decoder-Only </a:t>
            </a:r>
            <a:r>
              <a:rPr lang="ru-RU" sz="7200" b="1" dirty="0"/>
              <a:t>архитектура</a:t>
            </a:r>
          </a:p>
          <a:p>
            <a:r>
              <a:rPr lang="ru-RU" sz="7200" dirty="0"/>
              <a:t>Принципы </a:t>
            </a:r>
            <a:r>
              <a:rPr lang="en-US" sz="7200" dirty="0"/>
              <a:t>causal modeling </a:t>
            </a:r>
            <a:r>
              <a:rPr lang="ru-RU" sz="7200" dirty="0"/>
              <a:t>с маскированием</a:t>
            </a:r>
          </a:p>
          <a:p>
            <a:r>
              <a:rPr lang="ru-RU" sz="7200" dirty="0"/>
              <a:t>Различие между </a:t>
            </a:r>
            <a:r>
              <a:rPr lang="en-US" sz="7200" dirty="0"/>
              <a:t>training </a:t>
            </a:r>
            <a:r>
              <a:rPr lang="ru-RU" sz="7200" dirty="0"/>
              <a:t>и </a:t>
            </a:r>
            <a:r>
              <a:rPr lang="en-US" sz="7200" dirty="0"/>
              <a:t>inference </a:t>
            </a:r>
            <a:r>
              <a:rPr lang="ru-RU" sz="7200" dirty="0"/>
              <a:t>режимами</a:t>
            </a:r>
          </a:p>
          <a:p>
            <a:r>
              <a:rPr lang="ru-RU" sz="7200" dirty="0"/>
              <a:t>Автоматическая генерация последовательности</a:t>
            </a:r>
          </a:p>
          <a:p>
            <a:r>
              <a:rPr lang="ru-RU" sz="7200" b="1" dirty="0"/>
              <a:t>2. </a:t>
            </a:r>
            <a:r>
              <a:rPr lang="en-US" sz="7200" b="1" dirty="0"/>
              <a:t>Foundation Models </a:t>
            </a:r>
            <a:r>
              <a:rPr lang="ru-RU" sz="7200" b="1" dirty="0"/>
              <a:t>для временных рядов</a:t>
            </a:r>
          </a:p>
          <a:p>
            <a:r>
              <a:rPr lang="ru-RU" sz="7200" b="1" dirty="0" err="1"/>
              <a:t>Токенизация</a:t>
            </a:r>
            <a:r>
              <a:rPr lang="ru-RU" sz="7200" b="1" dirty="0"/>
              <a:t>:</a:t>
            </a:r>
            <a:r>
              <a:rPr lang="ru-RU" sz="7200" dirty="0"/>
              <a:t> </a:t>
            </a:r>
            <a:r>
              <a:rPr lang="en-US" sz="7200" dirty="0"/>
              <a:t>Value binning, patch tokenization, scalar embedding</a:t>
            </a:r>
          </a:p>
          <a:p>
            <a:r>
              <a:rPr lang="en-US" sz="7200" b="1" dirty="0"/>
              <a:t>Multi-scale representation:</a:t>
            </a:r>
            <a:r>
              <a:rPr lang="en-US" sz="7200" dirty="0"/>
              <a:t> </a:t>
            </a:r>
            <a:r>
              <a:rPr lang="ru-RU" sz="7200" dirty="0"/>
              <a:t>обработка на разных временных масштабах</a:t>
            </a:r>
          </a:p>
          <a:p>
            <a:r>
              <a:rPr lang="en-US" sz="7200" b="1" dirty="0"/>
              <a:t>Cross-series attention:</a:t>
            </a:r>
            <a:r>
              <a:rPr lang="en-US" sz="7200" dirty="0"/>
              <a:t> </a:t>
            </a:r>
            <a:r>
              <a:rPr lang="ru-RU" sz="7200" dirty="0"/>
              <a:t>обмен информацией между рядами</a:t>
            </a:r>
          </a:p>
          <a:p>
            <a:r>
              <a:rPr lang="ru-RU" sz="7200" b="1" dirty="0"/>
              <a:t>3. Различные режимы работы</a:t>
            </a:r>
          </a:p>
          <a:p>
            <a:r>
              <a:rPr lang="en-US" sz="7200" b="1" dirty="0"/>
              <a:t>Pre-training:</a:t>
            </a:r>
            <a:r>
              <a:rPr lang="en-US" sz="7200" dirty="0"/>
              <a:t> </a:t>
            </a:r>
            <a:r>
              <a:rPr lang="ru-RU" sz="7200" dirty="0"/>
              <a:t>самообучение на больших корпусах данных</a:t>
            </a:r>
          </a:p>
          <a:p>
            <a:r>
              <a:rPr lang="en-US" sz="7200" b="1" dirty="0"/>
              <a:t>Fine-tuning:</a:t>
            </a:r>
            <a:r>
              <a:rPr lang="en-US" sz="7200" dirty="0"/>
              <a:t> </a:t>
            </a:r>
            <a:r>
              <a:rPr lang="ru-RU" sz="7200" dirty="0"/>
              <a:t>адаптация к конкретным задачам (</a:t>
            </a:r>
            <a:r>
              <a:rPr lang="en-US" sz="7200" dirty="0"/>
              <a:t>few-shot, </a:t>
            </a:r>
            <a:r>
              <a:rPr lang="en-US" sz="7200" dirty="0" err="1"/>
              <a:t>LoRA</a:t>
            </a:r>
            <a:r>
              <a:rPr lang="en-US" sz="7200" dirty="0"/>
              <a:t>, adapters)</a:t>
            </a:r>
          </a:p>
          <a:p>
            <a:r>
              <a:rPr lang="en-US" sz="7200" b="1" dirty="0"/>
              <a:t>Inference:</a:t>
            </a:r>
            <a:r>
              <a:rPr lang="en-US" sz="7200" dirty="0"/>
              <a:t> zero-shot, in-context learning, chain-of-thought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6096000" y="671691"/>
            <a:ext cx="6096000" cy="618630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4. </a:t>
            </a:r>
            <a:r>
              <a:rPr lang="ru-RU" b="1" dirty="0"/>
              <a:t>Продвинутые техники</a:t>
            </a:r>
          </a:p>
          <a:p>
            <a:r>
              <a:rPr lang="en-US" b="1" dirty="0"/>
              <a:t>Mixture of Experts (</a:t>
            </a:r>
            <a:r>
              <a:rPr lang="en-US" b="1" dirty="0" err="1"/>
              <a:t>MoE</a:t>
            </a:r>
            <a:r>
              <a:rPr lang="en-US" b="1" dirty="0"/>
              <a:t>):</a:t>
            </a:r>
            <a:r>
              <a:rPr lang="en-US" dirty="0"/>
              <a:t> </a:t>
            </a:r>
            <a:r>
              <a:rPr lang="ru-RU" dirty="0"/>
              <a:t>разные эксперты для разных типов рядов</a:t>
            </a:r>
          </a:p>
          <a:p>
            <a:r>
              <a:rPr lang="en-US" b="1" dirty="0"/>
              <a:t>Retrieval-Augmented Forecasting:</a:t>
            </a:r>
            <a:r>
              <a:rPr lang="en-US" dirty="0"/>
              <a:t> </a:t>
            </a:r>
            <a:r>
              <a:rPr lang="ru-RU" dirty="0"/>
              <a:t>использование похожих рядов из базы</a:t>
            </a:r>
          </a:p>
          <a:p>
            <a:r>
              <a:rPr lang="en-US" b="1" dirty="0"/>
              <a:t>Multi-Modal Integration:</a:t>
            </a:r>
            <a:r>
              <a:rPr lang="en-US" dirty="0"/>
              <a:t> </a:t>
            </a:r>
            <a:r>
              <a:rPr lang="ru-RU" dirty="0"/>
              <a:t>объединение числовых данных с текстом</a:t>
            </a:r>
          </a:p>
          <a:p>
            <a:r>
              <a:rPr lang="en-US" b="1" dirty="0"/>
              <a:t>Uncertainty Quantification:</a:t>
            </a:r>
            <a:r>
              <a:rPr lang="en-US" dirty="0"/>
              <a:t> </a:t>
            </a:r>
            <a:r>
              <a:rPr lang="ru-RU" dirty="0"/>
              <a:t>вероятностное прогнозирование</a:t>
            </a:r>
          </a:p>
          <a:p>
            <a:r>
              <a:rPr lang="ru-RU" b="1" dirty="0"/>
              <a:t>5. </a:t>
            </a:r>
            <a:r>
              <a:rPr lang="ru-RU" b="1" dirty="0" err="1"/>
              <a:t>Мультивариантные</a:t>
            </a:r>
            <a:r>
              <a:rPr lang="ru-RU" b="1" dirty="0"/>
              <a:t> ряды</a:t>
            </a:r>
          </a:p>
          <a:p>
            <a:r>
              <a:rPr lang="en-US" dirty="0"/>
              <a:t>Channel-independent processing</a:t>
            </a:r>
          </a:p>
          <a:p>
            <a:r>
              <a:rPr lang="en-US" dirty="0"/>
              <a:t>Interleaved channel processing</a:t>
            </a:r>
          </a:p>
          <a:p>
            <a:r>
              <a:rPr lang="en-US" dirty="0"/>
              <a:t>Cross-attention </a:t>
            </a:r>
            <a:r>
              <a:rPr lang="ru-RU" dirty="0"/>
              <a:t>между каналами</a:t>
            </a:r>
          </a:p>
          <a:p>
            <a:r>
              <a:rPr lang="ru-RU" b="1" dirty="0"/>
              <a:t>Особенности добавленного материала:</a:t>
            </a:r>
            <a:endParaRPr lang="ru-RU" dirty="0"/>
          </a:p>
          <a:p>
            <a:r>
              <a:rPr lang="ru-RU" dirty="0"/>
              <a:t>Конкретные примеры кода для каждого режима</a:t>
            </a:r>
          </a:p>
          <a:p>
            <a:r>
              <a:rPr lang="ru-RU" dirty="0"/>
              <a:t>Математические формулировки ключевых концепций</a:t>
            </a:r>
          </a:p>
          <a:p>
            <a:r>
              <a:rPr lang="ru-RU" dirty="0"/>
              <a:t>Практические стратегии реализации</a:t>
            </a:r>
          </a:p>
          <a:p>
            <a:r>
              <a:rPr lang="ru-RU" dirty="0"/>
              <a:t>Связь с современными </a:t>
            </a:r>
            <a:r>
              <a:rPr lang="en-US" dirty="0"/>
              <a:t>LLM (GPT-</a:t>
            </a:r>
            <a:r>
              <a:rPr lang="ru-RU" dirty="0"/>
              <a:t>подобные модели)</a:t>
            </a:r>
          </a:p>
          <a:p>
            <a:r>
              <a:rPr lang="ru-RU" dirty="0"/>
              <a:t>Теперь лекция покрывает полный спектр современных подходов - от базовых трансформеров до </a:t>
            </a:r>
            <a:r>
              <a:rPr lang="en-US" dirty="0"/>
              <a:t>foundation models </a:t>
            </a:r>
            <a:r>
              <a:rPr lang="ru-RU" dirty="0"/>
              <a:t>уровня </a:t>
            </a:r>
            <a:r>
              <a:rPr lang="en-US" dirty="0" err="1"/>
              <a:t>TimeGPT</a:t>
            </a:r>
            <a:r>
              <a:rPr lang="en-US" dirty="0"/>
              <a:t>. </a:t>
            </a:r>
            <a:r>
              <a:rPr lang="ru-RU" dirty="0"/>
              <a:t>Нужны ли дополнительные уточнения по каким-то аспектам?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79945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ru-RU" b="1" dirty="0"/>
              <a:t>Лучшие модели по категориям:</a:t>
            </a:r>
          </a:p>
          <a:p>
            <a:r>
              <a:rPr lang="ru-RU" b="1" dirty="0"/>
              <a:t>Для коротких временных рядов (&lt;100 точек):</a:t>
            </a:r>
          </a:p>
          <a:p>
            <a:r>
              <a:rPr lang="en-US" b="1" dirty="0"/>
              <a:t>ARIMA/Exponential Smoothing</a:t>
            </a:r>
            <a:r>
              <a:rPr lang="en-US" dirty="0"/>
              <a:t> - </a:t>
            </a:r>
            <a:r>
              <a:rPr lang="ru-RU" dirty="0"/>
              <a:t>статистические методы</a:t>
            </a:r>
          </a:p>
          <a:p>
            <a:r>
              <a:rPr lang="en-US" b="1" dirty="0"/>
              <a:t>Theta Model</a:t>
            </a:r>
            <a:r>
              <a:rPr lang="en-US" dirty="0"/>
              <a:t> - </a:t>
            </a:r>
            <a:r>
              <a:rPr lang="ru-RU" dirty="0"/>
              <a:t>простота и эффективность</a:t>
            </a:r>
          </a:p>
          <a:p>
            <a:r>
              <a:rPr lang="en-US" b="1" dirty="0"/>
              <a:t>Prophet</a:t>
            </a:r>
            <a:r>
              <a:rPr lang="en-US" dirty="0"/>
              <a:t> - </a:t>
            </a:r>
            <a:r>
              <a:rPr lang="ru-RU" dirty="0"/>
              <a:t>при наличии сезонности</a:t>
            </a:r>
          </a:p>
          <a:p>
            <a:r>
              <a:rPr lang="ru-RU" b="1" dirty="0"/>
              <a:t>Для средних временных рядов (100-1000 точек):</a:t>
            </a:r>
          </a:p>
          <a:p>
            <a:r>
              <a:rPr lang="en-US" b="1" dirty="0" err="1"/>
              <a:t>TSMixer</a:t>
            </a:r>
            <a:r>
              <a:rPr lang="en-US" dirty="0"/>
              <a:t> - </a:t>
            </a:r>
            <a:r>
              <a:rPr lang="ru-RU" dirty="0"/>
              <a:t>баланс качества и скорости</a:t>
            </a:r>
          </a:p>
          <a:p>
            <a:r>
              <a:rPr lang="en-US" b="1" dirty="0" err="1"/>
              <a:t>TiDE</a:t>
            </a:r>
            <a:r>
              <a:rPr lang="en-US" dirty="0"/>
              <a:t> - </a:t>
            </a:r>
            <a:r>
              <a:rPr lang="ru-RU" dirty="0"/>
              <a:t>при наличии </a:t>
            </a:r>
            <a:r>
              <a:rPr lang="en-US" dirty="0"/>
              <a:t>covariates</a:t>
            </a:r>
          </a:p>
          <a:p>
            <a:r>
              <a:rPr lang="en-US" b="1" dirty="0"/>
              <a:t>N-BEATS</a:t>
            </a:r>
            <a:r>
              <a:rPr lang="en-US" dirty="0"/>
              <a:t> - </a:t>
            </a:r>
            <a:r>
              <a:rPr lang="ru-RU" dirty="0"/>
              <a:t>для </a:t>
            </a:r>
            <a:r>
              <a:rPr lang="en-US" dirty="0"/>
              <a:t>univariate forecasting</a:t>
            </a:r>
          </a:p>
          <a:p>
            <a:r>
              <a:rPr lang="ru-RU" b="1" dirty="0"/>
              <a:t>Для длинных временных рядов (&gt;1000 точек):</a:t>
            </a:r>
          </a:p>
          <a:p>
            <a:r>
              <a:rPr lang="en-US" b="1" dirty="0" err="1"/>
              <a:t>PatchTST</a:t>
            </a:r>
            <a:r>
              <a:rPr lang="en-US" dirty="0"/>
              <a:t> - </a:t>
            </a:r>
            <a:r>
              <a:rPr lang="ru-RU" dirty="0"/>
              <a:t>эффективная обработка длинных последовательностей</a:t>
            </a:r>
          </a:p>
          <a:p>
            <a:r>
              <a:rPr lang="en-US" b="1" dirty="0"/>
              <a:t>Timer</a:t>
            </a:r>
            <a:r>
              <a:rPr lang="en-US" dirty="0"/>
              <a:t> - foundation model </a:t>
            </a:r>
            <a:r>
              <a:rPr lang="ru-RU" dirty="0"/>
              <a:t>подход</a:t>
            </a:r>
          </a:p>
          <a:p>
            <a:r>
              <a:rPr lang="en-US" b="1" dirty="0"/>
              <a:t>Lag-Llama</a:t>
            </a:r>
            <a:r>
              <a:rPr lang="en-US" dirty="0"/>
              <a:t> - </a:t>
            </a:r>
            <a:r>
              <a:rPr lang="ru-RU" dirty="0"/>
              <a:t>для </a:t>
            </a:r>
            <a:r>
              <a:rPr lang="en-US" dirty="0"/>
              <a:t>probabilistic forecasting</a:t>
            </a:r>
          </a:p>
          <a:p>
            <a:r>
              <a:rPr lang="ru-RU" b="1" dirty="0"/>
              <a:t>Для </a:t>
            </a:r>
            <a:r>
              <a:rPr lang="ru-RU" b="1" dirty="0" err="1"/>
              <a:t>мультивариантных</a:t>
            </a:r>
            <a:r>
              <a:rPr lang="ru-RU" b="1" dirty="0"/>
              <a:t> рядов с </a:t>
            </a:r>
            <a:r>
              <a:rPr lang="en-US" b="1" dirty="0"/>
              <a:t>covariates:</a:t>
            </a:r>
          </a:p>
          <a:p>
            <a:r>
              <a:rPr lang="en-US" b="1" dirty="0"/>
              <a:t>TFT</a:t>
            </a:r>
            <a:r>
              <a:rPr lang="en-US" dirty="0"/>
              <a:t> - </a:t>
            </a:r>
            <a:r>
              <a:rPr lang="ru-RU" dirty="0"/>
              <a:t>лучшая интерпретируемость</a:t>
            </a:r>
          </a:p>
          <a:p>
            <a:r>
              <a:rPr lang="en-US" b="1" dirty="0" err="1"/>
              <a:t>TiDE</a:t>
            </a:r>
            <a:r>
              <a:rPr lang="en-US" dirty="0"/>
              <a:t> - </a:t>
            </a:r>
            <a:r>
              <a:rPr lang="ru-RU" dirty="0"/>
              <a:t>эффективная обработка </a:t>
            </a:r>
            <a:r>
              <a:rPr lang="en-US" dirty="0"/>
              <a:t>covariates</a:t>
            </a:r>
          </a:p>
          <a:p>
            <a:r>
              <a:rPr lang="en-US" b="1" dirty="0" err="1"/>
              <a:t>TimeGPT</a:t>
            </a:r>
            <a:r>
              <a:rPr lang="en-US" dirty="0"/>
              <a:t> - foundation model </a:t>
            </a:r>
            <a:r>
              <a:rPr lang="ru-RU" dirty="0"/>
              <a:t>качество</a:t>
            </a:r>
          </a:p>
          <a:p>
            <a:r>
              <a:rPr lang="en-US" b="1" dirty="0"/>
              <a:t>Zero-shot </a:t>
            </a:r>
            <a:r>
              <a:rPr lang="ru-RU" b="1" dirty="0"/>
              <a:t>способности:</a:t>
            </a:r>
          </a:p>
          <a:p>
            <a:r>
              <a:rPr lang="en-US" b="1" dirty="0"/>
              <a:t>TimeGPT-1</a:t>
            </a:r>
            <a:r>
              <a:rPr lang="en-US" dirty="0"/>
              <a:t> - </a:t>
            </a:r>
            <a:r>
              <a:rPr lang="ru-RU" dirty="0"/>
              <a:t>коммерческое решение</a:t>
            </a:r>
          </a:p>
          <a:p>
            <a:r>
              <a:rPr lang="en-US" b="1" dirty="0" err="1"/>
              <a:t>Chronos</a:t>
            </a:r>
            <a:r>
              <a:rPr lang="en-US" dirty="0"/>
              <a:t> - open source </a:t>
            </a:r>
            <a:r>
              <a:rPr lang="ru-RU" dirty="0"/>
              <a:t>альтернатива</a:t>
            </a:r>
          </a:p>
          <a:p>
            <a:r>
              <a:rPr lang="en-US" b="1" dirty="0" err="1"/>
              <a:t>TimesFM</a:t>
            </a:r>
            <a:r>
              <a:rPr lang="en-US" dirty="0"/>
              <a:t> - Google </a:t>
            </a:r>
            <a:r>
              <a:rPr lang="ru-RU" dirty="0"/>
              <a:t>решение</a:t>
            </a:r>
          </a:p>
          <a:p>
            <a:r>
              <a:rPr lang="en-US" b="1" dirty="0"/>
              <a:t>MOIRAI</a:t>
            </a:r>
            <a:r>
              <a:rPr lang="en-US" dirty="0"/>
              <a:t> - Salesforce solution</a:t>
            </a:r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048000" y="-1049149"/>
            <a:ext cx="6096000" cy="895629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6. </a:t>
            </a:r>
            <a:r>
              <a:rPr lang="ru-RU" b="1" dirty="0"/>
              <a:t>Практические рекомендации</a:t>
            </a:r>
          </a:p>
          <a:p>
            <a:r>
              <a:rPr lang="ru-RU" b="1" dirty="0"/>
              <a:t>Выбор модели в зависимости от задачи:</a:t>
            </a:r>
          </a:p>
          <a:p>
            <a:r>
              <a:rPr lang="ru-RU" b="1" dirty="0"/>
              <a:t>Финансовые временные ряды:</a:t>
            </a:r>
          </a:p>
          <a:p>
            <a:r>
              <a:rPr lang="ru-RU" b="1" dirty="0"/>
              <a:t>Краткосрочные</a:t>
            </a:r>
            <a:r>
              <a:rPr lang="ru-RU" dirty="0"/>
              <a:t>: </a:t>
            </a:r>
            <a:r>
              <a:rPr lang="en-US" dirty="0"/>
              <a:t>GARCH, ARIMA-GARCH</a:t>
            </a:r>
          </a:p>
          <a:p>
            <a:r>
              <a:rPr lang="ru-RU" b="1" dirty="0"/>
              <a:t>Долгосрочные</a:t>
            </a:r>
            <a:r>
              <a:rPr lang="ru-RU" dirty="0"/>
              <a:t>: </a:t>
            </a:r>
            <a:r>
              <a:rPr lang="en-US" dirty="0"/>
              <a:t>TFT, Timer</a:t>
            </a:r>
          </a:p>
          <a:p>
            <a:r>
              <a:rPr lang="en-US" b="1" dirty="0"/>
              <a:t>High-frequency</a:t>
            </a:r>
            <a:r>
              <a:rPr lang="en-US" dirty="0"/>
              <a:t>: </a:t>
            </a:r>
            <a:r>
              <a:rPr lang="ru-RU" dirty="0"/>
              <a:t>Специализированные модели</a:t>
            </a:r>
          </a:p>
          <a:p>
            <a:r>
              <a:rPr lang="ru-RU" b="1" dirty="0"/>
              <a:t>Энергетика и </a:t>
            </a:r>
            <a:r>
              <a:rPr lang="en-US" b="1" dirty="0" err="1"/>
              <a:t>IoT</a:t>
            </a:r>
            <a:r>
              <a:rPr lang="en-US" b="1" dirty="0"/>
              <a:t>:</a:t>
            </a:r>
          </a:p>
          <a:p>
            <a:r>
              <a:rPr lang="ru-RU" b="1" dirty="0"/>
              <a:t>Нагрузочные прогнозы</a:t>
            </a:r>
            <a:r>
              <a:rPr lang="ru-RU" dirty="0"/>
              <a:t>: </a:t>
            </a:r>
            <a:r>
              <a:rPr lang="en-US" dirty="0" err="1"/>
              <a:t>TiDE</a:t>
            </a:r>
            <a:r>
              <a:rPr lang="en-US" dirty="0"/>
              <a:t>, </a:t>
            </a:r>
            <a:r>
              <a:rPr lang="en-US" dirty="0" err="1"/>
              <a:t>TSMixer</a:t>
            </a:r>
            <a:endParaRPr lang="en-US" dirty="0"/>
          </a:p>
          <a:p>
            <a:r>
              <a:rPr lang="en-US" b="1" dirty="0"/>
              <a:t>Renewable energy</a:t>
            </a:r>
            <a:r>
              <a:rPr lang="en-US" dirty="0"/>
              <a:t>: TFT </a:t>
            </a:r>
            <a:r>
              <a:rPr lang="ru-RU" dirty="0"/>
              <a:t>с </a:t>
            </a:r>
            <a:r>
              <a:rPr lang="en-US" dirty="0"/>
              <a:t>weather covariates</a:t>
            </a:r>
          </a:p>
          <a:p>
            <a:r>
              <a:rPr lang="en-US" b="1" dirty="0"/>
              <a:t>Demand forecasting</a:t>
            </a:r>
            <a:r>
              <a:rPr lang="en-US" dirty="0"/>
              <a:t>: N-BEATS, ESRNN</a:t>
            </a:r>
          </a:p>
          <a:p>
            <a:r>
              <a:rPr lang="en-US" b="1" dirty="0"/>
              <a:t>E-commerce </a:t>
            </a:r>
            <a:r>
              <a:rPr lang="ru-RU" b="1" dirty="0"/>
              <a:t>и </a:t>
            </a:r>
            <a:r>
              <a:rPr lang="en-US" b="1" dirty="0"/>
              <a:t>retail:</a:t>
            </a:r>
          </a:p>
          <a:p>
            <a:r>
              <a:rPr lang="ru-RU" b="1" dirty="0"/>
              <a:t>Продажи с сезонностью</a:t>
            </a:r>
            <a:r>
              <a:rPr lang="ru-RU" dirty="0"/>
              <a:t>: </a:t>
            </a:r>
            <a:r>
              <a:rPr lang="en-US" dirty="0"/>
              <a:t>Prophet, TFT</a:t>
            </a:r>
          </a:p>
          <a:p>
            <a:r>
              <a:rPr lang="en-US" b="1" dirty="0"/>
              <a:t>Hierarchical forecasting</a:t>
            </a:r>
            <a:r>
              <a:rPr lang="en-US" dirty="0"/>
              <a:t>: ESRNN approach</a:t>
            </a:r>
          </a:p>
          <a:p>
            <a:r>
              <a:rPr lang="en-US" b="1" dirty="0"/>
              <a:t>Promotional effects</a:t>
            </a:r>
            <a:r>
              <a:rPr lang="en-US" dirty="0"/>
              <a:t>: </a:t>
            </a:r>
            <a:r>
              <a:rPr lang="en-US" dirty="0" err="1"/>
              <a:t>TiDE</a:t>
            </a:r>
            <a:r>
              <a:rPr lang="en-US" dirty="0"/>
              <a:t> </a:t>
            </a:r>
            <a:r>
              <a:rPr lang="ru-RU" dirty="0"/>
              <a:t>с </a:t>
            </a:r>
            <a:r>
              <a:rPr lang="en-US" dirty="0"/>
              <a:t>event covariates</a:t>
            </a:r>
          </a:p>
          <a:p>
            <a:r>
              <a:rPr lang="ru-RU" b="1" dirty="0"/>
              <a:t>Здравоохранение:</a:t>
            </a:r>
          </a:p>
          <a:p>
            <a:r>
              <a:rPr lang="ru-RU" b="1" dirty="0"/>
              <a:t>Эпидемиологические модели</a:t>
            </a:r>
            <a:r>
              <a:rPr lang="ru-RU" dirty="0"/>
              <a:t>: </a:t>
            </a:r>
            <a:r>
              <a:rPr lang="en-US" dirty="0"/>
              <a:t>Compartmental + NN</a:t>
            </a:r>
          </a:p>
          <a:p>
            <a:r>
              <a:rPr lang="en-US" b="1" dirty="0"/>
              <a:t>Vital signs monitoring</a:t>
            </a:r>
            <a:r>
              <a:rPr lang="en-US" dirty="0"/>
              <a:t>: </a:t>
            </a:r>
            <a:r>
              <a:rPr lang="ru-RU" dirty="0"/>
              <a:t>Специализированные подходы</a:t>
            </a:r>
          </a:p>
          <a:p>
            <a:r>
              <a:rPr lang="en-US" b="1" dirty="0"/>
              <a:t>Drug demand</a:t>
            </a:r>
            <a:r>
              <a:rPr lang="en-US" dirty="0"/>
              <a:t>: Traditional + ML hybrid</a:t>
            </a:r>
          </a:p>
          <a:p>
            <a:r>
              <a:rPr lang="en-US" b="1" dirty="0"/>
              <a:t>7. </a:t>
            </a:r>
            <a:r>
              <a:rPr lang="ru-RU" b="1" dirty="0"/>
              <a:t>Будущие направления развития</a:t>
            </a:r>
          </a:p>
          <a:p>
            <a:r>
              <a:rPr lang="ru-RU" b="1" dirty="0"/>
              <a:t>Архитектурные инновации:</a:t>
            </a:r>
          </a:p>
          <a:p>
            <a:r>
              <a:rPr lang="en-US" b="1" dirty="0"/>
              <a:t>Mamba/State Space Models</a:t>
            </a:r>
            <a:r>
              <a:rPr lang="en-US" dirty="0"/>
              <a:t>: </a:t>
            </a:r>
            <a:r>
              <a:rPr lang="ru-RU" dirty="0"/>
              <a:t>Линейная сложность</a:t>
            </a:r>
          </a:p>
          <a:p>
            <a:r>
              <a:rPr lang="en-US" b="1" dirty="0"/>
              <a:t>Liquid Neural Networks</a:t>
            </a:r>
            <a:r>
              <a:rPr lang="en-US" dirty="0"/>
              <a:t>: </a:t>
            </a:r>
            <a:r>
              <a:rPr lang="ru-RU" dirty="0"/>
              <a:t>Адаптивность</a:t>
            </a:r>
          </a:p>
          <a:p>
            <a:r>
              <a:rPr lang="en-US" b="1" dirty="0"/>
              <a:t>Kolmogorov-Arnold Networks</a:t>
            </a:r>
            <a:r>
              <a:rPr lang="en-US" dirty="0"/>
              <a:t>: </a:t>
            </a:r>
            <a:r>
              <a:rPr lang="ru-RU" dirty="0"/>
              <a:t>Новая парадигма</a:t>
            </a:r>
          </a:p>
          <a:p>
            <a:r>
              <a:rPr lang="ru-RU" b="1" dirty="0"/>
              <a:t>Методологические улучшения:</a:t>
            </a:r>
          </a:p>
          <a:p>
            <a:r>
              <a:rPr lang="en-US" b="1" dirty="0"/>
              <a:t>Multi-modal fusion</a:t>
            </a:r>
            <a:r>
              <a:rPr lang="en-US" dirty="0"/>
              <a:t>: </a:t>
            </a:r>
            <a:r>
              <a:rPr lang="ru-RU" dirty="0"/>
              <a:t>Интеграция текста, изображений</a:t>
            </a:r>
          </a:p>
          <a:p>
            <a:r>
              <a:rPr lang="en-US" b="1" dirty="0"/>
              <a:t>Causal discovery</a:t>
            </a:r>
            <a:r>
              <a:rPr lang="en-US" dirty="0"/>
              <a:t>: </a:t>
            </a:r>
            <a:r>
              <a:rPr lang="ru-RU" dirty="0"/>
              <a:t>Причинно-следственные связи</a:t>
            </a:r>
          </a:p>
          <a:p>
            <a:r>
              <a:rPr lang="en-US" b="1" dirty="0"/>
              <a:t>Uncertainty quantification</a:t>
            </a:r>
            <a:r>
              <a:rPr lang="en-US" dirty="0"/>
              <a:t>: </a:t>
            </a:r>
            <a:r>
              <a:rPr lang="ru-RU" dirty="0"/>
              <a:t>Улучшенная оценка неопределенности</a:t>
            </a:r>
          </a:p>
          <a:p>
            <a:r>
              <a:rPr lang="ru-RU" b="1" dirty="0"/>
              <a:t>Практические аспекты:</a:t>
            </a:r>
          </a:p>
          <a:p>
            <a:r>
              <a:rPr lang="en-US" b="1" dirty="0"/>
              <a:t>Edge deployment</a:t>
            </a:r>
            <a:r>
              <a:rPr lang="en-US" dirty="0"/>
              <a:t>: </a:t>
            </a:r>
            <a:r>
              <a:rPr lang="ru-RU" dirty="0"/>
              <a:t>Модели для </a:t>
            </a:r>
            <a:r>
              <a:rPr lang="en-US" dirty="0" err="1"/>
              <a:t>IoT</a:t>
            </a:r>
            <a:r>
              <a:rPr lang="en-US" dirty="0"/>
              <a:t> </a:t>
            </a:r>
            <a:r>
              <a:rPr lang="ru-RU" dirty="0"/>
              <a:t>устройств</a:t>
            </a:r>
          </a:p>
          <a:p>
            <a:r>
              <a:rPr lang="en-US" b="1" dirty="0"/>
              <a:t>Federated learning</a:t>
            </a:r>
            <a:r>
              <a:rPr lang="en-US" dirty="0"/>
              <a:t>: </a:t>
            </a:r>
            <a:r>
              <a:rPr lang="ru-RU" dirty="0"/>
              <a:t>Приватность данных</a:t>
            </a:r>
          </a:p>
          <a:p>
            <a:r>
              <a:rPr lang="en-US" b="1" dirty="0" err="1"/>
              <a:t>AutoML</a:t>
            </a:r>
            <a:r>
              <a:rPr lang="en-US" b="1" dirty="0"/>
              <a:t> for time series</a:t>
            </a:r>
            <a:r>
              <a:rPr lang="en-US" dirty="0"/>
              <a:t>: </a:t>
            </a:r>
            <a:r>
              <a:rPr lang="ru-RU" dirty="0"/>
              <a:t>Автоматизация выбора моделей</a:t>
            </a:r>
          </a:p>
        </p:txBody>
      </p:sp>
    </p:spTree>
    <p:extLst>
      <p:ext uri="{BB962C8B-B14F-4D97-AF65-F5344CB8AC3E}">
        <p14:creationId xmlns:p14="http://schemas.microsoft.com/office/powerpoint/2010/main" val="31422470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9059</TotalTime>
  <Words>3528</Words>
  <Application>Microsoft Macintosh PowerPoint</Application>
  <PresentationFormat>Широкоэкранный</PresentationFormat>
  <Paragraphs>489</Paragraphs>
  <Slides>24</Slides>
  <Notes>18</Notes>
  <HiddenSlides>3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3" baseType="lpstr">
      <vt:lpstr>Aptos</vt:lpstr>
      <vt:lpstr>Arial</vt:lpstr>
      <vt:lpstr>Calibri</vt:lpstr>
      <vt:lpstr>Calibri Light</vt:lpstr>
      <vt:lpstr>Cambria Math</vt:lpstr>
      <vt:lpstr>Helvetica Neue</vt:lpstr>
      <vt:lpstr>Menlo</vt:lpstr>
      <vt:lpstr>system-ui</vt:lpstr>
      <vt:lpstr>Тема Office</vt:lpstr>
      <vt:lpstr>Использование методов глубокого обучения в анализе временных рядов</vt:lpstr>
      <vt:lpstr>Особенности RNN в режиме Seq2Seq</vt:lpstr>
      <vt:lpstr>Особенности RNN в режиме Seq2Seq</vt:lpstr>
      <vt:lpstr>Особенности RNN в режиме Seq2Seq</vt:lpstr>
      <vt:lpstr>Особенности блока внимания Seq2Seq</vt:lpstr>
      <vt:lpstr>Пример работы слоя внимания Encoder-decoder</vt:lpstr>
      <vt:lpstr>Особенности RNN в режиме одного блока</vt:lpstr>
      <vt:lpstr>Сеть с вниманием. Многоголовое внимание</vt:lpstr>
      <vt:lpstr>Идеи перехода от RNN к авторегрессии</vt:lpstr>
      <vt:lpstr>Идеи перехода от RNN к авторегрессии</vt:lpstr>
      <vt:lpstr>Идеи архитектуры Трансформер. Encoder</vt:lpstr>
      <vt:lpstr>Идеи архитектуры Трансформер. Encoder</vt:lpstr>
      <vt:lpstr>Идеи архитектуры Трансформер. Decoder</vt:lpstr>
      <vt:lpstr>Идеи архитектуры Трансформер. Decoder</vt:lpstr>
      <vt:lpstr>Архитектуры Энкодер-Декодер</vt:lpstr>
      <vt:lpstr>Использование сокращенных трансформеров</vt:lpstr>
      <vt:lpstr>Модели трансформеры </vt:lpstr>
      <vt:lpstr>Некоторые модели трансформеры</vt:lpstr>
      <vt:lpstr>Гипотезы:  </vt:lpstr>
      <vt:lpstr>Использование сокращенных трансформеров</vt:lpstr>
      <vt:lpstr>Некоторые модели foundation</vt:lpstr>
      <vt:lpstr>Когда использовать Foundation Models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AutoRegressive Moving Average models</dc:title>
  <dc:creator>Ронкин Михаил Владимирович</dc:creator>
  <cp:lastModifiedBy>Ронкин Михаил Владимирович</cp:lastModifiedBy>
  <cp:revision>420</cp:revision>
  <dcterms:created xsi:type="dcterms:W3CDTF">2021-11-21T16:45:21Z</dcterms:created>
  <dcterms:modified xsi:type="dcterms:W3CDTF">2026-05-29T17:25:46Z</dcterms:modified>
</cp:coreProperties>
</file>