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9"/>
  </p:notesMasterIdLst>
  <p:sldIdLst>
    <p:sldId id="256" r:id="rId2"/>
    <p:sldId id="322" r:id="rId3"/>
    <p:sldId id="375" r:id="rId4"/>
    <p:sldId id="382" r:id="rId5"/>
    <p:sldId id="385" r:id="rId6"/>
    <p:sldId id="387" r:id="rId7"/>
    <p:sldId id="366" r:id="rId8"/>
    <p:sldId id="386" r:id="rId9"/>
    <p:sldId id="392" r:id="rId10"/>
    <p:sldId id="389" r:id="rId11"/>
    <p:sldId id="383" r:id="rId12"/>
    <p:sldId id="377" r:id="rId13"/>
    <p:sldId id="391" r:id="rId14"/>
    <p:sldId id="431" r:id="rId15"/>
    <p:sldId id="452" r:id="rId16"/>
    <p:sldId id="442" r:id="rId17"/>
    <p:sldId id="449" r:id="rId18"/>
    <p:sldId id="441" r:id="rId19"/>
    <p:sldId id="450" r:id="rId20"/>
    <p:sldId id="447" r:id="rId21"/>
    <p:sldId id="448" r:id="rId22"/>
    <p:sldId id="453" r:id="rId23"/>
    <p:sldId id="440" r:id="rId24"/>
    <p:sldId id="451" r:id="rId25"/>
    <p:sldId id="437" r:id="rId26"/>
    <p:sldId id="438" r:id="rId27"/>
    <p:sldId id="43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814" autoAdjust="0"/>
    <p:restoredTop sz="94795"/>
  </p:normalViewPr>
  <p:slideViewPr>
    <p:cSldViewPr snapToGrid="0">
      <p:cViewPr varScale="1">
        <p:scale>
          <a:sx n="130" d="100"/>
          <a:sy n="130" d="100"/>
        </p:scale>
        <p:origin x="42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12.02.2026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a:t>
            </a:fld>
            <a:endParaRPr lang="ru-RU"/>
          </a:p>
        </p:txBody>
      </p:sp>
    </p:spTree>
    <p:extLst>
      <p:ext uri="{BB962C8B-B14F-4D97-AF65-F5344CB8AC3E}">
        <p14:creationId xmlns:p14="http://schemas.microsoft.com/office/powerpoint/2010/main" val="449041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18</a:t>
            </a:fld>
            <a:endParaRPr lang="ru-RU"/>
          </a:p>
        </p:txBody>
      </p:sp>
    </p:spTree>
    <p:extLst>
      <p:ext uri="{BB962C8B-B14F-4D97-AF65-F5344CB8AC3E}">
        <p14:creationId xmlns:p14="http://schemas.microsoft.com/office/powerpoint/2010/main" val="95164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23</a:t>
            </a:fld>
            <a:endParaRPr lang="ru-RU"/>
          </a:p>
        </p:txBody>
      </p:sp>
    </p:spTree>
    <p:extLst>
      <p:ext uri="{BB962C8B-B14F-4D97-AF65-F5344CB8AC3E}">
        <p14:creationId xmlns:p14="http://schemas.microsoft.com/office/powerpoint/2010/main" val="1627487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24</a:t>
            </a:fld>
            <a:endParaRPr lang="ru-RU"/>
          </a:p>
        </p:txBody>
      </p:sp>
    </p:spTree>
    <p:extLst>
      <p:ext uri="{BB962C8B-B14F-4D97-AF65-F5344CB8AC3E}">
        <p14:creationId xmlns:p14="http://schemas.microsoft.com/office/powerpoint/2010/main" val="1266357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12.02.2026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12.02.2026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12.02.2026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12.02.2026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12.02.2026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12.02.2026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12.02.2026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12.02.2026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12.02.2026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12.02.2026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12.02.2026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12.02.2026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8.xml.rels><?xml version="1.0" encoding="UTF-8" standalone="yes"?>
<Relationships xmlns="http://schemas.openxmlformats.org/package/2006/relationships"><Relationship Id="rId3" Type="http://schemas.openxmlformats.org/officeDocument/2006/relationships/hyperlink" Target="https://people.duke.edu/~rnau/411rand.htrandom" TargetMode="External"/><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280.png"/></Relationships>
</file>

<file path=ppt/slides/_rels/slide9.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3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31.png"/><Relationship Id="rId1" Type="http://schemas.openxmlformats.org/officeDocument/2006/relationships/slideLayout" Target="../slideLayouts/slideLayout2.xml"/><Relationship Id="rId4" Type="http://schemas.openxmlformats.org/officeDocument/2006/relationships/image" Target="../media/image341.png"/></Relationships>
</file>

<file path=ppt/slides/_rels/slide1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20.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8"/>
            <a:ext cx="10932920" cy="4871531"/>
          </a:xfrm>
        </p:spPr>
        <p:txBody>
          <a:bodyPr>
            <a:normAutofit/>
          </a:bodyPr>
          <a:lstStyle/>
          <a:p>
            <a:r>
              <a:rPr lang="ru-RU" sz="8000" dirty="0" smtClean="0"/>
              <a:t>Модели ВР </a:t>
            </a:r>
            <a:br>
              <a:rPr lang="ru-RU" sz="8000" dirty="0" smtClean="0"/>
            </a:b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431011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97971" y="914401"/>
                <a:ext cx="11386458" cy="5807074"/>
              </a:xfrm>
            </p:spPr>
            <p:txBody>
              <a:bodyPr>
                <a:normAutofit/>
              </a:bodyPr>
              <a:lstStyle/>
              <a:p>
                <a:r>
                  <a:rPr lang="ru-RU" sz="2400" b="1" dirty="0"/>
                  <a:t>Модель временного ряда</a:t>
                </a:r>
                <a:r>
                  <a:rPr lang="ru-RU" sz="2400" dirty="0"/>
                  <a:t> </a:t>
                </a:r>
                <a14:m>
                  <m:oMath xmlns:m="http://schemas.openxmlformats.org/officeDocument/2006/math">
                    <m:r>
                      <a:rPr lang="en-US" sz="2400" i="1">
                        <a:latin typeface="Cambria Math" panose="02040503050406030204" pitchFamily="18" charset="0"/>
                      </a:rPr>
                      <m:t>𝑦</m:t>
                    </m:r>
                  </m:oMath>
                </a14:m>
                <a:r>
                  <a:rPr lang="en-US" sz="2400" dirty="0"/>
                  <a:t> </a:t>
                </a:r>
                <a:r>
                  <a:rPr lang="ru-RU" sz="2400" dirty="0"/>
                  <a:t>- это формализованная зависимость совместного распределения вероятностей значений модели </a:t>
                </a:r>
                <a14:m>
                  <m:oMath xmlns:m="http://schemas.openxmlformats.org/officeDocument/2006/math">
                    <m:r>
                      <a:rPr lang="en-US" sz="2400" i="1">
                        <a:latin typeface="Cambria Math" panose="02040503050406030204" pitchFamily="18" charset="0"/>
                      </a:rPr>
                      <m:t>𝑦</m:t>
                    </m:r>
                  </m:oMath>
                </a14:m>
                <a:r>
                  <a:rPr lang="ru-RU" sz="2400" dirty="0"/>
                  <a:t> по временным шагам </a:t>
                </a:r>
                <a14:m>
                  <m:oMath xmlns:m="http://schemas.openxmlformats.org/officeDocument/2006/math">
                    <m:r>
                      <a:rPr lang="en-US" sz="2400" i="1">
                        <a:latin typeface="Cambria Math" panose="02040503050406030204" pitchFamily="18" charset="0"/>
                      </a:rPr>
                      <m:t>𝑛</m:t>
                    </m:r>
                  </m:oMath>
                </a14:m>
                <a:r>
                  <a:rPr lang="ru-RU" sz="2400" dirty="0"/>
                  <a:t>. </a:t>
                </a:r>
              </a:p>
              <a:p>
                <a:endParaRPr lang="ru-RU"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97971" y="914401"/>
                <a:ext cx="11386458" cy="5807074"/>
              </a:xfrm>
              <a:blipFill>
                <a:blip r:embed="rId2"/>
                <a:stretch>
                  <a:fillRect l="-696" t="-146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48B3CEE1-A962-8910-6AEB-486FD3DA0285}"/>
              </a:ext>
            </a:extLst>
          </p:cNvPr>
          <p:cNvSpPr>
            <a:spLocks noGrp="1"/>
          </p:cNvSpPr>
          <p:nvPr>
            <p:ph type="sldNum" sz="quarter" idx="12"/>
          </p:nvPr>
        </p:nvSpPr>
        <p:spPr/>
        <p:txBody>
          <a:bodyPr/>
          <a:lstStyle/>
          <a:p>
            <a:fld id="{45C3B737-A709-4ABC-AFE0-A6B067850C48}" type="slidenum">
              <a:rPr lang="en-US" smtClean="0"/>
              <a:t>2</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7170" name="Picture 2" descr="Seasonal decomposition of your time-series — pmdarima 2.0.4 documentation">
            <a:extLst>
              <a:ext uri="{FF2B5EF4-FFF2-40B4-BE49-F238E27FC236}">
                <a16:creationId xmlns:a16="http://schemas.microsoft.com/office/drawing/2014/main" id="{DE7A8E46-9656-E0B6-D253-50B8EF0313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19"/>
          <a:stretch>
            <a:fillRect/>
          </a:stretch>
        </p:blipFill>
        <p:spPr bwMode="auto">
          <a:xfrm>
            <a:off x="166006" y="1741290"/>
            <a:ext cx="5007429" cy="461085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electrical equipment orders (top) and its three additive components.">
            <a:extLst>
              <a:ext uri="{FF2B5EF4-FFF2-40B4-BE49-F238E27FC236}">
                <a16:creationId xmlns:a16="http://schemas.microsoft.com/office/drawing/2014/main" id="{9B2C5190-5F42-9F10-9257-E3E62F8754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1034" y="1819183"/>
            <a:ext cx="4802188" cy="43201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DF9B92-7B2B-4FC3-AEBE-974BAE8F6907}"/>
              </a:ext>
            </a:extLst>
          </p:cNvPr>
          <p:cNvSpPr txBox="1"/>
          <p:nvPr/>
        </p:nvSpPr>
        <p:spPr>
          <a:xfrm>
            <a:off x="5475514" y="6151211"/>
            <a:ext cx="4955358" cy="369332"/>
          </a:xfrm>
          <a:prstGeom prst="rect">
            <a:avLst/>
          </a:prstGeom>
          <a:noFill/>
        </p:spPr>
        <p:txBody>
          <a:bodyPr wrap="square">
            <a:spAutoFit/>
          </a:bodyPr>
          <a:lstStyle/>
          <a:p>
            <a:r>
              <a:rPr lang="ru-RU" dirty="0" err="1"/>
              <a:t>https</a:t>
            </a:r>
            <a:r>
              <a:rPr lang="ru-RU" dirty="0"/>
              <a:t>://</a:t>
            </a:r>
            <a:r>
              <a:rPr lang="ru-RU" dirty="0" err="1"/>
              <a:t>otexts.com</a:t>
            </a:r>
            <a:r>
              <a:rPr lang="ru-RU" dirty="0"/>
              <a:t>/fpp2/</a:t>
            </a:r>
            <a:r>
              <a:rPr lang="ru-RU" dirty="0" err="1"/>
              <a:t>components.html</a:t>
            </a:r>
            <a:endParaRPr lang="ru-RU" dirty="0"/>
          </a:p>
        </p:txBody>
      </p:sp>
      <p:sp>
        <p:nvSpPr>
          <p:cNvPr id="12" name="TextBox 11">
            <a:extLst>
              <a:ext uri="{FF2B5EF4-FFF2-40B4-BE49-F238E27FC236}">
                <a16:creationId xmlns:a16="http://schemas.microsoft.com/office/drawing/2014/main" id="{5084A1D0-4555-97F9-61AA-E2380116A9C4}"/>
              </a:ext>
            </a:extLst>
          </p:cNvPr>
          <p:cNvSpPr txBox="1"/>
          <p:nvPr/>
        </p:nvSpPr>
        <p:spPr>
          <a:xfrm>
            <a:off x="5105400" y="6506179"/>
            <a:ext cx="6858000" cy="369332"/>
          </a:xfrm>
          <a:prstGeom prst="rect">
            <a:avLst/>
          </a:prstGeom>
          <a:noFill/>
        </p:spPr>
        <p:txBody>
          <a:bodyPr wrap="square">
            <a:spAutoFit/>
          </a:bodyPr>
          <a:lstStyle/>
          <a:p>
            <a:r>
              <a:rPr lang="ru-RU" dirty="0" err="1"/>
              <a:t>https</a:t>
            </a:r>
            <a:r>
              <a:rPr lang="ru-RU" dirty="0"/>
              <a:t>://</a:t>
            </a:r>
            <a:r>
              <a:rPr lang="ru-RU" dirty="0" err="1"/>
              <a:t>sthalles.github.io</a:t>
            </a:r>
            <a:r>
              <a:rPr lang="ru-RU" dirty="0"/>
              <a:t>/</a:t>
            </a:r>
            <a:r>
              <a:rPr lang="ru-RU" dirty="0" err="1"/>
              <a:t>a-visual-guide-to-time-series-decomposition</a:t>
            </a:r>
            <a:r>
              <a:rPr lang="ru-RU" dirty="0"/>
              <a:t>/</a:t>
            </a:r>
          </a:p>
        </p:txBody>
      </p:sp>
      <p:sp>
        <p:nvSpPr>
          <p:cNvPr id="14" name="TextBox 13">
            <a:extLst>
              <a:ext uri="{FF2B5EF4-FFF2-40B4-BE49-F238E27FC236}">
                <a16:creationId xmlns:a16="http://schemas.microsoft.com/office/drawing/2014/main" id="{4ABAA9D3-5D43-30C2-7329-C9933D59EDCE}"/>
              </a:ext>
            </a:extLst>
          </p:cNvPr>
          <p:cNvSpPr txBox="1"/>
          <p:nvPr/>
        </p:nvSpPr>
        <p:spPr>
          <a:xfrm>
            <a:off x="179613" y="6172251"/>
            <a:ext cx="4691743" cy="646331"/>
          </a:xfrm>
          <a:prstGeom prst="rect">
            <a:avLst/>
          </a:prstGeom>
          <a:noFill/>
        </p:spPr>
        <p:txBody>
          <a:bodyPr wrap="square">
            <a:spAutoFit/>
          </a:bodyPr>
          <a:lstStyle/>
          <a:p>
            <a:r>
              <a:rPr lang="ru-RU" sz="1200" dirty="0" err="1"/>
              <a:t>https</a:t>
            </a:r>
            <a:r>
              <a:rPr lang="ru-RU" sz="1200" dirty="0"/>
              <a:t>://</a:t>
            </a:r>
            <a:r>
              <a:rPr lang="ru-RU" sz="1200" dirty="0" err="1"/>
              <a:t>alkaline-ml.com</a:t>
            </a:r>
            <a:r>
              <a:rPr lang="ru-RU" sz="1200" dirty="0"/>
              <a:t>/</a:t>
            </a:r>
            <a:r>
              <a:rPr lang="ru-RU" sz="1200" dirty="0" err="1"/>
              <a:t>pmdarima</a:t>
            </a:r>
            <a:r>
              <a:rPr lang="ru-RU" sz="1200" dirty="0"/>
              <a:t>/</a:t>
            </a:r>
            <a:r>
              <a:rPr lang="ru-RU" sz="1200" dirty="0" err="1"/>
              <a:t>auto_examples</a:t>
            </a:r>
            <a:r>
              <a:rPr lang="ru-RU" sz="1200" dirty="0"/>
              <a:t>/</a:t>
            </a:r>
            <a:r>
              <a:rPr lang="ru-RU" sz="1200" dirty="0" err="1"/>
              <a:t>arima</a:t>
            </a:r>
            <a:r>
              <a:rPr lang="ru-RU" sz="1200" dirty="0"/>
              <a:t>/</a:t>
            </a:r>
            <a:r>
              <a:rPr lang="ru-RU" sz="1200" dirty="0" err="1"/>
              <a:t>example_seasonal_decomposition.html</a:t>
            </a:r>
            <a:endParaRPr lang="ru-RU" sz="1200" dirty="0"/>
          </a:p>
        </p:txBody>
      </p:sp>
    </p:spTree>
    <p:extLst>
      <p:ext uri="{BB962C8B-B14F-4D97-AF65-F5344CB8AC3E}">
        <p14:creationId xmlns:p14="http://schemas.microsoft.com/office/powerpoint/2010/main" val="39638952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213988" y="2314354"/>
            <a:ext cx="4072008" cy="1146856"/>
          </a:xfrm>
        </p:spPr>
        <p:txBody>
          <a:bodyPr>
            <a:normAutofit/>
          </a:bodyPr>
          <a:lstStyle/>
          <a:p>
            <a:pPr marL="0" lvl="1" indent="0">
              <a:buNone/>
            </a:pPr>
            <a:r>
              <a:rPr lang="ru-RU" sz="2100" b="1" dirty="0"/>
              <a:t>Тренд</a:t>
            </a:r>
            <a:r>
              <a:rPr lang="ru-RU" sz="2100" dirty="0"/>
              <a:t> - медленно меняющаяся часть зависимости временного ряда.</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5" name="Rectangle 231">
            <a:extLst>
              <a:ext uri="{FF2B5EF4-FFF2-40B4-BE49-F238E27FC236}">
                <a16:creationId xmlns:a16="http://schemas.microsoft.com/office/drawing/2014/main" id="{F7CC2846-5CEF-F298-0972-0D87F72FD6C3}"/>
              </a:ext>
            </a:extLst>
          </p:cNvPr>
          <p:cNvSpPr>
            <a:spLocks noChangeArrowheads="1"/>
          </p:cNvSpPr>
          <p:nvPr/>
        </p:nvSpPr>
        <p:spPr bwMode="auto">
          <a:xfrm>
            <a:off x="6186806" y="4559595"/>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62650" y="3358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115050" y="35112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4836"/>
          <a:stretch/>
        </p:blipFill>
        <p:spPr bwMode="auto">
          <a:xfrm>
            <a:off x="1990725" y="899529"/>
            <a:ext cx="9001125" cy="12881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129148" y="5153917"/>
            <a:ext cx="4235857" cy="1384995"/>
          </a:xfrm>
          <a:prstGeom prst="rect">
            <a:avLst/>
          </a:prstGeom>
          <a:noFill/>
        </p:spPr>
        <p:txBody>
          <a:bodyPr wrap="square">
            <a:spAutoFit/>
          </a:bodyPr>
          <a:lstStyle/>
          <a:p>
            <a:pPr marL="87313" lvl="1"/>
            <a:r>
              <a:rPr lang="ru-RU" sz="2100" b="1" dirty="0"/>
              <a:t>Остаточная часть -  </a:t>
            </a:r>
            <a:r>
              <a:rPr lang="ru-RU" sz="2100" dirty="0"/>
              <a:t>неформализованная моделью часть ВР. В </a:t>
            </a:r>
            <a:r>
              <a:rPr lang="ru-RU" sz="2100" dirty="0" err="1"/>
              <a:t>иделае</a:t>
            </a:r>
            <a:r>
              <a:rPr lang="ru-RU" sz="2100" dirty="0"/>
              <a:t> случайная и неинформативная (шум). </a:t>
            </a:r>
          </a:p>
        </p:txBody>
      </p:sp>
      <p:sp>
        <p:nvSpPr>
          <p:cNvPr id="13" name="Объект 2">
            <a:extLst>
              <a:ext uri="{FF2B5EF4-FFF2-40B4-BE49-F238E27FC236}">
                <a16:creationId xmlns:a16="http://schemas.microsoft.com/office/drawing/2014/main" id="{58BAE69D-36D8-D04E-E425-5890F7443BA6}"/>
              </a:ext>
            </a:extLst>
          </p:cNvPr>
          <p:cNvSpPr txBox="1">
            <a:spLocks/>
          </p:cNvSpPr>
          <p:nvPr/>
        </p:nvSpPr>
        <p:spPr>
          <a:xfrm>
            <a:off x="170254" y="3188322"/>
            <a:ext cx="4074636" cy="21080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Arial" panose="020B0604020202020204" pitchFamily="34" charset="0"/>
              <a:buNone/>
            </a:pPr>
            <a:r>
              <a:rPr lang="ru-RU" sz="2100" b="1" dirty="0"/>
              <a:t>Сезонность</a:t>
            </a:r>
            <a:r>
              <a:rPr lang="ru-RU" sz="2100" dirty="0"/>
              <a:t> - некоторые «относительно быстро и регулярно меняющиеся» периодические составляющие, как правило тут речь идет о регулярном периоде.</a:t>
            </a:r>
          </a:p>
        </p:txBody>
      </p:sp>
      <p:pic>
        <p:nvPicPr>
          <p:cNvPr id="14"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5" t="24649" r="605" b="49953"/>
          <a:stretch/>
        </p:blipFill>
        <p:spPr bwMode="auto">
          <a:xfrm>
            <a:off x="3935976" y="2357321"/>
            <a:ext cx="7988222" cy="115388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3" t="50007" r="403" b="24595"/>
          <a:stretch/>
        </p:blipFill>
        <p:spPr bwMode="auto">
          <a:xfrm>
            <a:off x="4012980" y="3757371"/>
            <a:ext cx="7911217" cy="11427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7" t="74479" r="907" b="123"/>
          <a:stretch/>
        </p:blipFill>
        <p:spPr bwMode="auto">
          <a:xfrm>
            <a:off x="4012980" y="5296323"/>
            <a:ext cx="7815967" cy="1129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9862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rmAutofit/>
          </a:bodyPr>
          <a:lstStyle/>
          <a:p>
            <a:pPr algn="ctr"/>
            <a:r>
              <a:rPr lang="ru-RU" b="1" dirty="0"/>
              <a:t>Особенности 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20740" y="1078594"/>
            <a:ext cx="11386458" cy="5460318"/>
          </a:xfrm>
        </p:spPr>
        <p:txBody>
          <a:bodyPr>
            <a:normAutofit/>
          </a:bodyPr>
          <a:lstStyle/>
          <a:p>
            <a:pPr lvl="0"/>
            <a:r>
              <a:rPr lang="ru-RU" sz="2100" b="1" dirty="0"/>
              <a:t>Остаточная часть. В идеале необъяснимая часть – не содержащая информации, которую мы можем объяснить моделью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4</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238"/>
          <a:stretch>
            <a:fillRect/>
          </a:stretch>
        </p:blipFill>
        <p:spPr bwMode="auto">
          <a:xfrm>
            <a:off x="4184762" y="3261040"/>
            <a:ext cx="7322436" cy="111446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0" y="1660493"/>
            <a:ext cx="11760427" cy="738664"/>
          </a:xfrm>
          <a:prstGeom prst="rect">
            <a:avLst/>
          </a:prstGeom>
          <a:noFill/>
        </p:spPr>
        <p:txBody>
          <a:bodyPr wrap="square">
            <a:spAutoFit/>
          </a:bodyPr>
          <a:lstStyle/>
          <a:p>
            <a:pPr marL="628650" lvl="2" indent="-342900">
              <a:buFont typeface="Arial" panose="020B0604020202020204" pitchFamily="34" charset="0"/>
              <a:buChar char="•"/>
            </a:pPr>
            <a:r>
              <a:rPr lang="ru-RU" sz="2100" b="1" dirty="0"/>
              <a:t>шум</a:t>
            </a:r>
            <a:r>
              <a:rPr lang="ru-RU" sz="2100" dirty="0"/>
              <a:t> - это некоторое случайное (стохастическое) искажение выходных значений - нерегулярные или случайные колебания (вариации).</a:t>
            </a:r>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3238"/>
          <a:stretch>
            <a:fillRect/>
          </a:stretch>
        </p:blipFill>
        <p:spPr bwMode="auto">
          <a:xfrm>
            <a:off x="5186743" y="2473132"/>
            <a:ext cx="6320455" cy="96196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256" b="4331"/>
          <a:stretch>
            <a:fillRect/>
          </a:stretch>
        </p:blipFill>
        <p:spPr bwMode="auto">
          <a:xfrm>
            <a:off x="2407669" y="4416913"/>
            <a:ext cx="9099529" cy="91593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248400" y="6414666"/>
            <a:ext cx="4577561" cy="369332"/>
          </a:xfrm>
          <a:prstGeom prst="rect">
            <a:avLst/>
          </a:prstGeom>
          <a:noFill/>
        </p:spPr>
        <p:txBody>
          <a:bodyPr wrap="square">
            <a:spAutoFit/>
          </a:bodyPr>
          <a:lstStyle/>
          <a:p>
            <a:r>
              <a:rPr lang="ru-RU" dirty="0" err="1"/>
              <a:t>https</a:t>
            </a:r>
            <a:r>
              <a:rPr lang="ru-RU" dirty="0"/>
              <a:t>://</a:t>
            </a:r>
            <a:r>
              <a:rPr lang="ru-RU" dirty="0" err="1"/>
              <a:t>www.mdpi.com</a:t>
            </a:r>
            <a:r>
              <a:rPr lang="ru-RU"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8171" b="23521"/>
          <a:stretch>
            <a:fillRect/>
          </a:stretch>
        </p:blipFill>
        <p:spPr bwMode="auto">
          <a:xfrm>
            <a:off x="2413585" y="5391163"/>
            <a:ext cx="9093613" cy="82526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15830" y="6084647"/>
            <a:ext cx="6400801"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spTree>
    <p:extLst>
      <p:ext uri="{BB962C8B-B14F-4D97-AF65-F5344CB8AC3E}">
        <p14:creationId xmlns:p14="http://schemas.microsoft.com/office/powerpoint/2010/main" val="5378500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Разница цикличности и сезонности</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5</a:t>
            </a:fld>
            <a:endParaRPr lang="en-US"/>
          </a:p>
        </p:txBody>
      </p:sp>
      <p:sp>
        <p:nvSpPr>
          <p:cNvPr id="3" name="Прямоугольник 2"/>
          <p:cNvSpPr/>
          <p:nvPr/>
        </p:nvSpPr>
        <p:spPr>
          <a:xfrm>
            <a:off x="290715" y="1014068"/>
            <a:ext cx="6505574" cy="2554545"/>
          </a:xfrm>
          <a:prstGeom prst="rect">
            <a:avLst/>
          </a:prstGeom>
        </p:spPr>
        <p:txBody>
          <a:bodyPr wrap="square">
            <a:spAutoFit/>
          </a:bodyPr>
          <a:lstStyle/>
          <a:p>
            <a:r>
              <a:rPr lang="ru-RU" sz="2000" b="1" dirty="0"/>
              <a:t>Цикличный тренд </a:t>
            </a:r>
            <a:r>
              <a:rPr lang="ru-RU" sz="2000" dirty="0"/>
              <a:t>(цикличность) возникает, когда данные демонстрируют подъемы и спады, которые не имеют фиксированной частоты. </a:t>
            </a:r>
          </a:p>
          <a:p>
            <a:pPr lvl="1"/>
            <a:r>
              <a:rPr lang="ru-RU" sz="2000" dirty="0"/>
              <a:t>Например колебания обусловленные экономическими факторами (часто связаны с “деловым циклом”). Продолжительность этих колебаний обычно составляет не менее 2 лет, но период цикличность обычно неопределенный</a:t>
            </a:r>
          </a:p>
        </p:txBody>
      </p:sp>
      <p:sp>
        <p:nvSpPr>
          <p:cNvPr id="5" name="Прямоугольник 4"/>
          <p:cNvSpPr/>
          <p:nvPr/>
        </p:nvSpPr>
        <p:spPr>
          <a:xfrm>
            <a:off x="6467475" y="6266799"/>
            <a:ext cx="4469942" cy="369332"/>
          </a:xfrm>
          <a:prstGeom prst="rect">
            <a:avLst/>
          </a:prstGeom>
        </p:spPr>
        <p:txBody>
          <a:bodyPr wrap="none">
            <a:spAutoFit/>
          </a:bodyPr>
          <a:lstStyle/>
          <a:p>
            <a:r>
              <a:rPr lang="ru-RU" dirty="0"/>
              <a:t>https://robjhyndman.com/hyndsight/cyclicts/</a:t>
            </a:r>
          </a:p>
        </p:txBody>
      </p:sp>
      <p:pic>
        <p:nvPicPr>
          <p:cNvPr id="2050" name="Picture 2" descr="Four examples of time series showing different patterns."/>
          <p:cNvPicPr>
            <a:picLocks noChangeAspect="1" noChangeArrowheads="1"/>
          </p:cNvPicPr>
          <p:nvPr/>
        </p:nvPicPr>
        <p:blipFill rotWithShape="1">
          <a:blip r:embed="rId3">
            <a:extLst>
              <a:ext uri="{28A0092B-C50C-407E-A947-70E740481C1C}">
                <a14:useLocalDpi xmlns:a14="http://schemas.microsoft.com/office/drawing/2010/main" val="0"/>
              </a:ext>
            </a:extLst>
          </a:blip>
          <a:srcRect l="1" r="49280" b="49960"/>
          <a:stretch/>
        </p:blipFill>
        <p:spPr bwMode="auto">
          <a:xfrm>
            <a:off x="6631191" y="864534"/>
            <a:ext cx="5259183" cy="3204373"/>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26722" y="6359134"/>
            <a:ext cx="3992953" cy="369332"/>
          </a:xfrm>
          <a:prstGeom prst="rect">
            <a:avLst/>
          </a:prstGeom>
        </p:spPr>
        <p:txBody>
          <a:bodyPr wrap="none">
            <a:spAutoFit/>
          </a:bodyPr>
          <a:lstStyle/>
          <a:p>
            <a:r>
              <a:rPr lang="ru-RU" dirty="0"/>
              <a:t>https://otexts.com/fpp2/tspatterns.html</a:t>
            </a:r>
          </a:p>
        </p:txBody>
      </p:sp>
      <p:graphicFrame>
        <p:nvGraphicFramePr>
          <p:cNvPr id="9" name="Таблица 8"/>
          <p:cNvGraphicFramePr>
            <a:graphicFrameLocks noGrp="1"/>
          </p:cNvGraphicFramePr>
          <p:nvPr/>
        </p:nvGraphicFramePr>
        <p:xfrm>
          <a:off x="293890" y="4006257"/>
          <a:ext cx="11596484" cy="2286000"/>
        </p:xfrm>
        <a:graphic>
          <a:graphicData uri="http://schemas.openxmlformats.org/drawingml/2006/table">
            <a:tbl>
              <a:tblPr firstRow="1" bandRow="1">
                <a:tableStyleId>{5C22544A-7EE6-4342-B048-85BDC9FD1C3A}</a:tableStyleId>
              </a:tblPr>
              <a:tblGrid>
                <a:gridCol w="5798242">
                  <a:extLst>
                    <a:ext uri="{9D8B030D-6E8A-4147-A177-3AD203B41FA5}">
                      <a16:colId xmlns:a16="http://schemas.microsoft.com/office/drawing/2014/main" val="2273419602"/>
                    </a:ext>
                  </a:extLst>
                </a:gridCol>
                <a:gridCol w="5798242">
                  <a:extLst>
                    <a:ext uri="{9D8B030D-6E8A-4147-A177-3AD203B41FA5}">
                      <a16:colId xmlns:a16="http://schemas.microsoft.com/office/drawing/2014/main" val="2334267867"/>
                    </a:ext>
                  </a:extLst>
                </a:gridCol>
              </a:tblGrid>
              <a:tr h="0">
                <a:tc>
                  <a:txBody>
                    <a:bodyPr/>
                    <a:lstStyle/>
                    <a:p>
                      <a:r>
                        <a:rPr lang="ru-RU" dirty="0"/>
                        <a:t>Цикличность</a:t>
                      </a:r>
                    </a:p>
                  </a:txBody>
                  <a:tcPr/>
                </a:tc>
                <a:tc>
                  <a:txBody>
                    <a:bodyPr/>
                    <a:lstStyle/>
                    <a:p>
                      <a:r>
                        <a:rPr lang="ru-RU" dirty="0"/>
                        <a:t>Сезонность</a:t>
                      </a:r>
                    </a:p>
                  </a:txBody>
                  <a:tcPr/>
                </a:tc>
                <a:extLst>
                  <a:ext uri="{0D108BD9-81ED-4DB2-BD59-A6C34878D82A}">
                    <a16:rowId xmlns:a16="http://schemas.microsoft.com/office/drawing/2014/main" val="4253523727"/>
                  </a:ext>
                </a:extLst>
              </a:tr>
              <a:tr h="0">
                <a:tc>
                  <a:txBody>
                    <a:bodyPr/>
                    <a:lstStyle/>
                    <a:p>
                      <a:pPr marL="285750" indent="-285750">
                        <a:buFont typeface="Arial" panose="020B0604020202020204" pitchFamily="34" charset="0"/>
                        <a:buChar char="•"/>
                      </a:pPr>
                      <a:r>
                        <a:rPr lang="ru-RU" dirty="0"/>
                        <a:t>Период колебаний случайный (нерегулярный)</a:t>
                      </a:r>
                    </a:p>
                    <a:p>
                      <a:pPr marL="285750" indent="-285750">
                        <a:buFont typeface="Arial" panose="020B0604020202020204" pitchFamily="34" charset="0"/>
                        <a:buChar char="•"/>
                      </a:pPr>
                      <a:r>
                        <a:rPr lang="ru-RU" dirty="0"/>
                        <a:t>Период колебаний продолжительный</a:t>
                      </a:r>
                    </a:p>
                    <a:p>
                      <a:pPr marL="285750" indent="-285750">
                        <a:buFont typeface="Arial" panose="020B0604020202020204" pitchFamily="34" charset="0"/>
                        <a:buChar char="•"/>
                      </a:pPr>
                      <a:r>
                        <a:rPr lang="ru-RU" dirty="0"/>
                        <a:t>Интенсивность</a:t>
                      </a:r>
                      <a:r>
                        <a:rPr lang="ru-RU" baseline="0" dirty="0"/>
                        <a:t> колебаний нерегулярная</a:t>
                      </a:r>
                    </a:p>
                    <a:p>
                      <a:pPr marL="285750" indent="-285750">
                        <a:buFont typeface="Arial" panose="020B0604020202020204" pitchFamily="34" charset="0"/>
                        <a:buChar char="•"/>
                      </a:pPr>
                      <a:r>
                        <a:rPr lang="ru-RU" baseline="0" dirty="0"/>
                        <a:t>Поведение позволяет выделить тренд</a:t>
                      </a:r>
                      <a:endParaRPr lang="ru-RU" dirty="0"/>
                    </a:p>
                  </a:txBody>
                  <a:tcPr/>
                </a:tc>
                <a:tc>
                  <a:txBody>
                    <a:bodyPr/>
                    <a:lstStyle/>
                    <a:p>
                      <a:pPr marL="285750" indent="-285750">
                        <a:buFont typeface="Arial" panose="020B0604020202020204" pitchFamily="34" charset="0"/>
                        <a:buChar char="•"/>
                      </a:pPr>
                      <a:r>
                        <a:rPr lang="ru-RU" dirty="0"/>
                        <a:t>Период колебаний</a:t>
                      </a:r>
                      <a:r>
                        <a:rPr lang="ru-RU" baseline="0" dirty="0"/>
                        <a:t> постоянный или закономерный</a:t>
                      </a:r>
                    </a:p>
                    <a:p>
                      <a:pPr marL="285750" indent="-285750">
                        <a:buFont typeface="Arial" panose="020B0604020202020204" pitchFamily="34" charset="0"/>
                        <a:buChar char="•"/>
                      </a:pPr>
                      <a:r>
                        <a:rPr lang="ru-RU" baseline="0" dirty="0"/>
                        <a:t>Колебания сравнительно часты</a:t>
                      </a:r>
                    </a:p>
                    <a:p>
                      <a:pPr marL="285750" indent="-285750">
                        <a:buFont typeface="Arial" panose="020B0604020202020204" pitchFamily="34" charset="0"/>
                        <a:buChar char="•"/>
                      </a:pPr>
                      <a:r>
                        <a:rPr lang="ru-RU" baseline="0" dirty="0"/>
                        <a:t>Интенсивность регулярная и предсказуемая</a:t>
                      </a:r>
                    </a:p>
                    <a:p>
                      <a:pPr marL="285750" indent="-285750">
                        <a:buFont typeface="Arial" panose="020B0604020202020204" pitchFamily="34" charset="0"/>
                        <a:buChar char="•"/>
                      </a:pPr>
                      <a:r>
                        <a:rPr lang="ru-RU" baseline="0" dirty="0"/>
                        <a:t>Сезонность независима от тренда</a:t>
                      </a:r>
                      <a:endParaRPr lang="ru-RU" dirty="0"/>
                    </a:p>
                  </a:txBody>
                  <a:tcPr/>
                </a:tc>
                <a:extLst>
                  <a:ext uri="{0D108BD9-81ED-4DB2-BD59-A6C34878D82A}">
                    <a16:rowId xmlns:a16="http://schemas.microsoft.com/office/drawing/2014/main" val="4144287985"/>
                  </a:ext>
                </a:extLst>
              </a:tr>
              <a:tr h="0">
                <a:tc>
                  <a:txBody>
                    <a:bodyPr/>
                    <a:lstStyle/>
                    <a:p>
                      <a:pPr marL="0" indent="0">
                        <a:buFont typeface="Arial" panose="020B0604020202020204" pitchFamily="34" charset="0"/>
                        <a:buNone/>
                      </a:pPr>
                      <a:r>
                        <a:rPr lang="ru-RU" dirty="0"/>
                        <a:t>Примеры</a:t>
                      </a:r>
                    </a:p>
                  </a:txBody>
                  <a:tcPr/>
                </a:tc>
                <a:tc>
                  <a:txBody>
                    <a:bodyPr/>
                    <a:lstStyle/>
                    <a:p>
                      <a:pPr marL="285750" indent="-285750">
                        <a:buFont typeface="Arial" panose="020B0604020202020204" pitchFamily="34" charset="0"/>
                        <a:buChar char="•"/>
                      </a:pPr>
                      <a:r>
                        <a:rPr lang="ru-RU" dirty="0"/>
                        <a:t>Примеры</a:t>
                      </a:r>
                    </a:p>
                  </a:txBody>
                  <a:tcPr/>
                </a:tc>
                <a:extLst>
                  <a:ext uri="{0D108BD9-81ED-4DB2-BD59-A6C34878D82A}">
                    <a16:rowId xmlns:a16="http://schemas.microsoft.com/office/drawing/2014/main" val="1483152105"/>
                  </a:ext>
                </a:extLst>
              </a:tr>
              <a:tr h="0">
                <a:tc>
                  <a:txBody>
                    <a:bodyPr/>
                    <a:lstStyle/>
                    <a:p>
                      <a:pPr marL="0" indent="0">
                        <a:buFont typeface="Arial" panose="020B0604020202020204" pitchFamily="34" charset="0"/>
                        <a:buNone/>
                      </a:pPr>
                      <a:r>
                        <a:rPr lang="ru-RU" dirty="0"/>
                        <a:t>Многолетний</a:t>
                      </a:r>
                      <a:r>
                        <a:rPr lang="ru-RU" baseline="0" dirty="0"/>
                        <a:t> период, </a:t>
                      </a:r>
                      <a:endParaRPr lang="ru-RU" dirty="0"/>
                    </a:p>
                  </a:txBody>
                  <a:tcPr/>
                </a:tc>
                <a:tc>
                  <a:txBody>
                    <a:bodyPr/>
                    <a:lstStyle/>
                    <a:p>
                      <a:pPr marL="285750" indent="-285750">
                        <a:buFont typeface="Arial" panose="020B0604020202020204" pitchFamily="34" charset="0"/>
                        <a:buChar char="•"/>
                      </a:pPr>
                      <a:r>
                        <a:rPr lang="ru-RU" dirty="0"/>
                        <a:t>День, месяц, квартал, год</a:t>
                      </a:r>
                    </a:p>
                  </a:txBody>
                  <a:tcPr/>
                </a:tc>
                <a:extLst>
                  <a:ext uri="{0D108BD9-81ED-4DB2-BD59-A6C34878D82A}">
                    <a16:rowId xmlns:a16="http://schemas.microsoft.com/office/drawing/2014/main" val="205172833"/>
                  </a:ext>
                </a:extLst>
              </a:tr>
            </a:tbl>
          </a:graphicData>
        </a:graphic>
      </p:graphicFrame>
      <p:sp>
        <p:nvSpPr>
          <p:cNvPr id="14" name="Прямоугольник 13"/>
          <p:cNvSpPr/>
          <p:nvPr/>
        </p:nvSpPr>
        <p:spPr>
          <a:xfrm>
            <a:off x="246168" y="3631605"/>
            <a:ext cx="7582888" cy="400110"/>
          </a:xfrm>
          <a:prstGeom prst="rect">
            <a:avLst/>
          </a:prstGeom>
        </p:spPr>
        <p:txBody>
          <a:bodyPr wrap="square">
            <a:spAutoFit/>
          </a:bodyPr>
          <a:lstStyle/>
          <a:p>
            <a:r>
              <a:rPr lang="ru-RU" sz="2000" b="1" dirty="0"/>
              <a:t>В ряде случаев цикличность рассматривают отдельно от тренда</a:t>
            </a:r>
            <a:endParaRPr lang="ru-RU" sz="2000" dirty="0"/>
          </a:p>
        </p:txBody>
      </p:sp>
    </p:spTree>
    <p:extLst>
      <p:ext uri="{BB962C8B-B14F-4D97-AF65-F5344CB8AC3E}">
        <p14:creationId xmlns:p14="http://schemas.microsoft.com/office/powerpoint/2010/main" val="15592393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0" indent="0" eaLnBrk="0" fontAlgn="base" hangingPunct="0">
                  <a:lnSpc>
                    <a:spcPct val="100000"/>
                  </a:lnSpc>
                  <a:spcBef>
                    <a:spcPct val="0"/>
                  </a:spcBef>
                  <a:spcAft>
                    <a:spcPct val="0"/>
                  </a:spcAft>
                  <a:buNone/>
                </a:pPr>
                <a:r>
                  <a:rPr lang="ru-RU" altLang="en-US" sz="2400" dirty="0"/>
                  <a:t>	</a:t>
                </a: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цикличность кризисов, тренд 	экономики и 	сезонные факторы ( год, неделя и </a:t>
                </a:r>
                <a:r>
                  <a:rPr lang="ru-RU" altLang="en-US" sz="2000" dirty="0" err="1"/>
                  <a:t>тд</a:t>
                </a:r>
                <a:r>
                  <a:rPr lang="ru-RU" altLang="en-US" sz="2000" dirty="0"/>
                  <a:t>)</a:t>
                </a:r>
              </a:p>
              <a:p>
                <a:pPr marL="0" indent="0" eaLnBrk="0" fontAlgn="base" hangingPunct="0">
                  <a:lnSpc>
                    <a:spcPct val="100000"/>
                  </a:lnSpc>
                  <a:spcBef>
                    <a:spcPct val="0"/>
                  </a:spcBef>
                  <a:spcAft>
                    <a:spcPct val="0"/>
                  </a:spcAft>
                  <a:buNone/>
                </a:pPr>
                <a:endParaRPr lang="ru-RU" altLang="en-US" sz="2000" dirty="0"/>
              </a:p>
              <a:p>
                <a:pPr marL="0" indent="0" eaLnBrk="0" fontAlgn="base" hangingPunct="0">
                  <a:lnSpc>
                    <a:spcPct val="100000"/>
                  </a:lnSpc>
                  <a:spcBef>
                    <a:spcPct val="0"/>
                  </a:spcBef>
                  <a:spcAft>
                    <a:spcPct val="0"/>
                  </a:spcAft>
                  <a:buNone/>
                </a:pPr>
                <a:r>
                  <a:rPr lang="ru-RU" altLang="en-US" sz="2400" dirty="0"/>
                  <a:t>Иногда может быть рассмотрена мультипликативная модель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trend</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noise</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oMath>
                </a14:m>
                <a:r>
                  <a:rPr lang="en-US" altLang="en-US" sz="2400" dirty="0"/>
                  <a:t> </a:t>
                </a:r>
              </a:p>
              <a:p>
                <a:pPr marL="0" indent="0" eaLnBrk="0" fontAlgn="base" hangingPunct="0">
                  <a:lnSpc>
                    <a:spcPct val="100000"/>
                  </a:lnSpc>
                  <a:spcBef>
                    <a:spcPct val="0"/>
                  </a:spcBef>
                  <a:spcAft>
                    <a:spcPct val="0"/>
                  </a:spcAft>
                  <a:buNone/>
                </a:pPr>
                <a:endParaRPr lang="ru-RU" altLang="en-US" sz="22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6</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209550" y="6475550"/>
            <a:ext cx="4205831" cy="369332"/>
          </a:xfrm>
          <a:prstGeom prst="rect">
            <a:avLst/>
          </a:prstGeom>
        </p:spPr>
        <p:txBody>
          <a:bodyPr wrap="none">
            <a:spAutoFit/>
          </a:bodyPr>
          <a:lstStyle/>
          <a:p>
            <a:r>
              <a:rPr lang="ru-RU" dirty="0"/>
              <a:t>https://otexts.com/fpp2/components.html</a:t>
            </a:r>
          </a:p>
        </p:txBody>
      </p:sp>
    </p:spTree>
    <p:extLst>
      <p:ext uri="{BB962C8B-B14F-4D97-AF65-F5344CB8AC3E}">
        <p14:creationId xmlns:p14="http://schemas.microsoft.com/office/powerpoint/2010/main" val="25767120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1AD7-BB33-7CC2-68FB-590F16FEF6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777E61-0FF9-5C6C-5474-1D8DF336861B}"/>
              </a:ext>
            </a:extLst>
          </p:cNvPr>
          <p:cNvSpPr>
            <a:spLocks noGrp="1"/>
          </p:cNvSpPr>
          <p:nvPr>
            <p:ph type="title"/>
          </p:nvPr>
        </p:nvSpPr>
        <p:spPr>
          <a:xfrm>
            <a:off x="1723209" y="204681"/>
            <a:ext cx="9829800" cy="911225"/>
          </a:xfrm>
        </p:spPr>
        <p:txBody>
          <a:bodyPr/>
          <a:lstStyle/>
          <a:p>
            <a:r>
              <a:rPr lang="ru-RU" dirty="0">
                <a:solidFill>
                  <a:srgbClr val="333333"/>
                </a:solidFill>
                <a:latin typeface="Open Sans"/>
              </a:rPr>
              <a:t>Популярные виды тренда</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E928F5E-9353-4EF2-99DF-539F6AAC8111}"/>
                  </a:ext>
                </a:extLst>
              </p:cNvPr>
              <p:cNvSpPr>
                <a:spLocks noGrp="1"/>
              </p:cNvSpPr>
              <p:nvPr>
                <p:ph idx="1"/>
              </p:nvPr>
            </p:nvSpPr>
            <p:spPr>
              <a:xfrm>
                <a:off x="341194" y="990601"/>
                <a:ext cx="10715426" cy="5732930"/>
              </a:xfrm>
            </p:spPr>
            <p:txBody>
              <a:bodyPr>
                <a:normAutofit/>
              </a:bodyPr>
              <a:lstStyle/>
              <a:p>
                <a:pPr>
                  <a:lnSpc>
                    <a:spcPct val="110000"/>
                  </a:lnSpc>
                </a:pPr>
                <a:r>
                  <a:rPr lang="ru-RU" sz="2000" dirty="0">
                    <a:latin typeface="Arial" panose="020B0604020202020204" pitchFamily="34" charset="0"/>
                    <a:cs typeface="Arial" panose="020B0604020202020204" pitchFamily="34" charset="0"/>
                  </a:rPr>
                  <a:t>Отсутствие тренда</a:t>
                </a:r>
                <a:r>
                  <a:rPr lang="en-US" sz="2000" dirty="0">
                    <a:latin typeface="Arial" panose="020B0604020202020204" pitchFamily="34" charset="0"/>
                    <a:cs typeface="Arial" panose="020B0604020202020204" pitchFamily="34" charset="0"/>
                  </a:rPr>
                  <a:t>.     </a:t>
                </a:r>
              </a:p>
              <a:p>
                <a:pPr>
                  <a:lnSpc>
                    <a:spcPct val="110000"/>
                  </a:lnSpc>
                </a:pPr>
                <a:r>
                  <a:rPr lang="ru-RU" sz="2000" dirty="0">
                    <a:latin typeface="Arial" panose="020B0604020202020204" pitchFamily="34" charset="0"/>
                    <a:cs typeface="Arial" panose="020B0604020202020204" pitchFamily="34" charset="0"/>
                  </a:rPr>
                  <a:t>Случайный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или</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стохастический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например случайное блуждание</a:t>
                </a:r>
                <a:r>
                  <a:rPr lang="en-US" sz="2000" dirty="0">
                    <a:latin typeface="Arial" panose="020B0604020202020204" pitchFamily="34" charset="0"/>
                    <a:cs typeface="Arial" panose="020B0604020202020204" pitchFamily="34" charset="0"/>
                  </a:rPr>
                  <a:t>).       </a:t>
                </a:r>
              </a:p>
              <a:p>
                <a:pPr>
                  <a:lnSpc>
                    <a:spcPct val="110000"/>
                  </a:lnSpc>
                </a:pPr>
                <a14:m>
                  <m:oMath xmlns:m="http://schemas.openxmlformats.org/officeDocument/2006/math">
                    <m:r>
                      <a:rPr lang="ru-RU" sz="2000" i="1" dirty="0">
                        <a:latin typeface="Cambria Math" panose="02040503050406030204" pitchFamily="18" charset="0"/>
                        <a:cs typeface="Arial" panose="020B0604020202020204" pitchFamily="34" charset="0"/>
                      </a:rPr>
                      <m:t>Л</m:t>
                    </m:r>
                    <m:r>
                      <a:rPr lang="ru-RU" sz="2000" dirty="0">
                        <a:latin typeface="Cambria Math" panose="02040503050406030204" pitchFamily="18" charset="0"/>
                        <a:cs typeface="Arial" panose="020B0604020202020204" pitchFamily="34" charset="0"/>
                      </a:rPr>
                      <m:t>инейный тренд </m:t>
                    </m:r>
                    <m:r>
                      <a:rPr lang="en-US" sz="2000"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dirty="0">
                            <a:latin typeface="Cambria Math" panose="02040503050406030204" pitchFamily="18" charset="0"/>
                            <a:cs typeface="Arial" panose="020B0604020202020204" pitchFamily="34" charset="0"/>
                          </a:rPr>
                          <m:t>𝑡</m:t>
                        </m:r>
                      </m:e>
                    </m:d>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𝑎</m:t>
                    </m:r>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𝑡</m:t>
                    </m:r>
                    <m:r>
                      <a:rPr lang="en-US" sz="2000" dirty="0">
                        <a:latin typeface="Cambria Math" panose="02040503050406030204" pitchFamily="18" charset="0"/>
                        <a:cs typeface="Arial" panose="020B0604020202020204" pitchFamily="34" charset="0"/>
                      </a:rPr>
                      <m:t> + </m:t>
                    </m:r>
                    <m:r>
                      <a:rPr lang="en-US" sz="2000" dirty="0">
                        <a:latin typeface="Cambria Math" panose="02040503050406030204" pitchFamily="18" charset="0"/>
                        <a:cs typeface="Arial" panose="020B0604020202020204" pitchFamily="34" charset="0"/>
                      </a:rPr>
                      <m:t>𝑏</m:t>
                    </m:r>
                    <m:r>
                      <a:rPr lang="en-US" sz="2000"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Экспоненциальный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𝑡</m:t>
                        </m:r>
                      </m:e>
                    </m:d>
                    <m:r>
                      <a:rPr lang="en-US" sz="2000" i="1" dirty="0">
                        <a:latin typeface="Cambria Math" panose="02040503050406030204" pitchFamily="18" charset="0"/>
                        <a:cs typeface="Arial" panose="020B0604020202020204" pitchFamily="34" charset="0"/>
                      </a:rPr>
                      <m:t>= </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𝑎</m:t>
                    </m:r>
                    <m:r>
                      <a:rPr lang="en-US" sz="2000" i="1" dirty="0">
                        <a:latin typeface="Cambria Math" panose="02040503050406030204" pitchFamily="18" charset="0"/>
                        <a:cs typeface="Arial" panose="020B0604020202020204" pitchFamily="34" charset="0"/>
                      </a:rPr>
                      <m:t>⋅ </m:t>
                    </m:r>
                    <m:r>
                      <a:rPr lang="en-US" sz="2000" i="1" dirty="0" err="1">
                        <a:latin typeface="Cambria Math" panose="02040503050406030204" pitchFamily="18" charset="0"/>
                        <a:cs typeface="Arial" panose="020B0604020202020204" pitchFamily="34" charset="0"/>
                      </a:rPr>
                      <m:t>𝑡</m:t>
                    </m:r>
                    <m:r>
                      <a:rPr lang="en-US" sz="2000" i="1" dirty="0" err="1">
                        <a:latin typeface="Cambria Math" panose="02040503050406030204" pitchFamily="18" charset="0"/>
                        <a:cs typeface="Arial" panose="020B0604020202020204" pitchFamily="34" charset="0"/>
                      </a:rPr>
                      <m:t>+</m:t>
                    </m:r>
                    <m:r>
                      <a:rPr lang="en-US" sz="2000" i="1" dirty="0" err="1">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Насыщение</a:t>
                </a:r>
                <a:r>
                  <a:rPr lang="en-US" sz="2000" dirty="0">
                    <a:latin typeface="Arial" panose="020B0604020202020204" pitchFamily="34" charset="0"/>
                    <a:cs typeface="Arial" panose="020B0604020202020204" pitchFamily="34" charset="0"/>
                  </a:rPr>
                  <a:t>(</a:t>
                </a:r>
                <a:r>
                  <a:rPr lang="ru-RU" sz="2000" dirty="0">
                    <a:latin typeface="Arial" panose="020B0604020202020204" pitchFamily="34" charset="0"/>
                    <a:cs typeface="Arial" panose="020B0604020202020204" pitchFamily="34" charset="0"/>
                  </a:rPr>
                  <a:t>логистический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 =</m:t>
                    </m:r>
                    <m:f>
                      <m:fPr>
                        <m:ctrlPr>
                          <a:rPr lang="en-US" sz="2000" i="1" dirty="0">
                            <a:latin typeface="Cambria Math" panose="02040503050406030204" pitchFamily="18" charset="0"/>
                            <a:cs typeface="Arial" panose="020B0604020202020204" pitchFamily="34" charset="0"/>
                          </a:rPr>
                        </m:ctrlPr>
                      </m:fPr>
                      <m:num>
                        <m:r>
                          <a:rPr lang="en-US" sz="2000" i="1" dirty="0">
                            <a:latin typeface="Cambria Math" panose="02040503050406030204" pitchFamily="18" charset="0"/>
                            <a:cs typeface="Arial" panose="020B0604020202020204" pitchFamily="34" charset="0"/>
                          </a:rPr>
                          <m:t>𝑐</m:t>
                        </m:r>
                      </m:num>
                      <m:den>
                        <m:r>
                          <a:rPr lang="en-US" sz="2000" i="1" dirty="0">
                            <a:latin typeface="Cambria Math" panose="02040503050406030204" pitchFamily="18" charset="0"/>
                            <a:cs typeface="Arial" panose="020B0604020202020204" pitchFamily="34" charset="0"/>
                          </a:rPr>
                          <m:t>1+</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𝑘</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𝑚</m:t>
                        </m:r>
                        <m:r>
                          <a:rPr lang="en-US" sz="2000" i="1" dirty="0">
                            <a:latin typeface="Cambria Math" panose="02040503050406030204" pitchFamily="18" charset="0"/>
                            <a:cs typeface="Arial" panose="020B0604020202020204" pitchFamily="34" charset="0"/>
                          </a:rPr>
                          <m:t>))</m:t>
                        </m:r>
                      </m:den>
                    </m:f>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Модель огибающей </a:t>
                </a:r>
                <a:r>
                  <a:rPr lang="en-US" sz="2000" dirty="0">
                    <a:latin typeface="Arial" panose="020B0604020202020204" pitchFamily="34" charset="0"/>
                    <a:cs typeface="Arial" panose="020B0604020202020204" pitchFamily="34" charset="0"/>
                  </a:rPr>
                  <a:t>(envelope) – </a:t>
                </a:r>
                <a:r>
                  <a:rPr lang="ru-RU" sz="2000" dirty="0">
                    <a:latin typeface="Arial" panose="020B0604020202020204" pitchFamily="34" charset="0"/>
                    <a:cs typeface="Arial" panose="020B0604020202020204" pitchFamily="34" charset="0"/>
                  </a:rPr>
                  <a:t>медленный циклический процесс</a:t>
                </a:r>
                <a:endParaRPr lang="en-US" sz="2000"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E928F5E-9353-4EF2-99DF-539F6AAC8111}"/>
                  </a:ext>
                </a:extLst>
              </p:cNvPr>
              <p:cNvSpPr>
                <a:spLocks noGrp="1" noRot="1" noChangeAspect="1" noMove="1" noResize="1" noEditPoints="1" noAdjustHandles="1" noChangeArrowheads="1" noChangeShapeType="1" noTextEdit="1"/>
              </p:cNvSpPr>
              <p:nvPr>
                <p:ph idx="1"/>
              </p:nvPr>
            </p:nvSpPr>
            <p:spPr>
              <a:xfrm>
                <a:off x="341194" y="990601"/>
                <a:ext cx="10715426" cy="5732930"/>
              </a:xfrm>
              <a:blipFill>
                <a:blip r:embed="rId2"/>
                <a:stretch>
                  <a:fillRect l="-355" t="-44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6D2D414B-DC90-4E2C-F7A1-99473ECCCC65}"/>
              </a:ext>
            </a:extLst>
          </p:cNvPr>
          <p:cNvSpPr>
            <a:spLocks noGrp="1"/>
          </p:cNvSpPr>
          <p:nvPr>
            <p:ph type="sldNum" sz="quarter" idx="12"/>
          </p:nvPr>
        </p:nvSpPr>
        <p:spPr/>
        <p:txBody>
          <a:bodyPr/>
          <a:lstStyle/>
          <a:p>
            <a:fld id="{45C3B737-A709-4ABC-AFE0-A6B067850C48}" type="slidenum">
              <a:rPr lang="en-US" smtClean="0"/>
              <a:t>7</a:t>
            </a:fld>
            <a:endParaRPr lang="en-US"/>
          </a:p>
        </p:txBody>
      </p:sp>
      <p:pic>
        <p:nvPicPr>
          <p:cNvPr id="1026" name="Picture 2" descr="5.4.3. Логистическое уравнение тренда">
            <a:extLst>
              <a:ext uri="{FF2B5EF4-FFF2-40B4-BE49-F238E27FC236}">
                <a16:creationId xmlns:a16="http://schemas.microsoft.com/office/drawing/2014/main" id="{E9A1594A-EA25-AB98-CBA2-0E4FD630E76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24533" y="4076808"/>
            <a:ext cx="5971467" cy="22774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ving Average Envelopes: Learn How Clever Traders Use Them - Commodity.com">
            <a:extLst>
              <a:ext uri="{FF2B5EF4-FFF2-40B4-BE49-F238E27FC236}">
                <a16:creationId xmlns:a16="http://schemas.microsoft.com/office/drawing/2014/main" id="{95B8019D-07C7-24CA-E023-876053030A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968" y="3918712"/>
            <a:ext cx="4164103" cy="280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3944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381000" y="-34869"/>
            <a:ext cx="11344275" cy="1325563"/>
          </a:xfrm>
        </p:spPr>
        <p:txBody>
          <a:bodyPr/>
          <a:lstStyle/>
          <a:p>
            <a:r>
              <a:rPr lang="ru-RU" b="1" dirty="0"/>
              <a:t>Модели временных рядов. Случайный тренд</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9222" name="Picture 6" descr="Random Walk Model">
            <a:extLst>
              <a:ext uri="{FF2B5EF4-FFF2-40B4-BE49-F238E27FC236}">
                <a16:creationId xmlns:a16="http://schemas.microsoft.com/office/drawing/2014/main" id="{920890C2-9E02-A843-DB04-2D84A50E8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284" y="2687052"/>
            <a:ext cx="7076631" cy="31300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15B885D-9506-4C0D-A25E-CFF9E20AF593}"/>
              </a:ext>
            </a:extLst>
          </p:cNvPr>
          <p:cNvSpPr txBox="1"/>
          <p:nvPr/>
        </p:nvSpPr>
        <p:spPr>
          <a:xfrm>
            <a:off x="6619875" y="6356350"/>
            <a:ext cx="5572125" cy="307777"/>
          </a:xfrm>
          <a:prstGeom prst="rect">
            <a:avLst/>
          </a:prstGeom>
          <a:noFill/>
        </p:spPr>
        <p:txBody>
          <a:bodyPr wrap="square">
            <a:spAutoFit/>
          </a:bodyPr>
          <a:lstStyle/>
          <a:p>
            <a:r>
              <a:rPr lang="ru-RU" sz="1400" dirty="0">
                <a:hlinkClick r:id="rId3"/>
              </a:rPr>
              <a:t>https://people.duke.edu/~rnau/411rand.ht</a:t>
            </a:r>
            <a:r>
              <a:rPr lang="en-US" sz="1400" dirty="0">
                <a:hlinkClick r:id="rId3"/>
              </a:rPr>
              <a:t>random</a:t>
            </a:r>
            <a:endParaRPr lang="ru-RU" sz="1400" dirty="0"/>
          </a:p>
        </p:txBody>
      </p:sp>
      <p:sp>
        <p:nvSpPr>
          <p:cNvPr id="3" name="Прямоугольник 2"/>
          <p:cNvSpPr/>
          <p:nvPr/>
        </p:nvSpPr>
        <p:spPr>
          <a:xfrm>
            <a:off x="381000" y="947474"/>
            <a:ext cx="11449050" cy="1938992"/>
          </a:xfrm>
          <a:prstGeom prst="rect">
            <a:avLst/>
          </a:prstGeom>
        </p:spPr>
        <p:txBody>
          <a:bodyPr wrap="square">
            <a:spAutoFit/>
          </a:bodyPr>
          <a:lstStyle/>
          <a:p>
            <a:r>
              <a:rPr lang="ru-RU" sz="2400" dirty="0"/>
              <a:t>Модели случайных блужданий широко используются для обработки нестационарных данных, в частности финансовых и экономических данных. </a:t>
            </a:r>
            <a:endParaRPr lang="en-US" sz="2400" dirty="0"/>
          </a:p>
          <a:p>
            <a:r>
              <a:rPr lang="ru-RU" sz="2400" dirty="0"/>
              <a:t>Случайные блуждания обычно имеют: </a:t>
            </a:r>
            <a:endParaRPr lang="en-US" sz="2400" dirty="0"/>
          </a:p>
          <a:p>
            <a:pPr marL="342900" indent="-342900">
              <a:buFont typeface="Arial" panose="020B0604020202020204" pitchFamily="34" charset="0"/>
              <a:buChar char="•"/>
            </a:pPr>
            <a:r>
              <a:rPr lang="ru-RU" sz="2400" dirty="0"/>
              <a:t>длительные периоды очевидных тенденций к повышению или снижению </a:t>
            </a:r>
            <a:endParaRPr lang="en-US" sz="2400" dirty="0"/>
          </a:p>
          <a:p>
            <a:pPr marL="342900" indent="-342900">
              <a:buFont typeface="Arial" panose="020B0604020202020204" pitchFamily="34" charset="0"/>
              <a:buChar char="•"/>
            </a:pPr>
            <a:r>
              <a:rPr lang="ru-RU" sz="2400" dirty="0"/>
              <a:t>внезапные и непредсказуемые изменения направления.</a:t>
            </a:r>
          </a:p>
        </p:txBody>
      </p:sp>
      <p:sp>
        <p:nvSpPr>
          <p:cNvPr id="5" name="Прямоугольник 4"/>
          <p:cNvSpPr/>
          <p:nvPr/>
        </p:nvSpPr>
        <p:spPr>
          <a:xfrm>
            <a:off x="5584958" y="5987018"/>
            <a:ext cx="4089133" cy="369332"/>
          </a:xfrm>
          <a:prstGeom prst="rect">
            <a:avLst/>
          </a:prstGeom>
        </p:spPr>
        <p:txBody>
          <a:bodyPr wrap="none">
            <a:spAutoFit/>
          </a:bodyPr>
          <a:lstStyle/>
          <a:p>
            <a:r>
              <a:rPr lang="ru-RU" dirty="0"/>
              <a:t>https://otexts.com/fpp2/stationarity.html</a:t>
            </a:r>
          </a:p>
        </p:txBody>
      </p:sp>
      <mc:AlternateContent xmlns:mc="http://schemas.openxmlformats.org/markup-compatibility/2006" xmlns:a14="http://schemas.microsoft.com/office/drawing/2010/main">
        <mc:Choice Requires="a14">
          <p:sp>
            <p:nvSpPr>
              <p:cNvPr id="6" name="Прямоугольник 5"/>
              <p:cNvSpPr/>
              <p:nvPr/>
            </p:nvSpPr>
            <p:spPr>
              <a:xfrm>
                <a:off x="381000" y="2974521"/>
                <a:ext cx="4933950" cy="2031325"/>
              </a:xfrm>
              <a:prstGeom prst="rect">
                <a:avLst/>
              </a:prstGeom>
            </p:spPr>
            <p:txBody>
              <a:bodyPr wrap="square">
                <a:spAutoFit/>
              </a:bodyPr>
              <a:lstStyle/>
              <a:p>
                <a:r>
                  <a:rPr lang="ru-RU" i="1" dirty="0">
                    <a:latin typeface="Cambria Math" panose="02040503050406030204" pitchFamily="18" charset="0"/>
                    <a:cs typeface="Arial" panose="020B0604020202020204" pitchFamily="34" charset="0"/>
                  </a:rPr>
                  <a:t>Модель ВР </a:t>
                </a:r>
                <a:r>
                  <a:rPr lang="en-US" i="1" dirty="0">
                    <a:latin typeface="Cambria Math" panose="02040503050406030204" pitchFamily="18" charset="0"/>
                    <a:cs typeface="Arial" panose="020B0604020202020204" pitchFamily="34" charset="0"/>
                  </a:rPr>
                  <a:t>random walk</a:t>
                </a:r>
                <a:endParaRPr lang="ru-RU"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Где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r>
                      <a:rPr lang="ru-RU" b="0" i="1" dirty="0" smtClean="0">
                        <a:latin typeface="Cambria Math" panose="02040503050406030204" pitchFamily="18" charset="0"/>
                        <a:cs typeface="Arial" panose="020B0604020202020204" pitchFamily="34" charset="0"/>
                      </a:rPr>
                      <m:t>,</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oMath>
                </a14:m>
                <a:r>
                  <a:rPr lang="ru-RU" dirty="0">
                    <a:latin typeface="Arial" panose="020B0604020202020204" pitchFamily="34" charset="0"/>
                    <a:cs typeface="Arial" panose="020B0604020202020204" pitchFamily="34" charset="0"/>
                  </a:rPr>
                  <a:t> - последовательные значения ВР.</a:t>
                </a:r>
              </a:p>
              <a:p>
                <a:r>
                  <a:rPr lang="ru-RU" dirty="0">
                    <a:latin typeface="Arial" panose="020B0604020202020204" pitchFamily="34" charset="0"/>
                    <a:cs typeface="Arial" panose="020B0604020202020204" pitchFamily="34" charset="0"/>
                  </a:rPr>
                  <a:t>Если</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имеет постоянную составляющую</a:t>
                </a:r>
                <a:r>
                  <a:rPr lang="en-US" dirty="0">
                    <a:latin typeface="Arial" panose="020B0604020202020204" pitchFamily="34" charset="0"/>
                    <a:cs typeface="Arial" panose="020B0604020202020204" pitchFamily="34" charset="0"/>
                  </a:rPr>
                  <a:t> </a:t>
                </a:r>
                <a14:m>
                  <m:oMath xmlns:m="http://schemas.openxmlformats.org/officeDocument/2006/math">
                    <m:r>
                      <a:rPr lang="en-US" i="1" dirty="0">
                        <a:latin typeface="Cambria Math" panose="02040503050406030204" pitchFamily="18" charset="0"/>
                        <a:cs typeface="Arial" panose="020B0604020202020204" pitchFamily="34" charset="0"/>
                      </a:rPr>
                      <m:t>𝜇</m:t>
                    </m:r>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то эта часть называется дрифт</a:t>
                </a:r>
                <a:r>
                  <a:rPr lang="en-US"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r>
                        <a:rPr lang="en-US" i="1" dirty="0">
                          <a:latin typeface="Cambria Math" panose="02040503050406030204" pitchFamily="18" charset="0"/>
                          <a:cs typeface="Arial" panose="020B0604020202020204" pitchFamily="34" charset="0"/>
                        </a:rPr>
                        <m:t>𝜇</m:t>
                      </m:r>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81000" y="2974521"/>
                <a:ext cx="4933950" cy="2031325"/>
              </a:xfrm>
              <a:prstGeom prst="rect">
                <a:avLst/>
              </a:prstGeom>
              <a:blipFill>
                <a:blip r:embed="rId4"/>
                <a:stretch>
                  <a:fillRect l="-1112" t="-2102" b="-601"/>
                </a:stretch>
              </a:blipFill>
            </p:spPr>
            <p:txBody>
              <a:bodyPr/>
              <a:lstStyle/>
              <a:p>
                <a:r>
                  <a:rPr lang="ru-RU">
                    <a:noFill/>
                  </a:rPr>
                  <a:t> </a:t>
                </a:r>
              </a:p>
            </p:txBody>
          </p:sp>
        </mc:Fallback>
      </mc:AlternateContent>
    </p:spTree>
    <p:extLst>
      <p:ext uri="{BB962C8B-B14F-4D97-AF65-F5344CB8AC3E}">
        <p14:creationId xmlns:p14="http://schemas.microsoft.com/office/powerpoint/2010/main" val="14333169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endParaRPr lang="ru-RU" altLang="en-US" sz="2200" i="1" dirty="0"/>
              </a:p>
              <a:p>
                <a:pPr marL="0" indent="0" eaLnBrk="0" fontAlgn="base" hangingPunct="0">
                  <a:lnSpc>
                    <a:spcPct val="100000"/>
                  </a:lnSpc>
                  <a:spcBef>
                    <a:spcPct val="0"/>
                  </a:spcBef>
                  <a:spcAft>
                    <a:spcPct val="0"/>
                  </a:spcAft>
                  <a:buNone/>
                </a:pPr>
                <a:r>
                  <a:rPr lang="ru-RU" altLang="en-US" sz="2200" i="1" dirty="0"/>
                  <a:t>Модель может описываться более чем одной линейно-независимой составляющей каждой компоненты</a:t>
                </a:r>
              </a:p>
              <a:p>
                <a:pPr marL="0" indent="0" algn="ctr"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rPr>
                        <m:t>y</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 = </m:t>
                      </m:r>
                      <m:r>
                        <a:rPr lang="en-US" altLang="en-US" sz="2400" i="1" dirty="0">
                          <a:latin typeface="Cambria Math" panose="02040503050406030204" pitchFamily="18" charset="0"/>
                        </a:rPr>
                        <m:t>𝑡𝑟𝑒𝑛</m:t>
                      </m:r>
                      <m:sSub>
                        <m:sSubPr>
                          <m:ctrlPr>
                            <a:rPr lang="en-US" altLang="en-US" sz="2400" b="0" i="1" dirty="0" smtClean="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1</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r>
                        <a:rPr lang="en-US" altLang="en-US" sz="2400" i="1" dirty="0">
                          <a:latin typeface="Cambria Math" panose="02040503050406030204" pitchFamily="18" charset="0"/>
                        </a:rPr>
                        <m:t>𝑡𝑟𝑒𝑛</m:t>
                      </m:r>
                      <m:sSub>
                        <m:sSubPr>
                          <m:ctrlPr>
                            <a:rPr lang="en-US" altLang="en-US" sz="2400" i="1" dirty="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2</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nary>
                        <m:naryPr>
                          <m:chr m:val="∑"/>
                          <m:ctrlPr>
                            <a:rPr lang="en-US" altLang="en-US" sz="2400" i="1" dirty="0">
                              <a:latin typeface="Cambria Math" panose="02040503050406030204" pitchFamily="18" charset="0"/>
                            </a:rPr>
                          </m:ctrlPr>
                        </m:naryPr>
                        <m:sub>
                          <m:r>
                            <a:rPr lang="en-US" altLang="en-US" sz="2400" i="1" dirty="0" err="1">
                              <a:latin typeface="Cambria Math" panose="02040503050406030204" pitchFamily="18" charset="0"/>
                            </a:rPr>
                            <m:t>𝑖</m:t>
                          </m:r>
                          <m:r>
                            <a:rPr lang="en-US" altLang="en-US" sz="2400" i="1" dirty="0">
                              <a:latin typeface="Cambria Math" panose="02040503050406030204" pitchFamily="18" charset="0"/>
                            </a:rPr>
                            <m:t>=0</m:t>
                          </m:r>
                        </m:sub>
                        <m:sup>
                          <m:r>
                            <a:rPr lang="en-US" altLang="en-US" sz="2400" i="1" dirty="0">
                              <a:latin typeface="Cambria Math" panose="02040503050406030204" pitchFamily="18" charset="0"/>
                            </a:rPr>
                            <m:t>𝑀</m:t>
                          </m:r>
                        </m:sup>
                        <m:e>
                          <m:r>
                            <a:rPr lang="en-US" altLang="en-US" sz="2400" i="1" dirty="0">
                              <a:latin typeface="Cambria Math" panose="02040503050406030204" pitchFamily="18" charset="0"/>
                            </a:rPr>
                            <m:t>𝑠𝑒𝑎𝑠𝑜𝑛𝑎𝑙</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e>
                      </m:nary>
                      <m:r>
                        <a:rPr lang="en-US" altLang="en-US" sz="2400" i="1" dirty="0">
                          <a:latin typeface="Cambria Math" panose="02040503050406030204" pitchFamily="18" charset="0"/>
                        </a:rPr>
                        <m:t> + </m:t>
                      </m:r>
                      <m:r>
                        <a:rPr lang="en-US" altLang="en-US" sz="2400" i="1" dirty="0">
                          <a:latin typeface="Cambria Math" panose="02040503050406030204" pitchFamily="18" charset="0"/>
                        </a:rPr>
                        <m:t>𝑛𝑜𝑖𝑠𝑒</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oMath>
                  </m:oMathPara>
                </a14:m>
                <a:endParaRPr lang="ru-RU" altLang="en-US" sz="2000" dirty="0">
                  <a:latin typeface="Open Sans"/>
                </a:endParaRPr>
              </a:p>
              <a:p>
                <a:pPr marL="0" indent="0" eaLnBrk="0" fontAlgn="base" hangingPunct="0">
                  <a:lnSpc>
                    <a:spcPct val="100000"/>
                  </a:lnSpc>
                  <a:spcBef>
                    <a:spcPct val="0"/>
                  </a:spcBef>
                  <a:spcAft>
                    <a:spcPct val="0"/>
                  </a:spcAft>
                  <a:buNone/>
                </a:pPr>
                <a:r>
                  <a:rPr lang="ru-RU" altLang="en-US" sz="2000" dirty="0">
                    <a:latin typeface="Open Sans"/>
                  </a:rPr>
                  <a:t>Или в более сложных отношения</a:t>
                </a:r>
              </a:p>
              <a:p>
                <a:pPr marL="0" indent="0" algn="ctr" eaLnBrk="0" fontAlgn="base" hangingPunct="0">
                  <a:lnSpc>
                    <a:spcPct val="100000"/>
                  </a:lnSpc>
                  <a:spcBef>
                    <a:spcPct val="0"/>
                  </a:spcBef>
                  <a:spcAft>
                    <a:spcPct val="0"/>
                  </a:spcAft>
                  <a:buNone/>
                </a:pPr>
                <a14:m>
                  <m:oMath xmlns:m="http://schemas.openxmlformats.org/officeDocument/2006/math">
                    <m:r>
                      <a:rPr lang="en-US" altLang="en-US" sz="2000" i="1" dirty="0">
                        <a:latin typeface="Cambria Math" panose="02040503050406030204" pitchFamily="18" charset="0"/>
                      </a:rPr>
                      <m:t>𝑦</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 </m:t>
                    </m:r>
                    <m:r>
                      <a:rPr lang="en-US" altLang="en-US" sz="2000" i="1" dirty="0">
                        <a:latin typeface="Cambria Math" panose="02040503050406030204" pitchFamily="18" charset="0"/>
                      </a:rPr>
                      <m:t>𝑡𝑟𝑒𝑛𝑑</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d>
                      <m:dPr>
                        <m:ctrlPr>
                          <a:rPr lang="ru-RU" altLang="en-US" sz="2000" b="0" i="1" dirty="0" smtClean="0">
                            <a:latin typeface="Cambria Math" panose="02040503050406030204" pitchFamily="18" charset="0"/>
                          </a:rPr>
                        </m:ctrlPr>
                      </m:dPr>
                      <m:e>
                        <m:r>
                          <a:rPr lang="en-US" altLang="en-US" sz="2000" i="1" dirty="0">
                            <a:latin typeface="Cambria Math" panose="02040503050406030204" pitchFamily="18" charset="0"/>
                          </a:rPr>
                          <m:t>𝑡𝑟𝑒𝑛</m:t>
                        </m:r>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en-US" altLang="en-US" sz="2000" i="1" dirty="0">
                                <a:latin typeface="Cambria Math" panose="02040503050406030204" pitchFamily="18" charset="0"/>
                              </a:rPr>
                              <m:t>2</m:t>
                            </m:r>
                          </m:sub>
                        </m:sSub>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e>
                        </m:nary>
                      </m:e>
                    </m:d>
                    <m:r>
                      <a:rPr lang="ru-RU" altLang="en-US" sz="2000" b="0" i="1" dirty="0" smtClean="0">
                        <a:latin typeface="Cambria Math" panose="02040503050406030204" pitchFamily="18" charset="0"/>
                      </a:rPr>
                      <m:t>+</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oMath>
                </a14:m>
                <a:r>
                  <a:rPr lang="en-US" altLang="en-US" sz="2000" i="1" dirty="0"/>
                  <a:t>). </a:t>
                </a:r>
              </a:p>
              <a:p>
                <a:pPr eaLnBrk="0" fontAlgn="base" hangingPunct="0">
                  <a:lnSpc>
                    <a:spcPct val="100000"/>
                  </a:lnSpc>
                  <a:spcBef>
                    <a:spcPct val="0"/>
                  </a:spcBef>
                  <a:spcAft>
                    <a:spcPct val="0"/>
                  </a:spcAft>
                </a:pPr>
                <a:endParaRPr lang="en-US" altLang="en-US" sz="2000" dirty="0">
                  <a:latin typeface="Open Sans"/>
                </a:endParaRPr>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687" r="-1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9</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326071" y="4477386"/>
            <a:ext cx="11099483" cy="1277273"/>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Чем более подробно описана модель, тем выше качество ее работы. </a:t>
            </a:r>
          </a:p>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Однако, подробное описание модели может привести к переобучению!</a:t>
            </a:r>
            <a:endParaRPr lang="en-US" altLang="en-US" sz="2400" dirty="0">
              <a:latin typeface="Open Sans"/>
            </a:endParaRPr>
          </a:p>
        </p:txBody>
      </p:sp>
      <p:sp>
        <p:nvSpPr>
          <p:cNvPr id="9" name="Прямоугольник 8"/>
          <p:cNvSpPr/>
          <p:nvPr/>
        </p:nvSpPr>
        <p:spPr>
          <a:xfrm>
            <a:off x="209550" y="6290884"/>
            <a:ext cx="5065489" cy="369332"/>
          </a:xfrm>
          <a:prstGeom prst="rect">
            <a:avLst/>
          </a:prstGeom>
        </p:spPr>
        <p:txBody>
          <a:bodyPr wrap="none">
            <a:spAutoFit/>
          </a:bodyPr>
          <a:lstStyle/>
          <a:p>
            <a:r>
              <a:rPr lang="ru-RU" dirty="0"/>
              <a:t>https://openforecast.org/adam/tsComponents.html</a:t>
            </a:r>
          </a:p>
        </p:txBody>
      </p:sp>
    </p:spTree>
    <p:extLst>
      <p:ext uri="{BB962C8B-B14F-4D97-AF65-F5344CB8AC3E}">
        <p14:creationId xmlns:p14="http://schemas.microsoft.com/office/powerpoint/2010/main" val="5695802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В модель могут включаться редкие, но регулярные события </a:t>
                </a:r>
                <a:r>
                  <a:rPr lang="ru-RU" altLang="en-US" sz="2000" dirty="0" err="1">
                    <a:latin typeface="Open Sans"/>
                  </a:rPr>
                  <a:t>напр</a:t>
                </a:r>
                <a:r>
                  <a:rPr lang="ru-RU" altLang="en-US" sz="2000" dirty="0">
                    <a:latin typeface="Open Sans"/>
                  </a:rPr>
                  <a:t> праздничные дни</a:t>
                </a: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𝑡𝑟𝑒𝑛𝑑</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Open Sans"/>
                </a:endParaRPr>
              </a:p>
              <a:p>
                <a14:m>
                  <m:oMath xmlns:m="http://schemas.openxmlformats.org/officeDocument/2006/math">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oMath>
                </a14:m>
                <a:r>
                  <a:rPr lang="ru-RU" sz="2000" dirty="0"/>
                  <a:t> - значения редких, но регулярных событий (напр. праздничные дни)</a:t>
                </a:r>
              </a:p>
              <a:p>
                <a14:m>
                  <m:oMath xmlns:m="http://schemas.openxmlformats.org/officeDocument/2006/math">
                    <m:r>
                      <a:rPr lang="en-US" altLang="en-US" sz="2000" i="1" dirty="0">
                        <a:latin typeface="Cambria Math" panose="02040503050406030204" pitchFamily="18" charset="0"/>
                      </a:rPr>
                      <m:t>𝐻</m:t>
                    </m:r>
                  </m:oMath>
                </a14:m>
                <a:r>
                  <a:rPr lang="ru-RU" sz="2000" dirty="0"/>
                  <a:t> – число событий</a:t>
                </a:r>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1210" t="-11644"/>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10</a:t>
            </a:fld>
            <a:endParaRPr lang="en-US"/>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9" name="Прямоугольник 8"/>
          <p:cNvSpPr/>
          <p:nvPr/>
        </p:nvSpPr>
        <p:spPr>
          <a:xfrm>
            <a:off x="447674" y="6414898"/>
            <a:ext cx="10506075" cy="369332"/>
          </a:xfrm>
          <a:prstGeom prst="rect">
            <a:avLst/>
          </a:prstGeom>
        </p:spPr>
        <p:txBody>
          <a:bodyPr wrap="square">
            <a:spAutoFit/>
          </a:bodyPr>
          <a:lstStyle/>
          <a:p>
            <a:r>
              <a:rPr lang="ru-RU" dirty="0"/>
              <a:t>https://exploratory.io/note/exploratory/Time-Series-Forecasting-with-Effects-of-National-Holidays-lBP9Lpc5vT</a:t>
            </a:r>
          </a:p>
        </p:txBody>
      </p:sp>
      <p:pic>
        <p:nvPicPr>
          <p:cNvPr id="10" name="Рисунок 9"/>
          <p:cNvPicPr>
            <a:picLocks noChangeAspect="1"/>
          </p:cNvPicPr>
          <p:nvPr/>
        </p:nvPicPr>
        <p:blipFill rotWithShape="1">
          <a:blip r:embed="rId3"/>
          <a:srcRect l="6623" r="27020" b="52170"/>
          <a:stretch/>
        </p:blipFill>
        <p:spPr>
          <a:xfrm>
            <a:off x="290570" y="3130293"/>
            <a:ext cx="5500515" cy="2063415"/>
          </a:xfrm>
          <a:prstGeom prst="rect">
            <a:avLst/>
          </a:prstGeom>
        </p:spPr>
      </p:pic>
      <p:pic>
        <p:nvPicPr>
          <p:cNvPr id="11" name="Рисунок 10"/>
          <p:cNvPicPr>
            <a:picLocks noChangeAspect="1"/>
          </p:cNvPicPr>
          <p:nvPr/>
        </p:nvPicPr>
        <p:blipFill rotWithShape="1">
          <a:blip r:embed="rId3"/>
          <a:srcRect l="5893" t="45809" r="26490" b="6361"/>
          <a:stretch/>
        </p:blipFill>
        <p:spPr>
          <a:xfrm>
            <a:off x="6234284" y="3326291"/>
            <a:ext cx="5500515" cy="2025017"/>
          </a:xfrm>
          <a:prstGeom prst="rect">
            <a:avLst/>
          </a:prstGeom>
        </p:spPr>
      </p:pic>
      <p:pic>
        <p:nvPicPr>
          <p:cNvPr id="12" name="Рисунок 11"/>
          <p:cNvPicPr>
            <a:picLocks noChangeAspect="1"/>
          </p:cNvPicPr>
          <p:nvPr/>
        </p:nvPicPr>
        <p:blipFill rotWithShape="1">
          <a:blip r:embed="rId3"/>
          <a:srcRect l="72914" t="2577" r="5960" b="72276"/>
          <a:stretch>
            <a:fillRect/>
          </a:stretch>
        </p:blipFill>
        <p:spPr>
          <a:xfrm>
            <a:off x="10359930" y="2245804"/>
            <a:ext cx="1709736" cy="1059182"/>
          </a:xfrm>
          <a:prstGeom prst="rect">
            <a:avLst/>
          </a:prstGeom>
        </p:spPr>
      </p:pic>
      <p:sp>
        <p:nvSpPr>
          <p:cNvPr id="13" name="Прямоугольник 12"/>
          <p:cNvSpPr/>
          <p:nvPr/>
        </p:nvSpPr>
        <p:spPr>
          <a:xfrm>
            <a:off x="209550" y="5409856"/>
            <a:ext cx="11772900" cy="707886"/>
          </a:xfrm>
          <a:prstGeom prst="rect">
            <a:avLst/>
          </a:prstGeom>
        </p:spPr>
        <p:txBody>
          <a:bodyPr wrap="square">
            <a:spAutoFit/>
          </a:bodyPr>
          <a:lstStyle/>
          <a:p>
            <a:pPr eaLnBrk="0" fontAlgn="base" hangingPunct="0">
              <a:lnSpc>
                <a:spcPct val="100000"/>
              </a:lnSpc>
              <a:spcBef>
                <a:spcPct val="0"/>
              </a:spcBef>
              <a:spcAft>
                <a:spcPct val="0"/>
              </a:spcAft>
            </a:pPr>
            <a:r>
              <a:rPr lang="ru-RU" altLang="en-US" sz="2000" b="1" dirty="0">
                <a:latin typeface="Open Sans"/>
              </a:rPr>
              <a:t>Редкие события отличаются от аномалий тем, что их даты известны и ожидается их повторение!</a:t>
            </a:r>
          </a:p>
        </p:txBody>
      </p:sp>
    </p:spTree>
    <p:extLst>
      <p:ext uri="{BB962C8B-B14F-4D97-AF65-F5344CB8AC3E}">
        <p14:creationId xmlns:p14="http://schemas.microsoft.com/office/powerpoint/2010/main" val="1177602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О</a:t>
            </a:r>
            <a:r>
              <a:rPr lang="en-US" dirty="0" err="1"/>
              <a:t>соб</a:t>
            </a:r>
            <a:r>
              <a:rPr lang="ru-RU" dirty="0" err="1"/>
              <a:t>енности</a:t>
            </a:r>
            <a:r>
              <a:rPr lang="en-US" dirty="0"/>
              <a:t> </a:t>
            </a:r>
            <a:r>
              <a:rPr lang="en-US" dirty="0" err="1"/>
              <a:t>и</a:t>
            </a:r>
            <a:r>
              <a:rPr lang="ru-RU" dirty="0"/>
              <a:t> варианты модели ВР</a:t>
            </a:r>
          </a:p>
        </p:txBody>
      </p:sp>
      <p:sp>
        <p:nvSpPr>
          <p:cNvPr id="3" name="Объект 2">
            <a:extLst>
              <a:ext uri="{FF2B5EF4-FFF2-40B4-BE49-F238E27FC236}">
                <a16:creationId xmlns:a16="http://schemas.microsoft.com/office/drawing/2014/main" id="{F71775E9-3CBC-DA68-FB1D-19750435AD5D}"/>
              </a:ext>
            </a:extLst>
          </p:cNvPr>
          <p:cNvSpPr>
            <a:spLocks noGrp="1"/>
          </p:cNvSpPr>
          <p:nvPr>
            <p:ph idx="1"/>
          </p:nvPr>
        </p:nvSpPr>
        <p:spPr>
          <a:xfrm>
            <a:off x="181830" y="824207"/>
            <a:ext cx="11820525" cy="4516498"/>
          </a:xfrm>
        </p:spPr>
        <p:txBody>
          <a:bodyPr>
            <a:normAutofit/>
          </a:bodyPr>
          <a:lstStyle/>
          <a:p>
            <a:r>
              <a:rPr lang="ru-RU" sz="2200" dirty="0" err="1"/>
              <a:t>Многосезонные</a:t>
            </a:r>
            <a:r>
              <a:rPr lang="ru-RU" sz="2200" dirty="0"/>
              <a:t> ВР - имеют значимое влияние нескольких компонент (напр. неделя и квартал).</a:t>
            </a:r>
          </a:p>
          <a:p>
            <a:r>
              <a:rPr lang="ru-RU" sz="2200" dirty="0"/>
              <a:t>Почасовые данные обычно имеют три типа сезонности: дневную, недельную и годовую.</a:t>
            </a:r>
          </a:p>
          <a:p>
            <a:r>
              <a:rPr lang="ru-RU" sz="2200" dirty="0"/>
              <a:t>Также сезонность может зависеть от </a:t>
            </a:r>
            <a:r>
              <a:rPr lang="en-US" sz="2200" dirty="0" err="1"/>
              <a:t>эк</a:t>
            </a:r>
            <a:r>
              <a:rPr lang="ru-RU" sz="2200" dirty="0" err="1"/>
              <a:t>зогенных</a:t>
            </a:r>
            <a:r>
              <a:rPr lang="ru-RU" sz="2200" dirty="0"/>
              <a:t> (внешних факторов)</a:t>
            </a:r>
          </a:p>
          <a:p>
            <a:pPr lvl="1"/>
            <a:r>
              <a:rPr lang="ru-RU" sz="2200" dirty="0"/>
              <a:t>Напр. потребление электричества от температуры </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z="900" smtClean="0"/>
              <a:t>11</a:t>
            </a:fld>
            <a:endParaRPr lang="en-US" sz="900"/>
          </a:p>
        </p:txBody>
      </p:sp>
      <p:pic>
        <p:nvPicPr>
          <p:cNvPr id="9218" name="Picture 2" descr="A time series and its basic parts including two seasonal components. Image by author.">
            <a:extLst>
              <a:ext uri="{FF2B5EF4-FFF2-40B4-BE49-F238E27FC236}">
                <a16:creationId xmlns:a16="http://schemas.microsoft.com/office/drawing/2014/main" id="{70918C6B-820F-8FD6-07E9-76787760A0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64"/>
          <a:stretch>
            <a:fillRect/>
          </a:stretch>
        </p:blipFill>
        <p:spPr bwMode="auto">
          <a:xfrm>
            <a:off x="7011411" y="2200406"/>
            <a:ext cx="5037301" cy="37221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7E07CD-1B72-9AF9-9BDC-E53B3B1971D3}"/>
              </a:ext>
            </a:extLst>
          </p:cNvPr>
          <p:cNvSpPr txBox="1"/>
          <p:nvPr/>
        </p:nvSpPr>
        <p:spPr>
          <a:xfrm>
            <a:off x="6114668" y="6324781"/>
            <a:ext cx="6096000" cy="261610"/>
          </a:xfrm>
          <a:prstGeom prst="rect">
            <a:avLst/>
          </a:prstGeom>
          <a:noFill/>
        </p:spPr>
        <p:txBody>
          <a:bodyPr wrap="square">
            <a:spAutoFit/>
          </a:bodyPr>
          <a:lstStyle/>
          <a:p>
            <a:r>
              <a:rPr lang="ru-RU" sz="1100" dirty="0" err="1"/>
              <a:t>https</a:t>
            </a:r>
            <a:r>
              <a:rPr lang="ru-RU" sz="1100" dirty="0"/>
              <a:t>://</a:t>
            </a:r>
            <a:r>
              <a:rPr lang="ru-RU" sz="1100" dirty="0" err="1"/>
              <a:t>towardsdatascience.com</a:t>
            </a:r>
            <a:r>
              <a:rPr lang="ru-RU" sz="1100" dirty="0"/>
              <a:t>/how-to-model-multiple-seasonality-in-time-series-2a3488f8e7f5/</a:t>
            </a:r>
          </a:p>
        </p:txBody>
      </p:sp>
      <p:sp>
        <p:nvSpPr>
          <p:cNvPr id="11" name="TextBox 10">
            <a:extLst>
              <a:ext uri="{FF2B5EF4-FFF2-40B4-BE49-F238E27FC236}">
                <a16:creationId xmlns:a16="http://schemas.microsoft.com/office/drawing/2014/main" id="{D69875C4-B190-3888-E24C-94FDD953A44C}"/>
              </a:ext>
            </a:extLst>
          </p:cNvPr>
          <p:cNvSpPr txBox="1"/>
          <p:nvPr/>
        </p:nvSpPr>
        <p:spPr>
          <a:xfrm>
            <a:off x="8610600" y="2041365"/>
            <a:ext cx="2081660" cy="369332"/>
          </a:xfrm>
          <a:prstGeom prst="rect">
            <a:avLst/>
          </a:prstGeom>
          <a:noFill/>
        </p:spPr>
        <p:txBody>
          <a:bodyPr wrap="none" rtlCol="0">
            <a:spAutoFit/>
          </a:bodyPr>
          <a:lstStyle/>
          <a:p>
            <a:r>
              <a:rPr lang="ru-RU" dirty="0" err="1"/>
              <a:t>Многосезонный</a:t>
            </a:r>
            <a:r>
              <a:rPr lang="ru-RU" dirty="0"/>
              <a:t> ВР</a:t>
            </a:r>
          </a:p>
        </p:txBody>
      </p:sp>
      <p:sp>
        <p:nvSpPr>
          <p:cNvPr id="5" name="Прямоугольник 4"/>
          <p:cNvSpPr/>
          <p:nvPr/>
        </p:nvSpPr>
        <p:spPr>
          <a:xfrm>
            <a:off x="6236745" y="6596914"/>
            <a:ext cx="6096000" cy="261610"/>
          </a:xfrm>
          <a:prstGeom prst="rect">
            <a:avLst/>
          </a:prstGeom>
        </p:spPr>
        <p:txBody>
          <a:bodyPr>
            <a:spAutoFit/>
          </a:bodyPr>
          <a:lstStyle/>
          <a:p>
            <a:r>
              <a:rPr lang="ru-RU" sz="1100" dirty="0"/>
              <a:t>https://towardsdatascience.com/8-techniques-to-model-seasonality-2f81d739710/</a:t>
            </a:r>
          </a:p>
        </p:txBody>
      </p:sp>
      <p:sp>
        <p:nvSpPr>
          <p:cNvPr id="7" name="Прямоугольник 6"/>
          <p:cNvSpPr/>
          <p:nvPr/>
        </p:nvSpPr>
        <p:spPr>
          <a:xfrm>
            <a:off x="3059272" y="6356350"/>
            <a:ext cx="3177473" cy="261610"/>
          </a:xfrm>
          <a:prstGeom prst="rect">
            <a:avLst/>
          </a:prstGeom>
        </p:spPr>
        <p:txBody>
          <a:bodyPr wrap="none">
            <a:spAutoFit/>
          </a:bodyPr>
          <a:lstStyle/>
          <a:p>
            <a:r>
              <a:rPr lang="ru-RU" sz="1100" dirty="0"/>
              <a:t>https://robjhyndman.com/seminars/compstat2022/</a:t>
            </a:r>
          </a:p>
        </p:txBody>
      </p:sp>
      <p:sp>
        <p:nvSpPr>
          <p:cNvPr id="9" name="Прямоугольник 8"/>
          <p:cNvSpPr/>
          <p:nvPr/>
        </p:nvSpPr>
        <p:spPr>
          <a:xfrm>
            <a:off x="197041" y="6575867"/>
            <a:ext cx="6096000" cy="261610"/>
          </a:xfrm>
          <a:prstGeom prst="rect">
            <a:avLst/>
          </a:prstGeom>
        </p:spPr>
        <p:txBody>
          <a:bodyPr>
            <a:spAutoFit/>
          </a:bodyPr>
          <a:lstStyle/>
          <a:p>
            <a:r>
              <a:rPr lang="ru-RU" sz="1100" dirty="0"/>
              <a:t>https://www.business-science.io/code-tools/2020/08/26/five-minute-time-series-seasonality.html#</a:t>
            </a:r>
          </a:p>
        </p:txBody>
      </p:sp>
      <p:sp>
        <p:nvSpPr>
          <p:cNvPr id="14" name="Прямоугольник 13"/>
          <p:cNvSpPr/>
          <p:nvPr/>
        </p:nvSpPr>
        <p:spPr>
          <a:xfrm>
            <a:off x="189645" y="6356350"/>
            <a:ext cx="3050835" cy="261610"/>
          </a:xfrm>
          <a:prstGeom prst="rect">
            <a:avLst/>
          </a:prstGeom>
        </p:spPr>
        <p:txBody>
          <a:bodyPr wrap="none">
            <a:spAutoFit/>
          </a:bodyPr>
          <a:lstStyle/>
          <a:p>
            <a:r>
              <a:rPr lang="ru-RU" sz="1100" dirty="0"/>
              <a:t>https://otexts.com/fpp2/complexseasonality.html</a:t>
            </a:r>
          </a:p>
        </p:txBody>
      </p:sp>
      <p:pic>
        <p:nvPicPr>
          <p:cNvPr id="3074" name="Picture 2" descr="Half-hourly electricity demand and corresponding temperatures in 2014, Victoria, Australia.">
            <a:extLst>
              <a:ext uri="{FF2B5EF4-FFF2-40B4-BE49-F238E27FC236}">
                <a16:creationId xmlns:a16="http://schemas.microsoft.com/office/drawing/2014/main" id="{29FD4B76-8903-9969-0975-D4974A2DCF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90"/>
          <a:stretch>
            <a:fillRect/>
          </a:stretch>
        </p:blipFill>
        <p:spPr bwMode="auto">
          <a:xfrm>
            <a:off x="181830" y="2545638"/>
            <a:ext cx="5906355" cy="340729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9B64489-2641-BCD7-A7E9-55851490B6EA}"/>
              </a:ext>
            </a:extLst>
          </p:cNvPr>
          <p:cNvSpPr txBox="1"/>
          <p:nvPr/>
        </p:nvSpPr>
        <p:spPr>
          <a:xfrm>
            <a:off x="197348" y="6081592"/>
            <a:ext cx="7166588" cy="307777"/>
          </a:xfrm>
          <a:prstGeom prst="rect">
            <a:avLst/>
          </a:prstGeom>
          <a:noFill/>
        </p:spPr>
        <p:txBody>
          <a:bodyPr wrap="square">
            <a:spAutoFit/>
          </a:bodyPr>
          <a:lstStyle/>
          <a:p>
            <a:r>
              <a:rPr lang="en" sz="1400" b="0" i="0" dirty="0">
                <a:solidFill>
                  <a:srgbClr val="222222"/>
                </a:solidFill>
                <a:effectLst/>
              </a:rPr>
              <a:t>Half-hourly electricity demand and corresponding temperatures in 2014, Victoria, Australia</a:t>
            </a:r>
            <a:endParaRPr lang="ru-RU" sz="1400" dirty="0"/>
          </a:p>
        </p:txBody>
      </p:sp>
    </p:spTree>
    <p:extLst>
      <p:ext uri="{BB962C8B-B14F-4D97-AF65-F5344CB8AC3E}">
        <p14:creationId xmlns:p14="http://schemas.microsoft.com/office/powerpoint/2010/main" val="32546497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Точки перегиба и новизна в тренде</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12</a:t>
            </a:fld>
            <a:endParaRPr lang="en-US"/>
          </a:p>
        </p:txBody>
      </p:sp>
      <p:sp>
        <p:nvSpPr>
          <p:cNvPr id="8" name="TextBox 7">
            <a:extLst>
              <a:ext uri="{FF2B5EF4-FFF2-40B4-BE49-F238E27FC236}">
                <a16:creationId xmlns:a16="http://schemas.microsoft.com/office/drawing/2014/main" id="{F436175C-6A4B-E1A6-C9FD-91D471755FAD}"/>
              </a:ext>
            </a:extLst>
          </p:cNvPr>
          <p:cNvSpPr txBox="1"/>
          <p:nvPr/>
        </p:nvSpPr>
        <p:spPr>
          <a:xfrm>
            <a:off x="5562600" y="6459865"/>
            <a:ext cx="6096000" cy="261610"/>
          </a:xfrm>
          <a:prstGeom prst="rect">
            <a:avLst/>
          </a:prstGeom>
          <a:noFill/>
        </p:spPr>
        <p:txBody>
          <a:bodyPr wrap="square">
            <a:spAutoFit/>
          </a:bodyPr>
          <a:lstStyle/>
          <a:p>
            <a:r>
              <a:rPr lang="ru-RU" sz="1050" dirty="0" err="1"/>
              <a:t>https</a:t>
            </a:r>
            <a:r>
              <a:rPr lang="ru-RU" sz="1050" dirty="0"/>
              <a:t>://</a:t>
            </a:r>
            <a:r>
              <a:rPr lang="ru-RU" sz="1050" dirty="0" err="1"/>
              <a:t>stackoverflow.com</a:t>
            </a:r>
            <a:r>
              <a:rPr lang="ru-RU" sz="1050" dirty="0"/>
              <a:t>/</a:t>
            </a:r>
            <a:r>
              <a:rPr lang="ru-RU" sz="1050" dirty="0" err="1"/>
              <a:t>questions</a:t>
            </a:r>
            <a:r>
              <a:rPr lang="ru-RU" sz="1050" dirty="0"/>
              <a:t>/63699471/</a:t>
            </a:r>
            <a:r>
              <a:rPr lang="ru-RU" sz="1050" dirty="0" err="1"/>
              <a:t>time-series-data-change-point-detection</a:t>
            </a:r>
            <a:endParaRPr lang="ru-RU" sz="1050" dirty="0"/>
          </a:p>
        </p:txBody>
      </p:sp>
      <p:pic>
        <p:nvPicPr>
          <p:cNvPr id="9" name="Рисунок 8"/>
          <p:cNvPicPr>
            <a:picLocks noChangeAspect="1"/>
          </p:cNvPicPr>
          <p:nvPr/>
        </p:nvPicPr>
        <p:blipFill rotWithShape="1">
          <a:blip r:embed="rId2"/>
          <a:srcRect r="18712"/>
          <a:stretch/>
        </p:blipFill>
        <p:spPr>
          <a:xfrm>
            <a:off x="7816850" y="3831221"/>
            <a:ext cx="4220560" cy="2601921"/>
          </a:xfrm>
          <a:prstGeom prst="rect">
            <a:avLst/>
          </a:prstGeom>
        </p:spPr>
      </p:pic>
      <p:pic>
        <p:nvPicPr>
          <p:cNvPr id="3078"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7" y="4205615"/>
            <a:ext cx="3832225" cy="2254250"/>
          </a:xfrm>
          <a:prstGeom prst="rect">
            <a:avLst/>
          </a:prstGeom>
          <a:noFill/>
          <a:extLst>
            <a:ext uri="{909E8E84-426E-40DD-AFC4-6F175D3DCCD1}">
              <a14:hiddenFill xmlns:a14="http://schemas.microsoft.com/office/drawing/2010/main">
                <a:solidFill>
                  <a:srgbClr val="FFFFFF"/>
                </a:solidFill>
              </a14:hiddenFill>
            </a:ext>
          </a:extLst>
        </p:spPr>
      </p:pic>
      <p:sp>
        <p:nvSpPr>
          <p:cNvPr id="14" name="Прямоугольник 13"/>
          <p:cNvSpPr/>
          <p:nvPr/>
        </p:nvSpPr>
        <p:spPr>
          <a:xfrm>
            <a:off x="4697411" y="6208122"/>
            <a:ext cx="7150099" cy="307777"/>
          </a:xfrm>
          <a:prstGeom prst="rect">
            <a:avLst/>
          </a:prstGeom>
        </p:spPr>
        <p:txBody>
          <a:bodyPr wrap="square">
            <a:spAutoFit/>
          </a:bodyPr>
          <a:lstStyle/>
          <a:p>
            <a:r>
              <a:rPr lang="ru-RU" sz="1400" dirty="0"/>
              <a:t>victoriametrics.com/</a:t>
            </a:r>
            <a:r>
              <a:rPr lang="ru-RU" sz="1400" dirty="0" err="1"/>
              <a:t>blog</a:t>
            </a:r>
            <a:r>
              <a:rPr lang="ru-RU" sz="1400" dirty="0"/>
              <a:t>/victoriametrics-anomaly-detection-handbook-chapter-2/</a:t>
            </a:r>
          </a:p>
        </p:txBody>
      </p:sp>
      <p:pic>
        <p:nvPicPr>
          <p:cNvPr id="3080" name="Picture 8" descr="A Brief Introduction to Change Point Detection using Python - Tech Ran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1962" y="4114557"/>
            <a:ext cx="3311525" cy="2048366"/>
          </a:xfrm>
          <a:prstGeom prst="rect">
            <a:avLst/>
          </a:prstGeom>
          <a:noFill/>
          <a:extLst>
            <a:ext uri="{909E8E84-426E-40DD-AFC4-6F175D3DCCD1}">
              <a14:hiddenFill xmlns:a14="http://schemas.microsoft.com/office/drawing/2010/main">
                <a:solidFill>
                  <a:srgbClr val="FFFFFF"/>
                </a:solidFill>
              </a14:hiddenFill>
            </a:ext>
          </a:extLst>
        </p:spPr>
      </p:pic>
      <p:sp>
        <p:nvSpPr>
          <p:cNvPr id="15" name="Прямоугольник 14"/>
          <p:cNvSpPr/>
          <p:nvPr/>
        </p:nvSpPr>
        <p:spPr>
          <a:xfrm>
            <a:off x="4529137" y="6606880"/>
            <a:ext cx="7324725" cy="276999"/>
          </a:xfrm>
          <a:prstGeom prst="rect">
            <a:avLst/>
          </a:prstGeom>
        </p:spPr>
        <p:txBody>
          <a:bodyPr wrap="square">
            <a:spAutoFit/>
          </a:bodyPr>
          <a:lstStyle/>
          <a:p>
            <a:r>
              <a:rPr lang="ru-RU" sz="1200" dirty="0"/>
              <a:t>https://techrando.com/2019/08/14/a-brief-introduction-to-change-point-detection-using-python/</a:t>
            </a:r>
          </a:p>
        </p:txBody>
      </p:sp>
      <p:sp>
        <p:nvSpPr>
          <p:cNvPr id="16" name="Прямоугольник 15"/>
          <p:cNvSpPr/>
          <p:nvPr/>
        </p:nvSpPr>
        <p:spPr>
          <a:xfrm>
            <a:off x="81756" y="924464"/>
            <a:ext cx="11815762" cy="2246769"/>
          </a:xfrm>
          <a:prstGeom prst="rect">
            <a:avLst/>
          </a:prstGeom>
        </p:spPr>
        <p:txBody>
          <a:bodyPr wrap="square">
            <a:spAutoFit/>
          </a:bodyPr>
          <a:lstStyle/>
          <a:p>
            <a:r>
              <a:rPr lang="ru-RU" sz="2000" b="1" dirty="0"/>
              <a:t>Точки перегиба  (</a:t>
            </a:r>
            <a:r>
              <a:rPr lang="en-US" sz="2000" b="1" dirty="0"/>
              <a:t>change points</a:t>
            </a:r>
            <a:r>
              <a:rPr lang="ru-RU" sz="2000" b="1" dirty="0"/>
              <a:t>) </a:t>
            </a:r>
            <a:r>
              <a:rPr lang="en-US" sz="2000" dirty="0"/>
              <a:t>- </a:t>
            </a:r>
            <a:r>
              <a:rPr lang="ru-RU" sz="2000" dirty="0"/>
              <a:t> резкие сдвиги в поведении временных рядов (напр. изменения в мгновенной скорости тренда временного ряда), которые могут быть легко идентифицированы человеческим глазом, но которые труднее определить с помощью традиционных статистических подходов.</a:t>
            </a:r>
          </a:p>
          <a:p>
            <a:pPr lvl="1"/>
            <a:r>
              <a:rPr lang="ru-RU" sz="2000" dirty="0"/>
              <a:t>Новизна ВР </a:t>
            </a:r>
            <a:r>
              <a:rPr lang="en-US" sz="2000" b="1" dirty="0"/>
              <a:t>(novelty)</a:t>
            </a:r>
            <a:r>
              <a:rPr lang="ru-RU" sz="2000" dirty="0"/>
              <a:t> – появление в поведении ВР нового паттерна. В отличии от выбросов вызванного новыми процессами в системе, порождающей ВР.</a:t>
            </a:r>
          </a:p>
          <a:p>
            <a:pPr lvl="1"/>
            <a:endParaRPr lang="ru-RU" sz="2000" dirty="0"/>
          </a:p>
        </p:txBody>
      </p:sp>
      <p:sp>
        <p:nvSpPr>
          <p:cNvPr id="17" name="Прямоугольник 16"/>
          <p:cNvSpPr/>
          <p:nvPr/>
        </p:nvSpPr>
        <p:spPr>
          <a:xfrm>
            <a:off x="1129698" y="2869030"/>
            <a:ext cx="10907712" cy="1200329"/>
          </a:xfrm>
          <a:prstGeom prst="rect">
            <a:avLst/>
          </a:prstGeom>
        </p:spPr>
        <p:txBody>
          <a:bodyPr wrap="square">
            <a:spAutoFit/>
          </a:bodyPr>
          <a:lstStyle/>
          <a:p>
            <a:r>
              <a:rPr lang="ru-RU" dirty="0"/>
              <a:t>Точки перегиба часто указывают на структурные нарушения, сдвиги в среднем значении, дисперсию или другие свойства ряда. Ключевым аспектом новизны является то, что она представляет собой ранее не наблюдавшееся состояние или поведение системы, даже если само это состояние или поведение находится в пределах нормы. </a:t>
            </a:r>
          </a:p>
        </p:txBody>
      </p:sp>
    </p:spTree>
    <p:extLst>
      <p:ext uri="{BB962C8B-B14F-4D97-AF65-F5344CB8AC3E}">
        <p14:creationId xmlns:p14="http://schemas.microsoft.com/office/powerpoint/2010/main" val="31600714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 Аномалии</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Также иногда следует включать в модель аномалии</a:t>
                </a:r>
                <a:r>
                  <a:rPr lang="en-US" altLang="en-US" sz="2000" dirty="0">
                    <a:latin typeface="Open Sans"/>
                  </a:rPr>
                  <a:t>, </a:t>
                </a:r>
                <a:r>
                  <a:rPr lang="ru-RU" altLang="en-US" sz="2000" dirty="0">
                    <a:latin typeface="Open Sans"/>
                  </a:rPr>
                  <a:t>точки перегиба, новизну или другие факторы, описывающие модель</a:t>
                </a:r>
                <a:endParaRPr lang="en-US" altLang="en-US" sz="2000" dirty="0">
                  <a:latin typeface="Open Sans"/>
                </a:endParaRP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m:t>
                      </m:r>
                      <m:sSub>
                        <m:sSubPr>
                          <m:ctrlPr>
                            <a:rPr lang="ru-RU" altLang="en-US" sz="2000" b="0" i="1" dirty="0" smtClean="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1</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𝑡𝑟𝑒𝑛</m:t>
                      </m:r>
                      <m:sSub>
                        <m:sSubPr>
                          <m:ctrlPr>
                            <a:rPr lang="ru-RU"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2</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𝑎𝑛𝑜𝑚𝑎𝑙𝑦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Arial" panose="020B0604020202020204" pitchFamily="34" charset="0"/>
                </a:endParaRPr>
              </a:p>
              <a:p>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476" t="-6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13</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13"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2751269"/>
            <a:ext cx="6268083" cy="3687107"/>
          </a:xfrm>
          <a:prstGeom prst="rect">
            <a:avLst/>
          </a:prstGeom>
          <a:noFill/>
          <a:extLst>
            <a:ext uri="{909E8E84-426E-40DD-AFC4-6F175D3DCCD1}">
              <a14:hiddenFill xmlns:a14="http://schemas.microsoft.com/office/drawing/2010/main">
                <a:solidFill>
                  <a:srgbClr val="FFFFFF"/>
                </a:solidFill>
              </a14:hiddenFill>
            </a:ext>
          </a:extLst>
        </p:spPr>
      </p:pic>
      <p:sp>
        <p:nvSpPr>
          <p:cNvPr id="14" name="Овал 13"/>
          <p:cNvSpPr/>
          <p:nvPr/>
        </p:nvSpPr>
        <p:spPr>
          <a:xfrm>
            <a:off x="9458325" y="3819525"/>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5" name="Овал 14"/>
          <p:cNvSpPr/>
          <p:nvPr/>
        </p:nvSpPr>
        <p:spPr>
          <a:xfrm>
            <a:off x="10001449" y="3301470"/>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6" name="TextBox 15"/>
          <p:cNvSpPr txBox="1"/>
          <p:nvPr/>
        </p:nvSpPr>
        <p:spPr>
          <a:xfrm>
            <a:off x="10239574" y="3244334"/>
            <a:ext cx="1686359" cy="369332"/>
          </a:xfrm>
          <a:prstGeom prst="rect">
            <a:avLst/>
          </a:prstGeom>
          <a:noFill/>
        </p:spPr>
        <p:txBody>
          <a:bodyPr wrap="none" rtlCol="0">
            <a:spAutoFit/>
          </a:bodyPr>
          <a:lstStyle/>
          <a:p>
            <a:r>
              <a:rPr lang="ru-RU" dirty="0"/>
              <a:t>Точка перегиба</a:t>
            </a:r>
          </a:p>
        </p:txBody>
      </p:sp>
      <mc:AlternateContent xmlns:mc="http://schemas.openxmlformats.org/markup-compatibility/2006" xmlns:a14="http://schemas.microsoft.com/office/drawing/2010/main">
        <mc:Choice Requires="a14">
          <p:sp>
            <p:nvSpPr>
              <p:cNvPr id="17" name="Прямоугольник 16"/>
              <p:cNvSpPr/>
              <p:nvPr/>
            </p:nvSpPr>
            <p:spPr>
              <a:xfrm>
                <a:off x="209550" y="2824629"/>
                <a:ext cx="5153025" cy="1024704"/>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smtClean="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1</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en-US" altLang="en-US" i="1" dirty="0">
                        <a:latin typeface="Cambria Math" panose="02040503050406030204" pitchFamily="18" charset="0"/>
                      </a:rPr>
                      <m:t>+</m:t>
                    </m:r>
                    <m:r>
                      <a:rPr lang="en-US" altLang="en-US" i="1" dirty="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2</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ru-RU" altLang="en-US" b="0" i="1" dirty="0" smtClean="0">
                        <a:latin typeface="Cambria Math" panose="02040503050406030204" pitchFamily="18" charset="0"/>
                      </a:rPr>
                      <m:t>−значения тренда до и после точки перегиба</m:t>
                    </m:r>
                  </m:oMath>
                </a14:m>
                <a:endParaRPr lang="ru-RU" altLang="en-US" b="0" dirty="0">
                  <a:latin typeface="Open Sans"/>
                </a:endParaRPr>
              </a:p>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a:latin typeface="Cambria Math" panose="02040503050406030204" pitchFamily="18" charset="0"/>
                      </a:rPr>
                      <m:t>𝑎𝑛𝑜𝑚𝑎𝑙𝑦</m:t>
                    </m:r>
                    <m:r>
                      <a:rPr lang="en-US" altLang="en-US" i="1" dirty="0">
                        <a:latin typeface="Cambria Math" panose="02040503050406030204" pitchFamily="18" charset="0"/>
                      </a:rPr>
                      <m:t>(</m:t>
                    </m:r>
                    <m:r>
                      <a:rPr lang="en-US" altLang="en-US" i="1" dirty="0">
                        <a:latin typeface="Cambria Math" panose="02040503050406030204" pitchFamily="18" charset="0"/>
                      </a:rPr>
                      <m:t>𝑡</m:t>
                    </m:r>
                    <m:r>
                      <a:rPr lang="en-US" altLang="en-US" i="1" dirty="0">
                        <a:latin typeface="Cambria Math" panose="02040503050406030204" pitchFamily="18" charset="0"/>
                      </a:rPr>
                      <m:t>)</m:t>
                    </m:r>
                  </m:oMath>
                </a14:m>
                <a:r>
                  <a:rPr lang="ru-RU" altLang="en-US" dirty="0">
                    <a:latin typeface="Open Sans"/>
                  </a:rPr>
                  <a:t> – значения в точках аномалий</a:t>
                </a:r>
                <a:endParaRPr lang="en-US" altLang="en-US" dirty="0">
                  <a:latin typeface="Open Sans"/>
                </a:endParaRP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209550" y="2824629"/>
                <a:ext cx="5153025" cy="1024704"/>
              </a:xfrm>
              <a:prstGeom prst="rect">
                <a:avLst/>
              </a:prstGeom>
              <a:blipFill>
                <a:blip r:embed="rId4"/>
                <a:stretch>
                  <a:fillRect l="-709" t="-595" r="-827" b="-5952"/>
                </a:stretch>
              </a:blipFill>
            </p:spPr>
            <p:txBody>
              <a:bodyPr/>
              <a:lstStyle/>
              <a:p>
                <a:r>
                  <a:rPr lang="ru-RU">
                    <a:noFill/>
                  </a:rPr>
                  <a:t> </a:t>
                </a:r>
              </a:p>
            </p:txBody>
          </p:sp>
        </mc:Fallback>
      </mc:AlternateContent>
      <p:sp>
        <p:nvSpPr>
          <p:cNvPr id="18" name="Прямоугольник 17"/>
          <p:cNvSpPr/>
          <p:nvPr/>
        </p:nvSpPr>
        <p:spPr>
          <a:xfrm>
            <a:off x="404812" y="4488181"/>
            <a:ext cx="5420143" cy="923330"/>
          </a:xfrm>
          <a:prstGeom prst="rect">
            <a:avLst/>
          </a:prstGeom>
        </p:spPr>
        <p:txBody>
          <a:bodyPr wrap="square">
            <a:spAutoFit/>
          </a:bodyPr>
          <a:lstStyle/>
          <a:p>
            <a:pPr eaLnBrk="0" fontAlgn="base" hangingPunct="0">
              <a:lnSpc>
                <a:spcPct val="100000"/>
              </a:lnSpc>
              <a:spcBef>
                <a:spcPct val="0"/>
              </a:spcBef>
              <a:spcAft>
                <a:spcPct val="0"/>
              </a:spcAft>
            </a:pPr>
            <a:r>
              <a:rPr lang="ru-RU" altLang="en-US" b="1" dirty="0">
                <a:latin typeface="Open Sans"/>
              </a:rPr>
              <a:t>Аномалии представляют собой непрогнозируемые, кратковременные события.</a:t>
            </a:r>
          </a:p>
        </p:txBody>
      </p:sp>
    </p:spTree>
    <p:extLst>
      <p:ext uri="{BB962C8B-B14F-4D97-AF65-F5344CB8AC3E}">
        <p14:creationId xmlns:p14="http://schemas.microsoft.com/office/powerpoint/2010/main" val="18477068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4722" y="231629"/>
            <a:ext cx="10739077" cy="698140"/>
          </a:xfrm>
        </p:spPr>
        <p:txBody>
          <a:bodyPr>
            <a:normAutofit/>
          </a:bodyPr>
          <a:lstStyle/>
          <a:p>
            <a:pPr algn="ctr"/>
            <a:r>
              <a:rPr lang="ru-RU" dirty="0"/>
              <a:t>Примеры ВР</a:t>
            </a:r>
          </a:p>
        </p:txBody>
      </p:sp>
      <p:sp>
        <p:nvSpPr>
          <p:cNvPr id="3" name="Объект 2"/>
          <p:cNvSpPr>
            <a:spLocks noGrp="1"/>
          </p:cNvSpPr>
          <p:nvPr>
            <p:ph idx="1"/>
          </p:nvPr>
        </p:nvSpPr>
        <p:spPr>
          <a:xfrm>
            <a:off x="6096000" y="960197"/>
            <a:ext cx="5807854" cy="3882568"/>
          </a:xfrm>
        </p:spPr>
        <p:txBody>
          <a:bodyPr>
            <a:normAutofit/>
          </a:bodyPr>
          <a:lstStyle/>
          <a:p>
            <a:pPr marL="0" indent="0">
              <a:buNone/>
            </a:pPr>
            <a:r>
              <a:rPr lang="ru-RU" sz="2200" dirty="0"/>
              <a:t>Ежемесячные продажи антидиабетических лекарств в Австралии с июля 1991 по июнь 2008. </a:t>
            </a:r>
          </a:p>
          <a:p>
            <a:pPr lvl="1"/>
            <a:r>
              <a:rPr lang="ru-RU" sz="2200" dirty="0"/>
              <a:t>На этом графике мы можем видеть возрастающий тренд, возможно, даже нелинейный, и кроме этого есть периодичность (сезонность) значений по годам.</a:t>
            </a:r>
          </a:p>
        </p:txBody>
      </p:sp>
      <p:sp>
        <p:nvSpPr>
          <p:cNvPr id="4" name="Номер слайда 3"/>
          <p:cNvSpPr>
            <a:spLocks noGrp="1"/>
          </p:cNvSpPr>
          <p:nvPr>
            <p:ph type="sldNum" sz="quarter" idx="12"/>
          </p:nvPr>
        </p:nvSpPr>
        <p:spPr/>
        <p:txBody>
          <a:bodyPr/>
          <a:lstStyle/>
          <a:p>
            <a:fld id="{45C3B737-A709-4ABC-AFE0-A6B067850C48}" type="slidenum">
              <a:rPr lang="en-US" smtClean="0"/>
              <a:t>14</a:t>
            </a:fld>
            <a:endParaRPr lang="en-US"/>
          </a:p>
        </p:txBody>
      </p:sp>
      <p:sp>
        <p:nvSpPr>
          <p:cNvPr id="5" name="AutoShape 2" descr="e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p:cNvPicPr>
            <a:picLocks noChangeAspect="1"/>
          </p:cNvPicPr>
          <p:nvPr/>
        </p:nvPicPr>
        <p:blipFill>
          <a:blip r:embed="rId2"/>
          <a:stretch>
            <a:fillRect/>
          </a:stretch>
        </p:blipFill>
        <p:spPr>
          <a:xfrm>
            <a:off x="6431162" y="3917343"/>
            <a:ext cx="5665777" cy="2452897"/>
          </a:xfrm>
          <a:prstGeom prst="rect">
            <a:avLst/>
          </a:prstGeom>
        </p:spPr>
      </p:pic>
      <p:pic>
        <p:nvPicPr>
          <p:cNvPr id="8" name="Рисунок 7"/>
          <p:cNvPicPr>
            <a:picLocks noChangeAspect="1"/>
          </p:cNvPicPr>
          <p:nvPr/>
        </p:nvPicPr>
        <p:blipFill>
          <a:blip r:embed="rId3"/>
          <a:stretch>
            <a:fillRect/>
          </a:stretch>
        </p:blipFill>
        <p:spPr>
          <a:xfrm>
            <a:off x="128184" y="4297715"/>
            <a:ext cx="5833065" cy="2423760"/>
          </a:xfrm>
          <a:prstGeom prst="rect">
            <a:avLst/>
          </a:prstGeom>
        </p:spPr>
      </p:pic>
      <p:sp>
        <p:nvSpPr>
          <p:cNvPr id="9" name="Прямоугольник 8"/>
          <p:cNvSpPr/>
          <p:nvPr/>
        </p:nvSpPr>
        <p:spPr>
          <a:xfrm>
            <a:off x="128183" y="870977"/>
            <a:ext cx="6302979" cy="4031873"/>
          </a:xfrm>
          <a:prstGeom prst="rect">
            <a:avLst/>
          </a:prstGeom>
        </p:spPr>
        <p:txBody>
          <a:bodyPr wrap="square">
            <a:spAutoFit/>
          </a:bodyPr>
          <a:lstStyle/>
          <a:p>
            <a:r>
              <a:rPr lang="ru-RU" sz="2000" dirty="0"/>
              <a:t>Максимальный спрос на электричество в штате Виктория (Австралия) за 30-минутные интервалы с 10 января 2000 в течении 115 дней.</a:t>
            </a:r>
          </a:p>
          <a:p>
            <a:r>
              <a:rPr lang="ru-RU" sz="2000" dirty="0"/>
              <a:t>2 сезонности </a:t>
            </a:r>
          </a:p>
          <a:p>
            <a:pPr marL="285750" indent="-285750">
              <a:buFont typeface="Arial" panose="020B0604020202020204" pitchFamily="34" charset="0"/>
              <a:buChar char="•"/>
            </a:pPr>
            <a:r>
              <a:rPr lang="ru-RU" sz="2000" dirty="0"/>
              <a:t>суточная (люди обычно больше потребляют электричество днем, чем ночью) </a:t>
            </a:r>
          </a:p>
          <a:p>
            <a:pPr marL="285750" indent="-285750">
              <a:buFont typeface="Arial" panose="020B0604020202020204" pitchFamily="34" charset="0"/>
              <a:buChar char="•"/>
            </a:pPr>
            <a:r>
              <a:rPr lang="ru-RU" sz="2000" dirty="0"/>
              <a:t>недельную (более высокое потребление электричества по будням). </a:t>
            </a:r>
          </a:p>
          <a:p>
            <a:pPr marL="285750" indent="-285750">
              <a:buFont typeface="Arial" panose="020B0604020202020204" pitchFamily="34" charset="0"/>
              <a:buChar char="•"/>
            </a:pPr>
            <a:r>
              <a:rPr lang="ru-RU" sz="2000" dirty="0"/>
              <a:t>Если посмотреть данные за несколько лет, еще годовая, (теплое время года работает больше кондиционеров).</a:t>
            </a:r>
          </a:p>
          <a:p>
            <a:r>
              <a:rPr lang="ru-RU" dirty="0"/>
              <a:t/>
            </a:r>
            <a:br>
              <a:rPr lang="ru-RU" dirty="0"/>
            </a:br>
            <a:endParaRPr lang="ru-RU" dirty="0"/>
          </a:p>
        </p:txBody>
      </p:sp>
      <p:sp>
        <p:nvSpPr>
          <p:cNvPr id="10" name="Прямоугольник 9"/>
          <p:cNvSpPr/>
          <p:nvPr/>
        </p:nvSpPr>
        <p:spPr>
          <a:xfrm>
            <a:off x="6214463" y="6382921"/>
            <a:ext cx="7086600" cy="338554"/>
          </a:xfrm>
          <a:prstGeom prst="rect">
            <a:avLst/>
          </a:prstGeom>
        </p:spPr>
        <p:txBody>
          <a:bodyPr wrap="square">
            <a:spAutoFit/>
          </a:bodyPr>
          <a:lstStyle/>
          <a:p>
            <a:r>
              <a:rPr lang="ru-RU" sz="1600" dirty="0"/>
              <a:t>https://education.yandex.ru/handbook/ml/article/vremennye-ryady</a:t>
            </a:r>
          </a:p>
        </p:txBody>
      </p:sp>
    </p:spTree>
    <p:extLst>
      <p:ext uri="{BB962C8B-B14F-4D97-AF65-F5344CB8AC3E}">
        <p14:creationId xmlns:p14="http://schemas.microsoft.com/office/powerpoint/2010/main" val="69574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9"/>
            <a:ext cx="10932920" cy="2862942"/>
          </a:xfrm>
        </p:spPr>
        <p:txBody>
          <a:bodyPr>
            <a:normAutofit/>
          </a:bodyPr>
          <a:lstStyle/>
          <a:p>
            <a:r>
              <a:rPr lang="ru-RU" sz="8000" dirty="0" smtClean="0"/>
              <a:t>Постановка задач </a:t>
            </a:r>
            <a:r>
              <a:rPr lang="ru-RU" sz="8000" dirty="0"/>
              <a:t>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15</a:t>
            </a:fld>
            <a:endParaRPr lang="en-US"/>
          </a:p>
        </p:txBody>
      </p:sp>
    </p:spTree>
    <p:extLst>
      <p:ext uri="{BB962C8B-B14F-4D97-AF65-F5344CB8AC3E}">
        <p14:creationId xmlns:p14="http://schemas.microsoft.com/office/powerpoint/2010/main" val="20779999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EE2B06-B173-C52C-7F74-302136EB4528}"/>
              </a:ext>
            </a:extLst>
          </p:cNvPr>
          <p:cNvSpPr>
            <a:spLocks noGrp="1"/>
          </p:cNvSpPr>
          <p:nvPr>
            <p:ph type="title"/>
          </p:nvPr>
        </p:nvSpPr>
        <p:spPr>
          <a:xfrm>
            <a:off x="566057" y="365125"/>
            <a:ext cx="10787743" cy="1047641"/>
          </a:xfrm>
        </p:spPr>
        <p:txBody>
          <a:bodyPr/>
          <a:lstStyle/>
          <a:p>
            <a:r>
              <a:rPr lang="ru-RU" b="1" dirty="0"/>
              <a:t>Задачи анализа временных рядов</a:t>
            </a:r>
            <a:endParaRPr lang="ru-RU" dirty="0"/>
          </a:p>
        </p:txBody>
      </p:sp>
      <p:sp>
        <p:nvSpPr>
          <p:cNvPr id="3" name="Объект 2">
            <a:extLst>
              <a:ext uri="{FF2B5EF4-FFF2-40B4-BE49-F238E27FC236}">
                <a16:creationId xmlns:a16="http://schemas.microsoft.com/office/drawing/2014/main" id="{EE1CFB72-A2ED-B011-6D8A-BC8972130B60}"/>
              </a:ext>
            </a:extLst>
          </p:cNvPr>
          <p:cNvSpPr>
            <a:spLocks noGrp="1"/>
          </p:cNvSpPr>
          <p:nvPr>
            <p:ph idx="1"/>
          </p:nvPr>
        </p:nvSpPr>
        <p:spPr>
          <a:xfrm>
            <a:off x="293914" y="1412766"/>
            <a:ext cx="11417016" cy="4351338"/>
          </a:xfrm>
        </p:spPr>
        <p:txBody>
          <a:bodyPr>
            <a:normAutofit/>
          </a:bodyPr>
          <a:lstStyle/>
          <a:p>
            <a:pPr marL="0" indent="0">
              <a:buNone/>
            </a:pPr>
            <a:r>
              <a:rPr lang="ru-RU" sz="2400" b="1" dirty="0"/>
              <a:t>Последовательной ВР(</a:t>
            </a:r>
            <a:r>
              <a:rPr lang="ru-RU" sz="2400" b="1" dirty="0" err="1"/>
              <a:t>неприрывный</a:t>
            </a:r>
            <a:r>
              <a:rPr lang="ru-RU" sz="2400" b="1" dirty="0"/>
              <a:t>)</a:t>
            </a:r>
          </a:p>
          <a:p>
            <a:r>
              <a:rPr lang="ru-RU" sz="2400" dirty="0"/>
              <a:t>Предсказание будущих значений ВР (прогнозирование, T</a:t>
            </a:r>
            <a:r>
              <a:rPr lang="en-US" sz="2400" dirty="0" err="1"/>
              <a:t>ime</a:t>
            </a:r>
            <a:r>
              <a:rPr lang="en-US" sz="2400" dirty="0"/>
              <a:t> series forecasting)</a:t>
            </a:r>
            <a:endParaRPr lang="ru-RU" sz="2400" dirty="0"/>
          </a:p>
          <a:p>
            <a:r>
              <a:rPr lang="en-US" sz="2400" dirty="0" err="1"/>
              <a:t>По</a:t>
            </a:r>
            <a:r>
              <a:rPr lang="ru-RU" sz="2400" dirty="0"/>
              <a:t>иск аномалий/выбросов</a:t>
            </a:r>
            <a:r>
              <a:rPr lang="en-US" sz="2400" dirty="0"/>
              <a:t> (</a:t>
            </a:r>
            <a:r>
              <a:rPr lang="ru-RU" sz="2400" dirty="0" err="1"/>
              <a:t>T</a:t>
            </a:r>
            <a:r>
              <a:rPr lang="en-US" sz="2400" dirty="0" err="1"/>
              <a:t>ime</a:t>
            </a:r>
            <a:r>
              <a:rPr lang="en-US" sz="2400" dirty="0"/>
              <a:t> series  anomaly detection)</a:t>
            </a:r>
            <a:endParaRPr lang="ru-RU" sz="2400" dirty="0"/>
          </a:p>
          <a:p>
            <a:r>
              <a:rPr lang="en-US" sz="2400" dirty="0" err="1"/>
              <a:t>По</a:t>
            </a:r>
            <a:r>
              <a:rPr lang="ru-RU" sz="2400" dirty="0"/>
              <a:t>иск точек новизны (изменений), сегментов ВР – новых паттернов поведения</a:t>
            </a:r>
          </a:p>
          <a:p>
            <a:pPr marL="0" indent="0">
              <a:buNone/>
            </a:pPr>
            <a:r>
              <a:rPr lang="ru-RU" sz="2400" b="1" dirty="0"/>
              <a:t>Сегменты ВР (сигналы)</a:t>
            </a:r>
          </a:p>
          <a:p>
            <a:r>
              <a:rPr lang="ru-RU" sz="2400" dirty="0"/>
              <a:t>Классификация сегментов/шаблонов поведения</a:t>
            </a:r>
            <a:r>
              <a:rPr lang="en-US" sz="2400" dirty="0"/>
              <a:t>  </a:t>
            </a:r>
            <a:r>
              <a:rPr lang="ru-RU" sz="2400" dirty="0"/>
              <a:t>(T</a:t>
            </a:r>
            <a:r>
              <a:rPr lang="en-US" sz="2400" dirty="0" err="1"/>
              <a:t>ime</a:t>
            </a:r>
            <a:r>
              <a:rPr lang="en-US" sz="2400" dirty="0"/>
              <a:t> series classification)</a:t>
            </a:r>
            <a:endParaRPr lang="ru-RU" sz="2400" dirty="0"/>
          </a:p>
          <a:p>
            <a:r>
              <a:rPr lang="ru-RU" sz="2400" dirty="0"/>
              <a:t>Признаковое описание ВР/Регрессия ВР</a:t>
            </a:r>
            <a:r>
              <a:rPr lang="en-US" sz="2400" dirty="0"/>
              <a:t>/</a:t>
            </a:r>
            <a:r>
              <a:rPr lang="ru-RU" sz="2400" dirty="0"/>
              <a:t>Казуальный анализ (влияние внешних факторов на поведение ВР)</a:t>
            </a:r>
            <a:r>
              <a:rPr lang="en-US" sz="2400" dirty="0"/>
              <a:t> </a:t>
            </a:r>
            <a:r>
              <a:rPr lang="ru-RU" sz="2400" dirty="0"/>
              <a:t>(T</a:t>
            </a:r>
            <a:r>
              <a:rPr lang="en-US" sz="2400" dirty="0" err="1"/>
              <a:t>ime</a:t>
            </a:r>
            <a:r>
              <a:rPr lang="en-US" sz="2400" dirty="0"/>
              <a:t> series regression)</a:t>
            </a:r>
            <a:endParaRPr lang="ru-RU" sz="2400" dirty="0"/>
          </a:p>
          <a:p>
            <a:endParaRPr lang="en-US" sz="2400" dirty="0"/>
          </a:p>
          <a:p>
            <a:endParaRPr lang="ru-RU" sz="2400" dirty="0"/>
          </a:p>
          <a:p>
            <a:endParaRPr lang="ru-RU" sz="2400" dirty="0"/>
          </a:p>
          <a:p>
            <a:endParaRPr lang="ru-RU" sz="2400" dirty="0"/>
          </a:p>
        </p:txBody>
      </p:sp>
      <p:sp>
        <p:nvSpPr>
          <p:cNvPr id="4" name="Номер слайда 3">
            <a:extLst>
              <a:ext uri="{FF2B5EF4-FFF2-40B4-BE49-F238E27FC236}">
                <a16:creationId xmlns:a16="http://schemas.microsoft.com/office/drawing/2014/main" id="{10C4D2CE-024B-092F-F40E-1C67E2809A36}"/>
              </a:ext>
            </a:extLst>
          </p:cNvPr>
          <p:cNvSpPr>
            <a:spLocks noGrp="1"/>
          </p:cNvSpPr>
          <p:nvPr>
            <p:ph type="sldNum" sz="quarter" idx="12"/>
          </p:nvPr>
        </p:nvSpPr>
        <p:spPr/>
        <p:txBody>
          <a:bodyPr/>
          <a:lstStyle/>
          <a:p>
            <a:fld id="{45C3B737-A709-4ABC-AFE0-A6B067850C48}" type="slidenum">
              <a:rPr lang="en-US" smtClean="0"/>
              <a:t>16</a:t>
            </a:fld>
            <a:endParaRPr lang="en-US"/>
          </a:p>
        </p:txBody>
      </p:sp>
      <p:sp>
        <p:nvSpPr>
          <p:cNvPr id="6" name="TextBox 5">
            <a:extLst>
              <a:ext uri="{FF2B5EF4-FFF2-40B4-BE49-F238E27FC236}">
                <a16:creationId xmlns:a16="http://schemas.microsoft.com/office/drawing/2014/main" id="{A2C06033-2C39-FC3F-9249-C4FF81811A81}"/>
              </a:ext>
            </a:extLst>
          </p:cNvPr>
          <p:cNvSpPr txBox="1"/>
          <p:nvPr/>
        </p:nvSpPr>
        <p:spPr>
          <a:xfrm>
            <a:off x="97971" y="5943491"/>
            <a:ext cx="6096000" cy="646331"/>
          </a:xfrm>
          <a:prstGeom prst="rect">
            <a:avLst/>
          </a:prstGeom>
          <a:noFill/>
        </p:spPr>
        <p:txBody>
          <a:bodyPr wrap="square">
            <a:spAutoFit/>
          </a:bodyPr>
          <a:lstStyle/>
          <a:p>
            <a:r>
              <a:rPr lang="ru-RU" dirty="0" err="1"/>
              <a:t>https</a:t>
            </a:r>
            <a:r>
              <a:rPr lang="ru-RU" dirty="0"/>
              <a:t>://</a:t>
            </a:r>
            <a:r>
              <a:rPr lang="ru-RU" dirty="0" err="1"/>
              <a:t>medium.com</a:t>
            </a:r>
            <a:r>
              <a:rPr lang="ru-RU" dirty="0"/>
              <a:t>/@</a:t>
            </a:r>
            <a:r>
              <a:rPr lang="ru-RU" dirty="0" err="1"/>
              <a:t>datasciencewizards</a:t>
            </a:r>
            <a:r>
              <a:rPr lang="ru-RU" dirty="0"/>
              <a:t>/introduction-to-time-series-analysis-ii-c312e85d51bc</a:t>
            </a:r>
          </a:p>
        </p:txBody>
      </p:sp>
      <p:sp>
        <p:nvSpPr>
          <p:cNvPr id="5" name="Прямоугольник 4"/>
          <p:cNvSpPr/>
          <p:nvPr/>
        </p:nvSpPr>
        <p:spPr>
          <a:xfrm>
            <a:off x="4731785" y="6266656"/>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23700744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D15B-1A1A-60FB-41FC-8A61BF199C2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2D8DF6-C216-E34E-7D7B-11C6D5207211}"/>
              </a:ext>
            </a:extLst>
          </p:cNvPr>
          <p:cNvSpPr>
            <a:spLocks noGrp="1"/>
          </p:cNvSpPr>
          <p:nvPr>
            <p:ph type="title"/>
          </p:nvPr>
        </p:nvSpPr>
        <p:spPr>
          <a:xfrm>
            <a:off x="566057" y="365125"/>
            <a:ext cx="10787743" cy="1047641"/>
          </a:xfrm>
        </p:spPr>
        <p:txBody>
          <a:bodyPr/>
          <a:lstStyle/>
          <a:p>
            <a:r>
              <a:rPr lang="ru-RU" b="1" dirty="0"/>
              <a:t>Задачи предсказания временных рядов</a:t>
            </a:r>
            <a:r>
              <a:rPr lang="en-US" b="1" dirty="0" err="1"/>
              <a:t>aq</a:t>
            </a:r>
            <a:endParaRPr lang="ru-RU" dirty="0"/>
          </a:p>
        </p:txBody>
      </p:sp>
      <p:sp>
        <p:nvSpPr>
          <p:cNvPr id="4" name="Номер слайда 3">
            <a:extLst>
              <a:ext uri="{FF2B5EF4-FFF2-40B4-BE49-F238E27FC236}">
                <a16:creationId xmlns:a16="http://schemas.microsoft.com/office/drawing/2014/main" id="{BED6B87D-2FAF-84DA-E08B-87EB655C2909}"/>
              </a:ext>
            </a:extLst>
          </p:cNvPr>
          <p:cNvSpPr>
            <a:spLocks noGrp="1"/>
          </p:cNvSpPr>
          <p:nvPr>
            <p:ph type="sldNum" sz="quarter" idx="12"/>
          </p:nvPr>
        </p:nvSpPr>
        <p:spPr/>
        <p:txBody>
          <a:bodyPr/>
          <a:lstStyle/>
          <a:p>
            <a:fld id="{45C3B737-A709-4ABC-AFE0-A6B067850C48}" type="slidenum">
              <a:rPr lang="en-US" smtClean="0"/>
              <a:t>17</a:t>
            </a:fld>
            <a:endParaRPr lang="en-US"/>
          </a:p>
        </p:txBody>
      </p:sp>
      <p:sp>
        <p:nvSpPr>
          <p:cNvPr id="12" name="Объект 11">
            <a:extLst>
              <a:ext uri="{FF2B5EF4-FFF2-40B4-BE49-F238E27FC236}">
                <a16:creationId xmlns:a16="http://schemas.microsoft.com/office/drawing/2014/main" id="{1BB278FD-3BA0-E784-DDDA-9236766B2533}"/>
              </a:ext>
            </a:extLst>
          </p:cNvPr>
          <p:cNvSpPr txBox="1">
            <a:spLocks noGrp="1"/>
          </p:cNvSpPr>
          <p:nvPr>
            <p:ph idx="1"/>
          </p:nvPr>
        </p:nvSpPr>
        <p:spPr>
          <a:xfrm>
            <a:off x="354110" y="1404519"/>
            <a:ext cx="7271294" cy="923330"/>
          </a:xfrm>
          <a:prstGeom prst="rect">
            <a:avLst/>
          </a:prstGeom>
          <a:noFill/>
        </p:spPr>
        <p:txBody>
          <a:bodyPr wrap="square" rtlCol="0">
            <a:spAutoFit/>
          </a:bodyPr>
          <a:lstStyle/>
          <a:p>
            <a:pPr marL="0" indent="0">
              <a:buNone/>
            </a:pPr>
            <a:r>
              <a:rPr lang="ru-RU" sz="2000" b="1" dirty="0"/>
              <a:t>Точечный прогноз </a:t>
            </a:r>
            <a:r>
              <a:rPr lang="ru-RU" sz="2000" dirty="0"/>
              <a:t>- Самый простой случай, когда требуется узнать конкретное значение показателя в зависимости от периода. </a:t>
            </a:r>
          </a:p>
        </p:txBody>
      </p:sp>
      <p:pic>
        <p:nvPicPr>
          <p:cNvPr id="11" name="Рисунок 10" descr="https://shakhbanov.org/wp-content/uploads/2024/10/%D1%82%D0%BE%D1%87%D0%B5%D1%87%D0%BD%D1%8B%D0%B9_%D0%BF%D1%80%D0%BE%D0%B3%D0%BD%D0%BE%D0%B7.png"/>
          <p:cNvPicPr/>
          <p:nvPr/>
        </p:nvPicPr>
        <p:blipFill>
          <a:blip r:embed="rId2">
            <a:extLst>
              <a:ext uri="{28A0092B-C50C-407E-A947-70E740481C1C}">
                <a14:useLocalDpi xmlns:a14="http://schemas.microsoft.com/office/drawing/2010/main" val="0"/>
              </a:ext>
            </a:extLst>
          </a:blip>
          <a:srcRect/>
          <a:stretch>
            <a:fillRect/>
          </a:stretch>
        </p:blipFill>
        <p:spPr bwMode="auto">
          <a:xfrm>
            <a:off x="8250244" y="1082830"/>
            <a:ext cx="3276600" cy="1591419"/>
          </a:xfrm>
          <a:prstGeom prst="rect">
            <a:avLst/>
          </a:prstGeom>
          <a:noFill/>
          <a:ln>
            <a:noFill/>
          </a:ln>
        </p:spPr>
      </p:pic>
      <p:sp>
        <p:nvSpPr>
          <p:cNvPr id="5" name="Прямоугольник 4"/>
          <p:cNvSpPr/>
          <p:nvPr/>
        </p:nvSpPr>
        <p:spPr>
          <a:xfrm>
            <a:off x="354110" y="2489431"/>
            <a:ext cx="7589740" cy="1631216"/>
          </a:xfrm>
          <a:prstGeom prst="rect">
            <a:avLst/>
          </a:prstGeom>
        </p:spPr>
        <p:txBody>
          <a:bodyPr wrap="square">
            <a:spAutoFit/>
          </a:bodyPr>
          <a:lstStyle/>
          <a:p>
            <a:r>
              <a:rPr lang="ru-RU" sz="2000" b="1" dirty="0"/>
              <a:t>Прогноз изменчивости</a:t>
            </a:r>
            <a:r>
              <a:rPr lang="en-US" sz="2000" b="1" dirty="0"/>
              <a:t> - </a:t>
            </a:r>
            <a:r>
              <a:rPr lang="ru-RU" sz="2000" dirty="0"/>
              <a:t>обычно подразумевают прогноз дисперсии и производных от неё показателей. Примером может служить прогнозирование волатильности на фондовом рынке. Волатильность отражает степень колебаний цен на активы и является важным показателем риска для инвесторов.</a:t>
            </a:r>
          </a:p>
        </p:txBody>
      </p:sp>
      <p:pic>
        <p:nvPicPr>
          <p:cNvPr id="14" name="Рисунок 13" descr="https://shakhbanov.org/wp-content/uploads/2024/10/%D0%BF%D1%80%D0%BE%D0%B3%D0%BD%D0%BE%D0%B7_%D0%B8%D0%B7%D0%BC%D0%B5%D0%BD%D1%87%D0%B8%D0%B2%D0%BE%D1%81%D1%82%D0%B8.png"/>
          <p:cNvPicPr/>
          <p:nvPr/>
        </p:nvPicPr>
        <p:blipFill>
          <a:blip r:embed="rId3">
            <a:extLst>
              <a:ext uri="{28A0092B-C50C-407E-A947-70E740481C1C}">
                <a14:useLocalDpi xmlns:a14="http://schemas.microsoft.com/office/drawing/2010/main" val="0"/>
              </a:ext>
            </a:extLst>
          </a:blip>
          <a:srcRect/>
          <a:stretch>
            <a:fillRect/>
          </a:stretch>
        </p:blipFill>
        <p:spPr bwMode="auto">
          <a:xfrm>
            <a:off x="8250244" y="2848662"/>
            <a:ext cx="3200400" cy="1485900"/>
          </a:xfrm>
          <a:prstGeom prst="rect">
            <a:avLst/>
          </a:prstGeom>
          <a:noFill/>
          <a:ln>
            <a:noFill/>
          </a:ln>
        </p:spPr>
      </p:pic>
      <mc:AlternateContent xmlns:mc="http://schemas.openxmlformats.org/markup-compatibility/2006" xmlns:a14="http://schemas.microsoft.com/office/drawing/2010/main">
        <mc:Choice Requires="a14">
          <p:sp>
            <p:nvSpPr>
              <p:cNvPr id="6" name="Прямоугольник 5"/>
              <p:cNvSpPr/>
              <p:nvPr/>
            </p:nvSpPr>
            <p:spPr>
              <a:xfrm>
                <a:off x="354110" y="4331961"/>
                <a:ext cx="7934234" cy="1744645"/>
              </a:xfrm>
              <a:prstGeom prst="rect">
                <a:avLst/>
              </a:prstGeom>
            </p:spPr>
            <p:txBody>
              <a:bodyPr wrap="square">
                <a:spAutoFit/>
              </a:bodyPr>
              <a:lstStyle/>
              <a:p>
                <a:pPr>
                  <a:lnSpc>
                    <a:spcPct val="107000"/>
                  </a:lnSpc>
                  <a:spcAft>
                    <a:spcPts val="0"/>
                  </a:spcAft>
                </a:pPr>
                <a:r>
                  <a:rPr lang="ru-RU" sz="2000" b="1" dirty="0" smtClean="0"/>
                  <a:t>Вероятностный </a:t>
                </a:r>
                <a:r>
                  <a:rPr lang="ru-RU" sz="2000" b="1" dirty="0"/>
                  <a:t>прогноз</a:t>
                </a:r>
                <a:r>
                  <a:rPr lang="en-US" sz="2000" b="1" dirty="0"/>
                  <a:t> </a:t>
                </a:r>
                <a:r>
                  <a:rPr lang="ru-RU" sz="2000" dirty="0"/>
                  <a:t>- комбинация двух предыдущих. </a:t>
                </a:r>
                <a:r>
                  <a:rPr lang="ru-RU" sz="2000" dirty="0" smtClean="0"/>
                  <a:t>Есть разные варианты, например интервальный прогноз - Задача </a:t>
                </a:r>
                <a:r>
                  <a:rPr lang="ru-RU" sz="2000" dirty="0"/>
                  <a:t>заключается в предсказании интервала, в который попадёт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oMath>
                </a14:m>
                <a:r>
                  <a:rPr lang="ru-RU" sz="2000" dirty="0"/>
                  <a:t> с заданной вероятностью (например, 95%). Для этого требуется либо знать закон распределения</a:t>
                </a:r>
                <a:r>
                  <a:rPr lang="en-US" sz="2000" dirty="0"/>
                  <a:t>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oMath>
                </a14:m>
                <a:r>
                  <a:rPr lang="ru-RU" sz="2000" dirty="0"/>
                  <a:t> , либо рассчитать квантиль.</a:t>
                </a: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54110" y="4331961"/>
                <a:ext cx="7934234" cy="1744645"/>
              </a:xfrm>
              <a:prstGeom prst="rect">
                <a:avLst/>
              </a:prstGeom>
              <a:blipFill>
                <a:blip r:embed="rId4"/>
                <a:stretch>
                  <a:fillRect l="-768" t="-1748" b="-4545"/>
                </a:stretch>
              </a:blipFill>
            </p:spPr>
            <p:txBody>
              <a:bodyPr/>
              <a:lstStyle/>
              <a:p>
                <a:r>
                  <a:rPr lang="ru-RU">
                    <a:noFill/>
                  </a:rPr>
                  <a:t> </a:t>
                </a:r>
              </a:p>
            </p:txBody>
          </p:sp>
        </mc:Fallback>
      </mc:AlternateContent>
      <p:pic>
        <p:nvPicPr>
          <p:cNvPr id="15" name="Рисунок 14" descr="https://shakhbanov.org/wp-content/uploads/2024/10/%D0%B8%D0%BD%D1%82%D0%B5%D1%80%D0%B2%D0%B0%D0%BB%D1%8C%D0%BD%D1%8B%D0%B9_%D0%BF%D1%80%D0%BE%D0%B3%D0%BD%D0%BE%D0%B7.png"/>
          <p:cNvPicPr/>
          <p:nvPr/>
        </p:nvPicPr>
        <p:blipFill>
          <a:blip r:embed="rId5">
            <a:extLst>
              <a:ext uri="{28A0092B-C50C-407E-A947-70E740481C1C}">
                <a14:useLocalDpi xmlns:a14="http://schemas.microsoft.com/office/drawing/2010/main" val="0"/>
              </a:ext>
            </a:extLst>
          </a:blip>
          <a:srcRect/>
          <a:stretch>
            <a:fillRect/>
          </a:stretch>
        </p:blipFill>
        <p:spPr bwMode="auto">
          <a:xfrm>
            <a:off x="8288344" y="4606792"/>
            <a:ext cx="3200400" cy="1477328"/>
          </a:xfrm>
          <a:prstGeom prst="rect">
            <a:avLst/>
          </a:prstGeom>
          <a:noFill/>
          <a:ln>
            <a:noFill/>
          </a:ln>
        </p:spPr>
      </p:pic>
      <p:sp>
        <p:nvSpPr>
          <p:cNvPr id="3" name="TextBox 2"/>
          <p:cNvSpPr txBox="1"/>
          <p:nvPr/>
        </p:nvSpPr>
        <p:spPr>
          <a:xfrm>
            <a:off x="354110" y="6084120"/>
            <a:ext cx="10748230" cy="646331"/>
          </a:xfrm>
          <a:prstGeom prst="rect">
            <a:avLst/>
          </a:prstGeom>
          <a:noFill/>
        </p:spPr>
        <p:txBody>
          <a:bodyPr wrap="square" rtlCol="0">
            <a:spAutoFit/>
          </a:bodyPr>
          <a:lstStyle/>
          <a:p>
            <a:r>
              <a:rPr lang="ru-RU" dirty="0"/>
              <a:t>В дополнение к этому также могут быть поставлены задачи поиска аномалий, заполнения пропусков, обнаружение изменений (новизны) и другие задачи</a:t>
            </a:r>
          </a:p>
        </p:txBody>
      </p:sp>
      <p:sp>
        <p:nvSpPr>
          <p:cNvPr id="7" name="Прямоугольник 6"/>
          <p:cNvSpPr/>
          <p:nvPr/>
        </p:nvSpPr>
        <p:spPr>
          <a:xfrm>
            <a:off x="5827160" y="6407285"/>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40933840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85149" y="3720759"/>
                <a:ext cx="6826743" cy="2085717"/>
              </a:xfrm>
            </p:spPr>
            <p:txBody>
              <a:bodyPr>
                <a:normAutofit fontScale="92500" lnSpcReduction="20000"/>
              </a:bodyPr>
              <a:lstStyle/>
              <a:p>
                <a:pPr>
                  <a:lnSpc>
                    <a:spcPct val="120000"/>
                  </a:lnSpc>
                  <a:spcBef>
                    <a:spcPts val="600"/>
                  </a:spcBef>
                </a:pPr>
                <a:r>
                  <a:rPr lang="ru-RU" sz="2000" dirty="0"/>
                  <a:t>Предсказание будет осуществляться по набору предыдущий значений. Такие значения будем обозначать как значения лагов.</a:t>
                </a:r>
              </a:p>
              <a:p>
                <a:pPr>
                  <a:lnSpc>
                    <a:spcPct val="120000"/>
                  </a:lnSpc>
                  <a:spcBef>
                    <a:spcPts val="600"/>
                  </a:spcBef>
                </a:pPr>
                <a:r>
                  <a:rPr lang="ru-RU" sz="2000" b="1" dirty="0"/>
                  <a:t>Лаг</a:t>
                </a:r>
                <a:r>
                  <a:rPr lang="ru-RU" sz="2000" dirty="0"/>
                  <a:t> — это задержка во времени. </a:t>
                </a:r>
                <a:r>
                  <a:rPr lang="ru-RU" sz="2000" b="1" dirty="0"/>
                  <a:t>Лаг показывает, как прошлые данные влияют на текущее или будущее</a:t>
                </a:r>
                <a:r>
                  <a:rPr lang="ru-RU" sz="2000" dirty="0"/>
                  <a:t>.</a:t>
                </a:r>
              </a:p>
              <a:p>
                <a:pPr>
                  <a:lnSpc>
                    <a:spcPct val="120000"/>
                  </a:lnSpc>
                  <a:spcBef>
                    <a:spcPts val="600"/>
                  </a:spcBef>
                </a:pPr>
                <a:r>
                  <a:rPr lang="ru-RU" sz="2000" dirty="0"/>
                  <a:t>Лаг обозначается как  </a:t>
                </a:r>
                <a14:m>
                  <m:oMath xmlns:m="http://schemas.openxmlformats.org/officeDocument/2006/math">
                    <m:r>
                      <a:rPr lang="ru-RU" sz="2000" i="1" dirty="0">
                        <a:latin typeface="Cambria Math" panose="02040503050406030204" pitchFamily="18" charset="0"/>
                      </a:rPr>
                      <m:t>𝑦</m:t>
                    </m:r>
                  </m:oMath>
                </a14:m>
                <a:r>
                  <a:rPr lang="ru-RU" sz="2000" baseline="-25000" dirty="0"/>
                  <a:t>t−</a:t>
                </a:r>
                <a:r>
                  <a:rPr lang="en-US" sz="2000" baseline="-25000" dirty="0"/>
                  <a:t>p</a:t>
                </a:r>
                <a:r>
                  <a:rPr lang="ru-RU" sz="2000" baseline="-25000" dirty="0"/>
                  <a:t> </a:t>
                </a:r>
                <a:r>
                  <a:rPr lang="en-US" sz="2000" baseline="-25000" dirty="0"/>
                  <a:t>,</a:t>
                </a:r>
                <a:r>
                  <a:rPr lang="en-US" sz="2000" dirty="0"/>
                  <a:t> </a:t>
                </a:r>
                <a:r>
                  <a:rPr lang="ru-RU" sz="2000" dirty="0"/>
                  <a:t>где </a:t>
                </a:r>
                <a:r>
                  <a:rPr lang="en-US" sz="2000" dirty="0"/>
                  <a:t>p</a:t>
                </a:r>
                <a:r>
                  <a:rPr lang="ru-RU" sz="2000" dirty="0"/>
                  <a:t> — это число шагов назад.</a:t>
                </a:r>
                <a:endParaRPr lang="ru-RU" sz="18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85149" y="3720759"/>
                <a:ext cx="6826743" cy="2085717"/>
              </a:xfrm>
              <a:blipFill>
                <a:blip r:embed="rId3"/>
                <a:stretch>
                  <a:fillRect l="-714" t="-145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fld id="{45C3B737-A709-4ABC-AFE0-A6B067850C48}" type="slidenum">
              <a:rPr lang="en-US" smtClean="0"/>
              <a:t>18</a:t>
            </a:fld>
            <a:endParaRPr lang="en-US" dirty="0"/>
          </a:p>
        </p:txBody>
      </p:sp>
      <p:sp>
        <p:nvSpPr>
          <p:cNvPr id="14" name="Прямоугольник 13"/>
          <p:cNvSpPr/>
          <p:nvPr/>
        </p:nvSpPr>
        <p:spPr>
          <a:xfrm>
            <a:off x="163002" y="6447950"/>
            <a:ext cx="4746620" cy="307777"/>
          </a:xfrm>
          <a:prstGeom prst="rect">
            <a:avLst/>
          </a:prstGeom>
        </p:spPr>
        <p:txBody>
          <a:bodyPr wrap="none">
            <a:spAutoFit/>
          </a:bodyPr>
          <a:lstStyle/>
          <a:p>
            <a:r>
              <a:rPr lang="ru-RU" sz="1400" dirty="0"/>
              <a:t>https://shakhbanov.org/vvedenie-v-analiz-vremennyh-ryadov/</a:t>
            </a:r>
          </a:p>
        </p:txBody>
      </p:sp>
      <p:grpSp>
        <p:nvGrpSpPr>
          <p:cNvPr id="30" name="Группа 29"/>
          <p:cNvGrpSpPr/>
          <p:nvPr/>
        </p:nvGrpSpPr>
        <p:grpSpPr>
          <a:xfrm>
            <a:off x="6889334" y="3623058"/>
            <a:ext cx="5074706" cy="2758117"/>
            <a:chOff x="7350376" y="3922463"/>
            <a:chExt cx="4072158" cy="2691644"/>
          </a:xfrm>
        </p:grpSpPr>
        <p:pic>
          <p:nvPicPr>
            <p:cNvPr id="19" name="Picture 2">
              <a:extLst>
                <a:ext uri="{FF2B5EF4-FFF2-40B4-BE49-F238E27FC236}">
                  <a16:creationId xmlns:a16="http://schemas.microsoft.com/office/drawing/2014/main" id="{01CFA530-140F-8B29-4421-F07E4B98F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376" y="3922463"/>
              <a:ext cx="4072158" cy="251146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Прямая соединительная линия 15"/>
            <p:cNvCxnSpPr/>
            <p:nvPr/>
          </p:nvCxnSpPr>
          <p:spPr>
            <a:xfrm>
              <a:off x="7886701" y="5143567"/>
              <a:ext cx="0" cy="1076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a:off x="7886701" y="5995988"/>
              <a:ext cx="771524" cy="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993123" y="5929313"/>
              <a:ext cx="617477" cy="369332"/>
            </a:xfrm>
            <a:prstGeom prst="rect">
              <a:avLst/>
            </a:prstGeom>
            <a:noFill/>
          </p:spPr>
          <p:txBody>
            <a:bodyPr wrap="none" rtlCol="0">
              <a:spAutoFit/>
            </a:bodyPr>
            <a:lstStyle/>
            <a:p>
              <a:r>
                <a:rPr lang="ru-RU" dirty="0"/>
                <a:t>лаги</a:t>
              </a:r>
            </a:p>
          </p:txBody>
        </p:sp>
        <p:sp>
          <p:nvSpPr>
            <p:cNvPr id="21" name="TextBox 20"/>
            <p:cNvSpPr txBox="1"/>
            <p:nvPr/>
          </p:nvSpPr>
          <p:spPr>
            <a:xfrm>
              <a:off x="8610600" y="6244775"/>
              <a:ext cx="341312" cy="369332"/>
            </a:xfrm>
            <a:prstGeom prst="rect">
              <a:avLst/>
            </a:prstGeom>
            <a:noFill/>
          </p:spPr>
          <p:txBody>
            <a:bodyPr wrap="none" rtlCol="0">
              <a:spAutoFit/>
            </a:bodyPr>
            <a:lstStyle/>
            <a:p>
              <a:r>
                <a:rPr lang="en-US" dirty="0" err="1"/>
                <a:t>y</a:t>
              </a:r>
              <a:r>
                <a:rPr lang="en-US" baseline="-25000" dirty="0" err="1"/>
                <a:t>t</a:t>
              </a:r>
              <a:endParaRPr lang="ru-RU" baseline="-25000" dirty="0"/>
            </a:p>
          </p:txBody>
        </p:sp>
        <p:sp>
          <p:nvSpPr>
            <p:cNvPr id="26" name="TextBox 25"/>
            <p:cNvSpPr txBox="1"/>
            <p:nvPr/>
          </p:nvSpPr>
          <p:spPr>
            <a:xfrm>
              <a:off x="7745612" y="6238373"/>
              <a:ext cx="495022" cy="369332"/>
            </a:xfrm>
            <a:prstGeom prst="rect">
              <a:avLst/>
            </a:prstGeom>
            <a:noFill/>
          </p:spPr>
          <p:txBody>
            <a:bodyPr wrap="square" rtlCol="0">
              <a:spAutoFit/>
            </a:bodyPr>
            <a:lstStyle/>
            <a:p>
              <a:r>
                <a:rPr lang="en-US" dirty="0" err="1"/>
                <a:t>y</a:t>
              </a:r>
              <a:r>
                <a:rPr lang="en-US" baseline="-25000" dirty="0" err="1"/>
                <a:t>t</a:t>
              </a:r>
              <a:r>
                <a:rPr lang="en-US" baseline="-25000" dirty="0"/>
                <a:t>-p</a:t>
              </a:r>
              <a:endParaRPr lang="ru-RU" baseline="-25000" dirty="0"/>
            </a:p>
          </p:txBody>
        </p:sp>
        <p:sp>
          <p:nvSpPr>
            <p:cNvPr id="27" name="TextBox 26"/>
            <p:cNvSpPr txBox="1"/>
            <p:nvPr/>
          </p:nvSpPr>
          <p:spPr>
            <a:xfrm>
              <a:off x="10862540" y="6220547"/>
              <a:ext cx="498406" cy="369332"/>
            </a:xfrm>
            <a:prstGeom prst="rect">
              <a:avLst/>
            </a:prstGeom>
            <a:noFill/>
          </p:spPr>
          <p:txBody>
            <a:bodyPr wrap="none" rtlCol="0">
              <a:spAutoFit/>
            </a:bodyPr>
            <a:lstStyle/>
            <a:p>
              <a:r>
                <a:rPr lang="en-US" dirty="0" err="1"/>
                <a:t>y</a:t>
              </a:r>
              <a:r>
                <a:rPr lang="en-US" baseline="-25000" dirty="0" err="1"/>
                <a:t>t+h</a:t>
              </a:r>
              <a:endParaRPr lang="ru-RU" baseline="-25000" dirty="0"/>
            </a:p>
          </p:txBody>
        </p:sp>
        <p:sp>
          <p:nvSpPr>
            <p:cNvPr id="28" name="TextBox 27"/>
            <p:cNvSpPr txBox="1"/>
            <p:nvPr/>
          </p:nvSpPr>
          <p:spPr>
            <a:xfrm>
              <a:off x="8632478" y="5687378"/>
              <a:ext cx="2457468" cy="646331"/>
            </a:xfrm>
            <a:prstGeom prst="rect">
              <a:avLst/>
            </a:prstGeom>
            <a:noFill/>
          </p:spPr>
          <p:txBody>
            <a:bodyPr wrap="square" rtlCol="0">
              <a:spAutoFit/>
            </a:bodyPr>
            <a:lstStyle/>
            <a:p>
              <a:pPr algn="r"/>
              <a:r>
                <a:rPr lang="ru-RU" dirty="0"/>
                <a:t>Горизонт прогнозирования</a:t>
              </a:r>
            </a:p>
          </p:txBody>
        </p:sp>
        <p:cxnSp>
          <p:nvCxnSpPr>
            <p:cNvPr id="29" name="Прямая со стрелкой 28"/>
            <p:cNvCxnSpPr>
              <a:endCxn id="28" idx="3"/>
            </p:cNvCxnSpPr>
            <p:nvPr/>
          </p:nvCxnSpPr>
          <p:spPr>
            <a:xfrm>
              <a:off x="8670926" y="5999163"/>
              <a:ext cx="2419020" cy="1138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11089946" y="5092079"/>
              <a:ext cx="0" cy="1152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7764409" y="5143567"/>
              <a:ext cx="0" cy="1110669"/>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594656" y="4798615"/>
              <a:ext cx="782798" cy="360431"/>
            </a:xfrm>
            <a:prstGeom prst="rect">
              <a:avLst/>
            </a:prstGeom>
            <a:noFill/>
          </p:spPr>
          <p:txBody>
            <a:bodyPr wrap="square" rtlCol="0">
              <a:spAutoFit/>
            </a:bodyPr>
            <a:lstStyle/>
            <a:p>
              <a:r>
                <a:rPr lang="ru-RU" dirty="0"/>
                <a:t>Шаг ВР</a:t>
              </a:r>
              <a:endParaRPr lang="ru-RU" baseline="-25000" dirty="0"/>
            </a:p>
          </p:txBody>
        </p:sp>
      </p:grpSp>
      <mc:AlternateContent xmlns:mc="http://schemas.openxmlformats.org/markup-compatibility/2006" xmlns:a14="http://schemas.microsoft.com/office/drawing/2010/main">
        <mc:Choice Requires="a14">
          <p:sp>
            <p:nvSpPr>
              <p:cNvPr id="25" name="Прямоугольник 24"/>
              <p:cNvSpPr/>
              <p:nvPr/>
            </p:nvSpPr>
            <p:spPr>
              <a:xfrm>
                <a:off x="285149" y="964689"/>
                <a:ext cx="11497875" cy="2329036"/>
              </a:xfrm>
              <a:prstGeom prst="rect">
                <a:avLst/>
              </a:prstGeom>
            </p:spPr>
            <p:txBody>
              <a:bodyPr wrap="square">
                <a:spAutoFit/>
              </a:bodyPr>
              <a:lstStyle/>
              <a:p>
                <a:pPr marL="285750" indent="-285750">
                  <a:spcBef>
                    <a:spcPts val="600"/>
                  </a:spcBef>
                  <a:buFont typeface="Arial" panose="020B0604020202020204" pitchFamily="34" charset="0"/>
                  <a:buChar char="•"/>
                </a:pPr>
                <a:r>
                  <a:rPr lang="ru-RU" sz="2000" dirty="0"/>
                  <a:t>Значение в момент времени </a:t>
                </a:r>
                <a14:m>
                  <m:oMath xmlns:m="http://schemas.openxmlformats.org/officeDocument/2006/math">
                    <m:r>
                      <a:rPr lang="ru-RU" sz="2000" b="1" i="1" dirty="0">
                        <a:latin typeface="Cambria Math" panose="02040503050406030204" pitchFamily="18" charset="0"/>
                      </a:rPr>
                      <m:t>𝒕</m:t>
                    </m:r>
                  </m:oMath>
                </a14:m>
                <a:r>
                  <a:rPr lang="ru-RU" sz="2000" dirty="0"/>
                  <a:t> — это </a:t>
                </a:r>
                <a14:m>
                  <m:oMath xmlns:m="http://schemas.openxmlformats.org/officeDocument/2006/math">
                    <m:r>
                      <a:rPr lang="ru-RU" sz="2000" b="1" i="1" dirty="0">
                        <a:latin typeface="Cambria Math" panose="02040503050406030204" pitchFamily="18" charset="0"/>
                      </a:rPr>
                      <m:t>𝒚</m:t>
                    </m:r>
                    <m:r>
                      <a:rPr lang="ru-RU" sz="2000" b="1" i="1" baseline="-25000" dirty="0" err="1">
                        <a:latin typeface="Cambria Math" panose="02040503050406030204" pitchFamily="18" charset="0"/>
                      </a:rPr>
                      <m:t>𝒕</m:t>
                    </m:r>
                  </m:oMath>
                </a14:m>
                <a:r>
                  <a:rPr lang="ru-RU" sz="2000" dirty="0"/>
                  <a:t>. </a:t>
                </a:r>
              </a:p>
              <a:p>
                <a:pPr marL="285750" indent="-285750">
                  <a:spcBef>
                    <a:spcPts val="600"/>
                  </a:spcBef>
                  <a:buFont typeface="Arial" panose="020B0604020202020204" pitchFamily="34" charset="0"/>
                  <a:buChar char="•"/>
                </a:pPr>
                <a:r>
                  <a:rPr lang="ru-RU" sz="2000" dirty="0"/>
                  <a:t>Прошлое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температура вчера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Будущее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прогноз температуры на завтра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Прогнозы на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шагов вперед – </a:t>
                </a:r>
                <a:r>
                  <a:rPr lang="ru-RU" sz="2000" b="1" dirty="0"/>
                  <a:t>горизонт прогнозирования </a:t>
                </a:r>
                <a:endParaRPr lang="en-US" sz="2000" b="1" dirty="0"/>
              </a:p>
              <a:p>
                <a:pPr marL="285750" indent="-285750">
                  <a:spcBef>
                    <a:spcPts val="600"/>
                  </a:spcBef>
                  <a:buFont typeface="Arial" panose="020B0604020202020204" pitchFamily="34" charset="0"/>
                  <a:buChar char="•"/>
                </a:pPr>
                <a:r>
                  <a:rPr lang="ru-RU" sz="2000" dirty="0"/>
                  <a:t>Предсказанное значение на шаге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обозначим как </a:t>
                </a:r>
                <a14:m>
                  <m:oMath xmlns:m="http://schemas.openxmlformats.org/officeDocument/2006/math">
                    <m:acc>
                      <m:accPr>
                        <m:chr m:val="̂"/>
                        <m:ctrlPr>
                          <a:rPr lang="en-US" sz="2000" b="1" i="1" dirty="0">
                            <a:latin typeface="Cambria Math" panose="02040503050406030204" pitchFamily="18" charset="0"/>
                          </a:rPr>
                        </m:ctrlPr>
                      </m:accPr>
                      <m:e>
                        <m:r>
                          <a:rPr lang="en-US" sz="2000" b="1" i="1" dirty="0">
                            <a:latin typeface="Cambria Math" panose="02040503050406030204" pitchFamily="18" charset="0"/>
                          </a:rPr>
                          <m:t>𝒚</m:t>
                        </m:r>
                      </m:e>
                    </m:acc>
                    <m:r>
                      <m:rPr>
                        <m:nor/>
                      </m:rPr>
                      <a:rPr lang="ru-RU" sz="2000" b="1" baseline="-25000" dirty="0"/>
                      <m:t>t</m:t>
                    </m:r>
                    <m:r>
                      <m:rPr>
                        <m:nor/>
                      </m:rPr>
                      <a:rPr lang="ru-RU" sz="2000" b="1" baseline="-25000" dirty="0"/>
                      <m:t>+</m:t>
                    </m:r>
                    <m:r>
                      <m:rPr>
                        <m:nor/>
                      </m:rPr>
                      <a:rPr lang="en-US" sz="2000" b="1" baseline="-25000" dirty="0"/>
                      <m:t>h</m:t>
                    </m:r>
                  </m:oMath>
                </a14:m>
                <a:endParaRPr lang="ru-RU" sz="2000" b="1" dirty="0"/>
              </a:p>
              <a:p>
                <a:pPr marL="285750" indent="-285750">
                  <a:spcBef>
                    <a:spcPts val="600"/>
                  </a:spcBef>
                  <a:buFont typeface="Arial" panose="020B0604020202020204" pitchFamily="34" charset="0"/>
                  <a:buChar char="•"/>
                </a:pPr>
                <a:r>
                  <a:rPr lang="ru-RU" sz="2000" b="1" dirty="0"/>
                  <a:t>Задача прогнозирования</a:t>
                </a:r>
                <a14:m>
                  <m:oMath xmlns:m="http://schemas.openxmlformats.org/officeDocument/2006/math">
                    <m:r>
                      <a:rPr lang="en-US" sz="2000" b="1" i="0" dirty="0" smtClean="0">
                        <a:latin typeface="Cambria Math" panose="02040503050406030204" pitchFamily="18" charset="0"/>
                      </a:rPr>
                      <m:t> </m:t>
                    </m:r>
                    <m:r>
                      <a:rPr lang="fr-FR" sz="2000" i="1" dirty="0">
                        <a:latin typeface="Cambria Math" panose="02040503050406030204" pitchFamily="18" charset="0"/>
                      </a:rPr>
                      <m:t>𝐸</m:t>
                    </m:r>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𝑦</m:t>
                                </m:r>
                              </m:e>
                            </m:acc>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e>
                    </m:d>
                    <m:r>
                      <a:rPr lang="en-US" sz="2000" b="0" i="1" dirty="0" smtClean="0">
                        <a:latin typeface="Cambria Math" panose="02040503050406030204" pitchFamily="18" charset="0"/>
                      </a:rPr>
                      <m:t>→</m:t>
                    </m:r>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oMath>
                </a14:m>
                <a:endParaRPr lang="en-US" sz="2000" dirty="0"/>
              </a:p>
            </p:txBody>
          </p:sp>
        </mc:Choice>
        <mc:Fallback xmlns="">
          <p:sp>
            <p:nvSpPr>
              <p:cNvPr id="25" name="Прямоугольник 24"/>
              <p:cNvSpPr>
                <a:spLocks noRot="1" noChangeAspect="1" noMove="1" noResize="1" noEditPoints="1" noAdjustHandles="1" noChangeArrowheads="1" noChangeShapeType="1" noTextEdit="1"/>
              </p:cNvSpPr>
              <p:nvPr/>
            </p:nvSpPr>
            <p:spPr>
              <a:xfrm>
                <a:off x="285149" y="964689"/>
                <a:ext cx="11497875" cy="2329036"/>
              </a:xfrm>
              <a:prstGeom prst="rect">
                <a:avLst/>
              </a:prstGeom>
              <a:blipFill>
                <a:blip r:embed="rId5"/>
                <a:stretch>
                  <a:fillRect l="-477" t="-1309" b="-3927"/>
                </a:stretch>
              </a:blipFill>
            </p:spPr>
            <p:txBody>
              <a:bodyPr/>
              <a:lstStyle/>
              <a:p>
                <a:r>
                  <a:rPr lang="ru-RU">
                    <a:noFill/>
                  </a:rPr>
                  <a:t> </a:t>
                </a:r>
              </a:p>
            </p:txBody>
          </p:sp>
        </mc:Fallback>
      </mc:AlternateContent>
      <p:sp>
        <p:nvSpPr>
          <p:cNvPr id="37" name="TextBox 36">
            <a:extLst>
              <a:ext uri="{FF2B5EF4-FFF2-40B4-BE49-F238E27FC236}">
                <a16:creationId xmlns:a16="http://schemas.microsoft.com/office/drawing/2014/main" id="{E58F1B07-EE24-C7CD-1951-723D0C1BF829}"/>
              </a:ext>
            </a:extLst>
          </p:cNvPr>
          <p:cNvSpPr txBox="1"/>
          <p:nvPr/>
        </p:nvSpPr>
        <p:spPr>
          <a:xfrm>
            <a:off x="4795818" y="6478728"/>
            <a:ext cx="6746913" cy="276999"/>
          </a:xfrm>
          <a:prstGeom prst="rect">
            <a:avLst/>
          </a:prstGeom>
          <a:noFill/>
        </p:spPr>
        <p:txBody>
          <a:bodyPr wrap="square">
            <a:spAutoFit/>
          </a:bodyPr>
          <a:lstStyle/>
          <a:p>
            <a:r>
              <a:rPr lang="ru-RU" sz="1200" dirty="0" err="1"/>
              <a:t>https</a:t>
            </a:r>
            <a:r>
              <a:rPr lang="ru-RU" sz="1200" dirty="0"/>
              <a:t>://</a:t>
            </a:r>
            <a:r>
              <a:rPr lang="ru-RU" sz="1200" dirty="0" err="1"/>
              <a:t>colab.research.google.com</a:t>
            </a:r>
            <a:r>
              <a:rPr lang="ru-RU" sz="1200" dirty="0"/>
              <a:t>/</a:t>
            </a:r>
            <a:r>
              <a:rPr lang="ru-RU" sz="1200" dirty="0" err="1"/>
              <a:t>drive</a:t>
            </a:r>
            <a:r>
              <a:rPr lang="ru-RU" sz="1200" dirty="0"/>
              <a:t>/1EnMNj9cTV1JhMQBvx2VvXaahxBPoCDML?usp=</a:t>
            </a:r>
            <a:r>
              <a:rPr lang="ru-RU" sz="1200" dirty="0" err="1"/>
              <a:t>sharing</a:t>
            </a:r>
            <a:endParaRPr lang="ru-RU" sz="1200" dirty="0"/>
          </a:p>
        </p:txBody>
      </p:sp>
      <p:cxnSp>
        <p:nvCxnSpPr>
          <p:cNvPr id="39" name="Прямая со стрелкой 38"/>
          <p:cNvCxnSpPr/>
          <p:nvPr/>
        </p:nvCxnSpPr>
        <p:spPr>
          <a:xfrm flipH="1">
            <a:off x="7557700" y="5007216"/>
            <a:ext cx="286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flipH="1">
            <a:off x="7405300" y="5003006"/>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p:nvPr/>
        </p:nvCxnSpPr>
        <p:spPr>
          <a:xfrm>
            <a:off x="7193756" y="5003006"/>
            <a:ext cx="2115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0762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72877" y="365126"/>
            <a:ext cx="10780923" cy="637410"/>
          </a:xfrm>
        </p:spPr>
        <p:txBody>
          <a:bodyPr>
            <a:normAutofit fontScale="90000"/>
          </a:bodyPr>
          <a:lstStyle/>
          <a:p>
            <a:r>
              <a:rPr lang="ru-RU" b="1" dirty="0">
                <a:ea typeface="Calibri" panose="020F0502020204030204" pitchFamily="34" charset="0"/>
                <a:cs typeface="Times New Roman" panose="02020603050405020304" pitchFamily="18" charset="0"/>
              </a:rPr>
              <a:t>Анализ временных рядов</a:t>
            </a:r>
            <a:endParaRPr lang="ru-RU" dirty="0"/>
          </a:p>
        </p:txBody>
      </p:sp>
      <p:sp>
        <p:nvSpPr>
          <p:cNvPr id="3" name="Объект 2"/>
          <p:cNvSpPr>
            <a:spLocks noGrp="1"/>
          </p:cNvSpPr>
          <p:nvPr>
            <p:ph idx="1"/>
          </p:nvPr>
        </p:nvSpPr>
        <p:spPr>
          <a:xfrm>
            <a:off x="309389" y="1528170"/>
            <a:ext cx="3028721" cy="4351338"/>
          </a:xfrm>
        </p:spPr>
        <p:txBody>
          <a:bodyPr>
            <a:normAutofit/>
          </a:bodyPr>
          <a:lstStyle/>
          <a:p>
            <a:pPr marL="0" indent="0">
              <a:buNone/>
            </a:pPr>
            <a:r>
              <a:rPr lang="ru-RU" sz="2400" dirty="0"/>
              <a:t>Строгая последовательность данных – это всегда дополнительная информация и часто важная!</a:t>
            </a:r>
          </a:p>
          <a:p>
            <a:pPr marL="0" indent="0">
              <a:buNone/>
            </a:pPr>
            <a:endParaRPr lang="ru-RU" sz="2400" dirty="0"/>
          </a:p>
          <a:p>
            <a:pPr marL="0" indent="0">
              <a:buNone/>
            </a:pPr>
            <a:r>
              <a:rPr lang="ru-RU" sz="2400" dirty="0"/>
              <a:t>Последовательность данных нарушать нельзя!</a:t>
            </a:r>
          </a:p>
        </p:txBody>
      </p:sp>
      <p:sp>
        <p:nvSpPr>
          <p:cNvPr id="4" name="Номер слайда 3"/>
          <p:cNvSpPr>
            <a:spLocks noGrp="1"/>
          </p:cNvSpPr>
          <p:nvPr>
            <p:ph type="sldNum" sz="quarter" idx="12"/>
          </p:nvPr>
        </p:nvSpPr>
        <p:spPr/>
        <p:txBody>
          <a:bodyPr/>
          <a:lstStyle/>
          <a:p>
            <a:fld id="{45C3B737-A709-4ABC-AFE0-A6B067850C48}" type="slidenum">
              <a:rPr lang="en-US" smtClean="0"/>
              <a:t>19</a:t>
            </a:fld>
            <a:endParaRPr lang="en-US"/>
          </a:p>
        </p:txBody>
      </p:sp>
      <p:pic>
        <p:nvPicPr>
          <p:cNvPr id="1026" name="Picture 2" descr="Evaluation of statistical and machine learning models for time series  prediction: Identifying the state-of-the-art and the best conditions for  the use of each model - ScienceDirect">
            <a:extLst>
              <a:ext uri="{FF2B5EF4-FFF2-40B4-BE49-F238E27FC236}">
                <a16:creationId xmlns:a16="http://schemas.microsoft.com/office/drawing/2014/main" id="{CF0134DE-2972-2DC6-F324-4B473D1A8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6020" y="1460179"/>
            <a:ext cx="8386590" cy="455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6B87D2F-F4DD-DA49-1AAC-60C600287B1E}"/>
              </a:ext>
            </a:extLst>
          </p:cNvPr>
          <p:cNvSpPr txBox="1"/>
          <p:nvPr/>
        </p:nvSpPr>
        <p:spPr>
          <a:xfrm>
            <a:off x="4527933" y="6270587"/>
            <a:ext cx="8386590" cy="369332"/>
          </a:xfrm>
          <a:prstGeom prst="rect">
            <a:avLst/>
          </a:prstGeom>
          <a:noFill/>
        </p:spPr>
        <p:txBody>
          <a:bodyPr wrap="square">
            <a:spAutoFit/>
          </a:bodyPr>
          <a:lstStyle/>
          <a:p>
            <a:r>
              <a:rPr lang="ru-RU" dirty="0" err="1"/>
              <a:t>https</a:t>
            </a:r>
            <a:r>
              <a:rPr lang="ru-RU" dirty="0"/>
              <a:t>://</a:t>
            </a:r>
            <a:r>
              <a:rPr lang="ru-RU" dirty="0" err="1"/>
              <a:t>www.sciencedirect.com</a:t>
            </a:r>
            <a:r>
              <a:rPr lang="ru-RU" dirty="0"/>
              <a:t>/</a:t>
            </a:r>
            <a:r>
              <a:rPr lang="ru-RU" dirty="0" err="1"/>
              <a:t>science</a:t>
            </a:r>
            <a:r>
              <a:rPr lang="ru-RU" dirty="0"/>
              <a:t>/</a:t>
            </a:r>
            <a:r>
              <a:rPr lang="ru-RU" dirty="0" err="1"/>
              <a:t>article</a:t>
            </a:r>
            <a:r>
              <a:rPr lang="ru-RU" dirty="0"/>
              <a:t>/</a:t>
            </a:r>
            <a:r>
              <a:rPr lang="ru-RU" dirty="0" err="1"/>
              <a:t>abs</a:t>
            </a:r>
            <a:r>
              <a:rPr lang="ru-RU" dirty="0"/>
              <a:t>/</a:t>
            </a:r>
            <a:r>
              <a:rPr lang="ru-RU" dirty="0" err="1"/>
              <a:t>pii</a:t>
            </a:r>
            <a:r>
              <a:rPr lang="ru-RU" dirty="0"/>
              <a:t>/S0020025519300945</a:t>
            </a:r>
          </a:p>
        </p:txBody>
      </p:sp>
    </p:spTree>
    <p:extLst>
      <p:ext uri="{BB962C8B-B14F-4D97-AF65-F5344CB8AC3E}">
        <p14:creationId xmlns:p14="http://schemas.microsoft.com/office/powerpoint/2010/main" val="4196386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7C0DF5D5-7D67-E283-56B4-5F90AB037BF6}"/>
              </a:ext>
            </a:extLst>
          </p:cNvPr>
          <p:cNvPicPr>
            <a:picLocks noChangeAspect="1"/>
          </p:cNvPicPr>
          <p:nvPr/>
        </p:nvPicPr>
        <p:blipFill>
          <a:blip r:embed="rId2"/>
          <a:stretch>
            <a:fillRect/>
          </a:stretch>
        </p:blipFill>
        <p:spPr>
          <a:xfrm>
            <a:off x="6855788" y="1036503"/>
            <a:ext cx="5002837" cy="4793379"/>
          </a:xfrm>
          <a:prstGeom prst="rect">
            <a:avLst/>
          </a:prstGeom>
        </p:spPr>
      </p:pic>
      <p:sp>
        <p:nvSpPr>
          <p:cNvPr id="2" name="Заголовок 1">
            <a:extLst>
              <a:ext uri="{FF2B5EF4-FFF2-40B4-BE49-F238E27FC236}">
                <a16:creationId xmlns:a16="http://schemas.microsoft.com/office/drawing/2014/main" id="{902D1D9A-7D65-F70A-BCFB-4AAC3B1AC39B}"/>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75001AD-C988-EFE6-BAB1-1D06788E8D18}"/>
              </a:ext>
            </a:extLst>
          </p:cNvPr>
          <p:cNvSpPr>
            <a:spLocks noGrp="1"/>
          </p:cNvSpPr>
          <p:nvPr>
            <p:ph idx="1"/>
          </p:nvPr>
        </p:nvSpPr>
        <p:spPr>
          <a:xfrm>
            <a:off x="102790" y="937510"/>
            <a:ext cx="7312789" cy="5783965"/>
          </a:xfrm>
        </p:spPr>
        <p:txBody>
          <a:bodyPr>
            <a:normAutofit fontScale="77500" lnSpcReduction="20000"/>
          </a:bodyPr>
          <a:lstStyle/>
          <a:p>
            <a:r>
              <a:rPr lang="ru-RU" sz="2400" b="1" dirty="0"/>
              <a:t>Как устроен ВР </a:t>
            </a:r>
          </a:p>
          <a:p>
            <a:pPr lvl="1"/>
            <a:r>
              <a:rPr lang="ru-RU" sz="2000" b="1" dirty="0"/>
              <a:t>От куда берутся значения ВР</a:t>
            </a:r>
            <a:r>
              <a:rPr lang="ru-RU" sz="2000" dirty="0"/>
              <a:t>, типы данных и однотипность, количество</a:t>
            </a:r>
          </a:p>
          <a:p>
            <a:pPr lvl="1"/>
            <a:r>
              <a:rPr lang="ru-RU" b="1" dirty="0"/>
              <a:t>структура</a:t>
            </a:r>
            <a:r>
              <a:rPr lang="en-US" b="1" dirty="0"/>
              <a:t> </a:t>
            </a:r>
            <a:r>
              <a:rPr lang="ru-RU" b="1" dirty="0"/>
              <a:t>ВР </a:t>
            </a:r>
            <a:r>
              <a:rPr lang="ru-RU" dirty="0"/>
              <a:t>(переменные, экзогенные факторы, регулярность паттернов, стат. характеристики)</a:t>
            </a:r>
          </a:p>
          <a:p>
            <a:pPr lvl="1"/>
            <a:r>
              <a:rPr lang="ru-RU" dirty="0"/>
              <a:t>шаг, равномерность, пропуск и </a:t>
            </a:r>
            <a:r>
              <a:rPr lang="ru-RU" dirty="0" err="1"/>
              <a:t>тд</a:t>
            </a:r>
            <a:r>
              <a:rPr lang="ru-RU" dirty="0"/>
              <a:t> , как заполнять?</a:t>
            </a:r>
          </a:p>
          <a:p>
            <a:r>
              <a:rPr lang="ru-RU" sz="2400" b="1" dirty="0"/>
              <a:t>Преобразование данных </a:t>
            </a:r>
          </a:p>
          <a:p>
            <a:pPr lvl="1"/>
            <a:r>
              <a:rPr lang="ru-RU" dirty="0"/>
              <a:t>численные данные? </a:t>
            </a:r>
          </a:p>
          <a:p>
            <a:pPr lvl="1"/>
            <a:r>
              <a:rPr lang="ru-RU" dirty="0"/>
              <a:t>Экзогенные факторы? </a:t>
            </a:r>
          </a:p>
          <a:p>
            <a:pPr lvl="1"/>
            <a:r>
              <a:rPr lang="ru-RU" dirty="0"/>
              <a:t>Разложение?</a:t>
            </a:r>
            <a:r>
              <a:rPr lang="en-US" dirty="0"/>
              <a:t> </a:t>
            </a:r>
            <a:endParaRPr lang="ru-RU" dirty="0"/>
          </a:p>
          <a:p>
            <a:r>
              <a:rPr lang="ru-RU" sz="2400" b="1" dirty="0" smtClean="0"/>
              <a:t>Переменная </a:t>
            </a:r>
            <a:r>
              <a:rPr lang="ru-RU" sz="2400" b="1" dirty="0"/>
              <a:t>для предсказания  (Диагностика </a:t>
            </a:r>
            <a:r>
              <a:rPr lang="ru-RU" sz="2400" b="1" dirty="0" smtClean="0"/>
              <a:t>ВР</a:t>
            </a:r>
            <a:r>
              <a:rPr lang="ru-RU" sz="2400" b="1" dirty="0"/>
              <a:t>)</a:t>
            </a:r>
          </a:p>
          <a:p>
            <a:pPr lvl="1"/>
            <a:r>
              <a:rPr lang="ru-RU" dirty="0"/>
              <a:t>горизонт, регулярность, </a:t>
            </a:r>
          </a:p>
          <a:p>
            <a:pPr lvl="1"/>
            <a:r>
              <a:rPr lang="ru-RU" dirty="0"/>
              <a:t>Время предсказания, </a:t>
            </a:r>
          </a:p>
          <a:p>
            <a:pPr lvl="1"/>
            <a:r>
              <a:rPr lang="ru-RU" dirty="0"/>
              <a:t>М</a:t>
            </a:r>
            <a:r>
              <a:rPr lang="en-US" dirty="0" err="1"/>
              <a:t>етр</a:t>
            </a:r>
            <a:r>
              <a:rPr lang="ru-RU" dirty="0" err="1"/>
              <a:t>ики</a:t>
            </a:r>
            <a:r>
              <a:rPr lang="ru-RU" dirty="0"/>
              <a:t> и их значение и разброс, </a:t>
            </a:r>
            <a:r>
              <a:rPr lang="ru-RU" dirty="0" err="1"/>
              <a:t>bas</a:t>
            </a:r>
            <a:r>
              <a:rPr lang="en-US" dirty="0" err="1"/>
              <a:t>eline</a:t>
            </a:r>
            <a:r>
              <a:rPr lang="ru-RU" dirty="0"/>
              <a:t> </a:t>
            </a:r>
            <a:endParaRPr lang="en-US" dirty="0"/>
          </a:p>
          <a:p>
            <a:pPr lvl="1"/>
            <a:r>
              <a:rPr lang="ru-RU" dirty="0"/>
              <a:t>Чувствительность к выбросам и пропускам</a:t>
            </a:r>
          </a:p>
          <a:p>
            <a:pPr lvl="1"/>
            <a:r>
              <a:rPr lang="ru-RU" dirty="0"/>
              <a:t>Интерпретация или модель данных</a:t>
            </a:r>
          </a:p>
          <a:p>
            <a:r>
              <a:rPr lang="ru-RU" sz="2400" b="1" dirty="0"/>
              <a:t>Мониторинг</a:t>
            </a:r>
          </a:p>
          <a:p>
            <a:pPr lvl="1"/>
            <a:r>
              <a:rPr lang="ru-RU" dirty="0"/>
              <a:t>Контроль дрейфа и новизны</a:t>
            </a:r>
          </a:p>
          <a:p>
            <a:pPr lvl="1"/>
            <a:r>
              <a:rPr lang="ru-RU" dirty="0"/>
              <a:t>Критерии дообучения</a:t>
            </a:r>
          </a:p>
          <a:p>
            <a:pPr lvl="1"/>
            <a:r>
              <a:rPr lang="ru-RU" dirty="0"/>
              <a:t>Критерии </a:t>
            </a:r>
            <a:r>
              <a:rPr lang="ru-RU" dirty="0" err="1"/>
              <a:t>досбора</a:t>
            </a:r>
            <a:r>
              <a:rPr lang="ru-RU" dirty="0"/>
              <a:t> данных</a:t>
            </a:r>
          </a:p>
          <a:p>
            <a:pPr lvl="1"/>
            <a:r>
              <a:rPr lang="ru-RU" dirty="0"/>
              <a:t>Время </a:t>
            </a:r>
            <a:r>
              <a:rPr lang="ru-RU" dirty="0" err="1"/>
              <a:t>дообучение</a:t>
            </a:r>
            <a:r>
              <a:rPr lang="ru-RU" dirty="0"/>
              <a:t> на новых данных</a:t>
            </a:r>
            <a:endParaRPr lang="en-US" dirty="0"/>
          </a:p>
          <a:p>
            <a:endParaRPr lang="ru-RU" sz="2400" dirty="0"/>
          </a:p>
          <a:p>
            <a:endParaRPr lang="ru-RU" dirty="0"/>
          </a:p>
        </p:txBody>
      </p:sp>
      <p:sp>
        <p:nvSpPr>
          <p:cNvPr id="4" name="Номер слайда 3">
            <a:extLst>
              <a:ext uri="{FF2B5EF4-FFF2-40B4-BE49-F238E27FC236}">
                <a16:creationId xmlns:a16="http://schemas.microsoft.com/office/drawing/2014/main" id="{A23ABF32-A19D-3F0F-1034-BFC9C1750C3A}"/>
              </a:ext>
            </a:extLst>
          </p:cNvPr>
          <p:cNvSpPr>
            <a:spLocks noGrp="1"/>
          </p:cNvSpPr>
          <p:nvPr>
            <p:ph type="sldNum" sz="quarter" idx="12"/>
          </p:nvPr>
        </p:nvSpPr>
        <p:spPr/>
        <p:txBody>
          <a:bodyPr/>
          <a:lstStyle/>
          <a:p>
            <a:fld id="{45C3B737-A709-4ABC-AFE0-A6B067850C48}" type="slidenum">
              <a:rPr lang="en-US" smtClean="0"/>
              <a:t>20</a:t>
            </a:fld>
            <a:endParaRPr lang="en-US"/>
          </a:p>
        </p:txBody>
      </p:sp>
      <p:sp>
        <p:nvSpPr>
          <p:cNvPr id="6" name="TextBox 5">
            <a:extLst>
              <a:ext uri="{FF2B5EF4-FFF2-40B4-BE49-F238E27FC236}">
                <a16:creationId xmlns:a16="http://schemas.microsoft.com/office/drawing/2014/main" id="{ACC32247-5361-DC33-A872-0AB9D0D7E697}"/>
              </a:ext>
            </a:extLst>
          </p:cNvPr>
          <p:cNvSpPr txBox="1"/>
          <p:nvPr/>
        </p:nvSpPr>
        <p:spPr>
          <a:xfrm>
            <a:off x="5536436" y="6512691"/>
            <a:ext cx="4998214" cy="307777"/>
          </a:xfrm>
          <a:prstGeom prst="rect">
            <a:avLst/>
          </a:prstGeom>
          <a:noFill/>
        </p:spPr>
        <p:txBody>
          <a:bodyPr wrap="square">
            <a:spAutoFit/>
          </a:bodyPr>
          <a:lstStyle/>
          <a:p>
            <a:r>
              <a:rPr lang="ru-RU" sz="1400" dirty="0" err="1"/>
              <a:t>https</a:t>
            </a:r>
            <a:r>
              <a:rPr lang="ru-RU" sz="1400" dirty="0"/>
              <a:t>://</a:t>
            </a:r>
            <a:r>
              <a:rPr lang="ru-RU" sz="1400" dirty="0" err="1"/>
              <a:t>rutube.ru</a:t>
            </a:r>
            <a:r>
              <a:rPr lang="ru-RU" sz="1400" dirty="0"/>
              <a:t>/</a:t>
            </a:r>
            <a:r>
              <a:rPr lang="ru-RU" sz="1400" dirty="0" err="1"/>
              <a:t>video</a:t>
            </a:r>
            <a:r>
              <a:rPr lang="ru-RU" sz="1400" dirty="0"/>
              <a:t>/c4116f5e24238a778e458a56a16015f3/</a:t>
            </a:r>
          </a:p>
        </p:txBody>
      </p:sp>
      <p:sp>
        <p:nvSpPr>
          <p:cNvPr id="11" name="TextBox 10">
            <a:extLst>
              <a:ext uri="{FF2B5EF4-FFF2-40B4-BE49-F238E27FC236}">
                <a16:creationId xmlns:a16="http://schemas.microsoft.com/office/drawing/2014/main" id="{F1FEAAF5-6255-E2ED-6CC9-BD7DA86F4315}"/>
              </a:ext>
            </a:extLst>
          </p:cNvPr>
          <p:cNvSpPr txBox="1"/>
          <p:nvPr/>
        </p:nvSpPr>
        <p:spPr>
          <a:xfrm>
            <a:off x="5655441" y="6048703"/>
            <a:ext cx="4170750" cy="523220"/>
          </a:xfrm>
          <a:prstGeom prst="rect">
            <a:avLst/>
          </a:prstGeom>
          <a:noFill/>
        </p:spPr>
        <p:txBody>
          <a:bodyPr wrap="square">
            <a:spAutoFit/>
          </a:bodyPr>
          <a:lstStyle/>
          <a:p>
            <a:r>
              <a:rPr lang="ru-RU" sz="1400" dirty="0" err="1"/>
              <a:t>https</a:t>
            </a:r>
            <a:r>
              <a:rPr lang="ru-RU" sz="1400" dirty="0"/>
              <a:t>://</a:t>
            </a:r>
            <a:r>
              <a:rPr lang="ru-RU" sz="1400" dirty="0" err="1"/>
              <a:t>www.springboard.com</a:t>
            </a:r>
            <a:r>
              <a:rPr lang="ru-RU" sz="1400" dirty="0"/>
              <a:t>/</a:t>
            </a:r>
            <a:r>
              <a:rPr lang="ru-RU" sz="1400" dirty="0" err="1"/>
              <a:t>blog</a:t>
            </a:r>
            <a:r>
              <a:rPr lang="ru-RU" sz="1400" dirty="0"/>
              <a:t>/</a:t>
            </a:r>
            <a:r>
              <a:rPr lang="ru-RU" sz="1400" dirty="0" err="1"/>
              <a:t>data-science</a:t>
            </a:r>
            <a:r>
              <a:rPr lang="ru-RU" sz="1400" dirty="0"/>
              <a:t>/</a:t>
            </a:r>
            <a:r>
              <a:rPr lang="ru-RU" sz="1400" dirty="0" err="1"/>
              <a:t>time-series-forecasting</a:t>
            </a:r>
            <a:r>
              <a:rPr lang="ru-RU" sz="1400" dirty="0"/>
              <a:t>/</a:t>
            </a:r>
          </a:p>
        </p:txBody>
      </p:sp>
    </p:spTree>
    <p:extLst>
      <p:ext uri="{BB962C8B-B14F-4D97-AF65-F5344CB8AC3E}">
        <p14:creationId xmlns:p14="http://schemas.microsoft.com/office/powerpoint/2010/main" val="27412836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15E440-596D-530D-55C2-E81E915DDDB4}"/>
              </a:ext>
            </a:extLst>
          </p:cNvPr>
          <p:cNvSpPr>
            <a:spLocks noGrp="1"/>
          </p:cNvSpPr>
          <p:nvPr>
            <p:ph type="title"/>
          </p:nvPr>
        </p:nvSpPr>
        <p:spPr>
          <a:xfrm>
            <a:off x="797070" y="469109"/>
            <a:ext cx="10968210" cy="637410"/>
          </a:xfrm>
        </p:spPr>
        <p:txBody>
          <a:bodyPr>
            <a:normAutofit fontScale="90000"/>
          </a:bodyPr>
          <a:lstStyle/>
          <a:p>
            <a:r>
              <a:rPr lang="ru-RU" dirty="0"/>
              <a:t>Пример TS</a:t>
            </a:r>
            <a:r>
              <a:rPr lang="en-US" dirty="0"/>
              <a:t>F System Design</a:t>
            </a:r>
            <a:endParaRPr lang="ru-RU" dirty="0"/>
          </a:p>
        </p:txBody>
      </p:sp>
      <p:sp>
        <p:nvSpPr>
          <p:cNvPr id="3" name="Объект 2">
            <a:extLst>
              <a:ext uri="{FF2B5EF4-FFF2-40B4-BE49-F238E27FC236}">
                <a16:creationId xmlns:a16="http://schemas.microsoft.com/office/drawing/2014/main" id="{461BD177-89A3-8B6F-DC87-8D67F7A128B7}"/>
              </a:ext>
            </a:extLst>
          </p:cNvPr>
          <p:cNvSpPr>
            <a:spLocks noGrp="1"/>
          </p:cNvSpPr>
          <p:nvPr>
            <p:ph idx="1"/>
          </p:nvPr>
        </p:nvSpPr>
        <p:spPr>
          <a:xfrm>
            <a:off x="253388" y="1366595"/>
            <a:ext cx="4362679" cy="4715396"/>
          </a:xfrm>
        </p:spPr>
        <p:txBody>
          <a:bodyPr/>
          <a:lstStyle/>
          <a:p>
            <a:endParaRPr lang="ru-RU" dirty="0"/>
          </a:p>
        </p:txBody>
      </p:sp>
      <p:sp>
        <p:nvSpPr>
          <p:cNvPr id="4" name="Номер слайда 3">
            <a:extLst>
              <a:ext uri="{FF2B5EF4-FFF2-40B4-BE49-F238E27FC236}">
                <a16:creationId xmlns:a16="http://schemas.microsoft.com/office/drawing/2014/main" id="{6453CD57-6E37-BACE-D458-4149304B4BCD}"/>
              </a:ext>
            </a:extLst>
          </p:cNvPr>
          <p:cNvSpPr>
            <a:spLocks noGrp="1"/>
          </p:cNvSpPr>
          <p:nvPr>
            <p:ph type="sldNum" sz="quarter" idx="12"/>
          </p:nvPr>
        </p:nvSpPr>
        <p:spPr/>
        <p:txBody>
          <a:bodyPr/>
          <a:lstStyle/>
          <a:p>
            <a:fld id="{45C3B737-A709-4ABC-AFE0-A6B067850C48}" type="slidenum">
              <a:rPr lang="en-US" smtClean="0"/>
              <a:t>21</a:t>
            </a:fld>
            <a:endParaRPr lang="en-US"/>
          </a:p>
        </p:txBody>
      </p:sp>
      <p:pic>
        <p:nvPicPr>
          <p:cNvPr id="5122" name="Picture 2">
            <a:extLst>
              <a:ext uri="{FF2B5EF4-FFF2-40B4-BE49-F238E27FC236}">
                <a16:creationId xmlns:a16="http://schemas.microsoft.com/office/drawing/2014/main" id="{F40F0D74-1E7D-8A20-9B0A-70E358FC3D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14" r="6732" b="9928"/>
          <a:stretch/>
        </p:blipFill>
        <p:spPr bwMode="auto">
          <a:xfrm>
            <a:off x="0" y="1135765"/>
            <a:ext cx="9677400" cy="51038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45FE49-3FA2-09A2-CA28-89E49D313113}"/>
              </a:ext>
            </a:extLst>
          </p:cNvPr>
          <p:cNvSpPr txBox="1"/>
          <p:nvPr/>
        </p:nvSpPr>
        <p:spPr>
          <a:xfrm>
            <a:off x="1567149" y="6111237"/>
            <a:ext cx="6097836" cy="369332"/>
          </a:xfrm>
          <a:prstGeom prst="rect">
            <a:avLst/>
          </a:prstGeom>
          <a:noFill/>
        </p:spPr>
        <p:txBody>
          <a:bodyPr wrap="square">
            <a:spAutoFit/>
          </a:bodyPr>
          <a:lstStyle/>
          <a:p>
            <a:r>
              <a:rPr lang="ru-RU" dirty="0" err="1"/>
              <a:t>https</a:t>
            </a:r>
            <a:r>
              <a:rPr lang="ru-RU" dirty="0"/>
              <a:t>://</a:t>
            </a:r>
            <a:r>
              <a:rPr lang="ru-RU" dirty="0" err="1"/>
              <a:t>www.ijcai.org</a:t>
            </a:r>
            <a:r>
              <a:rPr lang="ru-RU" dirty="0"/>
              <a:t>/</a:t>
            </a:r>
            <a:r>
              <a:rPr lang="ru-RU" dirty="0" err="1"/>
              <a:t>proceedings</a:t>
            </a:r>
            <a:r>
              <a:rPr lang="ru-RU" dirty="0"/>
              <a:t>/2019/441</a:t>
            </a:r>
          </a:p>
        </p:txBody>
      </p:sp>
    </p:spTree>
    <p:extLst>
      <p:ext uri="{BB962C8B-B14F-4D97-AF65-F5344CB8AC3E}">
        <p14:creationId xmlns:p14="http://schemas.microsoft.com/office/powerpoint/2010/main" val="1123472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31470" y="365125"/>
            <a:ext cx="11022330" cy="743585"/>
          </a:xfrm>
        </p:spPr>
        <p:txBody>
          <a:bodyPr/>
          <a:lstStyle/>
          <a:p>
            <a:r>
              <a:rPr lang="ru-RU" dirty="0" smtClean="0"/>
              <a:t>Вопросы для самоконтроля</a:t>
            </a:r>
            <a:endParaRPr lang="ru-RU" dirty="0"/>
          </a:p>
        </p:txBody>
      </p:sp>
      <p:sp>
        <p:nvSpPr>
          <p:cNvPr id="3" name="Объект 2"/>
          <p:cNvSpPr>
            <a:spLocks noGrp="1"/>
          </p:cNvSpPr>
          <p:nvPr>
            <p:ph idx="1"/>
          </p:nvPr>
        </p:nvSpPr>
        <p:spPr>
          <a:xfrm>
            <a:off x="331470" y="1211580"/>
            <a:ext cx="11022330" cy="5509895"/>
          </a:xfrm>
        </p:spPr>
        <p:txBody>
          <a:bodyPr>
            <a:normAutofit/>
          </a:bodyPr>
          <a:lstStyle/>
          <a:p>
            <a:pPr lvl="0"/>
            <a:r>
              <a:rPr lang="ru-RU" sz="2400" dirty="0"/>
              <a:t>Назовите основные компоненты ВР. Приведите примеры ВР с различным поведением каждой из компонент. Как компоненты повлияют на результаты прогноза ВР. Попробуйте визуализировать пример модели с разными соотношениями компонент.</a:t>
            </a:r>
          </a:p>
          <a:p>
            <a:r>
              <a:rPr lang="ru-RU" sz="2400" dirty="0" smtClean="0"/>
              <a:t>Опишите выражения моделей с регулярным трендом и сезонностью. Как можно добавить в эту модель редкие но регулярные факторы? Как в модели проявятся аномалии. </a:t>
            </a:r>
          </a:p>
          <a:p>
            <a:pPr lvl="0"/>
            <a:r>
              <a:rPr lang="ru-RU" sz="2400" dirty="0"/>
              <a:t> Объясните необходимость задач вероятностного прогнозирования ВР. Приведите примеры задач где это важно. </a:t>
            </a:r>
          </a:p>
          <a:p>
            <a:r>
              <a:rPr lang="ru-RU" sz="2400" smtClean="0"/>
              <a:t>Выберите </a:t>
            </a:r>
            <a:r>
              <a:rPr lang="ru-RU" sz="2400" dirty="0" smtClean="0"/>
              <a:t>задачу и проведите анализ </a:t>
            </a:r>
            <a:r>
              <a:rPr lang="ru-RU" sz="2400" smtClean="0"/>
              <a:t>и постановку задачи для нее.</a:t>
            </a:r>
            <a:endParaRPr lang="ru-RU" sz="2400" dirty="0" smtClean="0"/>
          </a:p>
          <a:p>
            <a:endParaRPr lang="ru-RU" sz="2400" dirty="0"/>
          </a:p>
          <a:p>
            <a:endParaRPr lang="ru-RU" sz="2400" dirty="0" smtClean="0"/>
          </a:p>
          <a:p>
            <a:endParaRPr lang="ru-RU" sz="2400" dirty="0" smtClean="0"/>
          </a:p>
          <a:p>
            <a:endParaRPr lang="ru-RU" sz="2400" dirty="0"/>
          </a:p>
        </p:txBody>
      </p:sp>
      <p:sp>
        <p:nvSpPr>
          <p:cNvPr id="4" name="Номер слайда 3"/>
          <p:cNvSpPr>
            <a:spLocks noGrp="1"/>
          </p:cNvSpPr>
          <p:nvPr>
            <p:ph type="sldNum" sz="quarter" idx="12"/>
          </p:nvPr>
        </p:nvSpPr>
        <p:spPr/>
        <p:txBody>
          <a:bodyPr/>
          <a:lstStyle/>
          <a:p>
            <a:fld id="{45C3B737-A709-4ABC-AFE0-A6B067850C48}" type="slidenum">
              <a:rPr lang="en-US" smtClean="0"/>
              <a:t>22</a:t>
            </a:fld>
            <a:endParaRPr lang="en-US"/>
          </a:p>
        </p:txBody>
      </p:sp>
    </p:spTree>
    <p:extLst>
      <p:ext uri="{BB962C8B-B14F-4D97-AF65-F5344CB8AC3E}">
        <p14:creationId xmlns:p14="http://schemas.microsoft.com/office/powerpoint/2010/main" val="17386698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3825" y="365126"/>
            <a:ext cx="11229975" cy="146800"/>
          </a:xfrm>
        </p:spPr>
        <p:txBody>
          <a:bodyPr>
            <a:normAutofit fontScale="90000"/>
          </a:bodyPr>
          <a:lstStyle/>
          <a:p>
            <a:r>
              <a:rPr lang="ru-RU" dirty="0"/>
              <a:t>Представление Временных рядов</a:t>
            </a:r>
          </a:p>
        </p:txBody>
      </p:sp>
      <p:sp>
        <p:nvSpPr>
          <p:cNvPr id="3" name="Объект 2"/>
          <p:cNvSpPr>
            <a:spLocks noGrp="1"/>
          </p:cNvSpPr>
          <p:nvPr>
            <p:ph idx="1"/>
          </p:nvPr>
        </p:nvSpPr>
        <p:spPr>
          <a:xfrm>
            <a:off x="91250" y="964242"/>
            <a:ext cx="10515600" cy="4351338"/>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23</a:t>
            </a:fld>
            <a:endParaRPr lang="en-US"/>
          </a:p>
        </p:txBody>
      </p:sp>
      <p:pic>
        <p:nvPicPr>
          <p:cNvPr id="102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5114" t="41497" r="48992" b="17002"/>
          <a:stretch/>
        </p:blipFill>
        <p:spPr bwMode="auto">
          <a:xfrm>
            <a:off x="461042" y="4507212"/>
            <a:ext cx="4377658" cy="22142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4807" t="9446" r="60411" b="80213"/>
          <a:stretch/>
        </p:blipFill>
        <p:spPr bwMode="auto">
          <a:xfrm>
            <a:off x="1644385" y="3738013"/>
            <a:ext cx="3488550" cy="5801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88" t="34512" r="43940" b="11661"/>
          <a:stretch/>
        </p:blipFill>
        <p:spPr bwMode="auto">
          <a:xfrm>
            <a:off x="8337177" y="4507212"/>
            <a:ext cx="3609896" cy="223768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Группа 6"/>
          <p:cNvGrpSpPr/>
          <p:nvPr/>
        </p:nvGrpSpPr>
        <p:grpSpPr>
          <a:xfrm>
            <a:off x="4811038" y="4216622"/>
            <a:ext cx="2225040" cy="2282132"/>
            <a:chOff x="4838700" y="4439343"/>
            <a:chExt cx="2225040" cy="2282132"/>
          </a:xfrm>
        </p:grpSpPr>
        <p:pic>
          <p:nvPicPr>
            <p:cNvPr id="10"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50" t="34512" r="70762" b="10592"/>
            <a:stretch/>
          </p:blipFill>
          <p:spPr bwMode="auto">
            <a:xfrm>
              <a:off x="4838700" y="4439344"/>
              <a:ext cx="1619249" cy="22821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37019" t="34512" r="54162" b="10592"/>
            <a:stretch/>
          </p:blipFill>
          <p:spPr bwMode="auto">
            <a:xfrm>
              <a:off x="6408365" y="4439343"/>
              <a:ext cx="655375" cy="228213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7490" t="29870" r="13574" b="6701"/>
          <a:stretch/>
        </p:blipFill>
        <p:spPr bwMode="auto">
          <a:xfrm>
            <a:off x="5349050" y="1215063"/>
            <a:ext cx="6598023" cy="2965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4755" t="8683" r="57372" b="79750"/>
          <a:stretch/>
        </p:blipFill>
        <p:spPr bwMode="auto">
          <a:xfrm>
            <a:off x="5648324" y="988056"/>
            <a:ext cx="3165662" cy="540825"/>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419225" y="6565660"/>
            <a:ext cx="6838950" cy="276999"/>
          </a:xfrm>
          <a:prstGeom prst="rect">
            <a:avLst/>
          </a:prstGeom>
        </p:spPr>
        <p:txBody>
          <a:bodyPr wrap="square">
            <a:spAutoFit/>
          </a:bodyPr>
          <a:lstStyle/>
          <a:p>
            <a:r>
              <a:rPr lang="ru-RU" sz="1200" dirty="0"/>
              <a:t>https://knowledge.dataiku.com/latest/ml-analytics/time-series/concept-data-types-formats.html</a:t>
            </a:r>
          </a:p>
        </p:txBody>
      </p:sp>
    </p:spTree>
    <p:extLst>
      <p:ext uri="{BB962C8B-B14F-4D97-AF65-F5344CB8AC3E}">
        <p14:creationId xmlns:p14="http://schemas.microsoft.com/office/powerpoint/2010/main" val="938706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24</a:t>
            </a:fld>
            <a:endParaRPr lang="en-US" dirty="0"/>
          </a:p>
        </p:txBody>
      </p:sp>
      <p:pic>
        <p:nvPicPr>
          <p:cNvPr id="1026" name="Picture 2" descr="Data can be further categorized as Observed, Known, or Static.  Observed data is only known in the past, some examples are the target, stock price, or population.  Known data is available in the past and future, some examples are the day of the week, time until a certain holiday, or month.  Static data is also available in the past and future, but in contrast with Known data is constant in the time series the sliding window is drawn from, some examples are the User ID or Item 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805" y="915524"/>
            <a:ext cx="7068820" cy="5440164"/>
          </a:xfrm>
          <a:prstGeom prst="rect">
            <a:avLst/>
          </a:prstGeom>
          <a:noFill/>
          <a:extLst>
            <a:ext uri="{909E8E84-426E-40DD-AFC4-6F175D3DCCD1}">
              <a14:hiddenFill xmlns:a14="http://schemas.microsoft.com/office/drawing/2010/main">
                <a:solidFill>
                  <a:srgbClr val="FFFFFF"/>
                </a:solidFill>
              </a14:hiddenFill>
            </a:ext>
          </a:extLst>
        </p:spPr>
      </p:pic>
      <p:sp>
        <p:nvSpPr>
          <p:cNvPr id="8" name="Прямоугольник 7"/>
          <p:cNvSpPr/>
          <p:nvPr/>
        </p:nvSpPr>
        <p:spPr>
          <a:xfrm>
            <a:off x="1447800" y="6468159"/>
            <a:ext cx="8961120" cy="276999"/>
          </a:xfrm>
          <a:prstGeom prst="rect">
            <a:avLst/>
          </a:prstGeom>
        </p:spPr>
        <p:txBody>
          <a:bodyPr wrap="square">
            <a:spAutoFit/>
          </a:bodyPr>
          <a:lstStyle/>
          <a:p>
            <a:r>
              <a:rPr lang="ru-RU" sz="1200" dirty="0"/>
              <a:t>https://developer.nvidia.com/blog/time-series-forecasting-with-the-nvidia-time-series-prediction-platform-and-triton-inference-server/</a:t>
            </a:r>
          </a:p>
        </p:txBody>
      </p:sp>
    </p:spTree>
    <p:extLst>
      <p:ext uri="{BB962C8B-B14F-4D97-AF65-F5344CB8AC3E}">
        <p14:creationId xmlns:p14="http://schemas.microsoft.com/office/powerpoint/2010/main" val="40893920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Фреймворк анализа ВР</a:t>
            </a:r>
            <a:endParaRPr lang="ru-RU" dirty="0"/>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25</a:t>
            </a:fld>
            <a:endParaRPr lang="en-US"/>
          </a:p>
        </p:txBody>
      </p:sp>
      <p:pic>
        <p:nvPicPr>
          <p:cNvPr id="1026" name="Picture 2" descr="https://unit8.com/wp-content/uploads/2021/07/1_yaHh5V0AgxEYxJYrv9VQm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1535970"/>
            <a:ext cx="10376354" cy="493064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275771" y="6466617"/>
            <a:ext cx="8708571" cy="369332"/>
          </a:xfrm>
          <a:prstGeom prst="rect">
            <a:avLst/>
          </a:prstGeom>
        </p:spPr>
        <p:txBody>
          <a:bodyPr wrap="square">
            <a:spAutoFit/>
          </a:bodyPr>
          <a:lstStyle/>
          <a:p>
            <a:r>
              <a:rPr lang="ru-RU" dirty="0"/>
              <a:t>https://unit8.com/wp-content/uploads/2021/07/1_yaHh5V0AgxEYxJYrv9VQmA.png</a:t>
            </a:r>
          </a:p>
        </p:txBody>
      </p:sp>
    </p:spTree>
    <p:extLst>
      <p:ext uri="{BB962C8B-B14F-4D97-AF65-F5344CB8AC3E}">
        <p14:creationId xmlns:p14="http://schemas.microsoft.com/office/powerpoint/2010/main" val="8010734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5674" y="261418"/>
            <a:ext cx="10692973" cy="726008"/>
          </a:xfrm>
        </p:spPr>
        <p:txBody>
          <a:bodyPr/>
          <a:lstStyle/>
          <a:p>
            <a:r>
              <a:rPr lang="ru-RU" dirty="0"/>
              <a:t>Фреймворк анализа ВР</a:t>
            </a:r>
          </a:p>
        </p:txBody>
      </p:sp>
      <p:sp>
        <p:nvSpPr>
          <p:cNvPr id="3" name="Объект 2"/>
          <p:cNvSpPr>
            <a:spLocks noGrp="1"/>
          </p:cNvSpPr>
          <p:nvPr>
            <p:ph idx="1"/>
          </p:nvPr>
        </p:nvSpPr>
        <p:spPr>
          <a:xfrm>
            <a:off x="388044" y="1241637"/>
            <a:ext cx="4122484" cy="4935325"/>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26</a:t>
            </a:fld>
            <a:endParaRPr lang="en-US"/>
          </a:p>
        </p:txBody>
      </p:sp>
      <p:sp>
        <p:nvSpPr>
          <p:cNvPr id="5" name="Прямоугольник 4"/>
          <p:cNvSpPr/>
          <p:nvPr/>
        </p:nvSpPr>
        <p:spPr>
          <a:xfrm>
            <a:off x="4807644" y="6334780"/>
            <a:ext cx="6096000" cy="523220"/>
          </a:xfrm>
          <a:prstGeom prst="rect">
            <a:avLst/>
          </a:prstGeom>
        </p:spPr>
        <p:txBody>
          <a:bodyPr>
            <a:spAutoFit/>
          </a:bodyPr>
          <a:lstStyle/>
          <a:p>
            <a:r>
              <a:rPr lang="ru-RU" sz="1400" dirty="0"/>
              <a:t>https://developer.nvidia.com/blog/time-series-forecasting-with-the-nvidia-time-series-prediction-platform-and-triton-inference-server/</a:t>
            </a:r>
          </a:p>
        </p:txBody>
      </p:sp>
      <p:pic>
        <p:nvPicPr>
          <p:cNvPr id="1028" name="Picture 4" descr="Time-Series-Forecast_Pic2.png (936×526)"/>
          <p:cNvPicPr>
            <a:picLocks noChangeAspect="1" noChangeArrowheads="1"/>
          </p:cNvPicPr>
          <p:nvPr/>
        </p:nvPicPr>
        <p:blipFill rotWithShape="1">
          <a:blip r:embed="rId2">
            <a:extLst>
              <a:ext uri="{28A0092B-C50C-407E-A947-70E740481C1C}">
                <a14:useLocalDpi xmlns:a14="http://schemas.microsoft.com/office/drawing/2010/main" val="0"/>
              </a:ext>
            </a:extLst>
          </a:blip>
          <a:srcRect l="23250"/>
          <a:stretch/>
        </p:blipFill>
        <p:spPr bwMode="auto">
          <a:xfrm>
            <a:off x="4733365" y="1166813"/>
            <a:ext cx="6842604"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05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Фреймворк анализа ВР</a:t>
            </a:r>
          </a:p>
        </p:txBody>
      </p:sp>
      <p:sp>
        <p:nvSpPr>
          <p:cNvPr id="3" name="Объект 2"/>
          <p:cNvSpPr>
            <a:spLocks noGrp="1"/>
          </p:cNvSpPr>
          <p:nvPr>
            <p:ph idx="1"/>
          </p:nvPr>
        </p:nvSpPr>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27</a:t>
            </a:fld>
            <a:endParaRPr lang="en-US"/>
          </a:p>
        </p:txBody>
      </p:sp>
      <p:pic>
        <p:nvPicPr>
          <p:cNvPr id="1026" name="Picture 2" descr="https://www.salesforce.com/blog/wp-content/uploads/sites/2/2024/11/ima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085" y="1423680"/>
            <a:ext cx="8317139" cy="427385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4772025" y="5767973"/>
            <a:ext cx="6096000" cy="338554"/>
          </a:xfrm>
          <a:prstGeom prst="rect">
            <a:avLst/>
          </a:prstGeom>
        </p:spPr>
        <p:txBody>
          <a:bodyPr>
            <a:spAutoFit/>
          </a:bodyPr>
          <a:lstStyle/>
          <a:p>
            <a:r>
              <a:rPr lang="ru-RU" sz="1600" dirty="0"/>
              <a:t>https://www.salesforce.com/blog/gift-eval-time-series-benchmark/</a:t>
            </a:r>
          </a:p>
        </p:txBody>
      </p:sp>
      <p:sp>
        <p:nvSpPr>
          <p:cNvPr id="6" name="Прямоугольник 5"/>
          <p:cNvSpPr/>
          <p:nvPr/>
        </p:nvSpPr>
        <p:spPr>
          <a:xfrm>
            <a:off x="5501209" y="6062732"/>
            <a:ext cx="4980531" cy="369332"/>
          </a:xfrm>
          <a:prstGeom prst="rect">
            <a:avLst/>
          </a:prstGeom>
        </p:spPr>
        <p:txBody>
          <a:bodyPr wrap="none">
            <a:spAutoFit/>
          </a:bodyPr>
          <a:lstStyle/>
          <a:p>
            <a:r>
              <a:rPr lang="ru-RU" dirty="0"/>
              <a:t>https://github.com/SalesforceAIResearch/gift-eval/</a:t>
            </a:r>
          </a:p>
        </p:txBody>
      </p:sp>
    </p:spTree>
    <p:extLst>
      <p:ext uri="{BB962C8B-B14F-4D97-AF65-F5344CB8AC3E}">
        <p14:creationId xmlns:p14="http://schemas.microsoft.com/office/powerpoint/2010/main" val="8757737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9256</TotalTime>
  <Words>1320</Words>
  <Application>Microsoft Office PowerPoint</Application>
  <PresentationFormat>Широкоэкранный</PresentationFormat>
  <Paragraphs>241</Paragraphs>
  <Slides>27</Slides>
  <Notes>4</Notes>
  <HiddenSlides>5</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27</vt:i4>
      </vt:variant>
    </vt:vector>
  </HeadingPairs>
  <TitlesOfParts>
    <vt:vector size="34" baseType="lpstr">
      <vt:lpstr>Arial</vt:lpstr>
      <vt:lpstr>Calibri</vt:lpstr>
      <vt:lpstr>Calibri Light</vt:lpstr>
      <vt:lpstr>Cambria Math</vt:lpstr>
      <vt:lpstr>Open Sans</vt:lpstr>
      <vt:lpstr>Times New Roman</vt:lpstr>
      <vt:lpstr>Тема Office 2013–2022</vt:lpstr>
      <vt:lpstr>Модели ВР  </vt:lpstr>
      <vt:lpstr>Модели временных рядов</vt:lpstr>
      <vt:lpstr>Модели временных рядов</vt:lpstr>
      <vt:lpstr>Особенности модели временных рядов</vt:lpstr>
      <vt:lpstr>Разница цикличности и сезонности</vt:lpstr>
      <vt:lpstr>Модели временных рядов</vt:lpstr>
      <vt:lpstr>Популярные виды тренда</vt:lpstr>
      <vt:lpstr>Модели временных рядов. Случайный тренд</vt:lpstr>
      <vt:lpstr>Модели временных рядов</vt:lpstr>
      <vt:lpstr>Модели временных рядов</vt:lpstr>
      <vt:lpstr>Особенности и варианты модели ВР</vt:lpstr>
      <vt:lpstr>Точки перегиба и новизна в тренде</vt:lpstr>
      <vt:lpstr>Модели временных рядов. Аномалии</vt:lpstr>
      <vt:lpstr>Примеры ВР</vt:lpstr>
      <vt:lpstr>Постановка задач предсказания ВР</vt:lpstr>
      <vt:lpstr>Задачи анализа временных рядов</vt:lpstr>
      <vt:lpstr>Задачи предсказания временных рядовaq</vt:lpstr>
      <vt:lpstr>Задачи прогнозирования временных рядов</vt:lpstr>
      <vt:lpstr>Анализ временных рядов</vt:lpstr>
      <vt:lpstr>Постановка задачи анализа ВР</vt:lpstr>
      <vt:lpstr>Пример TSF System Design</vt:lpstr>
      <vt:lpstr>Вопросы для самоконтроля</vt:lpstr>
      <vt:lpstr>Представление Временных рядов</vt:lpstr>
      <vt:lpstr>Задачи прогнозирования временных рядов</vt:lpstr>
      <vt:lpstr>Фреймворк анализа ВР</vt:lpstr>
      <vt:lpstr>Фреймворк анализа ВР</vt:lpstr>
      <vt:lpstr>Фреймворк анализа ВР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186</cp:revision>
  <dcterms:created xsi:type="dcterms:W3CDTF">2021-10-31T10:57:36Z</dcterms:created>
  <dcterms:modified xsi:type="dcterms:W3CDTF">2026-02-12T13:58:05Z</dcterms:modified>
</cp:coreProperties>
</file>