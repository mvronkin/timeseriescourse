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1" r:id="rId3"/>
    <p:sldId id="258" r:id="rId4"/>
    <p:sldId id="260" r:id="rId5"/>
    <p:sldId id="282" r:id="rId6"/>
    <p:sldId id="275" r:id="rId7"/>
    <p:sldId id="276" r:id="rId8"/>
    <p:sldId id="278" r:id="rId9"/>
    <p:sldId id="284" r:id="rId10"/>
    <p:sldId id="259" r:id="rId11"/>
    <p:sldId id="269" r:id="rId12"/>
    <p:sldId id="261" r:id="rId13"/>
    <p:sldId id="264" r:id="rId14"/>
    <p:sldId id="263" r:id="rId15"/>
    <p:sldId id="270" r:id="rId16"/>
    <p:sldId id="266" r:id="rId17"/>
    <p:sldId id="271" r:id="rId18"/>
    <p:sldId id="283" r:id="rId19"/>
    <p:sldId id="272" r:id="rId20"/>
    <p:sldId id="279" r:id="rId21"/>
    <p:sldId id="273" r:id="rId22"/>
    <p:sldId id="277" r:id="rId23"/>
    <p:sldId id="280" r:id="rId24"/>
    <p:sldId id="27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44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4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</a:t>
            </a:r>
            <a:r>
              <a:rPr lang="en-US" sz="2300" dirty="0" err="1"/>
              <a:t>с</a:t>
            </a:r>
            <a:r>
              <a:rPr lang="en-US" sz="2300" dirty="0"/>
              <a:t>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/>
              <a:t>тд</a:t>
            </a:r>
            <a:endParaRPr lang="ru-RU" sz="23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4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0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машинного обучения в АВР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4941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264387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pPr algn="ctr"/>
            <a:r>
              <a:rPr lang="ru-RU" dirty="0"/>
              <a:t>Почему невсегда 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Основные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моделей</a:t>
            </a:r>
            <a:r>
              <a:rPr lang="en-US" altLang="ru-RU" sz="2100" dirty="0"/>
              <a:t> SARIMA, ETS </a:t>
            </a:r>
            <a:r>
              <a:rPr lang="ru-RU" altLang="ru-RU" sz="2100" dirty="0"/>
              <a:t>и других стат. моделей :</a:t>
            </a: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Сложность предварительного анализа и подготовки данных.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Необходимость частого дообучения\переобучения с новыми </a:t>
            </a:r>
            <a:r>
              <a:rPr lang="ru-RU" altLang="ru-RU" sz="2100" dirty="0" err="1"/>
              <a:t>гиперпараметрами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Авто настройка не дает высоко-точных результатов без ручной </a:t>
            </a:r>
            <a:r>
              <a:rPr lang="ru-RU" altLang="ru-RU" sz="2100" dirty="0" err="1"/>
              <a:t>донастройки</a:t>
            </a:r>
            <a:r>
              <a:rPr lang="ru-RU" altLang="ru-RU" sz="2100" dirty="0"/>
              <a:t>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/>
              <a:t> </a:t>
            </a:r>
            <a:r>
              <a:rPr lang="ru-RU" altLang="ru-RU" sz="2100" u="sng" dirty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подход 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/>
              <a:t>При исследованиях рекомендуется начинать с </a:t>
            </a:r>
            <a:r>
              <a:rPr lang="en-US" altLang="ru-RU" sz="2100" b="1" dirty="0"/>
              <a:t>ARIMA, ETS </a:t>
            </a:r>
            <a:r>
              <a:rPr lang="ru-RU" altLang="ru-RU" sz="2100" b="1" dirty="0"/>
              <a:t>как </a:t>
            </a:r>
            <a:r>
              <a:rPr lang="ru-RU" altLang="ru-RU" sz="2100" b="1" dirty="0" err="1"/>
              <a:t>бейзлайны</a:t>
            </a:r>
            <a:endParaRPr kumimoji="0" lang="ru-RU" altLang="ru-RU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https://blogs.cisco.com/analytics-automation/arima3</a:t>
            </a:r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1637682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технически использование машинного обучения для задач предсказания ВР - сведение ВР к табличному виду (</a:t>
            </a:r>
            <a:r>
              <a:rPr lang="ru-RU" sz="2400" b="1" dirty="0"/>
              <a:t>редукции ВР</a:t>
            </a:r>
            <a:r>
              <a:rPr lang="ru-RU" sz="2400" dirty="0"/>
              <a:t>). </a:t>
            </a:r>
          </a:p>
          <a:p>
            <a:pPr marL="0" indent="0">
              <a:buNone/>
            </a:pPr>
            <a:r>
              <a:rPr lang="ru-RU" sz="2400" dirty="0"/>
              <a:t>В наиболее простом случае таблица может быть составлена путем прохождения 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443706" y="447719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563609" y="2614260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Лаги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076" y="4057500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метка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3081" y="1333539"/>
            <a:ext cx="5501444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Выделение признаков из временного ряда  в таблицу</a:t>
            </a:r>
          </a:p>
          <a:p>
            <a:r>
              <a:rPr lang="ru-RU" sz="2400" dirty="0" smtClean="0"/>
              <a:t>Лучше работает не для задач предсказания (для остальных задач)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1026" name="Picture 2" descr="The rolling mechanis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5" y="3174679"/>
            <a:ext cx="3511078" cy="31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5558" y="6458314"/>
            <a:ext cx="4058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https://tsfresh.readthedocs.io/en/latest/text/forecasting.html</a:t>
            </a:r>
          </a:p>
        </p:txBody>
      </p:sp>
      <p:pic>
        <p:nvPicPr>
          <p:cNvPr id="1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16" y="3572149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6167716" y="2549199"/>
            <a:ext cx="49328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/>
              <a:t>Редкуция</a:t>
            </a:r>
            <a:r>
              <a:rPr lang="ru-RU" sz="2400" dirty="0"/>
              <a:t> сырых данных к таблицам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803" y="5708933"/>
            <a:ext cx="5970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Могут быть и гибриды – и признаки и участки сырого ряда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161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00AAA-5110-716B-821C-A67FB164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dirty="0"/>
              <a:t>Рекурсивная редукция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EDFA1-85EA-71EC-6626-66C2DAD7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4" y="1039079"/>
            <a:ext cx="11513620" cy="4351338"/>
          </a:xfrm>
        </p:spPr>
        <p:txBody>
          <a:bodyPr>
            <a:normAutofit/>
          </a:bodyPr>
          <a:lstStyle/>
          <a:p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−1.</a:t>
            </a:r>
          </a:p>
          <a:p>
            <a:r>
              <a:rPr lang="ru-RU" sz="2000" i="1" dirty="0"/>
              <a:t>Целевая метка</a:t>
            </a:r>
            <a:r>
              <a:rPr lang="ru-RU" sz="2000" dirty="0"/>
              <a:t> – значение </a:t>
            </a:r>
            <a:r>
              <a:rPr lang="en" sz="2000" dirty="0" err="1"/>
              <a:t>yt</a:t>
            </a:r>
            <a:r>
              <a:rPr lang="en" sz="2000" dirty="0"/>
              <a:t>​.</a:t>
            </a:r>
          </a:p>
          <a:p>
            <a:r>
              <a:rPr lang="ru-RU" sz="2000" dirty="0"/>
              <a:t>По этим данным мы обучаем какую-либо регрессионную модель строить прогнозы на один шаг вперед. При построении прогноза на несколько шагов вперед мы сначала построим прогноз на один шаг. Затем – на второй шаг, используя полученный прогноз на первый шаг в качестве признаков, и далее аналогично.</a:t>
            </a:r>
          </a:p>
          <a:p>
            <a:r>
              <a:rPr lang="ru-RU" sz="2000" dirty="0"/>
              <a:t>Иначе говоря, если для прогнозирования </a:t>
            </a:r>
            <a:r>
              <a:rPr lang="en" sz="2000" i="1" dirty="0" err="1"/>
              <a:t>yt</a:t>
            </a:r>
            <a:r>
              <a:rPr lang="en" sz="2000" dirty="0"/>
              <a:t>​ </a:t>
            </a:r>
            <a:r>
              <a:rPr lang="ru-RU" sz="2000" dirty="0"/>
              <a:t>признаковое описание имеет вид (</a:t>
            </a:r>
            <a:r>
              <a:rPr lang="en" sz="2000" dirty="0" err="1"/>
              <a:t>yt</a:t>
            </a:r>
            <a:r>
              <a:rPr lang="en" sz="2000" dirty="0"/>
              <a:t>−p,…,yt−1), </a:t>
            </a:r>
            <a:r>
              <a:rPr lang="ru-RU" sz="2000" dirty="0"/>
              <a:t>то для построения прогноза </a:t>
            </a:r>
            <a:r>
              <a:rPr lang="en" sz="2000" i="1" dirty="0"/>
              <a:t>yt</a:t>
            </a:r>
            <a:r>
              <a:rPr lang="en" sz="2000" dirty="0"/>
              <a:t>+1​ </a:t>
            </a:r>
            <a:r>
              <a:rPr lang="ru-RU" sz="2000" dirty="0"/>
              <a:t>рассматривается признаковое описание </a:t>
            </a:r>
            <a:r>
              <a:rPr lang="en" sz="2000" dirty="0"/>
              <a:t>(</a:t>
            </a:r>
            <a:r>
              <a:rPr lang="en" sz="2000" i="1" dirty="0"/>
              <a:t>yt</a:t>
            </a:r>
            <a:r>
              <a:rPr lang="en" sz="2000" dirty="0"/>
              <a:t>−</a:t>
            </a:r>
            <a:r>
              <a:rPr lang="en" sz="2000" i="1" dirty="0"/>
              <a:t>p</a:t>
            </a:r>
            <a:r>
              <a:rPr lang="en" sz="2000" dirty="0"/>
              <a:t>+1​,…,</a:t>
            </a:r>
            <a:r>
              <a:rPr lang="en" sz="2000" i="1" dirty="0"/>
              <a:t>yt</a:t>
            </a:r>
            <a:r>
              <a:rPr lang="en" sz="2000" dirty="0"/>
              <a:t>−1​,</a:t>
            </a:r>
            <a:r>
              <a:rPr lang="en" sz="2000" i="1" dirty="0"/>
              <a:t>y</a:t>
            </a:r>
            <a:r>
              <a:rPr lang="en" sz="2000" dirty="0"/>
              <a:t>​</a:t>
            </a:r>
            <a:r>
              <a:rPr lang="en" sz="2000" i="1" dirty="0"/>
              <a:t>t</a:t>
            </a:r>
            <a:r>
              <a:rPr lang="en" sz="2000" dirty="0"/>
              <a:t>​</a:t>
            </a:r>
            <a:r>
              <a:rPr lang="en" sz="2000" dirty="0" smtClean="0"/>
              <a:t>).</a:t>
            </a:r>
          </a:p>
          <a:p>
            <a:r>
              <a:rPr lang="ru-RU" sz="2000" dirty="0" smtClean="0"/>
              <a:t>Желательно, чтобы окон </a:t>
            </a:r>
            <a:r>
              <a:rPr lang="en-US" sz="2000" dirty="0" smtClean="0"/>
              <a:t>&gt; </a:t>
            </a:r>
            <a:r>
              <a:rPr lang="ru-RU" sz="2000" dirty="0" smtClean="0"/>
              <a:t>числа значимых лагов </a:t>
            </a:r>
            <a:r>
              <a:rPr lang="en-US" sz="2000" dirty="0" smtClean="0"/>
              <a:t>ACF </a:t>
            </a:r>
            <a:r>
              <a:rPr lang="ru-RU" sz="2000" dirty="0" smtClean="0"/>
              <a:t>или </a:t>
            </a:r>
            <a:r>
              <a:rPr lang="en-US" sz="2000" dirty="0" smtClean="0"/>
              <a:t>~ season</a:t>
            </a:r>
            <a:endParaRPr lang="en" sz="2000" dirty="0"/>
          </a:p>
          <a:p>
            <a:endParaRPr lang="ru-RU" sz="2000" dirty="0"/>
          </a:p>
        </p:txBody>
      </p:sp>
      <p:pic>
        <p:nvPicPr>
          <p:cNvPr id="1026" name="Picture 2" descr="recursive">
            <a:extLst>
              <a:ext uri="{FF2B5EF4-FFF2-40B4-BE49-F238E27FC236}">
                <a16:creationId xmlns:a16="http://schemas.microsoft.com/office/drawing/2014/main" id="{D560E87C-22DB-A7C5-AADB-1A8B03DF4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293" y="3862047"/>
            <a:ext cx="4546771" cy="274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28" y="4293446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45672-A60F-7073-1A08-0F889E3A3E22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810F78-EF7E-8B5D-B6A5-7A3010C2541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</p:spTree>
    <p:extLst>
      <p:ext uri="{BB962C8B-B14F-4D97-AF65-F5344CB8AC3E}">
        <p14:creationId xmlns:p14="http://schemas.microsoft.com/office/powerpoint/2010/main" val="369166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C487-2047-9EC3-E806-919BAF8A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F0859-81A2-69A4-769C-8E6AF24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b="1" dirty="0"/>
              <a:t>Прямая стратегия редукции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F74C3-4238-0EBC-4A0C-102C383B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5" y="986170"/>
            <a:ext cx="11441217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построением каждого прогноза в рамках горизонта прогнозирования должна заниматься своя модель. Тем самым создается </a:t>
            </a:r>
            <a:r>
              <a:rPr lang="en" sz="2000" i="1" dirty="0"/>
              <a:t>H</a:t>
            </a:r>
            <a:r>
              <a:rPr lang="en" sz="2000" dirty="0"/>
              <a:t> </a:t>
            </a:r>
            <a:r>
              <a:rPr lang="ru-RU" sz="2000" dirty="0"/>
              <a:t>моделей прогнозирования для каждого момента времени </a:t>
            </a:r>
            <a:r>
              <a:rPr lang="en" sz="2000" dirty="0"/>
              <a:t>t0⩽t⩽t0+H−1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0​−1, </a:t>
            </a:r>
            <a:r>
              <a:rPr lang="ru-RU" sz="2000" dirty="0"/>
              <a:t>причем признаки одни и те же для каждой модели.</a:t>
            </a:r>
          </a:p>
          <a:p>
            <a:pPr>
              <a:spcBef>
                <a:spcPts val="600"/>
              </a:spcBef>
            </a:pPr>
            <a:r>
              <a:rPr lang="ru-RU" sz="2000" i="1" dirty="0"/>
              <a:t>Целевая метка</a:t>
            </a:r>
            <a:r>
              <a:rPr lang="ru-RU" sz="2000" dirty="0"/>
              <a:t> – </a:t>
            </a:r>
            <a:r>
              <a:rPr lang="ru-RU" sz="2000" dirty="0" smtClean="0"/>
              <a:t>значение</a:t>
            </a:r>
            <a:r>
              <a:rPr lang="ru-RU" sz="2000" dirty="0"/>
              <a:t> </a:t>
            </a:r>
            <a:r>
              <a:rPr lang="en" sz="2000" i="1" dirty="0"/>
              <a:t>yt</a:t>
            </a:r>
            <a:r>
              <a:rPr lang="en" sz="2000" dirty="0"/>
              <a:t>​</a:t>
            </a:r>
            <a:r>
              <a:rPr lang="en" sz="2000" dirty="0" smtClean="0"/>
              <a:t>.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Число моделей из технологических соображений, </a:t>
            </a:r>
          </a:p>
          <a:p>
            <a:pPr>
              <a:spcBef>
                <a:spcPts val="600"/>
              </a:spcBef>
            </a:pPr>
            <a:r>
              <a:rPr lang="ru-RU" sz="2000" dirty="0" smtClean="0"/>
              <a:t>Лучше, если </a:t>
            </a:r>
            <a:r>
              <a:rPr lang="ru-RU" sz="2000" dirty="0" err="1" smtClean="0"/>
              <a:t>трагет</a:t>
            </a:r>
            <a:r>
              <a:rPr lang="ru-RU" sz="2000" dirty="0" smtClean="0"/>
              <a:t> предсказать сложно</a:t>
            </a:r>
            <a:endParaRPr lang="e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8AD61-E9B0-7D40-BDE8-6F2365A8CDFA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1DC60A-7122-06E4-1B44-91230427831D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3074" name="Picture 2" descr="direct">
            <a:extLst>
              <a:ext uri="{FF2B5EF4-FFF2-40B4-BE49-F238E27FC236}">
                <a16:creationId xmlns:a16="http://schemas.microsoft.com/office/drawing/2014/main" id="{E33F7EA8-8650-2DF1-801B-4292CB948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092" y="3617218"/>
            <a:ext cx="8726540" cy="249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cienciadedatos.net/images/diagram-direct-multi-step-forecasting.png">
            <a:extLst>
              <a:ext uri="{FF2B5EF4-FFF2-40B4-BE49-F238E27FC236}">
                <a16:creationId xmlns:a16="http://schemas.microsoft.com/office/drawing/2014/main" id="{A2635A52-B2B7-EE12-61F7-6A40F3728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48"/>
          <a:stretch>
            <a:fillRect/>
          </a:stretch>
        </p:blipFill>
        <p:spPr bwMode="auto">
          <a:xfrm>
            <a:off x="0" y="3705345"/>
            <a:ext cx="3301092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77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E42D-6888-C555-1E55-C4174FE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13A58-C029-9BFA-0E90-185C141E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72" y="42377"/>
            <a:ext cx="10747872" cy="732220"/>
          </a:xfrm>
        </p:spPr>
        <p:txBody>
          <a:bodyPr/>
          <a:lstStyle/>
          <a:p>
            <a:r>
              <a:rPr lang="ru-RU" b="1" dirty="0"/>
              <a:t>Гибридная 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3D7EE-CC53-CA7B-E14F-44911BBB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44" y="567659"/>
            <a:ext cx="11324128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Гибридная стратегия объединяет в себе преимущества рекурсивной и прямой стратегий. Как и в прямой стратегии, создается </a:t>
            </a:r>
            <a:r>
              <a:rPr lang="en" dirty="0"/>
              <a:t>H </a:t>
            </a:r>
            <a:r>
              <a:rPr lang="ru-RU" dirty="0"/>
              <a:t>моделей прогнозирования, но при этом каждая следующая модель использует прогнозы предыдущей подобно тому, как это делает рекурсивная стратегия.</a:t>
            </a:r>
          </a:p>
          <a:p>
            <a:r>
              <a:rPr lang="ru-RU" dirty="0"/>
              <a:t>модель для прогноза на 1 шаг вперед;</a:t>
            </a:r>
          </a:p>
          <a:p>
            <a:r>
              <a:rPr lang="ru-RU" dirty="0"/>
              <a:t>модель для прогноза на 2 шага вперед, используя прогноз уже обученной модели на 1 шаг вперед в качестве признака;</a:t>
            </a:r>
          </a:p>
          <a:p>
            <a:r>
              <a:rPr lang="ru-RU" dirty="0"/>
              <a:t>модель для прогноза на 3 шага вперед, используя прогноз уже обученных моделей на 1 и 2 шага вперед в качестве признаков;</a:t>
            </a:r>
          </a:p>
          <a:p>
            <a:r>
              <a:rPr lang="ru-RU" dirty="0"/>
              <a:t>и так далее обучается </a:t>
            </a:r>
            <a:r>
              <a:rPr lang="en" dirty="0"/>
              <a:t>H </a:t>
            </a:r>
            <a:r>
              <a:rPr lang="ru-RU" dirty="0"/>
              <a:t>моделей.</a:t>
            </a:r>
          </a:p>
          <a:p>
            <a:r>
              <a:rPr lang="ru-RU" dirty="0"/>
              <a:t>Признаковое описание:</a:t>
            </a:r>
          </a:p>
          <a:p>
            <a:r>
              <a:rPr lang="ru-RU" dirty="0"/>
              <a:t>история ряда до момента времени </a:t>
            </a:r>
            <a:r>
              <a:rPr lang="en" i="1" dirty="0"/>
              <a:t>t</a:t>
            </a:r>
            <a:r>
              <a:rPr lang="en" dirty="0"/>
              <a:t>0​−1;</a:t>
            </a:r>
          </a:p>
          <a:p>
            <a:r>
              <a:rPr lang="ru-RU" dirty="0"/>
              <a:t>предсказание предыдущих моделей для </a:t>
            </a:r>
            <a:r>
              <a:rPr lang="en" dirty="0"/>
              <a:t>t0,t0−1,…,t−1.</a:t>
            </a:r>
          </a:p>
          <a:p>
            <a:r>
              <a:rPr lang="en" dirty="0"/>
              <a:t/>
            </a:r>
            <a:br>
              <a:rPr lang="en" dirty="0"/>
            </a:br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AB4B-E98D-9F3C-F1A6-9382A313435D}"/>
              </a:ext>
            </a:extLst>
          </p:cNvPr>
          <p:cNvSpPr txBox="1"/>
          <p:nvPr/>
        </p:nvSpPr>
        <p:spPr>
          <a:xfrm>
            <a:off x="1067051" y="6581000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AC567D-6E82-3079-CF63-9901D98EF89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5122" name="Picture 2" descr="hybrid">
            <a:extLst>
              <a:ext uri="{FF2B5EF4-FFF2-40B4-BE49-F238E27FC236}">
                <a16:creationId xmlns:a16="http://schemas.microsoft.com/office/drawing/2014/main" id="{36DD418D-FDA3-42A4-0ED6-EB27CD548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277" y="3922352"/>
            <a:ext cx="10561504" cy="279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5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152" y="120038"/>
            <a:ext cx="1099185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Многошаговые особенности оценки точности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193" y="662857"/>
            <a:ext cx="11706225" cy="5176838"/>
          </a:xfrm>
        </p:spPr>
        <p:txBody>
          <a:bodyPr>
            <a:normAutofit/>
          </a:bodyPr>
          <a:lstStyle/>
          <a:p>
            <a:r>
              <a:rPr lang="ru-RU" sz="2400" dirty="0"/>
              <a:t>Статические (оценка на следующем шаге опирается на истинные значения предыдущих шагов)</a:t>
            </a:r>
          </a:p>
          <a:p>
            <a:r>
              <a:rPr lang="ru-RU" sz="2400" dirty="0"/>
              <a:t>Динамическими (рекурсивным, оценка на следующем шаге опирается на оценки на предыдущих шагах ) </a:t>
            </a:r>
          </a:p>
          <a:p>
            <a:pPr lvl="1"/>
            <a:r>
              <a:rPr lang="ru-RU" sz="2000" dirty="0"/>
              <a:t>Могут быть более сложные варианты, напр. оценка опирается  на моды распределений оценок на предыдущих шагах</a:t>
            </a:r>
          </a:p>
        </p:txBody>
      </p:sp>
      <p:sp>
        <p:nvSpPr>
          <p:cNvPr id="4" name="AutoShape 2" descr="Demonstration of iterative, autoregressive forecasting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4" name="Picture 4" descr="https://www.researchgate.net/publication/381324371/figure/fig1/AS:11431281259462026@1720491044356/Demonstration-of-iterative-autoregressive-forecasting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758271"/>
            <a:ext cx="5644598" cy="271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16152" y="2687617"/>
            <a:ext cx="619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Динамическая оценка  предполагает использование предсказанных данных вместо истинных в окне предсказания</a:t>
            </a:r>
          </a:p>
        </p:txBody>
      </p:sp>
      <p:pic>
        <p:nvPicPr>
          <p:cNvPr id="5126" name="Picture 6" descr="https://skforecast.org/0.7.0/img/diagram-single-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05" y="3528275"/>
            <a:ext cx="5374772" cy="289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6364899" y="2826117"/>
            <a:ext cx="5506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Статическая оценка предполагает использование известных данных в исторических данных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91306" y="64747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https://skforecast.org/0.7.0/introduction-forecasting/introduction-forecasting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433" y="6474735"/>
            <a:ext cx="65610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https://timeweb.cloud/tutorials/python/prognozirovanie-vremennyh-ryadov-python-3</a:t>
            </a:r>
          </a:p>
        </p:txBody>
      </p:sp>
    </p:spTree>
    <p:extLst>
      <p:ext uri="{BB962C8B-B14F-4D97-AF65-F5344CB8AC3E}">
        <p14:creationId xmlns:p14="http://schemas.microsoft.com/office/powerpoint/2010/main" val="216851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Добавление экзогенных факторов к редукции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Рекурсивная редукция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Прямая редукция 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https://machinelearningmastery.com/multi-step-time-series-forecasting/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https://robjhyndman.com/papers/rectify.pdf</a:t>
            </a:r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экзогенных и других типов признаков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0975" y="65417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https://skforecast.org/0.16.0/introduction-forecasting/introduction-forecasting</a:t>
            </a:r>
          </a:p>
        </p:txBody>
      </p:sp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4" y="179411"/>
            <a:ext cx="12227859" cy="773392"/>
          </a:xfrm>
        </p:spPr>
        <p:txBody>
          <a:bodyPr/>
          <a:lstStyle/>
          <a:p>
            <a:pPr algn="ctr"/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4" y="810174"/>
            <a:ext cx="11660842" cy="53048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Лаги временных рядов</a:t>
            </a:r>
          </a:p>
          <a:p>
            <a:r>
              <a:rPr lang="ru-RU" dirty="0"/>
              <a:t>Преобразования лагов (степенное, разность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Оконные статистики лагов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Даты и время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Порядковые (категориальные) данные: Число, день недели, месяц, квартал и </a:t>
            </a:r>
            <a:r>
              <a:rPr lang="ru-RU" dirty="0" err="1"/>
              <a:t>тд</a:t>
            </a:r>
            <a:r>
              <a:rPr lang="ru-RU" dirty="0"/>
              <a:t>,</a:t>
            </a:r>
            <a:endParaRPr lang="en-US" dirty="0"/>
          </a:p>
          <a:p>
            <a:pPr lvl="1"/>
            <a:r>
              <a:rPr lang="ru-RU" dirty="0"/>
              <a:t>Бинарные (дискретные): </a:t>
            </a:r>
            <a:r>
              <a:rPr lang="en-US" dirty="0"/>
              <a:t>Is this day a holiday? Maybe there is a special event? </a:t>
            </a:r>
            <a:endParaRPr lang="ru-RU" dirty="0"/>
          </a:p>
          <a:p>
            <a:r>
              <a:rPr lang="ru-RU" dirty="0"/>
              <a:t>Экзогенные факторы, объясняющие (в домене) целевую переменную</a:t>
            </a:r>
          </a:p>
          <a:p>
            <a:r>
              <a:rPr lang="ru-RU" dirty="0"/>
              <a:t>Результаты, статистики остатков и другие характеристики предсказаний других моделей (напр. </a:t>
            </a:r>
            <a:r>
              <a:rPr lang="ru-RU" dirty="0" err="1"/>
              <a:t>A</a:t>
            </a:r>
            <a:r>
              <a:rPr lang="en-US" dirty="0"/>
              <a:t>RIMA)</a:t>
            </a:r>
            <a:endParaRPr lang="ru-RU" dirty="0"/>
          </a:p>
          <a:p>
            <a:r>
              <a:rPr lang="ru-RU" dirty="0"/>
              <a:t>Другие признаки: напр. Частотные переменные, значения статистик и </a:t>
            </a:r>
            <a:r>
              <a:rPr lang="ru-RU" dirty="0" err="1"/>
              <a:t>тд</a:t>
            </a:r>
            <a:endParaRPr lang="en-US" dirty="0"/>
          </a:p>
          <a:p>
            <a:r>
              <a:rPr lang="ru-RU" dirty="0"/>
              <a:t>Также используют - Преобразования метки (степенное, разность, кодирование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53480" y="6581001"/>
            <a:ext cx="4894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3100" y="642810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https://nixtlaverse.nixtla.io/mlforecast/docs/getting-started/end_to_end_walkthrough.htm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D709B-8C57-6B5A-961D-91A269E0454F}"/>
              </a:ext>
            </a:extLst>
          </p:cNvPr>
          <p:cNvSpPr txBox="1"/>
          <p:nvPr/>
        </p:nvSpPr>
        <p:spPr>
          <a:xfrm>
            <a:off x="3888" y="6417190"/>
            <a:ext cx="6235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categorical-features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11252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https://readmedium.com/feature-engineering-for-time-series-data-a-deep-yet-intuitive-guide-b544aeb26ec2</a:t>
            </a:r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D47A1"/>
                </a:solidFill>
                <a:latin typeface="system-ui"/>
              </a:rPr>
              <a:t>Разница между задачами регрессии и предсказания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386460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Табличная</a:t>
                      </a:r>
                      <a:r>
                        <a:rPr lang="ru-RU" baseline="0" dirty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Предсказания </a:t>
                      </a:r>
                      <a:r>
                        <a:rPr lang="ru-RU" dirty="0"/>
                        <a:t>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Регрессия (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 связаны</a:t>
                      </a:r>
                      <a:r>
                        <a:rPr lang="ru-RU" baseline="0" dirty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Предсказание (следующее</a:t>
                      </a:r>
                      <a:r>
                        <a:rPr lang="ru-RU" baseline="0" dirty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/>
                        <a:t>прогнз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Колонки – 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 – это не признаки, признаки надо выделить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Отбор, трансформация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 err="1"/>
                        <a:t>фичей</a:t>
                      </a:r>
                      <a:r>
                        <a:rPr lang="ru-RU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Редукция ВР к таблице</a:t>
                      </a:r>
                      <a:r>
                        <a:rPr lang="ru-RU" baseline="0" dirty="0"/>
                        <a:t> + табличный </a:t>
                      </a:r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Кросс-</a:t>
                      </a:r>
                      <a:r>
                        <a:rPr lang="ru-RU" dirty="0" err="1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Случайная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подвыборка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Walking</a:t>
                      </a:r>
                      <a:r>
                        <a:rPr lang="en-US" baseline="0" dirty="0"/>
                        <a:t>-forward – </a:t>
                      </a:r>
                      <a:r>
                        <a:rPr lang="ru-RU" baseline="0" dirty="0"/>
                        <a:t>нельзя делать случайную </a:t>
                      </a:r>
                      <a:r>
                        <a:rPr lang="ru-RU" baseline="0" dirty="0" err="1"/>
                        <a:t>подвыборку</a:t>
                      </a:r>
                      <a:r>
                        <a:rPr lang="ru-RU" baseline="0" dirty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</a:t>
                      </a:r>
                      <a:r>
                        <a:rPr lang="ru-RU" baseline="0" dirty="0"/>
                        <a:t> – набор </a:t>
                      </a:r>
                      <a:r>
                        <a:rPr lang="ru-RU" baseline="0" dirty="0" err="1"/>
                        <a:t>фичей</a:t>
                      </a:r>
                      <a:r>
                        <a:rPr lang="ru-RU" baseline="0" dirty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Последовательный паттерн (его еще нужно преобразовать в 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обучение (с учителем), 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1339" y="5793031"/>
            <a:ext cx="107038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 smtClean="0">
                <a:latin typeface="system-ui"/>
              </a:rPr>
              <a:t>Даже если прогноз </a:t>
            </a:r>
            <a:r>
              <a:rPr lang="ru-RU" altLang="ru-RU" dirty="0" smtClean="0">
                <a:latin typeface="system-ui"/>
              </a:rPr>
              <a:t>преобразован в регрессию, </a:t>
            </a:r>
            <a:r>
              <a:rPr lang="ru-RU" altLang="ru-RU" dirty="0" err="1" smtClean="0">
                <a:latin typeface="system-ui"/>
              </a:rPr>
              <a:t>валидация</a:t>
            </a:r>
            <a:r>
              <a:rPr lang="ru-RU" altLang="ru-RU" dirty="0" smtClean="0">
                <a:latin typeface="system-ui"/>
              </a:rPr>
              <a:t> и тест не перемешивают с </a:t>
            </a:r>
            <a:r>
              <a:rPr lang="ru-RU" altLang="ru-RU" dirty="0" err="1" smtClean="0">
                <a:latin typeface="system-ui"/>
              </a:rPr>
              <a:t>трейном</a:t>
            </a:r>
            <a:r>
              <a:rPr lang="ru-RU" altLang="ru-RU" dirty="0" smtClean="0">
                <a:latin typeface="system-ui"/>
              </a:rPr>
              <a:t> (последовательность сохраняется!).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>
                <a:latin typeface="system-ui"/>
              </a:rPr>
              <a:t>Лучше делать операции редукции после разделения выборок!</a:t>
            </a:r>
            <a:endParaRPr lang="ru-RU" altLang="ru-RU" dirty="0"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 к процедуре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Случайная кросс-</a:t>
            </a:r>
            <a:r>
              <a:rPr lang="ru-RU" altLang="ru-RU" sz="2300" dirty="0" err="1"/>
              <a:t>валидация</a:t>
            </a:r>
            <a:r>
              <a:rPr lang="ru-RU" altLang="ru-RU" sz="2300" dirty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/>
              <a:t>Выбор слишком короткого или слишком длинного окна может привести к </a:t>
            </a:r>
            <a:br>
              <a:rPr lang="ru-RU" altLang="ru-RU" sz="2300" dirty="0"/>
            </a:b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“p-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  <a:endParaRPr lang="ru-RU" altLang="ru-RU" sz="23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en-US" altLang="ru-RU" sz="2300" dirty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Для </a:t>
            </a:r>
            <a:r>
              <a:rPr lang="ru-RU" altLang="ru-RU" sz="2300" b="1" dirty="0" err="1"/>
              <a:t>преотвращения</a:t>
            </a:r>
            <a:r>
              <a:rPr lang="ru-RU" altLang="ru-RU" sz="2300" b="1" dirty="0"/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/>
              <a:t>Walking forward </a:t>
            </a:r>
            <a:r>
              <a:rPr lang="ru-RU" altLang="ru-RU" sz="2300" dirty="0"/>
              <a:t>кросс </a:t>
            </a:r>
            <a:r>
              <a:rPr lang="ru-RU" altLang="ru-RU" sz="2300" dirty="0" err="1"/>
              <a:t>валидация</a:t>
            </a:r>
            <a:r>
              <a:rPr lang="en-US" altLang="ru-RU" sz="2300" dirty="0"/>
              <a:t> </a:t>
            </a:r>
            <a:r>
              <a:rPr lang="ru-RU" altLang="ru-RU" sz="2300" dirty="0"/>
              <a:t>и </a:t>
            </a:r>
            <a:r>
              <a:rPr lang="en-US" altLang="ru-RU" sz="2300" dirty="0" err="1"/>
              <a:t>backtesting</a:t>
            </a:r>
            <a:r>
              <a:rPr lang="ru-RU" altLang="ru-RU" sz="2300" dirty="0"/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Напр.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При добавлении признаков в окно прогноза нужно смотреть чтобы </a:t>
            </a:r>
            <a:r>
              <a:rPr lang="ru-RU" altLang="ru-RU" sz="2300" dirty="0" smtClean="0"/>
              <a:t>не было </a:t>
            </a:r>
            <a:r>
              <a:rPr lang="ru-RU" altLang="ru-RU" sz="2300" dirty="0"/>
              <a:t>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Если 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  (</a:t>
            </a:r>
            <a:r>
              <a:rPr lang="ru-RU" altLang="ru-RU" b="1" dirty="0" err="1">
                <a:solidFill>
                  <a:srgbClr val="0D47A1"/>
                </a:solidFill>
                <a:latin typeface="system-ui"/>
              </a:rPr>
              <a:t>ковариаты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)</a:t>
            </a:r>
            <a:endParaRPr lang="ru-RU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/>
              <a:t>Э</a:t>
            </a:r>
            <a:r>
              <a:rPr lang="en-US" sz="2300" b="1" dirty="0" err="1"/>
              <a:t>кзогенны</a:t>
            </a:r>
            <a:r>
              <a:rPr lang="ru-RU" sz="2300" b="1" dirty="0"/>
              <a:t>е факторы (</a:t>
            </a:r>
            <a:r>
              <a:rPr lang="ru-RU" sz="2300" b="1" dirty="0" err="1"/>
              <a:t>ковариаты</a:t>
            </a:r>
            <a:r>
              <a:rPr lang="ru-RU" sz="2300" b="1" dirty="0"/>
              <a:t>, </a:t>
            </a:r>
            <a:r>
              <a:rPr lang="ru-RU" sz="2300" b="1" dirty="0" err="1"/>
              <a:t>exdog</a:t>
            </a:r>
            <a:r>
              <a:rPr lang="en-US" sz="2300" b="1" dirty="0"/>
              <a:t>)</a:t>
            </a:r>
            <a:r>
              <a:rPr lang="ru-RU" sz="2300" dirty="0"/>
              <a:t> – факторы, не имеющие линейной корреляции с ВР, но объясняющие его поведения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/>
              <a:t>Напр. Прогноз энергопотребления </a:t>
            </a:r>
            <a:r>
              <a:rPr lang="en-US" altLang="ru-RU" sz="2300" dirty="0"/>
              <a:t>: </a:t>
            </a:r>
            <a:r>
              <a:rPr lang="ru-RU" altLang="ru-RU" sz="2300" dirty="0"/>
              <a:t>Температура, время суток, день 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300" b="1" dirty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На практике </a:t>
            </a:r>
            <a:r>
              <a:rPr lang="ru-RU" altLang="ru-RU" sz="2300" dirty="0" err="1"/>
              <a:t>экзогенность</a:t>
            </a:r>
            <a:r>
              <a:rPr lang="ru-RU" altLang="ru-RU" sz="2300" dirty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Для многомерных ВР экзогенные факторы могут быть локальными или глобальными – то есть общей информацией между ВР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ts val="200"/>
              </a:spcBef>
              <a:buNone/>
            </a:pPr>
            <a:endParaRPr lang="ru-RU" alt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i="1" dirty="0"/>
              <a:t>Эндогенные ф</a:t>
            </a:r>
            <a:r>
              <a:rPr lang="en-US" sz="2300" b="1" i="1" dirty="0" err="1"/>
              <a:t>акторы</a:t>
            </a:r>
            <a:r>
              <a:rPr lang="en-US" sz="2300" i="1" dirty="0"/>
              <a:t>, </a:t>
            </a:r>
            <a:r>
              <a:rPr lang="en-US" sz="2300" i="1" dirty="0" err="1"/>
              <a:t>очевидно</a:t>
            </a:r>
            <a:r>
              <a:rPr lang="en-US" sz="2300" i="1" dirty="0"/>
              <a:t> </a:t>
            </a:r>
            <a:r>
              <a:rPr lang="en-US" sz="2300" i="1" dirty="0" err="1"/>
              <a:t>коррелирующие</a:t>
            </a:r>
            <a:r>
              <a:rPr lang="en-US" sz="2300" i="1" dirty="0"/>
              <a:t> </a:t>
            </a:r>
            <a:r>
              <a:rPr lang="en-US" sz="2300" i="1" dirty="0" err="1"/>
              <a:t>с</a:t>
            </a:r>
            <a:r>
              <a:rPr lang="en-US" sz="2300" i="1" dirty="0"/>
              <a:t> </a:t>
            </a:r>
            <a:r>
              <a:rPr lang="ru-RU" sz="2300" i="1" dirty="0"/>
              <a:t>ВР</a:t>
            </a:r>
            <a:r>
              <a:rPr lang="en-US" sz="2300" i="1" dirty="0"/>
              <a:t>. </a:t>
            </a:r>
            <a:endParaRPr lang="ru-RU" sz="2300" i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i="1" dirty="0"/>
              <a:t>Лаги ВР, преобразованные значения, значения автокорреляций, тренда или сезонности, и </a:t>
            </a:r>
            <a:r>
              <a:rPr lang="ru-RU" sz="2300" i="1" dirty="0" err="1"/>
              <a:t>тд</a:t>
            </a:r>
            <a:endParaRPr lang="ru-RU" sz="2300" i="1" dirty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 Три группы</a:t>
            </a:r>
            <a:r>
              <a:rPr lang="ru-RU" altLang="ru-RU" dirty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/>
              <a:t>Статические 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Несут </a:t>
            </a:r>
            <a:r>
              <a:rPr lang="ru-RU" altLang="ru-RU" dirty="0"/>
              <a:t>неизменную во времени информацию для каждого временного ряда.</a:t>
            </a:r>
            <a:endParaRPr lang="en-US" altLang="ru-RU" dirty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/>
              <a:t>Напр. </a:t>
            </a:r>
            <a:r>
              <a:rPr lang="ru-RU" altLang="ru-RU" sz="2400" dirty="0"/>
              <a:t> идентификаторы регионов, групп товаров и т. д</a:t>
            </a:r>
            <a:r>
              <a:rPr lang="ru-RU" altLang="ru-RU" sz="2400" dirty="0" smtClean="0"/>
              <a:t>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переменная ограничена прошлыми наблюдаемыми значениями.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при помощи Теста </a:t>
            </a:r>
            <a:r>
              <a:rPr lang="ru-RU" altLang="ru-RU" sz="2600" dirty="0" err="1"/>
              <a:t>Гранжера</a:t>
            </a:r>
            <a:r>
              <a:rPr lang="ru-RU" altLang="ru-RU" sz="2600" dirty="0"/>
              <a:t> на казуальность</a:t>
            </a:r>
            <a:r>
              <a:rPr lang="ru-RU" altLang="ru-RU" sz="2600" dirty="0" smtClean="0"/>
              <a:t>.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6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 доступны на момент прогнозирования.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Напр. календарные переменные, известные события, (напр. запланированные акции</a:t>
            </a:r>
            <a:r>
              <a:rPr lang="ru-RU" altLang="ru-RU" dirty="0" smtClean="0"/>
              <a:t>),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 smtClean="0"/>
              <a:t>Прогнозы </a:t>
            </a:r>
            <a:r>
              <a:rPr lang="ru-RU" altLang="ru-RU" dirty="0"/>
              <a:t>факторов (напр. прогноз погоды для прогноза электропотребления на 1 день).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Важно чтобы переменная всегда в будущем была известна и не несла </a:t>
            </a:r>
            <a:r>
              <a:rPr lang="en-US" altLang="ru-RU" dirty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Analysis</a:t>
            </a:r>
            <a:r>
              <a:rPr lang="ru-RU" dirty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 smtClean="0">
                <a:solidFill>
                  <a:srgbClr val="0D47A1"/>
                </a:solidFill>
                <a:latin typeface="system-ui"/>
              </a:rPr>
              <a:t>Многомерные ВР</a:t>
            </a:r>
            <a:r>
              <a:rPr lang="ru-RU" altLang="ru-RU" dirty="0" smtClean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/>
          </a:bodyPr>
          <a:lstStyle/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  <p:pic>
        <p:nvPicPr>
          <p:cNvPr id="2050" name="Picture 2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4" y="3704520"/>
            <a:ext cx="6391275" cy="292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69307"/>
            <a:ext cx="8223249" cy="315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3900" y="662491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https://skforecast.org/latest/user_guides/independent-multi-time-series-forecasting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1049517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Независимые ВР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476875" y="4074719"/>
            <a:ext cx="154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Связанные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407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rmAutofit/>
          </a:bodyPr>
          <a:lstStyle/>
          <a:p>
            <a:pPr lvl="0"/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Не 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Экзогенные факторы используются только если они улучшают точность на тестах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признаки на утечку данных (забегают вперед на </a:t>
            </a:r>
            <a:r>
              <a:rPr lang="ru-RU" altLang="ru-RU" dirty="0" err="1"/>
              <a:t>трейне</a:t>
            </a:r>
            <a:r>
              <a:rPr lang="ru-RU" altLang="ru-RU" dirty="0"/>
              <a:t>)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Используйте </a:t>
            </a:r>
            <a:r>
              <a:rPr lang="en-US" altLang="ru-RU" dirty="0"/>
              <a:t>ARIMA </a:t>
            </a:r>
            <a:r>
              <a:rPr lang="ru-RU" altLang="ru-RU" dirty="0"/>
              <a:t>и </a:t>
            </a:r>
            <a:r>
              <a:rPr lang="en-US" altLang="ru-RU" dirty="0"/>
              <a:t>ETS </a:t>
            </a:r>
            <a:r>
              <a:rPr lang="ru-RU" altLang="ru-RU" dirty="0"/>
              <a:t>как </a:t>
            </a:r>
            <a:r>
              <a:rPr lang="ru-RU" altLang="ru-RU" dirty="0" err="1"/>
              <a:t>baseline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Начинайте 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Модели легко могут потерять структуру (</a:t>
            </a:r>
            <a:r>
              <a:rPr lang="ru-RU" altLang="ru-RU" dirty="0" err="1"/>
              <a:t>патетрны</a:t>
            </a:r>
            <a:r>
              <a:rPr lang="ru-RU" altLang="ru-RU" dirty="0"/>
              <a:t> и </a:t>
            </a:r>
            <a:r>
              <a:rPr lang="ru-RU" altLang="ru-RU" dirty="0" err="1"/>
              <a:t>тд</a:t>
            </a:r>
            <a:r>
              <a:rPr lang="ru-RU" altLang="ru-RU" dirty="0"/>
              <a:t>), выбирайте размер окна, для стабилизации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Добавляйте 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4804-6C7E-CE44-45D4-FBF70AB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FF64A-D469-D08D-2015-83ED65E3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D47A1"/>
                </a:solidFill>
                <a:latin typeface="system-ui"/>
              </a:rPr>
              <a:t>Замечания. </a:t>
            </a:r>
            <a:r>
              <a:rPr lang="ru-RU" altLang="ru-RU" sz="3600" b="1" dirty="0">
                <a:solidFill>
                  <a:srgbClr val="0D47A1"/>
                </a:solidFill>
                <a:latin typeface="system-ui"/>
              </a:rPr>
              <a:t>Календарные признаки могут быть </a:t>
            </a:r>
            <a:endParaRPr lang="ru-RU" sz="3600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37EBE-87B0-6443-6F75-09B183A4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Бинарными (</a:t>
            </a:r>
            <a:r>
              <a:rPr lang="ru-RU" altLang="ru-RU" sz="2100" dirty="0" err="1"/>
              <a:t>пн</a:t>
            </a:r>
            <a:r>
              <a:rPr lang="ru-RU" altLang="ru-RU" sz="2100" dirty="0"/>
              <a:t>, вт..), выходной и </a:t>
            </a:r>
            <a:r>
              <a:rPr lang="ru-RU" altLang="ru-RU" sz="2100" dirty="0" err="1"/>
              <a:t>тд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Для дней недели используйте 6 признаков. (все 7 – </a:t>
            </a:r>
            <a:r>
              <a:rPr lang="ru-RU" altLang="ru-RU" sz="2100" dirty="0" err="1"/>
              <a:t>мультиколиниарность</a:t>
            </a:r>
            <a:r>
              <a:rPr lang="ru-RU" altLang="ru-RU" sz="2100" dirty="0"/>
              <a:t>) 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Циклическими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/>
              <a:t>hour = </a:t>
            </a:r>
            <a:r>
              <a:rPr lang="en" altLang="ru-RU" sz="1800" dirty="0" err="1"/>
              <a:t>df.index.hour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800" dirty="0"/>
              <a:t>00:00 и 23:00 близки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= </a:t>
            </a:r>
            <a:r>
              <a:rPr lang="en" altLang="ru-RU" sz="1800" dirty="0" err="1"/>
              <a:t>df.index.dayofyear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400" dirty="0"/>
              <a:t>Конец года и его начало близки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2100" dirty="0"/>
              <a:t>T</a:t>
            </a:r>
            <a:r>
              <a:rPr lang="ru-RU" altLang="ru-RU" sz="2100" dirty="0" err="1"/>
              <a:t>ar</a:t>
            </a:r>
            <a:r>
              <a:rPr lang="en-US" altLang="ru-RU" sz="2100" dirty="0"/>
              <a:t>get-</a:t>
            </a:r>
            <a:r>
              <a:rPr lang="ru-RU" altLang="ru-RU" sz="2100" dirty="0"/>
              <a:t>кодированными (среднее по каждому дню недели, напр. Если в выходные продаже выше чем в будни) или кодирование продолжительностью солнечного дня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E6C6A-398D-C8E1-CDCF-4806F7BE91C9}"/>
              </a:ext>
            </a:extLst>
          </p:cNvPr>
          <p:cNvSpPr txBox="1"/>
          <p:nvPr/>
        </p:nvSpPr>
        <p:spPr>
          <a:xfrm>
            <a:off x="85380" y="6437390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categorical-features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BF83A-940E-92D6-75FD-A5107C98A20B}"/>
              </a:ext>
            </a:extLst>
          </p:cNvPr>
          <p:cNvSpPr txBox="1"/>
          <p:nvPr/>
        </p:nvSpPr>
        <p:spPr>
          <a:xfrm>
            <a:off x="5265489" y="6406612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calendar-features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812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609510"/>
              </p:ext>
            </p:extLst>
          </p:nvPr>
        </p:nvGraphicFramePr>
        <p:xfrm>
          <a:off x="421341" y="1290918"/>
          <a:ext cx="10932459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719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234694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Стат.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ML</a:t>
                      </a:r>
                      <a:r>
                        <a:rPr lang="en-US" sz="2000" baseline="0" dirty="0"/>
                        <a:t> </a:t>
                      </a:r>
                      <a:r>
                        <a:rPr lang="ru-RU" sz="2000" baseline="0" dirty="0"/>
                        <a:t>методы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ARIMA,</a:t>
                      </a:r>
                      <a:r>
                        <a:rPr lang="en-US" sz="2000" baseline="0" dirty="0"/>
                        <a:t> ETS, Naïve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LinearReg+Lasso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Стационарность</a:t>
                      </a:r>
                      <a:r>
                        <a:rPr lang="ru-RU" sz="2000" baseline="0" dirty="0"/>
                        <a:t> ВР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Очень важна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</a:t>
                      </a:r>
                      <a:r>
                        <a:rPr lang="ru-RU" sz="2000" baseline="0" dirty="0"/>
                        <a:t> регулярность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Интерпретируемость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Риск переобучения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Низкий,  при кросс-</a:t>
                      </a:r>
                      <a:r>
                        <a:rPr lang="ru-RU" sz="2000" dirty="0" err="1"/>
                        <a:t>валидации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Экзогенные факторы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 1</a:t>
                      </a:r>
                      <a:r>
                        <a:rPr lang="ru-RU" sz="2000" baseline="0" dirty="0"/>
                        <a:t> - 2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Главное чтобы не было</a:t>
                      </a:r>
                      <a:r>
                        <a:rPr lang="ru-RU" sz="2000" baseline="0" dirty="0"/>
                        <a:t> утечки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Многомерные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Сложно,</a:t>
                      </a:r>
                      <a:r>
                        <a:rPr lang="ru-RU" sz="2000" baseline="0" dirty="0"/>
                        <a:t> чаще локальные модели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Возможны</a:t>
                      </a:r>
                      <a:r>
                        <a:rPr lang="ru-RU" sz="2000" baseline="0" dirty="0"/>
                        <a:t> глобальные модели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Иерархические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 учесть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Горизонт прогноза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Небольшой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/>
                        <a:t>Автомтаизация</a:t>
                      </a:r>
                      <a:r>
                        <a:rPr lang="ru-RU" sz="2000" dirty="0"/>
                        <a:t> 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  <a:r>
                        <a:rPr lang="ru-RU" sz="2000" baseline="0" dirty="0"/>
                        <a:t>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16" y="188856"/>
            <a:ext cx="11165910" cy="59937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и проблемы подготовки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24117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489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Z-score (&gt;3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 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IQR (1.5 × IQR)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Из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olation Forest, One-Class SVM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STL-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остатки (остатки &gt; 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l-GR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1336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9655" t="-263218" r="-394" b="-2045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100" y="269875"/>
            <a:ext cx="11061700" cy="790575"/>
          </a:xfrm>
        </p:spPr>
        <p:txBody>
          <a:bodyPr/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2100" y="1060450"/>
            <a:ext cx="11442700" cy="5283200"/>
          </a:xfrm>
        </p:spPr>
        <p:txBody>
          <a:bodyPr/>
          <a:lstStyle/>
          <a:p>
            <a:pPr lvl="0" algn="just"/>
            <a:r>
              <a:rPr lang="ru-RU" sz="2400" dirty="0"/>
              <a:t>Назовите основные отличия использования методов классического машинного обучения от статистических методов. Какие основные подходы к применению методом машинного обучения есть и когда их стоит использовать. Приведите примеры задач где необходимо использовать методы машинного обучения</a:t>
            </a:r>
            <a:r>
              <a:rPr lang="ru-RU" sz="2400" dirty="0" smtClean="0"/>
              <a:t>.</a:t>
            </a:r>
          </a:p>
          <a:p>
            <a:pPr lvl="0" algn="just"/>
            <a:r>
              <a:rPr lang="ru-RU" sz="2400" dirty="0"/>
              <a:t>Приведите примеры экзогенных факторов в различных </a:t>
            </a:r>
            <a:r>
              <a:rPr lang="ru-RU" sz="2400" dirty="0" smtClean="0"/>
              <a:t>задачах. Объясните </a:t>
            </a:r>
            <a:r>
              <a:rPr lang="ru-RU" sz="2400" dirty="0"/>
              <a:t>как их использовать </a:t>
            </a:r>
            <a:r>
              <a:rPr lang="ru-RU" sz="2400" dirty="0" smtClean="0"/>
              <a:t>экзогенные факторы в моделях машинного обучения, как отбирать эти факторы. </a:t>
            </a:r>
          </a:p>
          <a:p>
            <a:pPr lvl="0" algn="just"/>
            <a:r>
              <a:rPr lang="ru-RU" sz="2400" dirty="0" smtClean="0"/>
              <a:t>Выберите задачу анализа ВР. Распишите </a:t>
            </a:r>
            <a:r>
              <a:rPr lang="ru-RU" sz="2400" dirty="0" err="1" smtClean="0"/>
              <a:t>пайплайн</a:t>
            </a:r>
            <a:r>
              <a:rPr lang="ru-RU" sz="2400" dirty="0" smtClean="0"/>
              <a:t> решения задачи анализа ВР при помощи МО. Обоснуйте свой выбор. Укажите какие тут могут быть проблемы анализа остатков ВР. Предложите методы диагностики.</a:t>
            </a:r>
          </a:p>
          <a:p>
            <a:pPr lvl="0" algn="just"/>
            <a:r>
              <a:rPr lang="ru-RU" sz="2400" dirty="0" smtClean="0"/>
              <a:t>Предположите какие особенности задачи регрессии ВР и ее решения могут быть анализируя задачу предсказаний. Приведите примеры задач, подходящих для </a:t>
            </a:r>
            <a:r>
              <a:rPr lang="ru-RU" sz="2400" smtClean="0"/>
              <a:t>указанного подхода.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kforecast.org/0.8.0/img/forecaster_multivariate_train_matrix_diagra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3" r="3230" b="9567"/>
          <a:stretch/>
        </p:blipFill>
        <p:spPr bwMode="auto">
          <a:xfrm>
            <a:off x="4352630" y="3800819"/>
            <a:ext cx="7706020" cy="288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1500" y="654487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https://skforecast.org/0.16.0/user_guides/independent-multi-time-series-forecasting.html</a:t>
            </a:r>
          </a:p>
        </p:txBody>
      </p:sp>
      <p:pic>
        <p:nvPicPr>
          <p:cNvPr id="1028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8210327" cy="314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1686</Words>
  <Application>Microsoft Office PowerPoint</Application>
  <PresentationFormat>Широкоэкранный</PresentationFormat>
  <Paragraphs>327</Paragraphs>
  <Slides>24</Slides>
  <Notes>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Menlo</vt:lpstr>
      <vt:lpstr>system-ui</vt:lpstr>
      <vt:lpstr>Times New Roman</vt:lpstr>
      <vt:lpstr>Тема Office</vt:lpstr>
      <vt:lpstr>Методы машинного обучения в АВР</vt:lpstr>
      <vt:lpstr>Бенчмарки предсказания временных рядов</vt:lpstr>
      <vt:lpstr>Почему невсегда статистические методы</vt:lpstr>
      <vt:lpstr>ВР и машинное обучение</vt:lpstr>
      <vt:lpstr>ВР и машинное обучение</vt:lpstr>
      <vt:lpstr>Рекурсивная редукция</vt:lpstr>
      <vt:lpstr>Прямая стратегия редукции</vt:lpstr>
      <vt:lpstr>Гибридная стратегия</vt:lpstr>
      <vt:lpstr>Многошаговые особенности оценки точности</vt:lpstr>
      <vt:lpstr>Признаки во временных рядах</vt:lpstr>
      <vt:lpstr>Учет экзогенных и других типов признаков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 (ковариаты)</vt:lpstr>
      <vt:lpstr>Экзогенные переменные. Три группы: </vt:lpstr>
      <vt:lpstr>Многомерные ВР: </vt:lpstr>
      <vt:lpstr>Замечания</vt:lpstr>
      <vt:lpstr>Замечания. Календарные признаки могут быть </vt:lpstr>
      <vt:lpstr>Практические советы и ловушки</vt:lpstr>
      <vt:lpstr>Требования и проблемы подготовки данных</vt:lpstr>
      <vt:lpstr>Вопросы для самоконтроля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45</cp:revision>
  <dcterms:created xsi:type="dcterms:W3CDTF">2025-07-25T11:01:31Z</dcterms:created>
  <dcterms:modified xsi:type="dcterms:W3CDTF">2026-04-09T13:43:13Z</dcterms:modified>
</cp:coreProperties>
</file>