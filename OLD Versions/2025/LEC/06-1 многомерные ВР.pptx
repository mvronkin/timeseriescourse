
<file path=[Content_Types].xml><?xml version="1.0" encoding="utf-8"?>
<Types xmlns="http://schemas.openxmlformats.org/package/2006/content-types">
  <Default Extension="png" ContentType="image/png"/>
  <Default Extension="emf" ContentType="image/x-emf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28"/>
  </p:notesMasterIdLst>
  <p:sldIdLst>
    <p:sldId id="256" r:id="rId2"/>
    <p:sldId id="258" r:id="rId3"/>
    <p:sldId id="260" r:id="rId4"/>
    <p:sldId id="261" r:id="rId5"/>
    <p:sldId id="277" r:id="rId6"/>
    <p:sldId id="265" r:id="rId7"/>
    <p:sldId id="264" r:id="rId8"/>
    <p:sldId id="268" r:id="rId9"/>
    <p:sldId id="269" r:id="rId10"/>
    <p:sldId id="271" r:id="rId11"/>
    <p:sldId id="273" r:id="rId12"/>
    <p:sldId id="266" r:id="rId13"/>
    <p:sldId id="267" r:id="rId14"/>
    <p:sldId id="278" r:id="rId15"/>
    <p:sldId id="279" r:id="rId16"/>
    <p:sldId id="272" r:id="rId17"/>
    <p:sldId id="274" r:id="rId18"/>
    <p:sldId id="281" r:id="rId19"/>
    <p:sldId id="280" r:id="rId20"/>
    <p:sldId id="284" r:id="rId21"/>
    <p:sldId id="275" r:id="rId22"/>
    <p:sldId id="282" r:id="rId23"/>
    <p:sldId id="283" r:id="rId24"/>
    <p:sldId id="262" r:id="rId25"/>
    <p:sldId id="259" r:id="rId26"/>
    <p:sldId id="263" r:id="rId27"/>
  </p:sldIdLst>
  <p:sldSz cx="12192000" cy="6858000"/>
  <p:notesSz cx="6858000" cy="9144000"/>
  <p:defaultTextStyle>
    <a:defPPr>
      <a:defRPr lang="ru-RU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940675A-B579-460E-94D1-54222C63F5DA}" styleName="Нет стиля, сетка таблицы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</a:tblStyle>
  <a:tblStyle styleId="{5C22544A-7EE6-4342-B048-85BDC9FD1C3A}" styleName="Средний стиль 2 — акцент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9243"/>
    <p:restoredTop sz="94658"/>
  </p:normalViewPr>
  <p:slideViewPr>
    <p:cSldViewPr snapToGrid="0">
      <p:cViewPr varScale="1">
        <p:scale>
          <a:sx n="95" d="100"/>
          <a:sy n="95" d="100"/>
        </p:scale>
        <p:origin x="102" y="49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tableStyles" Target="tableStyle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notesMaster" Target="notesMasters/notesMaster1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viewProps" Target="view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Верхний колонтитул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ru-RU"/>
          </a:p>
        </p:txBody>
      </p:sp>
      <p:sp>
        <p:nvSpPr>
          <p:cNvPr id="3" name="Дата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170C974-C971-49AB-9DB3-26D8F572511A}" type="datetimeFigureOut">
              <a:rPr lang="ru-RU" smtClean="0"/>
              <a:t>20.08.2025</a:t>
            </a:fld>
            <a:endParaRPr lang="ru-RU"/>
          </a:p>
        </p:txBody>
      </p:sp>
      <p:sp>
        <p:nvSpPr>
          <p:cNvPr id="4" name="Образ слайда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ru-RU"/>
          </a:p>
        </p:txBody>
      </p:sp>
      <p:sp>
        <p:nvSpPr>
          <p:cNvPr id="5" name="Заметки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6" name="Нижний колонтитул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ru-RU"/>
          </a:p>
        </p:txBody>
      </p:sp>
      <p:sp>
        <p:nvSpPr>
          <p:cNvPr id="7" name="Номер слайда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E5904A68-FE9C-41D3-96AD-A1A68ED6C497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377778367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Заметки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ru-RU" dirty="0"/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E5904A68-FE9C-41D3-96AD-A1A68ED6C497}" type="slidenum">
              <a:rPr lang="ru-RU" smtClean="0"/>
              <a:t>4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155719139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Заметки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ru-RU" dirty="0"/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E5904A68-FE9C-41D3-96AD-A1A68ED6C497}" type="slidenum">
              <a:rPr lang="ru-RU" smtClean="0"/>
              <a:t>5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383585542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Заметки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ru-RU" dirty="0"/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E5904A68-FE9C-41D3-96AD-A1A68ED6C497}" type="slidenum">
              <a:rPr lang="ru-RU" smtClean="0"/>
              <a:t>9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745841755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Заметки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ru-RU" dirty="0"/>
          </a:p>
          <a:p>
            <a:endParaRPr lang="ru-RU" dirty="0"/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E5904A68-FE9C-41D3-96AD-A1A68ED6C497}" type="slidenum">
              <a:rPr lang="ru-RU" smtClean="0"/>
              <a:t>11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042166307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Заметки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ru-RU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Brent−0.8⋅Бензин−0.7⋅Дизель∼</a:t>
            </a:r>
            <a:r>
              <a:rPr lang="ru-RU" sz="1200" b="0" i="1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I</a:t>
            </a:r>
            <a:r>
              <a:rPr lang="ru-RU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(0)</a:t>
            </a:r>
          </a:p>
          <a:p>
            <a:r>
              <a:rPr lang="ru-RU" b="0" dirty="0">
                <a:effectLst/>
              </a:rPr>
              <a:t>Это означает: маржа между нефтью и продуктами стабильна — возможен арбитраж. </a:t>
            </a:r>
          </a:p>
          <a:p>
            <a:endParaRPr lang="ru-RU" dirty="0"/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E5904A68-FE9C-41D3-96AD-A1A68ED6C497}" type="slidenum">
              <a:rPr lang="ru-RU" smtClean="0"/>
              <a:t>12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920822745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Заметки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ru-RU" dirty="0"/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E5904A68-FE9C-41D3-96AD-A1A68ED6C497}" type="slidenum">
              <a:rPr lang="ru-RU" smtClean="0"/>
              <a:t>13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4147477643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Заметки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ru-RU" dirty="0"/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E5904A68-FE9C-41D3-96AD-A1A68ED6C497}" type="slidenum">
              <a:rPr lang="ru-RU" smtClean="0"/>
              <a:t>14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851407767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873B72E-9476-A5AF-0146-713288F18C6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>
            <a:extLst>
              <a:ext uri="{FF2B5EF4-FFF2-40B4-BE49-F238E27FC236}">
                <a16:creationId xmlns:a16="http://schemas.microsoft.com/office/drawing/2014/main" id="{64138BA5-AA96-E4A0-62E6-D5F063F3EC6F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Заметки 2">
            <a:extLst>
              <a:ext uri="{FF2B5EF4-FFF2-40B4-BE49-F238E27FC236}">
                <a16:creationId xmlns:a16="http://schemas.microsoft.com/office/drawing/2014/main" id="{7E5BEEC8-62B5-B979-5978-38DE0C678028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ru-RU" dirty="0"/>
          </a:p>
        </p:txBody>
      </p:sp>
      <p:sp>
        <p:nvSpPr>
          <p:cNvPr id="4" name="Номер слайда 3">
            <a:extLst>
              <a:ext uri="{FF2B5EF4-FFF2-40B4-BE49-F238E27FC236}">
                <a16:creationId xmlns:a16="http://schemas.microsoft.com/office/drawing/2014/main" id="{5D566DEA-77B3-70AF-AA80-C894C19F1950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E5904A68-FE9C-41D3-96AD-A1A68ED6C497}" type="slidenum">
              <a:rPr lang="ru-RU" smtClean="0"/>
              <a:t>15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71297093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Заметки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ru-RU" dirty="0"/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E5904A68-FE9C-41D3-96AD-A1A68ED6C497}" type="slidenum">
              <a:rPr lang="ru-RU" smtClean="0"/>
              <a:t>16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89443717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Заметки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ru-RU" dirty="0"/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E5904A68-FE9C-41D3-96AD-A1A68ED6C497}" type="slidenum">
              <a:rPr lang="ru-RU" smtClean="0"/>
              <a:t>17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137980218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C62BDB3-31A4-8296-3E31-220BBEB9BD8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>
            <a:extLst>
              <a:ext uri="{FF2B5EF4-FFF2-40B4-BE49-F238E27FC236}">
                <a16:creationId xmlns:a16="http://schemas.microsoft.com/office/drawing/2014/main" id="{76218BB8-62AF-CD76-896C-E14F9D63C361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Заметки 2">
            <a:extLst>
              <a:ext uri="{FF2B5EF4-FFF2-40B4-BE49-F238E27FC236}">
                <a16:creationId xmlns:a16="http://schemas.microsoft.com/office/drawing/2014/main" id="{053C8B66-CD44-3498-604C-1D83C23B9816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ru-RU" dirty="0"/>
          </a:p>
        </p:txBody>
      </p:sp>
      <p:sp>
        <p:nvSpPr>
          <p:cNvPr id="4" name="Номер слайда 3">
            <a:extLst>
              <a:ext uri="{FF2B5EF4-FFF2-40B4-BE49-F238E27FC236}">
                <a16:creationId xmlns:a16="http://schemas.microsoft.com/office/drawing/2014/main" id="{AEE75700-949C-EBF3-EBCC-2766C6B988C3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E5904A68-FE9C-41D3-96AD-A1A68ED6C497}" type="slidenum">
              <a:rPr lang="ru-RU" smtClean="0"/>
              <a:t>18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268943407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Заметки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ru-RU" dirty="0"/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E5904A68-FE9C-41D3-96AD-A1A68ED6C497}" type="slidenum">
              <a:rPr lang="ru-RU" smtClean="0"/>
              <a:t>21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197168848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493C040-80D8-F537-B491-54299D8F07D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>
            <a:extLst>
              <a:ext uri="{FF2B5EF4-FFF2-40B4-BE49-F238E27FC236}">
                <a16:creationId xmlns:a16="http://schemas.microsoft.com/office/drawing/2014/main" id="{A4FC9516-A172-D2C7-1645-B2B35D560236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Заметки 2">
            <a:extLst>
              <a:ext uri="{FF2B5EF4-FFF2-40B4-BE49-F238E27FC236}">
                <a16:creationId xmlns:a16="http://schemas.microsoft.com/office/drawing/2014/main" id="{D551A84D-3E68-5321-66DB-C363217BA6BF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ru-RU" dirty="0"/>
          </a:p>
        </p:txBody>
      </p:sp>
      <p:sp>
        <p:nvSpPr>
          <p:cNvPr id="4" name="Номер слайда 3">
            <a:extLst>
              <a:ext uri="{FF2B5EF4-FFF2-40B4-BE49-F238E27FC236}">
                <a16:creationId xmlns:a16="http://schemas.microsoft.com/office/drawing/2014/main" id="{6BFDC032-D656-67AD-DDFC-9BA1BF21B501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E5904A68-FE9C-41D3-96AD-A1A68ED6C497}" type="slidenum">
              <a:rPr lang="ru-RU" smtClean="0"/>
              <a:t>22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773937685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Титульны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ru-RU"/>
              <a:t>Образец заголовка</a:t>
            </a:r>
          </a:p>
        </p:txBody>
      </p:sp>
      <p:sp>
        <p:nvSpPr>
          <p:cNvPr id="3" name="Подзаголовок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ru-RU"/>
              <a:t>Образец подзаголовка</a:t>
            </a:r>
          </a:p>
        </p:txBody>
      </p:sp>
      <p:sp>
        <p:nvSpPr>
          <p:cNvPr id="4" name="Дата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36C04D8-B49B-4D86-A6B2-820C9FC8BA05}" type="datetimeFigureOut">
              <a:rPr lang="ru-RU" smtClean="0"/>
              <a:t>20.08.2025</a:t>
            </a:fld>
            <a:endParaRPr lang="ru-RU"/>
          </a:p>
        </p:txBody>
      </p:sp>
      <p:sp>
        <p:nvSpPr>
          <p:cNvPr id="5" name="Нижний колонтитул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1CFDB87-46F4-4022-B16C-72660EFD2513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404204692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Заголовок и объек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Объект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Дата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36C04D8-B49B-4D86-A6B2-820C9FC8BA05}" type="datetimeFigureOut">
              <a:rPr lang="ru-RU" smtClean="0"/>
              <a:t>20.08.2025</a:t>
            </a:fld>
            <a:endParaRPr lang="ru-RU"/>
          </a:p>
        </p:txBody>
      </p:sp>
      <p:sp>
        <p:nvSpPr>
          <p:cNvPr id="5" name="Нижний колонтитул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1CFDB87-46F4-4022-B16C-72660EFD2513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4279219075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Заголовок раздел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ru-RU"/>
              <a:t>Образец заголовка</a:t>
            </a:r>
          </a:p>
        </p:txBody>
      </p:sp>
      <p:sp>
        <p:nvSpPr>
          <p:cNvPr id="3" name="Текст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4" name="Дата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36C04D8-B49B-4D86-A6B2-820C9FC8BA05}" type="datetimeFigureOut">
              <a:rPr lang="ru-RU" smtClean="0"/>
              <a:t>20.08.2025</a:t>
            </a:fld>
            <a:endParaRPr lang="ru-RU"/>
          </a:p>
        </p:txBody>
      </p:sp>
      <p:sp>
        <p:nvSpPr>
          <p:cNvPr id="5" name="Нижний колонтитул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1CFDB87-46F4-4022-B16C-72660EFD2513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16748266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Два объект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Объект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Объект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5" name="Дата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36C04D8-B49B-4D86-A6B2-820C9FC8BA05}" type="datetimeFigureOut">
              <a:rPr lang="ru-RU" smtClean="0"/>
              <a:t>20.08.2025</a:t>
            </a:fld>
            <a:endParaRPr lang="ru-RU"/>
          </a:p>
        </p:txBody>
      </p:sp>
      <p:sp>
        <p:nvSpPr>
          <p:cNvPr id="6" name="Нижний колонтитул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7" name="Номер слайда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1CFDB87-46F4-4022-B16C-72660EFD2513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263637829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Сравнение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Текст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4" name="Объект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5" name="Текст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6" name="Объект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7" name="Дата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36C04D8-B49B-4D86-A6B2-820C9FC8BA05}" type="datetimeFigureOut">
              <a:rPr lang="ru-RU" smtClean="0"/>
              <a:t>20.08.2025</a:t>
            </a:fld>
            <a:endParaRPr lang="ru-RU"/>
          </a:p>
        </p:txBody>
      </p:sp>
      <p:sp>
        <p:nvSpPr>
          <p:cNvPr id="8" name="Нижний колонтитул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9" name="Номер слайда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1CFDB87-46F4-4022-B16C-72660EFD2513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4254145889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Только заголовок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Дата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36C04D8-B49B-4D86-A6B2-820C9FC8BA05}" type="datetimeFigureOut">
              <a:rPr lang="ru-RU" smtClean="0"/>
              <a:t>20.08.2025</a:t>
            </a:fld>
            <a:endParaRPr lang="ru-RU"/>
          </a:p>
        </p:txBody>
      </p:sp>
      <p:sp>
        <p:nvSpPr>
          <p:cNvPr id="4" name="Нижний колонтитул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5" name="Номер слайда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1CFDB87-46F4-4022-B16C-72660EFD2513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874573096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Пусто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Дата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36C04D8-B49B-4D86-A6B2-820C9FC8BA05}" type="datetimeFigureOut">
              <a:rPr lang="ru-RU" smtClean="0"/>
              <a:t>20.08.2025</a:t>
            </a:fld>
            <a:endParaRPr lang="ru-RU"/>
          </a:p>
        </p:txBody>
      </p:sp>
      <p:sp>
        <p:nvSpPr>
          <p:cNvPr id="3" name="Нижний колонтитул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1CFDB87-46F4-4022-B16C-72660EFD2513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999187901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Объект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ru-RU"/>
              <a:t>Образец заголовка</a:t>
            </a:r>
          </a:p>
        </p:txBody>
      </p:sp>
      <p:sp>
        <p:nvSpPr>
          <p:cNvPr id="3" name="Объект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Текст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5" name="Дата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36C04D8-B49B-4D86-A6B2-820C9FC8BA05}" type="datetimeFigureOut">
              <a:rPr lang="ru-RU" smtClean="0"/>
              <a:t>20.08.2025</a:t>
            </a:fld>
            <a:endParaRPr lang="ru-RU"/>
          </a:p>
        </p:txBody>
      </p:sp>
      <p:sp>
        <p:nvSpPr>
          <p:cNvPr id="6" name="Нижний колонтитул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7" name="Номер слайда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1CFDB87-46F4-4022-B16C-72660EFD2513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25659402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Рисунок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ru-RU"/>
              <a:t>Образец заголовка</a:t>
            </a:r>
          </a:p>
        </p:txBody>
      </p:sp>
      <p:sp>
        <p:nvSpPr>
          <p:cNvPr id="3" name="Рисунок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ru-RU"/>
          </a:p>
        </p:txBody>
      </p:sp>
      <p:sp>
        <p:nvSpPr>
          <p:cNvPr id="4" name="Текст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5" name="Дата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36C04D8-B49B-4D86-A6B2-820C9FC8BA05}" type="datetimeFigureOut">
              <a:rPr lang="ru-RU" smtClean="0"/>
              <a:t>20.08.2025</a:t>
            </a:fld>
            <a:endParaRPr lang="ru-RU"/>
          </a:p>
        </p:txBody>
      </p:sp>
      <p:sp>
        <p:nvSpPr>
          <p:cNvPr id="6" name="Нижний колонтитул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7" name="Номер слайда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1CFDB87-46F4-4022-B16C-72660EFD2513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684507311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Заголовок и вертикальный текс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Вертикальный текст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Дата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36C04D8-B49B-4D86-A6B2-820C9FC8BA05}" type="datetimeFigureOut">
              <a:rPr lang="ru-RU" smtClean="0"/>
              <a:t>20.08.2025</a:t>
            </a:fld>
            <a:endParaRPr lang="ru-RU"/>
          </a:p>
        </p:txBody>
      </p:sp>
      <p:sp>
        <p:nvSpPr>
          <p:cNvPr id="5" name="Нижний колонтитул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1CFDB87-46F4-4022-B16C-72660EFD2513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713371759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Вертикальный заголовок и текс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Вертикальный заголовок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Вертикальный текст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Дата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36C04D8-B49B-4D86-A6B2-820C9FC8BA05}" type="datetimeFigureOut">
              <a:rPr lang="ru-RU" smtClean="0"/>
              <a:t>20.08.2025</a:t>
            </a:fld>
            <a:endParaRPr lang="ru-RU"/>
          </a:p>
        </p:txBody>
      </p:sp>
      <p:sp>
        <p:nvSpPr>
          <p:cNvPr id="5" name="Нижний колонтитул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1CFDB87-46F4-4022-B16C-72660EFD2513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696000443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Текст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Дата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E36C04D8-B49B-4D86-A6B2-820C9FC8BA05}" type="datetimeFigureOut">
              <a:rPr lang="ru-RU" smtClean="0"/>
              <a:t>20.08.2025</a:t>
            </a:fld>
            <a:endParaRPr lang="ru-RU"/>
          </a:p>
        </p:txBody>
      </p:sp>
      <p:sp>
        <p:nvSpPr>
          <p:cNvPr id="5" name="Нижний колонтитул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ru-RU"/>
          </a:p>
        </p:txBody>
      </p:sp>
      <p:sp>
        <p:nvSpPr>
          <p:cNvPr id="6" name="Номер слайда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1CFDB87-46F4-4022-B16C-72660EFD2513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161287242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ru-RU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emf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40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7.pn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9.png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3.png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17.png"/><Relationship Id="rId4" Type="http://schemas.openxmlformats.org/officeDocument/2006/relationships/image" Target="../media/image16.png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8.png"/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ru-RU" dirty="0"/>
              <a:t>Многомерные временные ряды</a:t>
            </a:r>
          </a:p>
        </p:txBody>
      </p:sp>
      <p:sp>
        <p:nvSpPr>
          <p:cNvPr id="3" name="Подзаголовок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113404704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352425" y="365126"/>
            <a:ext cx="11001375" cy="539750"/>
          </a:xfrm>
        </p:spPr>
        <p:txBody>
          <a:bodyPr>
            <a:normAutofit fontScale="90000"/>
          </a:bodyPr>
          <a:lstStyle/>
          <a:p>
            <a:r>
              <a:rPr lang="ru-RU" dirty="0"/>
              <a:t>Определение многомерных ВР</a:t>
            </a:r>
          </a:p>
        </p:txBody>
      </p:sp>
      <p:sp>
        <p:nvSpPr>
          <p:cNvPr id="3" name="Объект 2"/>
          <p:cNvSpPr>
            <a:spLocks noGrp="1"/>
          </p:cNvSpPr>
          <p:nvPr>
            <p:ph idx="1"/>
          </p:nvPr>
        </p:nvSpPr>
        <p:spPr>
          <a:xfrm>
            <a:off x="276224" y="904876"/>
            <a:ext cx="11534775" cy="2762249"/>
          </a:xfrm>
        </p:spPr>
        <p:txBody>
          <a:bodyPr/>
          <a:lstStyle/>
          <a:p>
            <a:pPr marL="0" indent="0" eaLnBrk="0" fontAlgn="base" hangingPunct="0">
              <a:lnSpc>
                <a:spcPct val="100000"/>
              </a:lnSpc>
              <a:spcBef>
                <a:spcPts val="300"/>
              </a:spcBef>
              <a:spcAft>
                <a:spcPct val="0"/>
              </a:spcAft>
              <a:buNone/>
            </a:pPr>
            <a:r>
              <a:rPr lang="ru-RU" sz="2400" b="1" dirty="0"/>
              <a:t>Многомерный временной ряд</a:t>
            </a:r>
            <a:r>
              <a:rPr lang="en-US" sz="2400" b="1" dirty="0"/>
              <a:t> </a:t>
            </a:r>
            <a:r>
              <a:rPr lang="ru-RU" sz="2400" b="1" dirty="0"/>
              <a:t>(МВР)</a:t>
            </a:r>
            <a:r>
              <a:rPr lang="ru-RU" sz="2400" dirty="0"/>
              <a:t> - это набор из одномерных временных рядов, наблюдаемых одновременно</a:t>
            </a:r>
            <a:r>
              <a:rPr lang="en-US" sz="2400" dirty="0"/>
              <a:t> </a:t>
            </a:r>
            <a:r>
              <a:rPr lang="ru-RU" sz="2400" b="1" dirty="0"/>
              <a:t>и имеющих общую информацию</a:t>
            </a:r>
            <a:r>
              <a:rPr lang="en-US" sz="2400" b="1" dirty="0"/>
              <a:t>!</a:t>
            </a:r>
            <a:endParaRPr lang="ru-RU" altLang="ru-RU" sz="2400" b="1" dirty="0"/>
          </a:p>
          <a:p>
            <a:pPr eaLnBrk="0" fontAlgn="base" hangingPunct="0">
              <a:lnSpc>
                <a:spcPct val="100000"/>
              </a:lnSpc>
              <a:spcBef>
                <a:spcPts val="600"/>
              </a:spcBef>
              <a:spcAft>
                <a:spcPct val="0"/>
              </a:spcAft>
            </a:pPr>
            <a:r>
              <a:rPr lang="ru-RU" altLang="ru-RU" sz="2400" dirty="0"/>
              <a:t>Экономические показатели: ВВП, инфляция, безработица </a:t>
            </a:r>
          </a:p>
          <a:p>
            <a:pPr eaLnBrk="0" fontAlgn="base" hangingPunct="0">
              <a:lnSpc>
                <a:spcPct val="100000"/>
              </a:lnSpc>
              <a:spcBef>
                <a:spcPts val="600"/>
              </a:spcBef>
              <a:spcAft>
                <a:spcPct val="0"/>
              </a:spcAft>
            </a:pPr>
            <a:r>
              <a:rPr lang="ru-RU" altLang="ru-RU" sz="2400" dirty="0"/>
              <a:t>Финансовые данные: курсы валют, цены акций, процентные ставки </a:t>
            </a:r>
          </a:p>
          <a:p>
            <a:pPr eaLnBrk="0" fontAlgn="base" hangingPunct="0">
              <a:lnSpc>
                <a:spcPct val="100000"/>
              </a:lnSpc>
              <a:spcBef>
                <a:spcPts val="600"/>
              </a:spcBef>
              <a:spcAft>
                <a:spcPct val="0"/>
              </a:spcAft>
            </a:pPr>
            <a:r>
              <a:rPr lang="ru-RU" altLang="ru-RU" sz="2400" dirty="0" err="1"/>
              <a:t>IoT</a:t>
            </a:r>
            <a:r>
              <a:rPr lang="ru-RU" altLang="ru-RU" sz="2400" dirty="0"/>
              <a:t> сенсоры: температура, влажность, давление, освещенность </a:t>
            </a:r>
          </a:p>
          <a:p>
            <a:pPr eaLnBrk="0" fontAlgn="base" hangingPunct="0">
              <a:lnSpc>
                <a:spcPct val="100000"/>
              </a:lnSpc>
              <a:spcBef>
                <a:spcPts val="600"/>
              </a:spcBef>
              <a:spcAft>
                <a:spcPct val="0"/>
              </a:spcAft>
            </a:pPr>
            <a:r>
              <a:rPr lang="ru-RU" altLang="ru-RU" sz="2400" dirty="0"/>
              <a:t>Веб-аналитика: посещения, конверсия, время на сайте </a:t>
            </a:r>
            <a:endParaRPr lang="ru-RU" dirty="0"/>
          </a:p>
        </p:txBody>
      </p:sp>
      <p:sp>
        <p:nvSpPr>
          <p:cNvPr id="5" name="AutoShape 2" descr="Example of multivariate time series data. | Download Scientific Diagram"/>
          <p:cNvSpPr>
            <a:spLocks noChangeAspect="1" noChangeArrowheads="1"/>
          </p:cNvSpPr>
          <p:nvPr/>
        </p:nvSpPr>
        <p:spPr bwMode="auto">
          <a:xfrm>
            <a:off x="155575" y="-144463"/>
            <a:ext cx="304800" cy="30480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ru-RU"/>
          </a:p>
        </p:txBody>
      </p:sp>
      <p:pic>
        <p:nvPicPr>
          <p:cNvPr id="7" name="Рисунок 6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60375" y="3639242"/>
            <a:ext cx="6738937" cy="3051742"/>
          </a:xfrm>
          <a:prstGeom prst="rect">
            <a:avLst/>
          </a:prstGeom>
        </p:spPr>
      </p:pic>
      <p:pic>
        <p:nvPicPr>
          <p:cNvPr id="5122" name="Picture 2" descr="No description has been provided for this image">
            <a:extLst>
              <a:ext uri="{FF2B5EF4-FFF2-40B4-BE49-F238E27FC236}">
                <a16:creationId xmlns:a16="http://schemas.microsoft.com/office/drawing/2014/main" id="{1039210F-570B-FD20-177C-C930AFEA279B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669309" y="3831235"/>
            <a:ext cx="3963988" cy="243402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FCF4246E-233A-D853-C1CB-04A5FF377416}"/>
              </a:ext>
            </a:extLst>
          </p:cNvPr>
          <p:cNvSpPr txBox="1"/>
          <p:nvPr/>
        </p:nvSpPr>
        <p:spPr>
          <a:xfrm>
            <a:off x="6604347" y="6429374"/>
            <a:ext cx="6093912" cy="2616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ru-RU" sz="1050" dirty="0" err="1"/>
              <a:t>https</a:t>
            </a:r>
            <a:r>
              <a:rPr lang="ru-RU" sz="1050" dirty="0"/>
              <a:t>://</a:t>
            </a:r>
            <a:r>
              <a:rPr lang="ru-RU" sz="1050" dirty="0" err="1"/>
              <a:t>skforecast.org</a:t>
            </a:r>
            <a:r>
              <a:rPr lang="ru-RU" sz="1050" dirty="0"/>
              <a:t>/0.16.0/</a:t>
            </a:r>
            <a:r>
              <a:rPr lang="ru-RU" sz="1050" dirty="0" err="1"/>
              <a:t>user_guides</a:t>
            </a:r>
            <a:r>
              <a:rPr lang="ru-RU" sz="1050" dirty="0"/>
              <a:t>/</a:t>
            </a:r>
            <a:r>
              <a:rPr lang="ru-RU" sz="1050" dirty="0" err="1"/>
              <a:t>dependent-multi-series-multivariate-forecasting.html</a:t>
            </a:r>
            <a:endParaRPr lang="ru-RU" sz="1050" dirty="0"/>
          </a:p>
        </p:txBody>
      </p:sp>
    </p:spTree>
    <p:extLst>
      <p:ext uri="{BB962C8B-B14F-4D97-AF65-F5344CB8AC3E}">
        <p14:creationId xmlns:p14="http://schemas.microsoft.com/office/powerpoint/2010/main" val="1884299463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123823" y="250826"/>
            <a:ext cx="11153775" cy="768350"/>
          </a:xfrm>
        </p:spPr>
        <p:txBody>
          <a:bodyPr/>
          <a:lstStyle/>
          <a:p>
            <a:pPr algn="ctr"/>
            <a:r>
              <a:rPr lang="ru-RU" dirty="0"/>
              <a:t>Типы ВР: Многомерные ВР</a:t>
            </a:r>
          </a:p>
        </p:txBody>
      </p:sp>
      <p:pic>
        <p:nvPicPr>
          <p:cNvPr id="6" name="Объект 5"/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438149" y="942976"/>
            <a:ext cx="10372726" cy="574075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183419773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352425" y="365126"/>
            <a:ext cx="11001375" cy="539750"/>
          </a:xfrm>
        </p:spPr>
        <p:txBody>
          <a:bodyPr>
            <a:normAutofit fontScale="90000"/>
          </a:bodyPr>
          <a:lstStyle/>
          <a:p>
            <a:pPr algn="ctr"/>
            <a:r>
              <a:rPr lang="ru-RU" dirty="0"/>
              <a:t>Определение многомерных ВР</a:t>
            </a:r>
          </a:p>
        </p:txBody>
      </p:sp>
      <p:graphicFrame>
        <p:nvGraphicFramePr>
          <p:cNvPr id="4" name="Объект 3"/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1931072586"/>
              </p:ext>
            </p:extLst>
          </p:nvPr>
        </p:nvGraphicFramePr>
        <p:xfrm>
          <a:off x="142875" y="987425"/>
          <a:ext cx="11553825" cy="3409950"/>
        </p:xfrm>
        <a:graphic>
          <a:graphicData uri="http://schemas.openxmlformats.org/drawingml/2006/table">
            <a:tbl>
              <a:tblPr>
                <a:tableStyleId>{5940675A-B579-460E-94D1-54222C63F5DA}</a:tableStyleId>
              </a:tblPr>
              <a:tblGrid>
                <a:gridCol w="6609617">
                  <a:extLst>
                    <a:ext uri="{9D8B030D-6E8A-4147-A177-3AD203B41FA5}">
                      <a16:colId xmlns:a16="http://schemas.microsoft.com/office/drawing/2014/main" val="1609488883"/>
                    </a:ext>
                  </a:extLst>
                </a:gridCol>
                <a:gridCol w="4944208">
                  <a:extLst>
                    <a:ext uri="{9D8B030D-6E8A-4147-A177-3AD203B41FA5}">
                      <a16:colId xmlns:a16="http://schemas.microsoft.com/office/drawing/2014/main" val="499434099"/>
                    </a:ext>
                  </a:extLst>
                </a:gridCol>
              </a:tblGrid>
              <a:tr h="156006">
                <a:tc>
                  <a:txBody>
                    <a:bodyPr/>
                    <a:lstStyle/>
                    <a:p>
                      <a:pPr algn="ctr" fontAlgn="b"/>
                      <a:r>
                        <a:rPr lang="ru-RU" sz="2200" b="1" u="none" strike="noStrike" dirty="0">
                          <a:effectLst/>
                        </a:rPr>
                        <a:t>Проблема</a:t>
                      </a:r>
                      <a:endParaRPr lang="ru-RU" sz="2200" b="1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ru-RU" sz="2200" b="1" u="none" strike="noStrike" dirty="0">
                          <a:effectLst/>
                        </a:rPr>
                        <a:t>Решение с помощью МВР</a:t>
                      </a:r>
                      <a:endParaRPr lang="ru-RU" sz="2200" b="1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ctr"/>
                </a:tc>
                <a:extLst>
                  <a:ext uri="{0D108BD9-81ED-4DB2-BD59-A6C34878D82A}">
                    <a16:rowId xmlns:a16="http://schemas.microsoft.com/office/drawing/2014/main" val="2020299146"/>
                  </a:ext>
                </a:extLst>
              </a:tr>
              <a:tr h="307702">
                <a:tc>
                  <a:txBody>
                    <a:bodyPr/>
                    <a:lstStyle/>
                    <a:p>
                      <a:pPr algn="ctr" fontAlgn="b"/>
                      <a:r>
                        <a:rPr lang="ru-RU" sz="2200" u="none" strike="noStrike" dirty="0">
                          <a:effectLst/>
                        </a:rPr>
                        <a:t>Одномерный ряд не улавливает влияние других связанных факторов</a:t>
                      </a:r>
                      <a:endParaRPr lang="ru-RU" sz="22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ru-RU" sz="2200" u="none" strike="noStrike" dirty="0">
                          <a:effectLst/>
                        </a:rPr>
                        <a:t>Учет взаимного</a:t>
                      </a:r>
                      <a:r>
                        <a:rPr lang="ru-RU" sz="2200" u="none" strike="noStrike" baseline="0" dirty="0">
                          <a:effectLst/>
                        </a:rPr>
                        <a:t> влияния ВР</a:t>
                      </a:r>
                      <a:endParaRPr lang="ru-RU" sz="22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ctr"/>
                </a:tc>
                <a:extLst>
                  <a:ext uri="{0D108BD9-81ED-4DB2-BD59-A6C34878D82A}">
                    <a16:rowId xmlns:a16="http://schemas.microsoft.com/office/drawing/2014/main" val="3386143181"/>
                  </a:ext>
                </a:extLst>
              </a:tr>
              <a:tr h="307702">
                <a:tc>
                  <a:txBody>
                    <a:bodyPr/>
                    <a:lstStyle/>
                    <a:p>
                      <a:pPr algn="ctr" fontAlgn="b"/>
                      <a:r>
                        <a:rPr lang="ru-RU" sz="22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Глобальные экзогенные факторы не учитываются</a:t>
                      </a: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ru-RU" sz="22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учитываются</a:t>
                      </a:r>
                    </a:p>
                  </a:txBody>
                  <a:tcPr marL="9525" marR="9525" marT="9525" marB="0" anchor="ctr"/>
                </a:tc>
                <a:extLst>
                  <a:ext uri="{0D108BD9-81ED-4DB2-BD59-A6C34878D82A}">
                    <a16:rowId xmlns:a16="http://schemas.microsoft.com/office/drawing/2014/main" val="3426728713"/>
                  </a:ext>
                </a:extLst>
              </a:tr>
              <a:tr h="307702">
                <a:tc>
                  <a:txBody>
                    <a:bodyPr/>
                    <a:lstStyle/>
                    <a:p>
                      <a:pPr algn="ctr" fontAlgn="b"/>
                      <a:r>
                        <a:rPr lang="ru-RU" sz="2200" u="none" strike="noStrike" dirty="0">
                          <a:effectLst/>
                        </a:rPr>
                        <a:t>Нет оценки причинно-следственных связей между</a:t>
                      </a:r>
                      <a:r>
                        <a:rPr lang="ru-RU" sz="2200" u="none" strike="noStrike" baseline="0" dirty="0">
                          <a:effectLst/>
                        </a:rPr>
                        <a:t> всеми связанным переменными</a:t>
                      </a:r>
                      <a:endParaRPr lang="ru-RU" sz="22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ru-RU" sz="2200" u="none" strike="noStrike" dirty="0">
                          <a:effectLst/>
                        </a:rPr>
                        <a:t>Используем </a:t>
                      </a:r>
                      <a:r>
                        <a:rPr lang="en-US" sz="2200" u="none" strike="noStrike" dirty="0">
                          <a:effectLst/>
                        </a:rPr>
                        <a:t>Granger causality</a:t>
                      </a:r>
                      <a:r>
                        <a:rPr lang="ru-RU" sz="2200" u="none" strike="noStrike" dirty="0">
                          <a:effectLst/>
                        </a:rPr>
                        <a:t> </a:t>
                      </a:r>
                      <a:endParaRPr lang="en-US" sz="22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ctr"/>
                </a:tc>
                <a:extLst>
                  <a:ext uri="{0D108BD9-81ED-4DB2-BD59-A6C34878D82A}">
                    <a16:rowId xmlns:a16="http://schemas.microsoft.com/office/drawing/2014/main" val="4114732579"/>
                  </a:ext>
                </a:extLst>
              </a:tr>
              <a:tr h="307702">
                <a:tc>
                  <a:txBody>
                    <a:bodyPr/>
                    <a:lstStyle/>
                    <a:p>
                      <a:pPr algn="ctr" fontAlgn="b"/>
                      <a:r>
                        <a:rPr lang="ru-RU" sz="22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Прогноз нестабильности при шоках внешних факторов</a:t>
                      </a: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b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ru-RU" sz="2200" u="none" strike="noStrike" dirty="0">
                          <a:effectLst/>
                        </a:rPr>
                        <a:t>МВР учитывает реакцию всей системы</a:t>
                      </a:r>
                      <a:endParaRPr lang="ru-RU" sz="22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  <a:p>
                      <a:pPr algn="ctr" fontAlgn="b"/>
                      <a:endParaRPr lang="en-US" sz="22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ctr"/>
                </a:tc>
                <a:extLst>
                  <a:ext uri="{0D108BD9-81ED-4DB2-BD59-A6C34878D82A}">
                    <a16:rowId xmlns:a16="http://schemas.microsoft.com/office/drawing/2014/main" val="241014944"/>
                  </a:ext>
                </a:extLst>
              </a:tr>
              <a:tr h="459398">
                <a:tc>
                  <a:txBody>
                    <a:bodyPr/>
                    <a:lstStyle/>
                    <a:p>
                      <a:pPr algn="ctr" fontAlgn="b"/>
                      <a:r>
                        <a:rPr lang="ru-RU" sz="2200" u="none" strike="noStrike" dirty="0">
                          <a:effectLst/>
                        </a:rPr>
                        <a:t>Много похожих рядов (1000 датчиков температуры в техпроцессе) требуют</a:t>
                      </a:r>
                      <a:r>
                        <a:rPr lang="ru-RU" sz="2200" u="none" strike="noStrike" baseline="0" dirty="0">
                          <a:effectLst/>
                        </a:rPr>
                        <a:t> настройки разных моделей</a:t>
                      </a:r>
                      <a:endParaRPr lang="ru-RU" sz="22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ru-RU" sz="2200" u="none" strike="noStrike" dirty="0">
                          <a:effectLst/>
                        </a:rPr>
                        <a:t>Глобальные модели + динамические факторы</a:t>
                      </a:r>
                      <a:endParaRPr lang="ru-RU" sz="22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ctr"/>
                </a:tc>
                <a:extLst>
                  <a:ext uri="{0D108BD9-81ED-4DB2-BD59-A6C34878D82A}">
                    <a16:rowId xmlns:a16="http://schemas.microsoft.com/office/drawing/2014/main" val="374201459"/>
                  </a:ext>
                </a:extLst>
              </a:tr>
            </a:tbl>
          </a:graphicData>
        </a:graphic>
      </p:graphicFrame>
      <p:sp>
        <p:nvSpPr>
          <p:cNvPr id="5" name="Объект 4"/>
          <p:cNvSpPr>
            <a:spLocks noGrp="1"/>
          </p:cNvSpPr>
          <p:nvPr>
            <p:ph idx="1"/>
          </p:nvPr>
        </p:nvSpPr>
        <p:spPr>
          <a:xfrm>
            <a:off x="352425" y="4479924"/>
            <a:ext cx="11344275" cy="2295526"/>
          </a:xfrm>
        </p:spPr>
        <p:txBody>
          <a:bodyPr/>
          <a:lstStyle/>
          <a:p>
            <a:r>
              <a:rPr lang="ru-RU" dirty="0"/>
              <a:t>Если единичные ВР – это описание только соответствующей переменной,</a:t>
            </a:r>
          </a:p>
          <a:p>
            <a:pPr lvl="1"/>
            <a:r>
              <a:rPr lang="ru-RU" dirty="0"/>
              <a:t>ВР с экзогенными факторами – описание ВР и объясняющих его переменных</a:t>
            </a:r>
          </a:p>
          <a:p>
            <a:r>
              <a:rPr lang="ru-RU" dirty="0"/>
              <a:t>То многомерные ВР (МВР) – это описание системы</a:t>
            </a:r>
          </a:p>
          <a:p>
            <a:pPr lvl="1"/>
            <a:r>
              <a:rPr lang="ru-RU" dirty="0"/>
              <a:t>Включает как ВР, так и их связи – более полное описание</a:t>
            </a:r>
          </a:p>
        </p:txBody>
      </p:sp>
    </p:spTree>
    <p:extLst>
      <p:ext uri="{BB962C8B-B14F-4D97-AF65-F5344CB8AC3E}">
        <p14:creationId xmlns:p14="http://schemas.microsoft.com/office/powerpoint/2010/main" val="3980958957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5EDB508A-0C0C-1FDF-642F-9604AF420D6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46343" y="177234"/>
            <a:ext cx="11165910" cy="599379"/>
          </a:xfrm>
        </p:spPr>
        <p:txBody>
          <a:bodyPr>
            <a:normAutofit fontScale="90000"/>
          </a:bodyPr>
          <a:lstStyle/>
          <a:p>
            <a:pPr algn="ctr"/>
            <a:r>
              <a:rPr lang="ru-RU" dirty="0"/>
              <a:t>Требования и проблемы МВР</a:t>
            </a:r>
          </a:p>
        </p:txBody>
      </p:sp>
      <p:graphicFrame>
        <p:nvGraphicFramePr>
          <p:cNvPr id="4" name="Объект 3">
            <a:extLst>
              <a:ext uri="{FF2B5EF4-FFF2-40B4-BE49-F238E27FC236}">
                <a16:creationId xmlns:a16="http://schemas.microsoft.com/office/drawing/2014/main" id="{4C6D77A8-018D-4F69-E0AB-665CC72D36BE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3926223313"/>
              </p:ext>
            </p:extLst>
          </p:nvPr>
        </p:nvGraphicFramePr>
        <p:xfrm>
          <a:off x="187890" y="776613"/>
          <a:ext cx="11724363" cy="57912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891431">
                  <a:extLst>
                    <a:ext uri="{9D8B030D-6E8A-4147-A177-3AD203B41FA5}">
                      <a16:colId xmlns:a16="http://schemas.microsoft.com/office/drawing/2014/main" val="2003674582"/>
                    </a:ext>
                  </a:extLst>
                </a:gridCol>
                <a:gridCol w="4008328">
                  <a:extLst>
                    <a:ext uri="{9D8B030D-6E8A-4147-A177-3AD203B41FA5}">
                      <a16:colId xmlns:a16="http://schemas.microsoft.com/office/drawing/2014/main" val="3372195085"/>
                    </a:ext>
                  </a:extLst>
                </a:gridCol>
                <a:gridCol w="5824604">
                  <a:extLst>
                    <a:ext uri="{9D8B030D-6E8A-4147-A177-3AD203B41FA5}">
                      <a16:colId xmlns:a16="http://schemas.microsoft.com/office/drawing/2014/main" val="2406795206"/>
                    </a:ext>
                  </a:extLst>
                </a:gridCol>
              </a:tblGrid>
              <a:tr h="241170">
                <a:tc>
                  <a:txBody>
                    <a:bodyPr/>
                    <a:lstStyle/>
                    <a:p>
                      <a:pPr algn="ctr"/>
                      <a:endParaRPr lang="ru-RU" sz="20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sz="2400" b="1" dirty="0"/>
                        <a:t>Проблемы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sz="2400" b="1" dirty="0"/>
                        <a:t>Решения 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601287456"/>
                  </a:ext>
                </a:extLst>
              </a:tr>
              <a:tr h="805240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ru-RU" sz="2000" b="0" i="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Единая временная шкала и длина выборки</a:t>
                      </a:r>
                      <a:endParaRPr lang="ru-RU" sz="2000" b="1" i="0" kern="1200" dirty="0">
                        <a:solidFill>
                          <a:schemeClr val="dk1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sz="2000" b="0" i="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Разная частота (один датчик — 1 раз в секунду, другой — в минуту)</a:t>
                      </a:r>
                    </a:p>
                    <a:p>
                      <a:pPr algn="ctr"/>
                      <a:r>
                        <a:rPr lang="ru-RU" sz="2000" b="0" i="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Сдвиги во времени (асинхронность)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126000" indent="-126000" algn="l">
                        <a:buFont typeface="Arial" panose="020B0604020202020204" pitchFamily="34" charset="0"/>
                        <a:buChar char="•"/>
                      </a:pPr>
                      <a:r>
                        <a:rPr lang="ru-RU" sz="2000" dirty="0" err="1"/>
                        <a:t>Ресемплинг</a:t>
                      </a:r>
                      <a:r>
                        <a:rPr lang="ru-RU" sz="2000" dirty="0"/>
                        <a:t> с большей частотой</a:t>
                      </a:r>
                    </a:p>
                    <a:p>
                      <a:pPr marL="126000" indent="-126000" algn="l">
                        <a:buFont typeface="Arial" panose="020B0604020202020204" pitchFamily="34" charset="0"/>
                        <a:buChar char="•"/>
                      </a:pPr>
                      <a:r>
                        <a:rPr lang="ru-RU" sz="2000" dirty="0"/>
                        <a:t>Интерполяция с частотой </a:t>
                      </a:r>
                      <a:r>
                        <a:rPr lang="en-US" sz="2000" dirty="0"/>
                        <a:t>&lt;</a:t>
                      </a:r>
                      <a:r>
                        <a:rPr lang="ru-RU" sz="2000" dirty="0"/>
                        <a:t> наименьшей и </a:t>
                      </a:r>
                      <a:r>
                        <a:rPr lang="ru-RU" sz="2000" dirty="0" err="1"/>
                        <a:t>передискретизация</a:t>
                      </a:r>
                      <a:endParaRPr lang="ru-RU" sz="2000" dirty="0"/>
                    </a:p>
                    <a:p>
                      <a:pPr marL="126000" indent="-126000" algn="l">
                        <a:buFont typeface="Arial" panose="020B0604020202020204" pitchFamily="34" charset="0"/>
                        <a:buChar char="•"/>
                      </a:pPr>
                      <a:r>
                        <a:rPr lang="ru-RU" sz="2000" dirty="0"/>
                        <a:t>Агрегация (если есть иерархия)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258919944"/>
                  </a:ext>
                </a:extLst>
              </a:tr>
              <a:tr h="805240">
                <a:tc>
                  <a:txBody>
                    <a:bodyPr/>
                    <a:lstStyle/>
                    <a:p>
                      <a:pPr algn="ctr"/>
                      <a:r>
                        <a:rPr lang="ru-RU" sz="2000" b="0" i="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Единый</a:t>
                      </a:r>
                      <a:r>
                        <a:rPr lang="ru-RU" sz="2000" dirty="0"/>
                        <a:t> временной масштаб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sz="2000" dirty="0"/>
                        <a:t>Разные сезонности в рядах (где-то сутки, где то год)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126000" indent="-126000" algn="l">
                        <a:buFont typeface="Arial" panose="020B0604020202020204" pitchFamily="34" charset="0"/>
                        <a:buChar char="•"/>
                      </a:pPr>
                      <a:r>
                        <a:rPr lang="ru-RU" sz="2000" dirty="0"/>
                        <a:t>Разложение ВР. (STL</a:t>
                      </a:r>
                      <a:r>
                        <a:rPr lang="en-US" sz="2000" dirty="0"/>
                        <a:t>)</a:t>
                      </a:r>
                      <a:r>
                        <a:rPr lang="ru-RU" sz="2000" dirty="0"/>
                        <a:t>, </a:t>
                      </a:r>
                    </a:p>
                    <a:p>
                      <a:pPr marL="126000" indent="-126000" algn="l">
                        <a:buFont typeface="Arial" panose="020B0604020202020204" pitchFamily="34" charset="0"/>
                        <a:buChar char="•"/>
                      </a:pPr>
                      <a:r>
                        <a:rPr lang="ru-RU" sz="2000" dirty="0"/>
                        <a:t>Разделение по группам, </a:t>
                      </a:r>
                    </a:p>
                    <a:p>
                      <a:pPr marL="126000" indent="-126000" algn="l">
                        <a:buFont typeface="Arial" panose="020B0604020202020204" pitchFamily="34" charset="0"/>
                        <a:buChar char="•"/>
                      </a:pPr>
                      <a:r>
                        <a:rPr lang="ru-RU" sz="2000" dirty="0"/>
                        <a:t>добавление масштабов как экзогенных </a:t>
                      </a:r>
                      <a:br>
                        <a:rPr lang="ru-RU" sz="2000" dirty="0"/>
                      </a:br>
                      <a:r>
                        <a:rPr lang="ru-RU" sz="2000" dirty="0"/>
                        <a:t>факторов к каждому ВР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867097848"/>
                  </a:ext>
                </a:extLst>
              </a:tr>
              <a:tr h="575798">
                <a:tc>
                  <a:txBody>
                    <a:bodyPr/>
                    <a:lstStyle/>
                    <a:p>
                      <a:pPr algn="ctr"/>
                      <a:r>
                        <a:rPr lang="ru-RU" sz="2000" dirty="0"/>
                        <a:t>Связи между рядами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sz="2000" dirty="0"/>
                        <a:t>Неучет  связи приводит к ложным выводам, </a:t>
                      </a:r>
                      <a:r>
                        <a:rPr lang="ru-RU" sz="1800" b="0" i="0" kern="1200" dirty="0" err="1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Мультиколлинеарности</a:t>
                      </a:r>
                      <a:r>
                        <a:rPr lang="ru-RU" sz="1800" b="0" i="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, снижению интерпретируемости</a:t>
                      </a:r>
                      <a:endParaRPr lang="ru-RU" sz="20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126000" indent="-126000" algn="l">
                        <a:buFont typeface="Arial" panose="020B0604020202020204" pitchFamily="34" charset="0"/>
                        <a:buChar char="•"/>
                      </a:pPr>
                      <a:r>
                        <a:rPr lang="ru-RU" sz="2000" dirty="0"/>
                        <a:t>Корреляция - регуляризация,</a:t>
                      </a:r>
                    </a:p>
                    <a:p>
                      <a:pPr marL="126000" indent="-126000" algn="l">
                        <a:buFont typeface="Arial" panose="020B0604020202020204" pitchFamily="34" charset="0"/>
                        <a:buChar char="•"/>
                      </a:pPr>
                      <a:r>
                        <a:rPr lang="ru-RU" sz="2000" dirty="0"/>
                        <a:t>Казуальность – </a:t>
                      </a:r>
                      <a:r>
                        <a:rPr lang="ru-RU" sz="2000" dirty="0" err="1"/>
                        <a:t>вр</a:t>
                      </a:r>
                      <a:r>
                        <a:rPr lang="ru-RU" sz="2000" dirty="0"/>
                        <a:t> как </a:t>
                      </a:r>
                      <a:r>
                        <a:rPr lang="ru-RU" sz="2000" dirty="0" err="1"/>
                        <a:t>экзоген</a:t>
                      </a:r>
                      <a:r>
                        <a:rPr lang="ru-RU" sz="2000" dirty="0"/>
                        <a:t>. фактор, </a:t>
                      </a:r>
                    </a:p>
                    <a:p>
                      <a:pPr marL="126000" indent="-126000" algn="l">
                        <a:buFont typeface="Arial" panose="020B0604020202020204" pitchFamily="34" charset="0"/>
                        <a:buChar char="•"/>
                      </a:pPr>
                      <a:r>
                        <a:rPr lang="ru-RU" sz="2000" dirty="0" err="1"/>
                        <a:t>Коинтеграция</a:t>
                      </a:r>
                      <a:r>
                        <a:rPr lang="ru-RU" sz="2000" dirty="0"/>
                        <a:t> – поиск ЛК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336157207"/>
                  </a:ext>
                </a:extLst>
              </a:tr>
              <a:tr h="575798">
                <a:tc>
                  <a:txBody>
                    <a:bodyPr/>
                    <a:lstStyle/>
                    <a:p>
                      <a:pPr algn="ctr"/>
                      <a:r>
                        <a:rPr lang="ru-RU" sz="2000" dirty="0"/>
                        <a:t>стационар.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sz="2000" dirty="0"/>
                        <a:t>ВР могут сводится независимо или только как комбинация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126000" indent="-126000" algn="l">
                        <a:buFont typeface="Arial" panose="020B0604020202020204" pitchFamily="34" charset="0"/>
                        <a:buChar char="•"/>
                      </a:pPr>
                      <a:r>
                        <a:rPr lang="en-US" sz="2000" dirty="0"/>
                        <a:t>ADF, KPSS </a:t>
                      </a:r>
                      <a:r>
                        <a:rPr lang="ru-RU" sz="2000" dirty="0"/>
                        <a:t>для каждого </a:t>
                      </a:r>
                      <a:r>
                        <a:rPr lang="ru-RU" sz="2000" dirty="0" err="1"/>
                        <a:t>вр</a:t>
                      </a:r>
                      <a:endParaRPr lang="ru-RU" sz="2000" dirty="0"/>
                    </a:p>
                    <a:p>
                      <a:pPr marL="126000" indent="-126000" algn="l">
                        <a:buFont typeface="Arial" panose="020B0604020202020204" pitchFamily="34" charset="0"/>
                        <a:buChar char="•"/>
                      </a:pPr>
                      <a:r>
                        <a:rPr lang="ru-RU" sz="2000" dirty="0" err="1"/>
                        <a:t>Коинтеграция</a:t>
                      </a:r>
                      <a:r>
                        <a:rPr lang="ru-RU" sz="2000" dirty="0"/>
                        <a:t> если совместно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447713331"/>
                  </a:ext>
                </a:extLst>
              </a:tr>
              <a:tr h="575798">
                <a:tc>
                  <a:txBody>
                    <a:bodyPr/>
                    <a:lstStyle/>
                    <a:p>
                      <a:pPr algn="ctr"/>
                      <a:r>
                        <a:rPr lang="ru-RU" sz="2000" dirty="0"/>
                        <a:t>Глобальный объясняющий фактор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sz="2000" dirty="0"/>
                        <a:t>Разделение влияния фактора от взаимных связей ВР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126000" indent="-126000" algn="l">
                        <a:buFont typeface="Arial" panose="020B0604020202020204" pitchFamily="34" charset="0"/>
                        <a:buChar char="•"/>
                      </a:pPr>
                      <a:r>
                        <a:rPr lang="ru-RU" sz="2000" dirty="0"/>
                        <a:t>Учет экзогенного фактора для каждого ВР</a:t>
                      </a:r>
                    </a:p>
                    <a:p>
                      <a:pPr marL="126000" indent="-126000" algn="l">
                        <a:buFont typeface="Arial" panose="020B0604020202020204" pitchFamily="34" charset="0"/>
                        <a:buChar char="•"/>
                      </a:pPr>
                      <a:r>
                        <a:rPr lang="ru-RU" sz="2000" dirty="0"/>
                        <a:t>Снятие зависимости линейной регрессией</a:t>
                      </a:r>
                    </a:p>
                    <a:p>
                      <a:pPr marL="126000" indent="-126000" algn="l">
                        <a:buFont typeface="Arial" panose="020B0604020202020204" pitchFamily="34" charset="0"/>
                        <a:buChar char="•"/>
                      </a:pPr>
                      <a:r>
                        <a:rPr lang="ru-RU" sz="2000" dirty="0"/>
                        <a:t>PCA</a:t>
                      </a:r>
                      <a:r>
                        <a:rPr lang="en-US" sz="2000" dirty="0"/>
                        <a:t> + </a:t>
                      </a:r>
                      <a:r>
                        <a:rPr lang="ru-RU" sz="2000" dirty="0"/>
                        <a:t>восстановление без главной компоненты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47269211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538255811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257175" y="107951"/>
            <a:ext cx="11068050" cy="596900"/>
          </a:xfrm>
        </p:spPr>
        <p:txBody>
          <a:bodyPr>
            <a:normAutofit fontScale="90000"/>
          </a:bodyPr>
          <a:lstStyle/>
          <a:p>
            <a:pPr algn="ctr"/>
            <a:r>
              <a:rPr lang="ru-RU" dirty="0"/>
              <a:t>Векторная авторегрессия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Объект 2"/>
              <p:cNvSpPr>
                <a:spLocks noGrp="1"/>
              </p:cNvSpPr>
              <p:nvPr>
                <p:ph idx="1"/>
              </p:nvPr>
            </p:nvSpPr>
            <p:spPr>
              <a:xfrm>
                <a:off x="142875" y="600076"/>
                <a:ext cx="11801475" cy="6105524"/>
              </a:xfrm>
            </p:spPr>
            <p:txBody>
              <a:bodyPr>
                <a:normAutofit lnSpcReduction="10000"/>
              </a:bodyPr>
              <a:lstStyle/>
              <a:p>
                <a:pPr marL="0" indent="0">
                  <a:lnSpc>
                    <a:spcPct val="100000"/>
                  </a:lnSpc>
                  <a:spcBef>
                    <a:spcPts val="0"/>
                  </a:spcBef>
                  <a:buNone/>
                </a:pPr>
                <a:r>
                  <a:rPr lang="ru-RU" sz="2400" dirty="0"/>
                  <a:t>Если все ВР в МВР стационарны</a:t>
                </a:r>
                <a:r>
                  <a:rPr lang="en-US" sz="2400" dirty="0"/>
                  <a:t> </a:t>
                </a:r>
                <a:r>
                  <a:rPr lang="ru-RU" sz="2400" dirty="0"/>
                  <a:t>и не коррелируют, то для каждого ВР можно ввести </a:t>
                </a:r>
              </a:p>
              <a:p>
                <a:pPr marL="0" indent="0">
                  <a:lnSpc>
                    <a:spcPct val="100000"/>
                  </a:lnSpc>
                  <a:spcBef>
                    <a:spcPts val="0"/>
                  </a:spcBef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d>
                        <m:dPr>
                          <m:begChr m:val="{"/>
                          <m:endChr m:val=""/>
                          <m:ctrlPr>
                            <a:rPr lang="ru-RU" sz="240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eqArr>
                            <m:eqArrPr>
                              <m:ctrlPr>
                                <a:rPr lang="ru-RU" sz="2400" i="1" smtClean="0">
                                  <a:latin typeface="Cambria Math" panose="02040503050406030204" pitchFamily="18" charset="0"/>
                                </a:rPr>
                              </m:ctrlPr>
                            </m:eqArrPr>
                            <m:e>
                              <m:sSub>
                                <m:sSubPr>
                                  <m:ctrlPr>
                                    <a:rPr lang="en-US" sz="2400" i="1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acc>
                                    <m:accPr>
                                      <m:chr m:val="̂"/>
                                      <m:ctrlPr>
                                        <a:rPr lang="en-US" sz="2400" i="1">
                                          <a:latin typeface="Cambria Math" panose="02040503050406030204" pitchFamily="18" charset="0"/>
                                        </a:rPr>
                                      </m:ctrlPr>
                                    </m:accPr>
                                    <m:e>
                                      <m:r>
                                        <a:rPr lang="en-US" sz="2400" i="1">
                                          <a:latin typeface="Cambria Math" panose="02040503050406030204" pitchFamily="18" charset="0"/>
                                        </a:rPr>
                                        <m:t>𝑦</m:t>
                                      </m:r>
                                    </m:e>
                                  </m:acc>
                                </m:e>
                                <m:sub>
                                  <m:r>
                                    <a:rPr lang="en-US" sz="2400" i="1">
                                      <a:latin typeface="Cambria Math" panose="02040503050406030204" pitchFamily="18" charset="0"/>
                                    </a:rPr>
                                    <m:t>𝑛</m:t>
                                  </m:r>
                                  <m:r>
                                    <a:rPr lang="ru-RU" sz="2400" i="1">
                                      <a:latin typeface="Cambria Math" panose="02040503050406030204" pitchFamily="18" charset="0"/>
                                    </a:rPr>
                                    <m:t>+1</m:t>
                                  </m:r>
                                  <m:r>
                                    <a:rPr lang="en-US" sz="2400" b="0" i="1" smtClean="0">
                                      <a:latin typeface="Cambria Math" panose="02040503050406030204" pitchFamily="18" charset="0"/>
                                    </a:rPr>
                                    <m:t>,1</m:t>
                                  </m:r>
                                </m:sub>
                              </m:sSub>
                              <m:r>
                                <a:rPr lang="en-US" sz="2400" i="1">
                                  <a:latin typeface="Cambria Math" panose="02040503050406030204" pitchFamily="18" charset="0"/>
                                </a:rPr>
                                <m:t>=</m:t>
                              </m:r>
                              <m:sSub>
                                <m:sSubPr>
                                  <m:ctrlPr>
                                    <a:rPr lang="en-US" sz="2400" i="1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sz="2400" i="1">
                                      <a:latin typeface="Cambria Math" panose="02040503050406030204" pitchFamily="18" charset="0"/>
                                    </a:rPr>
                                    <m:t>𝛼</m:t>
                                  </m:r>
                                </m:e>
                                <m:sub>
                                  <m:r>
                                    <a:rPr lang="ru-RU" sz="2400" i="1">
                                      <a:latin typeface="Cambria Math" panose="02040503050406030204" pitchFamily="18" charset="0"/>
                                    </a:rPr>
                                    <m:t>0</m:t>
                                  </m:r>
                                  <m:r>
                                    <a:rPr lang="en-US" sz="2400" b="0" i="1" smtClean="0">
                                      <a:latin typeface="Cambria Math" panose="02040503050406030204" pitchFamily="18" charset="0"/>
                                    </a:rPr>
                                    <m:t>,1</m:t>
                                  </m:r>
                                </m:sub>
                              </m:sSub>
                              <m:sSub>
                                <m:sSubPr>
                                  <m:ctrlPr>
                                    <a:rPr lang="en-US" sz="2400" i="1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sz="2400" i="1">
                                      <a:latin typeface="Cambria Math" panose="02040503050406030204" pitchFamily="18" charset="0"/>
                                    </a:rPr>
                                    <m:t>𝑦</m:t>
                                  </m:r>
                                </m:e>
                                <m:sub>
                                  <m:r>
                                    <a:rPr lang="en-US" sz="2400" i="1">
                                      <a:latin typeface="Cambria Math" panose="02040503050406030204" pitchFamily="18" charset="0"/>
                                    </a:rPr>
                                    <m:t>𝑛</m:t>
                                  </m:r>
                                  <m:r>
                                    <a:rPr lang="en-US" sz="2400" b="0" i="1" smtClean="0">
                                      <a:latin typeface="Cambria Math" panose="02040503050406030204" pitchFamily="18" charset="0"/>
                                    </a:rPr>
                                    <m:t>,1</m:t>
                                  </m:r>
                                </m:sub>
                              </m:sSub>
                              <m:r>
                                <a:rPr lang="en-US" sz="2400" i="1">
                                  <a:latin typeface="Cambria Math" panose="02040503050406030204" pitchFamily="18" charset="0"/>
                                </a:rPr>
                                <m:t>+</m:t>
                              </m:r>
                              <m:sSub>
                                <m:sSubPr>
                                  <m:ctrlPr>
                                    <a:rPr lang="en-US" sz="2400" i="1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sz="2400" i="1">
                                      <a:latin typeface="Cambria Math" panose="02040503050406030204" pitchFamily="18" charset="0"/>
                                    </a:rPr>
                                    <m:t>𝛼</m:t>
                                  </m:r>
                                </m:e>
                                <m:sub>
                                  <m:r>
                                    <a:rPr lang="en-US" sz="2400" i="1">
                                      <a:latin typeface="Cambria Math" panose="02040503050406030204" pitchFamily="18" charset="0"/>
                                    </a:rPr>
                                    <m:t>1</m:t>
                                  </m:r>
                                  <m:r>
                                    <a:rPr lang="en-US" sz="2400" b="0" i="1" smtClean="0">
                                      <a:latin typeface="Cambria Math" panose="02040503050406030204" pitchFamily="18" charset="0"/>
                                    </a:rPr>
                                    <m:t>,1</m:t>
                                  </m:r>
                                </m:sub>
                              </m:sSub>
                              <m:sSub>
                                <m:sSubPr>
                                  <m:ctrlPr>
                                    <a:rPr lang="en-US" sz="2400" i="1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sz="2400" i="1">
                                      <a:latin typeface="Cambria Math" panose="02040503050406030204" pitchFamily="18" charset="0"/>
                                    </a:rPr>
                                    <m:t>𝑦</m:t>
                                  </m:r>
                                </m:e>
                                <m:sub>
                                  <m:r>
                                    <a:rPr lang="en-US" sz="2400" i="1">
                                      <a:latin typeface="Cambria Math" panose="02040503050406030204" pitchFamily="18" charset="0"/>
                                    </a:rPr>
                                    <m:t>𝑛</m:t>
                                  </m:r>
                                  <m:r>
                                    <a:rPr lang="en-US" sz="2400" i="1">
                                      <a:latin typeface="Cambria Math" panose="02040503050406030204" pitchFamily="18" charset="0"/>
                                    </a:rPr>
                                    <m:t>−1,1</m:t>
                                  </m:r>
                                </m:sub>
                              </m:sSub>
                              <m:r>
                                <a:rPr lang="en-US" sz="2400" i="1" smtClean="0">
                                  <a:latin typeface="Cambria Math" panose="02040503050406030204" pitchFamily="18" charset="0"/>
                                </a:rPr>
                                <m:t>+</m:t>
                              </m:r>
                              <m:r>
                                <a:rPr lang="en-US" sz="2400" b="0" i="1" smtClean="0">
                                  <a:latin typeface="Cambria Math" panose="02040503050406030204" pitchFamily="18" charset="0"/>
                                </a:rPr>
                                <m:t>…+</m:t>
                              </m:r>
                              <m:sSub>
                                <m:sSubPr>
                                  <m:ctrlPr>
                                    <a:rPr lang="en-US" sz="2400" i="1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sz="2400" i="1">
                                      <a:latin typeface="Cambria Math" panose="02040503050406030204" pitchFamily="18" charset="0"/>
                                    </a:rPr>
                                    <m:t>𝛼</m:t>
                                  </m:r>
                                </m:e>
                                <m:sub>
                                  <m:r>
                                    <a:rPr lang="en-US" sz="2400" b="0" i="1" smtClean="0">
                                      <a:latin typeface="Cambria Math" panose="02040503050406030204" pitchFamily="18" charset="0"/>
                                    </a:rPr>
                                    <m:t>𝑝</m:t>
                                  </m:r>
                                  <m:r>
                                    <a:rPr lang="en-US" sz="2400" b="0" i="1" smtClean="0">
                                      <a:latin typeface="Cambria Math" panose="02040503050406030204" pitchFamily="18" charset="0"/>
                                    </a:rPr>
                                    <m:t>,1</m:t>
                                  </m:r>
                                </m:sub>
                              </m:sSub>
                              <m:sSub>
                                <m:sSubPr>
                                  <m:ctrlPr>
                                    <a:rPr lang="en-US" sz="2400" i="1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sz="2400" i="1">
                                      <a:latin typeface="Cambria Math" panose="02040503050406030204" pitchFamily="18" charset="0"/>
                                    </a:rPr>
                                    <m:t>𝑦</m:t>
                                  </m:r>
                                </m:e>
                                <m:sub>
                                  <m:r>
                                    <a:rPr lang="en-US" sz="2400" i="1">
                                      <a:latin typeface="Cambria Math" panose="02040503050406030204" pitchFamily="18" charset="0"/>
                                    </a:rPr>
                                    <m:t>𝑛</m:t>
                                  </m:r>
                                  <m:r>
                                    <a:rPr lang="en-US" sz="2400" i="1">
                                      <a:latin typeface="Cambria Math" panose="02040503050406030204" pitchFamily="18" charset="0"/>
                                    </a:rPr>
                                    <m:t>−</m:t>
                                  </m:r>
                                  <m:r>
                                    <a:rPr lang="en-US" sz="2400" b="0" i="1" smtClean="0">
                                      <a:latin typeface="Cambria Math" panose="02040503050406030204" pitchFamily="18" charset="0"/>
                                    </a:rPr>
                                    <m:t>𝑝</m:t>
                                  </m:r>
                                  <m:r>
                                    <a:rPr lang="en-US" sz="2400" i="1">
                                      <a:latin typeface="Cambria Math" panose="02040503050406030204" pitchFamily="18" charset="0"/>
                                    </a:rPr>
                                    <m:t>,1</m:t>
                                  </m:r>
                                </m:sub>
                              </m:sSub>
                            </m:e>
                            <m:e>
                              <m:sSub>
                                <m:sSubPr>
                                  <m:ctrlPr>
                                    <a:rPr lang="en-US" sz="2400" i="1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acc>
                                    <m:accPr>
                                      <m:chr m:val="̂"/>
                                      <m:ctrlPr>
                                        <a:rPr lang="en-US" sz="2400" i="1">
                                          <a:latin typeface="Cambria Math" panose="02040503050406030204" pitchFamily="18" charset="0"/>
                                        </a:rPr>
                                      </m:ctrlPr>
                                    </m:accPr>
                                    <m:e>
                                      <m:r>
                                        <a:rPr lang="en-US" sz="2400" i="1">
                                          <a:latin typeface="Cambria Math" panose="02040503050406030204" pitchFamily="18" charset="0"/>
                                        </a:rPr>
                                        <m:t>𝑦</m:t>
                                      </m:r>
                                    </m:e>
                                  </m:acc>
                                </m:e>
                                <m:sub>
                                  <m:r>
                                    <a:rPr lang="en-US" sz="2400" i="1">
                                      <a:latin typeface="Cambria Math" panose="02040503050406030204" pitchFamily="18" charset="0"/>
                                    </a:rPr>
                                    <m:t>𝑛</m:t>
                                  </m:r>
                                  <m:r>
                                    <a:rPr lang="ru-RU" sz="2400" i="1">
                                      <a:latin typeface="Cambria Math" panose="02040503050406030204" pitchFamily="18" charset="0"/>
                                    </a:rPr>
                                    <m:t>+1</m:t>
                                  </m:r>
                                  <m:r>
                                    <a:rPr lang="en-US" sz="2400" i="1">
                                      <a:latin typeface="Cambria Math" panose="02040503050406030204" pitchFamily="18" charset="0"/>
                                    </a:rPr>
                                    <m:t>,</m:t>
                                  </m:r>
                                  <m:r>
                                    <a:rPr lang="en-US" sz="2400" b="0" i="1" smtClean="0">
                                      <a:latin typeface="Cambria Math" panose="02040503050406030204" pitchFamily="18" charset="0"/>
                                    </a:rPr>
                                    <m:t>2</m:t>
                                  </m:r>
                                </m:sub>
                              </m:sSub>
                              <m:r>
                                <a:rPr lang="en-US" sz="2400" i="1">
                                  <a:latin typeface="Cambria Math" panose="02040503050406030204" pitchFamily="18" charset="0"/>
                                </a:rPr>
                                <m:t>=</m:t>
                              </m:r>
                              <m:sSub>
                                <m:sSubPr>
                                  <m:ctrlPr>
                                    <a:rPr lang="en-US" sz="2400" i="1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sz="2400" i="1">
                                      <a:latin typeface="Cambria Math" panose="02040503050406030204" pitchFamily="18" charset="0"/>
                                    </a:rPr>
                                    <m:t>𝛼</m:t>
                                  </m:r>
                                </m:e>
                                <m:sub>
                                  <m:r>
                                    <a:rPr lang="ru-RU" sz="2400" i="1">
                                      <a:latin typeface="Cambria Math" panose="02040503050406030204" pitchFamily="18" charset="0"/>
                                    </a:rPr>
                                    <m:t>0</m:t>
                                  </m:r>
                                  <m:r>
                                    <a:rPr lang="en-US" sz="2400" i="1">
                                      <a:latin typeface="Cambria Math" panose="02040503050406030204" pitchFamily="18" charset="0"/>
                                    </a:rPr>
                                    <m:t>,</m:t>
                                  </m:r>
                                  <m:r>
                                    <a:rPr lang="en-US" sz="2400" b="0" i="1" smtClean="0">
                                      <a:latin typeface="Cambria Math" panose="02040503050406030204" pitchFamily="18" charset="0"/>
                                    </a:rPr>
                                    <m:t>2</m:t>
                                  </m:r>
                                </m:sub>
                              </m:sSub>
                              <m:sSub>
                                <m:sSubPr>
                                  <m:ctrlPr>
                                    <a:rPr lang="en-US" sz="2400" i="1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sz="2400" i="1">
                                      <a:latin typeface="Cambria Math" panose="02040503050406030204" pitchFamily="18" charset="0"/>
                                    </a:rPr>
                                    <m:t>𝑦</m:t>
                                  </m:r>
                                </m:e>
                                <m:sub>
                                  <m:r>
                                    <a:rPr lang="en-US" sz="2400" i="1">
                                      <a:latin typeface="Cambria Math" panose="02040503050406030204" pitchFamily="18" charset="0"/>
                                    </a:rPr>
                                    <m:t>𝑛</m:t>
                                  </m:r>
                                  <m:r>
                                    <a:rPr lang="en-US" sz="2400" i="1">
                                      <a:latin typeface="Cambria Math" panose="02040503050406030204" pitchFamily="18" charset="0"/>
                                    </a:rPr>
                                    <m:t>,2</m:t>
                                  </m:r>
                                </m:sub>
                              </m:sSub>
                              <m:r>
                                <a:rPr lang="en-US" sz="2400" i="1">
                                  <a:latin typeface="Cambria Math" panose="02040503050406030204" pitchFamily="18" charset="0"/>
                                </a:rPr>
                                <m:t>+</m:t>
                              </m:r>
                              <m:sSub>
                                <m:sSubPr>
                                  <m:ctrlPr>
                                    <a:rPr lang="en-US" sz="2400" i="1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sz="2400" i="1">
                                      <a:latin typeface="Cambria Math" panose="02040503050406030204" pitchFamily="18" charset="0"/>
                                    </a:rPr>
                                    <m:t>𝛼</m:t>
                                  </m:r>
                                </m:e>
                                <m:sub>
                                  <m:r>
                                    <a:rPr lang="en-US" sz="2400" i="1">
                                      <a:latin typeface="Cambria Math" panose="02040503050406030204" pitchFamily="18" charset="0"/>
                                    </a:rPr>
                                    <m:t>1,</m:t>
                                  </m:r>
                                  <m:r>
                                    <a:rPr lang="en-US" sz="2400" b="0" i="1" smtClean="0">
                                      <a:latin typeface="Cambria Math" panose="02040503050406030204" pitchFamily="18" charset="0"/>
                                    </a:rPr>
                                    <m:t>2</m:t>
                                  </m:r>
                                </m:sub>
                              </m:sSub>
                              <m:sSub>
                                <m:sSubPr>
                                  <m:ctrlPr>
                                    <a:rPr lang="en-US" sz="2400" i="1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sz="2400" i="1">
                                      <a:latin typeface="Cambria Math" panose="02040503050406030204" pitchFamily="18" charset="0"/>
                                    </a:rPr>
                                    <m:t>𝑦</m:t>
                                  </m:r>
                                </m:e>
                                <m:sub>
                                  <m:r>
                                    <a:rPr lang="en-US" sz="2400" i="1">
                                      <a:latin typeface="Cambria Math" panose="02040503050406030204" pitchFamily="18" charset="0"/>
                                    </a:rPr>
                                    <m:t>𝑛</m:t>
                                  </m:r>
                                  <m:r>
                                    <a:rPr lang="en-US" sz="2400" i="1">
                                      <a:latin typeface="Cambria Math" panose="02040503050406030204" pitchFamily="18" charset="0"/>
                                    </a:rPr>
                                    <m:t>−1,2</m:t>
                                  </m:r>
                                </m:sub>
                              </m:sSub>
                              <m:r>
                                <a:rPr lang="en-US" sz="2400" i="1">
                                  <a:latin typeface="Cambria Math" panose="02040503050406030204" pitchFamily="18" charset="0"/>
                                </a:rPr>
                                <m:t>+…+</m:t>
                              </m:r>
                              <m:sSub>
                                <m:sSubPr>
                                  <m:ctrlPr>
                                    <a:rPr lang="en-US" sz="2400" i="1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sz="2400" i="1">
                                      <a:latin typeface="Cambria Math" panose="02040503050406030204" pitchFamily="18" charset="0"/>
                                    </a:rPr>
                                    <m:t>𝛼</m:t>
                                  </m:r>
                                </m:e>
                                <m:sub>
                                  <m:r>
                                    <a:rPr lang="en-US" sz="2400" b="0" i="1" smtClean="0">
                                      <a:latin typeface="Cambria Math" panose="02040503050406030204" pitchFamily="18" charset="0"/>
                                    </a:rPr>
                                    <m:t>𝑝</m:t>
                                  </m:r>
                                  <m:r>
                                    <a:rPr lang="en-US" sz="2400" i="1">
                                      <a:latin typeface="Cambria Math" panose="02040503050406030204" pitchFamily="18" charset="0"/>
                                    </a:rPr>
                                    <m:t>,</m:t>
                                  </m:r>
                                  <m:r>
                                    <a:rPr lang="en-US" sz="2400" b="0" i="1" smtClean="0">
                                      <a:latin typeface="Cambria Math" panose="02040503050406030204" pitchFamily="18" charset="0"/>
                                    </a:rPr>
                                    <m:t>2</m:t>
                                  </m:r>
                                </m:sub>
                              </m:sSub>
                              <m:sSub>
                                <m:sSubPr>
                                  <m:ctrlPr>
                                    <a:rPr lang="en-US" sz="2400" i="1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sz="2400" i="1">
                                      <a:latin typeface="Cambria Math" panose="02040503050406030204" pitchFamily="18" charset="0"/>
                                    </a:rPr>
                                    <m:t>𝑦</m:t>
                                  </m:r>
                                </m:e>
                                <m:sub>
                                  <m:r>
                                    <a:rPr lang="en-US" sz="2400" i="1">
                                      <a:latin typeface="Cambria Math" panose="02040503050406030204" pitchFamily="18" charset="0"/>
                                    </a:rPr>
                                    <m:t>𝑛</m:t>
                                  </m:r>
                                  <m:r>
                                    <a:rPr lang="en-US" sz="2400" i="1">
                                      <a:latin typeface="Cambria Math" panose="02040503050406030204" pitchFamily="18" charset="0"/>
                                    </a:rPr>
                                    <m:t>−</m:t>
                                  </m:r>
                                  <m:r>
                                    <a:rPr lang="en-US" sz="2400" b="0" i="1" smtClean="0">
                                      <a:latin typeface="Cambria Math" panose="02040503050406030204" pitchFamily="18" charset="0"/>
                                    </a:rPr>
                                    <m:t>𝑝</m:t>
                                  </m:r>
                                  <m:r>
                                    <a:rPr lang="en-US" sz="2400" i="1">
                                      <a:latin typeface="Cambria Math" panose="02040503050406030204" pitchFamily="18" charset="0"/>
                                    </a:rPr>
                                    <m:t>,2</m:t>
                                  </m:r>
                                </m:sub>
                              </m:sSub>
                            </m:e>
                            <m:e>
                              <m:r>
                                <a:rPr lang="en-US" sz="2400" b="0" i="1" smtClean="0">
                                  <a:latin typeface="Cambria Math" panose="02040503050406030204" pitchFamily="18" charset="0"/>
                                </a:rPr>
                                <m:t>…</m:t>
                              </m:r>
                            </m:e>
                            <m:e>
                              <m:sSub>
                                <m:sSubPr>
                                  <m:ctrlPr>
                                    <a:rPr lang="en-US" sz="2400" i="1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acc>
                                    <m:accPr>
                                      <m:chr m:val="̂"/>
                                      <m:ctrlPr>
                                        <a:rPr lang="en-US" sz="2400" i="1">
                                          <a:latin typeface="Cambria Math" panose="02040503050406030204" pitchFamily="18" charset="0"/>
                                        </a:rPr>
                                      </m:ctrlPr>
                                    </m:accPr>
                                    <m:e>
                                      <m:r>
                                        <a:rPr lang="en-US" sz="2400" i="1">
                                          <a:latin typeface="Cambria Math" panose="02040503050406030204" pitchFamily="18" charset="0"/>
                                        </a:rPr>
                                        <m:t>𝑦</m:t>
                                      </m:r>
                                    </m:e>
                                  </m:acc>
                                </m:e>
                                <m:sub>
                                  <m:r>
                                    <a:rPr lang="en-US" sz="2400" i="1">
                                      <a:latin typeface="Cambria Math" panose="02040503050406030204" pitchFamily="18" charset="0"/>
                                    </a:rPr>
                                    <m:t>𝑛</m:t>
                                  </m:r>
                                  <m:r>
                                    <a:rPr lang="ru-RU" sz="2400" i="1">
                                      <a:latin typeface="Cambria Math" panose="02040503050406030204" pitchFamily="18" charset="0"/>
                                    </a:rPr>
                                    <m:t>+1</m:t>
                                  </m:r>
                                  <m:r>
                                    <a:rPr lang="en-US" sz="2400" i="1">
                                      <a:latin typeface="Cambria Math" panose="02040503050406030204" pitchFamily="18" charset="0"/>
                                    </a:rPr>
                                    <m:t>,</m:t>
                                  </m:r>
                                  <m:r>
                                    <a:rPr lang="en-US" sz="2400" b="0" i="1" smtClean="0">
                                      <a:latin typeface="Cambria Math" panose="02040503050406030204" pitchFamily="18" charset="0"/>
                                    </a:rPr>
                                    <m:t>𝑚</m:t>
                                  </m:r>
                                </m:sub>
                              </m:sSub>
                              <m:r>
                                <a:rPr lang="en-US" sz="2400" i="1">
                                  <a:latin typeface="Cambria Math" panose="02040503050406030204" pitchFamily="18" charset="0"/>
                                </a:rPr>
                                <m:t>=</m:t>
                              </m:r>
                              <m:sSub>
                                <m:sSubPr>
                                  <m:ctrlPr>
                                    <a:rPr lang="en-US" sz="2400" i="1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sz="2400" i="1">
                                      <a:latin typeface="Cambria Math" panose="02040503050406030204" pitchFamily="18" charset="0"/>
                                    </a:rPr>
                                    <m:t>𝛼</m:t>
                                  </m:r>
                                </m:e>
                                <m:sub>
                                  <m:r>
                                    <a:rPr lang="ru-RU" sz="2400" i="1">
                                      <a:latin typeface="Cambria Math" panose="02040503050406030204" pitchFamily="18" charset="0"/>
                                    </a:rPr>
                                    <m:t>0</m:t>
                                  </m:r>
                                  <m:r>
                                    <a:rPr lang="en-US" sz="2400" i="1">
                                      <a:latin typeface="Cambria Math" panose="02040503050406030204" pitchFamily="18" charset="0"/>
                                    </a:rPr>
                                    <m:t>,</m:t>
                                  </m:r>
                                  <m:r>
                                    <a:rPr lang="en-US" sz="2400" b="0" i="1" smtClean="0">
                                      <a:latin typeface="Cambria Math" panose="02040503050406030204" pitchFamily="18" charset="0"/>
                                    </a:rPr>
                                    <m:t>𝑚</m:t>
                                  </m:r>
                                </m:sub>
                              </m:sSub>
                              <m:sSub>
                                <m:sSubPr>
                                  <m:ctrlPr>
                                    <a:rPr lang="en-US" sz="2400" i="1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sz="2400" i="1">
                                      <a:latin typeface="Cambria Math" panose="02040503050406030204" pitchFamily="18" charset="0"/>
                                    </a:rPr>
                                    <m:t>𝑦</m:t>
                                  </m:r>
                                </m:e>
                                <m:sub>
                                  <m:r>
                                    <a:rPr lang="en-US" sz="2400" i="1">
                                      <a:latin typeface="Cambria Math" panose="02040503050406030204" pitchFamily="18" charset="0"/>
                                    </a:rPr>
                                    <m:t>𝑛</m:t>
                                  </m:r>
                                  <m:r>
                                    <a:rPr lang="en-US" sz="2400" i="1">
                                      <a:latin typeface="Cambria Math" panose="02040503050406030204" pitchFamily="18" charset="0"/>
                                    </a:rPr>
                                    <m:t>,</m:t>
                                  </m:r>
                                  <m:r>
                                    <a:rPr lang="en-US" sz="2400" b="0" i="1" smtClean="0">
                                      <a:latin typeface="Cambria Math" panose="02040503050406030204" pitchFamily="18" charset="0"/>
                                    </a:rPr>
                                    <m:t>𝑚</m:t>
                                  </m:r>
                                </m:sub>
                              </m:sSub>
                              <m:r>
                                <a:rPr lang="en-US" sz="2400" i="1">
                                  <a:latin typeface="Cambria Math" panose="02040503050406030204" pitchFamily="18" charset="0"/>
                                </a:rPr>
                                <m:t>+</m:t>
                              </m:r>
                              <m:sSub>
                                <m:sSubPr>
                                  <m:ctrlPr>
                                    <a:rPr lang="en-US" sz="2400" i="1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sz="2400" i="1">
                                      <a:latin typeface="Cambria Math" panose="02040503050406030204" pitchFamily="18" charset="0"/>
                                    </a:rPr>
                                    <m:t>𝛼</m:t>
                                  </m:r>
                                </m:e>
                                <m:sub>
                                  <m:r>
                                    <a:rPr lang="en-US" sz="2400" i="1">
                                      <a:latin typeface="Cambria Math" panose="02040503050406030204" pitchFamily="18" charset="0"/>
                                    </a:rPr>
                                    <m:t>1,</m:t>
                                  </m:r>
                                  <m:r>
                                    <a:rPr lang="en-US" sz="2400" b="0" i="1" smtClean="0">
                                      <a:latin typeface="Cambria Math" panose="02040503050406030204" pitchFamily="18" charset="0"/>
                                    </a:rPr>
                                    <m:t>𝑚</m:t>
                                  </m:r>
                                </m:sub>
                              </m:sSub>
                              <m:sSub>
                                <m:sSubPr>
                                  <m:ctrlPr>
                                    <a:rPr lang="en-US" sz="2400" i="1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sz="2400" i="1">
                                      <a:latin typeface="Cambria Math" panose="02040503050406030204" pitchFamily="18" charset="0"/>
                                    </a:rPr>
                                    <m:t>𝑦</m:t>
                                  </m:r>
                                </m:e>
                                <m:sub>
                                  <m:r>
                                    <a:rPr lang="en-US" sz="2400" i="1">
                                      <a:latin typeface="Cambria Math" panose="02040503050406030204" pitchFamily="18" charset="0"/>
                                    </a:rPr>
                                    <m:t>𝑛</m:t>
                                  </m:r>
                                  <m:r>
                                    <a:rPr lang="en-US" sz="2400" i="1">
                                      <a:latin typeface="Cambria Math" panose="02040503050406030204" pitchFamily="18" charset="0"/>
                                    </a:rPr>
                                    <m:t>−1,</m:t>
                                  </m:r>
                                  <m:r>
                                    <a:rPr lang="en-US" sz="2400" b="0" i="1" smtClean="0">
                                      <a:latin typeface="Cambria Math" panose="02040503050406030204" pitchFamily="18" charset="0"/>
                                    </a:rPr>
                                    <m:t>𝑚</m:t>
                                  </m:r>
                                </m:sub>
                              </m:sSub>
                              <m:r>
                                <a:rPr lang="en-US" sz="2400" i="1">
                                  <a:latin typeface="Cambria Math" panose="02040503050406030204" pitchFamily="18" charset="0"/>
                                </a:rPr>
                                <m:t>+…+</m:t>
                              </m:r>
                              <m:sSub>
                                <m:sSubPr>
                                  <m:ctrlPr>
                                    <a:rPr lang="en-US" sz="2400" i="1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sz="2400" i="1">
                                      <a:latin typeface="Cambria Math" panose="02040503050406030204" pitchFamily="18" charset="0"/>
                                    </a:rPr>
                                    <m:t>𝛼</m:t>
                                  </m:r>
                                </m:e>
                                <m:sub>
                                  <m:r>
                                    <a:rPr lang="en-US" sz="2400" b="0" i="1" smtClean="0">
                                      <a:latin typeface="Cambria Math" panose="02040503050406030204" pitchFamily="18" charset="0"/>
                                    </a:rPr>
                                    <m:t>𝑝</m:t>
                                  </m:r>
                                  <m:r>
                                    <a:rPr lang="en-US" sz="2400" i="1">
                                      <a:latin typeface="Cambria Math" panose="02040503050406030204" pitchFamily="18" charset="0"/>
                                    </a:rPr>
                                    <m:t>,</m:t>
                                  </m:r>
                                  <m:r>
                                    <a:rPr lang="en-US" sz="2400" b="0" i="1" smtClean="0">
                                      <a:latin typeface="Cambria Math" panose="02040503050406030204" pitchFamily="18" charset="0"/>
                                    </a:rPr>
                                    <m:t>𝑚</m:t>
                                  </m:r>
                                </m:sub>
                              </m:sSub>
                              <m:sSub>
                                <m:sSubPr>
                                  <m:ctrlPr>
                                    <a:rPr lang="en-US" sz="2400" i="1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sz="2400" i="1">
                                      <a:latin typeface="Cambria Math" panose="02040503050406030204" pitchFamily="18" charset="0"/>
                                    </a:rPr>
                                    <m:t>𝑦</m:t>
                                  </m:r>
                                </m:e>
                                <m:sub>
                                  <m:r>
                                    <a:rPr lang="en-US" sz="2400" i="1">
                                      <a:latin typeface="Cambria Math" panose="02040503050406030204" pitchFamily="18" charset="0"/>
                                    </a:rPr>
                                    <m:t>𝑛</m:t>
                                  </m:r>
                                  <m:r>
                                    <a:rPr lang="en-US" sz="2400" i="1">
                                      <a:latin typeface="Cambria Math" panose="02040503050406030204" pitchFamily="18" charset="0"/>
                                    </a:rPr>
                                    <m:t>−</m:t>
                                  </m:r>
                                  <m:r>
                                    <a:rPr lang="en-US" sz="2400" b="0" i="1" smtClean="0">
                                      <a:latin typeface="Cambria Math" panose="02040503050406030204" pitchFamily="18" charset="0"/>
                                    </a:rPr>
                                    <m:t>𝑝</m:t>
                                  </m:r>
                                  <m:r>
                                    <a:rPr lang="en-US" sz="2400" i="1">
                                      <a:latin typeface="Cambria Math" panose="02040503050406030204" pitchFamily="18" charset="0"/>
                                    </a:rPr>
                                    <m:t>,</m:t>
                                  </m:r>
                                  <m:r>
                                    <a:rPr lang="en-US" sz="2400" b="0" i="1" smtClean="0">
                                      <a:latin typeface="Cambria Math" panose="02040503050406030204" pitchFamily="18" charset="0"/>
                                    </a:rPr>
                                    <m:t>𝑚</m:t>
                                  </m:r>
                                </m:sub>
                              </m:sSub>
                            </m:e>
                          </m:eqArr>
                        </m:e>
                      </m:d>
                    </m:oMath>
                  </m:oMathPara>
                </a14:m>
                <a:endParaRPr lang="en-US" sz="2400" dirty="0"/>
              </a:p>
              <a:p>
                <a:pPr marL="0" indent="0">
                  <a:lnSpc>
                    <a:spcPct val="100000"/>
                  </a:lnSpc>
                  <a:spcBef>
                    <a:spcPts val="0"/>
                  </a:spcBef>
                  <a:buNone/>
                </a:pPr>
                <a:r>
                  <a:rPr lang="ru-RU" sz="2400" dirty="0"/>
                  <a:t>Где </a:t>
                </a:r>
                <a14:m>
                  <m:oMath xmlns:m="http://schemas.openxmlformats.org/officeDocument/2006/math">
                    <m:r>
                      <a:rPr lang="en-US" sz="2400" i="1" dirty="0" smtClean="0">
                        <a:latin typeface="Cambria Math" panose="02040503050406030204" pitchFamily="18" charset="0"/>
                      </a:rPr>
                      <m:t>𝑚</m:t>
                    </m:r>
                    <m:r>
                      <a:rPr lang="en-US" sz="2400" b="0" i="1" dirty="0" smtClean="0">
                        <a:latin typeface="Cambria Math" panose="02040503050406030204" pitchFamily="18" charset="0"/>
                      </a:rPr>
                      <m:t>−</m:t>
                    </m:r>
                  </m:oMath>
                </a14:m>
                <a:r>
                  <a:rPr lang="ru-RU" sz="2400" b="0" i="0" dirty="0">
                    <a:latin typeface="+mj-lt"/>
                  </a:rPr>
                  <a:t>число ВР.</a:t>
                </a:r>
              </a:p>
              <a:p>
                <a:pPr marL="0" indent="0">
                  <a:lnSpc>
                    <a:spcPct val="100000"/>
                  </a:lnSpc>
                  <a:spcBef>
                    <a:spcPts val="0"/>
                  </a:spcBef>
                  <a:buNone/>
                </a:pPr>
                <a:r>
                  <a:rPr lang="ru-RU" sz="2400" dirty="0">
                    <a:latin typeface="+mj-lt"/>
                  </a:rPr>
                  <a:t>Или в матричной форме</a:t>
                </a:r>
              </a:p>
              <a:p>
                <a:pPr marL="0" indent="0">
                  <a:lnSpc>
                    <a:spcPct val="100000"/>
                  </a:lnSpc>
                  <a:spcBef>
                    <a:spcPts val="0"/>
                  </a:spcBef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sz="2400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acc>
                            <m:accPr>
                              <m:chr m:val="̂"/>
                              <m:ctrlPr>
                                <a:rPr lang="en-US" sz="2400" i="1">
                                  <a:latin typeface="Cambria Math" panose="02040503050406030204" pitchFamily="18" charset="0"/>
                                </a:rPr>
                              </m:ctrlPr>
                            </m:accPr>
                            <m:e>
                              <m:r>
                                <a:rPr lang="en-US" sz="2400" b="0" i="1" smtClean="0">
                                  <a:latin typeface="Cambria Math" panose="02040503050406030204" pitchFamily="18" charset="0"/>
                                </a:rPr>
                                <m:t>𝑌</m:t>
                              </m:r>
                            </m:e>
                          </m:acc>
                        </m:e>
                        <m:sub>
                          <m:r>
                            <a:rPr lang="en-US" sz="2400" i="1">
                              <a:latin typeface="Cambria Math" panose="02040503050406030204" pitchFamily="18" charset="0"/>
                            </a:rPr>
                            <m:t>𝑛</m:t>
                          </m:r>
                          <m:r>
                            <a:rPr lang="ru-RU" sz="2400" i="1">
                              <a:latin typeface="Cambria Math" panose="02040503050406030204" pitchFamily="18" charset="0"/>
                            </a:rPr>
                            <m:t>+1</m:t>
                          </m:r>
                        </m:sub>
                      </m:sSub>
                      <m:r>
                        <a:rPr lang="en-US" sz="2400" i="1">
                          <a:latin typeface="Cambria Math" panose="02040503050406030204" pitchFamily="18" charset="0"/>
                        </a:rPr>
                        <m:t>=</m:t>
                      </m:r>
                      <m:sSub>
                        <m:sSubPr>
                          <m:ctrlPr>
                            <a:rPr lang="en-US" sz="2400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2400" b="0" i="1" smtClean="0">
                              <a:latin typeface="Cambria Math" panose="02040503050406030204" pitchFamily="18" charset="0"/>
                            </a:rPr>
                            <m:t>𝐴</m:t>
                          </m:r>
                        </m:e>
                        <m:sub>
                          <m:r>
                            <a:rPr lang="ru-RU" sz="2400" i="1">
                              <a:latin typeface="Cambria Math" panose="02040503050406030204" pitchFamily="18" charset="0"/>
                            </a:rPr>
                            <m:t>0</m:t>
                          </m:r>
                        </m:sub>
                      </m:sSub>
                      <m:sSub>
                        <m:sSubPr>
                          <m:ctrlPr>
                            <a:rPr lang="en-US" sz="2400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2400" b="0" i="1" smtClean="0">
                              <a:latin typeface="Cambria Math" panose="02040503050406030204" pitchFamily="18" charset="0"/>
                            </a:rPr>
                            <m:t>𝑌</m:t>
                          </m:r>
                        </m:e>
                        <m:sub>
                          <m:r>
                            <a:rPr lang="en-US" sz="2400" i="1">
                              <a:latin typeface="Cambria Math" panose="02040503050406030204" pitchFamily="18" charset="0"/>
                            </a:rPr>
                            <m:t>𝑛</m:t>
                          </m:r>
                        </m:sub>
                      </m:sSub>
                      <m:r>
                        <a:rPr lang="en-US" sz="2400" i="1">
                          <a:latin typeface="Cambria Math" panose="02040503050406030204" pitchFamily="18" charset="0"/>
                        </a:rPr>
                        <m:t>+</m:t>
                      </m:r>
                      <m:sSub>
                        <m:sSubPr>
                          <m:ctrlPr>
                            <a:rPr lang="en-US" sz="2400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2400" b="0" i="1" smtClean="0">
                              <a:latin typeface="Cambria Math" panose="02040503050406030204" pitchFamily="18" charset="0"/>
                            </a:rPr>
                            <m:t>𝐴</m:t>
                          </m:r>
                        </m:e>
                        <m:sub>
                          <m:r>
                            <a:rPr lang="en-US" sz="2400" i="1">
                              <a:latin typeface="Cambria Math" panose="02040503050406030204" pitchFamily="18" charset="0"/>
                            </a:rPr>
                            <m:t>1</m:t>
                          </m:r>
                        </m:sub>
                      </m:sSub>
                      <m:sSub>
                        <m:sSubPr>
                          <m:ctrlPr>
                            <a:rPr lang="en-US" sz="2400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2400" b="0" i="1" smtClean="0">
                              <a:latin typeface="Cambria Math" panose="02040503050406030204" pitchFamily="18" charset="0"/>
                            </a:rPr>
                            <m:t>𝑌</m:t>
                          </m:r>
                        </m:e>
                        <m:sub>
                          <m:r>
                            <a:rPr lang="en-US" sz="2400" i="1">
                              <a:latin typeface="Cambria Math" panose="02040503050406030204" pitchFamily="18" charset="0"/>
                            </a:rPr>
                            <m:t>𝑛</m:t>
                          </m:r>
                          <m:r>
                            <a:rPr lang="en-US" sz="2400" i="1">
                              <a:latin typeface="Cambria Math" panose="02040503050406030204" pitchFamily="18" charset="0"/>
                            </a:rPr>
                            <m:t>−1</m:t>
                          </m:r>
                        </m:sub>
                      </m:sSub>
                      <m:r>
                        <a:rPr lang="en-US" sz="2400" i="1">
                          <a:latin typeface="Cambria Math" panose="02040503050406030204" pitchFamily="18" charset="0"/>
                        </a:rPr>
                        <m:t>+</m:t>
                      </m:r>
                      <m:sSub>
                        <m:sSubPr>
                          <m:ctrlPr>
                            <a:rPr lang="en-US" sz="2400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2400" b="0" i="1" smtClean="0">
                              <a:latin typeface="Cambria Math" panose="02040503050406030204" pitchFamily="18" charset="0"/>
                            </a:rPr>
                            <m:t>𝐴</m:t>
                          </m:r>
                        </m:e>
                        <m:sub>
                          <m:r>
                            <a:rPr lang="en-US" sz="2400" i="1">
                              <a:latin typeface="Cambria Math" panose="02040503050406030204" pitchFamily="18" charset="0"/>
                            </a:rPr>
                            <m:t>2</m:t>
                          </m:r>
                        </m:sub>
                      </m:sSub>
                      <m:sSub>
                        <m:sSubPr>
                          <m:ctrlPr>
                            <a:rPr lang="en-US" sz="2400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2400" b="0" i="1" smtClean="0">
                              <a:latin typeface="Cambria Math" panose="02040503050406030204" pitchFamily="18" charset="0"/>
                            </a:rPr>
                            <m:t>𝑌</m:t>
                          </m:r>
                        </m:e>
                        <m:sub>
                          <m:r>
                            <a:rPr lang="en-US" sz="2400" i="1">
                              <a:latin typeface="Cambria Math" panose="02040503050406030204" pitchFamily="18" charset="0"/>
                            </a:rPr>
                            <m:t>𝑛</m:t>
                          </m:r>
                          <m:r>
                            <a:rPr lang="en-US" sz="2400" i="1">
                              <a:latin typeface="Cambria Math" panose="02040503050406030204" pitchFamily="18" charset="0"/>
                            </a:rPr>
                            <m:t>−2</m:t>
                          </m:r>
                        </m:sub>
                      </m:sSub>
                      <m:r>
                        <a:rPr lang="en-US" sz="2400" i="1">
                          <a:latin typeface="Cambria Math" panose="02040503050406030204" pitchFamily="18" charset="0"/>
                        </a:rPr>
                        <m:t>+...=</m:t>
                      </m:r>
                      <m:nary>
                        <m:naryPr>
                          <m:chr m:val="∑"/>
                          <m:limLoc m:val="undOvr"/>
                          <m:ctrlPr>
                            <a:rPr lang="en-US" sz="2400" i="1">
                              <a:latin typeface="Cambria Math" panose="02040503050406030204" pitchFamily="18" charset="0"/>
                            </a:rPr>
                          </m:ctrlPr>
                        </m:naryPr>
                        <m:sub>
                          <m:r>
                            <a:rPr lang="en-US" sz="2400" i="1">
                              <a:latin typeface="Cambria Math" panose="02040503050406030204" pitchFamily="18" charset="0"/>
                            </a:rPr>
                            <m:t>𝑖</m:t>
                          </m:r>
                          <m:r>
                            <a:rPr lang="en-US" sz="2400" i="1">
                              <a:latin typeface="Cambria Math" panose="02040503050406030204" pitchFamily="18" charset="0"/>
                            </a:rPr>
                            <m:t>=0</m:t>
                          </m:r>
                        </m:sub>
                        <m:sup>
                          <m:r>
                            <a:rPr lang="en-US" sz="2400" b="0" i="1" smtClean="0">
                              <a:latin typeface="Cambria Math" panose="02040503050406030204" pitchFamily="18" charset="0"/>
                            </a:rPr>
                            <m:t>𝑝</m:t>
                          </m:r>
                        </m:sup>
                        <m:e>
                          <m:sSub>
                            <m:sSubPr>
                              <m:ctrlPr>
                                <a:rPr lang="en-US" sz="2400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sz="2400" b="0" i="1" smtClean="0">
                                  <a:latin typeface="Cambria Math" panose="02040503050406030204" pitchFamily="18" charset="0"/>
                                </a:rPr>
                                <m:t>𝐴</m:t>
                              </m:r>
                            </m:e>
                            <m:sub>
                              <m:r>
                                <a:rPr lang="en-US" sz="2400" i="1">
                                  <a:latin typeface="Cambria Math" panose="02040503050406030204" pitchFamily="18" charset="0"/>
                                </a:rPr>
                                <m:t>𝑖</m:t>
                              </m:r>
                            </m:sub>
                          </m:sSub>
                        </m:e>
                      </m:nary>
                      <m:sSub>
                        <m:sSubPr>
                          <m:ctrlPr>
                            <a:rPr lang="en-US" sz="2400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2400" b="0" i="1" smtClean="0">
                              <a:latin typeface="Cambria Math" panose="02040503050406030204" pitchFamily="18" charset="0"/>
                            </a:rPr>
                            <m:t>𝑌</m:t>
                          </m:r>
                        </m:e>
                        <m:sub>
                          <m:r>
                            <a:rPr lang="en-US" sz="2400" i="1">
                              <a:latin typeface="Cambria Math" panose="02040503050406030204" pitchFamily="18" charset="0"/>
                            </a:rPr>
                            <m:t>𝑛</m:t>
                          </m:r>
                          <m:r>
                            <a:rPr lang="en-US" sz="2400" i="1">
                              <a:latin typeface="Cambria Math" panose="02040503050406030204" pitchFamily="18" charset="0"/>
                            </a:rPr>
                            <m:t>−</m:t>
                          </m:r>
                          <m:r>
                            <a:rPr lang="en-US" sz="2400" i="1">
                              <a:latin typeface="Cambria Math" panose="02040503050406030204" pitchFamily="18" charset="0"/>
                            </a:rPr>
                            <m:t>𝑖</m:t>
                          </m:r>
                        </m:sub>
                      </m:sSub>
                      <m:r>
                        <a:rPr lang="en-US" sz="2400" i="1">
                          <a:latin typeface="Cambria Math" panose="02040503050406030204" pitchFamily="18" charset="0"/>
                        </a:rPr>
                        <m:t>.</m:t>
                      </m:r>
                    </m:oMath>
                  </m:oMathPara>
                </a14:m>
                <a:endParaRPr lang="en-US" sz="2400" dirty="0"/>
              </a:p>
              <a:p>
                <a:pPr marL="0" indent="0">
                  <a:lnSpc>
                    <a:spcPct val="100000"/>
                  </a:lnSpc>
                  <a:spcBef>
                    <a:spcPts val="0"/>
                  </a:spcBef>
                  <a:buNone/>
                </a:pPr>
                <a:r>
                  <a:rPr lang="ru-RU" sz="2400" dirty="0"/>
                  <a:t>Где</a:t>
                </a:r>
                <a:r>
                  <a:rPr lang="en-US" sz="2400" dirty="0"/>
                  <a:t>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sz="24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400" i="1">
                            <a:latin typeface="Cambria Math" panose="02040503050406030204" pitchFamily="18" charset="0"/>
                          </a:rPr>
                          <m:t>𝑌</m:t>
                        </m:r>
                      </m:e>
                      <m:sub>
                        <m:r>
                          <a:rPr lang="en-US" sz="2400" i="1">
                            <a:latin typeface="Cambria Math" panose="02040503050406030204" pitchFamily="18" charset="0"/>
                          </a:rPr>
                          <m:t>𝑛</m:t>
                        </m:r>
                      </m:sub>
                    </m:sSub>
                    <m:r>
                      <a:rPr lang="en-US" sz="2400" b="0" i="1" smtClean="0">
                        <a:latin typeface="Cambria Math" panose="02040503050406030204" pitchFamily="18" charset="0"/>
                      </a:rPr>
                      <m:t>=</m:t>
                    </m:r>
                    <m:d>
                      <m:dPr>
                        <m:begChr m:val="{"/>
                        <m:endChr m:val="}"/>
                        <m:ctrlPr>
                          <a:rPr lang="en-US" sz="2400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sSub>
                          <m:sSubPr>
                            <m:ctrlPr>
                              <a:rPr lang="en-US" sz="2400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sz="2400" i="1">
                                <a:latin typeface="Cambria Math" panose="02040503050406030204" pitchFamily="18" charset="0"/>
                              </a:rPr>
                              <m:t>𝑦</m:t>
                            </m:r>
                          </m:e>
                          <m:sub>
                            <m:r>
                              <a:rPr lang="en-US" sz="2400" i="1">
                                <a:latin typeface="Cambria Math" panose="02040503050406030204" pitchFamily="18" charset="0"/>
                              </a:rPr>
                              <m:t>𝑛</m:t>
                            </m:r>
                            <m:r>
                              <a:rPr lang="en-US" sz="2400" i="1">
                                <a:latin typeface="Cambria Math" panose="02040503050406030204" pitchFamily="18" charset="0"/>
                              </a:rPr>
                              <m:t>,1</m:t>
                            </m:r>
                          </m:sub>
                        </m:sSub>
                        <m:r>
                          <a:rPr lang="en-US" sz="2400" b="0" i="1" smtClean="0">
                            <a:latin typeface="Cambria Math" panose="02040503050406030204" pitchFamily="18" charset="0"/>
                          </a:rPr>
                          <m:t>, …,</m:t>
                        </m:r>
                        <m:sSub>
                          <m:sSubPr>
                            <m:ctrlPr>
                              <a:rPr lang="en-US" sz="2400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sz="2400" i="1">
                                <a:latin typeface="Cambria Math" panose="02040503050406030204" pitchFamily="18" charset="0"/>
                              </a:rPr>
                              <m:t>𝑦</m:t>
                            </m:r>
                          </m:e>
                          <m:sub>
                            <m:r>
                              <a:rPr lang="en-US" sz="2400" i="1">
                                <a:latin typeface="Cambria Math" panose="02040503050406030204" pitchFamily="18" charset="0"/>
                              </a:rPr>
                              <m:t>𝑛</m:t>
                            </m:r>
                            <m:r>
                              <a:rPr lang="en-US" sz="2400" i="1">
                                <a:latin typeface="Cambria Math" panose="02040503050406030204" pitchFamily="18" charset="0"/>
                              </a:rPr>
                              <m:t>,</m:t>
                            </m:r>
                            <m:r>
                              <a:rPr lang="en-US" sz="2400" i="1">
                                <a:latin typeface="Cambria Math" panose="02040503050406030204" pitchFamily="18" charset="0"/>
                              </a:rPr>
                              <m:t>𝑚</m:t>
                            </m:r>
                          </m:sub>
                        </m:sSub>
                      </m:e>
                    </m:d>
                    <m:r>
                      <a:rPr lang="en-US" sz="2400" b="0" i="0" smtClean="0">
                        <a:latin typeface="Cambria Math" panose="02040503050406030204" pitchFamily="18" charset="0"/>
                      </a:rPr>
                      <m:t> </m:t>
                    </m:r>
                  </m:oMath>
                </a14:m>
                <a:r>
                  <a:rPr lang="en-US" sz="2400" b="0" i="0" dirty="0">
                    <a:latin typeface="+mj-lt"/>
                  </a:rPr>
                  <a:t>- </a:t>
                </a:r>
                <a:r>
                  <a:rPr lang="ru-RU" sz="2400" b="0" i="0" dirty="0">
                    <a:latin typeface="+mj-lt"/>
                  </a:rPr>
                  <a:t>вектор наблюдений в момент </a:t>
                </a:r>
                <a:r>
                  <a:rPr lang="en-US" sz="2400" b="0" i="0" dirty="0">
                    <a:latin typeface="+mj-lt"/>
                  </a:rPr>
                  <a:t>n;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sz="24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acc>
                          <m:accPr>
                            <m:chr m:val="̂"/>
                            <m:ctrlPr>
                              <a:rPr lang="en-US" sz="2400" i="1">
                                <a:latin typeface="Cambria Math" panose="02040503050406030204" pitchFamily="18" charset="0"/>
                              </a:rPr>
                            </m:ctrlPr>
                          </m:accPr>
                          <m:e>
                            <m:r>
                              <a:rPr lang="en-US" sz="2400" i="1">
                                <a:latin typeface="Cambria Math" panose="02040503050406030204" pitchFamily="18" charset="0"/>
                              </a:rPr>
                              <m:t>𝑌</m:t>
                            </m:r>
                          </m:e>
                        </m:acc>
                      </m:e>
                      <m:sub>
                        <m:r>
                          <a:rPr lang="en-US" sz="2400" i="1">
                            <a:latin typeface="Cambria Math" panose="02040503050406030204" pitchFamily="18" charset="0"/>
                          </a:rPr>
                          <m:t>𝑛</m:t>
                        </m:r>
                        <m:r>
                          <a:rPr lang="ru-RU" sz="2400" i="1">
                            <a:latin typeface="Cambria Math" panose="02040503050406030204" pitchFamily="18" charset="0"/>
                          </a:rPr>
                          <m:t>+1</m:t>
                        </m:r>
                      </m:sub>
                    </m:sSub>
                    <m:r>
                      <a:rPr lang="en-US" sz="2400" i="1">
                        <a:latin typeface="Cambria Math" panose="02040503050406030204" pitchFamily="18" charset="0"/>
                      </a:rPr>
                      <m:t>=</m:t>
                    </m:r>
                    <m:d>
                      <m:dPr>
                        <m:begChr m:val="{"/>
                        <m:endChr m:val="}"/>
                        <m:ctrlPr>
                          <a:rPr lang="en-US" sz="2400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sSub>
                          <m:sSubPr>
                            <m:ctrlPr>
                              <a:rPr lang="en-US" sz="2400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acc>
                              <m:accPr>
                                <m:chr m:val="̂"/>
                                <m:ctrlPr>
                                  <a:rPr lang="en-US" sz="2400" i="1">
                                    <a:latin typeface="Cambria Math" panose="02040503050406030204" pitchFamily="18" charset="0"/>
                                  </a:rPr>
                                </m:ctrlPr>
                              </m:accPr>
                              <m:e>
                                <m:r>
                                  <a:rPr lang="en-US" sz="2400" i="1">
                                    <a:latin typeface="Cambria Math" panose="02040503050406030204" pitchFamily="18" charset="0"/>
                                  </a:rPr>
                                  <m:t>𝑦</m:t>
                                </m:r>
                              </m:e>
                            </m:acc>
                          </m:e>
                          <m:sub>
                            <m:r>
                              <a:rPr lang="en-US" sz="2400" i="1">
                                <a:latin typeface="Cambria Math" panose="02040503050406030204" pitchFamily="18" charset="0"/>
                              </a:rPr>
                              <m:t>𝑛</m:t>
                            </m:r>
                            <m:r>
                              <a:rPr lang="ru-RU" sz="2400" i="1">
                                <a:latin typeface="Cambria Math" panose="02040503050406030204" pitchFamily="18" charset="0"/>
                              </a:rPr>
                              <m:t>+1</m:t>
                            </m:r>
                            <m:r>
                              <a:rPr lang="en-US" sz="2400" i="1">
                                <a:latin typeface="Cambria Math" panose="02040503050406030204" pitchFamily="18" charset="0"/>
                              </a:rPr>
                              <m:t>,1</m:t>
                            </m:r>
                          </m:sub>
                        </m:sSub>
                        <m:r>
                          <a:rPr lang="en-US" sz="2400" i="1">
                            <a:latin typeface="Cambria Math" panose="02040503050406030204" pitchFamily="18" charset="0"/>
                          </a:rPr>
                          <m:t>, …,</m:t>
                        </m:r>
                        <m:sSub>
                          <m:sSubPr>
                            <m:ctrlPr>
                              <a:rPr lang="en-US" sz="2400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acc>
                              <m:accPr>
                                <m:chr m:val="̂"/>
                                <m:ctrlPr>
                                  <a:rPr lang="en-US" sz="2400" i="1">
                                    <a:latin typeface="Cambria Math" panose="02040503050406030204" pitchFamily="18" charset="0"/>
                                  </a:rPr>
                                </m:ctrlPr>
                              </m:accPr>
                              <m:e>
                                <m:r>
                                  <a:rPr lang="en-US" sz="2400" i="1">
                                    <a:latin typeface="Cambria Math" panose="02040503050406030204" pitchFamily="18" charset="0"/>
                                  </a:rPr>
                                  <m:t>𝑦</m:t>
                                </m:r>
                              </m:e>
                            </m:acc>
                          </m:e>
                          <m:sub>
                            <m:r>
                              <a:rPr lang="en-US" sz="2400" i="1">
                                <a:latin typeface="Cambria Math" panose="02040503050406030204" pitchFamily="18" charset="0"/>
                              </a:rPr>
                              <m:t>𝑛</m:t>
                            </m:r>
                            <m:r>
                              <a:rPr lang="ru-RU" sz="2400" i="1">
                                <a:latin typeface="Cambria Math" panose="02040503050406030204" pitchFamily="18" charset="0"/>
                              </a:rPr>
                              <m:t>+1</m:t>
                            </m:r>
                            <m:r>
                              <a:rPr lang="en-US" sz="2400" i="1">
                                <a:latin typeface="Cambria Math" panose="02040503050406030204" pitchFamily="18" charset="0"/>
                              </a:rPr>
                              <m:t>,</m:t>
                            </m:r>
                            <m:r>
                              <a:rPr lang="en-US" sz="2400" i="1">
                                <a:latin typeface="Cambria Math" panose="02040503050406030204" pitchFamily="18" charset="0"/>
                              </a:rPr>
                              <m:t>𝑚</m:t>
                            </m:r>
                          </m:sub>
                        </m:sSub>
                      </m:e>
                    </m:d>
                  </m:oMath>
                </a14:m>
                <a:r>
                  <a:rPr lang="en-US" sz="2400" dirty="0"/>
                  <a:t> - </a:t>
                </a:r>
                <a:r>
                  <a:rPr lang="ru-RU" sz="2400" dirty="0"/>
                  <a:t>вектор предсказаний в момент </a:t>
                </a:r>
                <a:r>
                  <a:rPr lang="en-US" sz="2400" dirty="0"/>
                  <a:t>n+1,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sz="24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400" i="1">
                            <a:latin typeface="Cambria Math" panose="02040503050406030204" pitchFamily="18" charset="0"/>
                          </a:rPr>
                          <m:t>𝐴</m:t>
                        </m:r>
                      </m:e>
                      <m:sub>
                        <m:r>
                          <a:rPr lang="en-US" sz="2400" b="0" i="1" smtClean="0">
                            <a:latin typeface="Cambria Math" panose="02040503050406030204" pitchFamily="18" charset="0"/>
                          </a:rPr>
                          <m:t>𝑖</m:t>
                        </m:r>
                      </m:sub>
                    </m:sSub>
                    <m:r>
                      <a:rPr lang="en-US" sz="2400" b="0" i="1" smtClean="0">
                        <a:latin typeface="Cambria Math" panose="02040503050406030204" pitchFamily="18" charset="0"/>
                      </a:rPr>
                      <m:t>=</m:t>
                    </m:r>
                    <m:r>
                      <a:rPr lang="en-US" sz="2400" b="0" i="1" smtClean="0">
                        <a:latin typeface="Cambria Math" panose="02040503050406030204" pitchFamily="18" charset="0"/>
                      </a:rPr>
                      <m:t>𝑑𝑖𝑎𝑔</m:t>
                    </m:r>
                    <m:d>
                      <m:dPr>
                        <m:begChr m:val="{"/>
                        <m:endChr m:val="}"/>
                        <m:ctrlPr>
                          <a:rPr lang="en-US" sz="2400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sSub>
                          <m:sSubPr>
                            <m:ctrlPr>
                              <a:rPr lang="en-US" sz="2400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sz="2400" i="1">
                                <a:latin typeface="Cambria Math" panose="02040503050406030204" pitchFamily="18" charset="0"/>
                              </a:rPr>
                              <m:t>𝛼</m:t>
                            </m:r>
                          </m:e>
                          <m:sub>
                            <m:r>
                              <a:rPr lang="en-US" sz="2400" b="0" i="1" smtClean="0">
                                <a:latin typeface="Cambria Math" panose="02040503050406030204" pitchFamily="18" charset="0"/>
                              </a:rPr>
                              <m:t>𝑖</m:t>
                            </m:r>
                            <m:r>
                              <a:rPr lang="en-US" sz="2400" i="1">
                                <a:latin typeface="Cambria Math" panose="02040503050406030204" pitchFamily="18" charset="0"/>
                              </a:rPr>
                              <m:t>,1</m:t>
                            </m:r>
                          </m:sub>
                        </m:sSub>
                        <m:r>
                          <a:rPr lang="en-US" sz="2400" b="0" i="1" smtClean="0">
                            <a:latin typeface="Cambria Math" panose="02040503050406030204" pitchFamily="18" charset="0"/>
                          </a:rPr>
                          <m:t>,…,</m:t>
                        </m:r>
                        <m:sSub>
                          <m:sSubPr>
                            <m:ctrlPr>
                              <a:rPr lang="en-US" sz="2400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sz="2400" i="1">
                                <a:latin typeface="Cambria Math" panose="02040503050406030204" pitchFamily="18" charset="0"/>
                              </a:rPr>
                              <m:t>𝛼</m:t>
                            </m:r>
                          </m:e>
                          <m:sub>
                            <m:r>
                              <a:rPr lang="en-US" sz="2400" b="0" i="1" smtClean="0">
                                <a:latin typeface="Cambria Math" panose="02040503050406030204" pitchFamily="18" charset="0"/>
                              </a:rPr>
                              <m:t>𝑖</m:t>
                            </m:r>
                            <m:r>
                              <a:rPr lang="en-US" sz="2400" i="1">
                                <a:latin typeface="Cambria Math" panose="02040503050406030204" pitchFamily="18" charset="0"/>
                              </a:rPr>
                              <m:t>,</m:t>
                            </m:r>
                            <m:r>
                              <a:rPr lang="en-US" sz="2400" b="0" i="1" smtClean="0">
                                <a:latin typeface="Cambria Math" panose="02040503050406030204" pitchFamily="18" charset="0"/>
                              </a:rPr>
                              <m:t>𝑚</m:t>
                            </m:r>
                          </m:sub>
                        </m:sSub>
                      </m:e>
                    </m:d>
                  </m:oMath>
                </a14:m>
                <a:r>
                  <a:rPr lang="en-US" sz="2400" dirty="0"/>
                  <a:t> - </a:t>
                </a:r>
                <a:r>
                  <a:rPr lang="ru-RU" sz="2400" dirty="0"/>
                  <a:t>вектор коэффициенты авторегрессии </a:t>
                </a:r>
                <a14:m>
                  <m:oMath xmlns:m="http://schemas.openxmlformats.org/officeDocument/2006/math">
                    <m:r>
                      <a:rPr lang="en-US" sz="2400" i="1" dirty="0" smtClean="0">
                        <a:latin typeface="Cambria Math" panose="02040503050406030204" pitchFamily="18" charset="0"/>
                      </a:rPr>
                      <m:t>𝑖</m:t>
                    </m:r>
                    <m:r>
                      <a:rPr lang="en-US" sz="2400" b="0" i="1" dirty="0" smtClean="0">
                        <a:latin typeface="Cambria Math" panose="02040503050406030204" pitchFamily="18" charset="0"/>
                      </a:rPr>
                      <m:t>.</m:t>
                    </m:r>
                  </m:oMath>
                </a14:m>
                <a:endParaRPr lang="ru-RU" sz="2400" dirty="0"/>
              </a:p>
              <a:p>
                <a:pPr marL="0" indent="0" algn="ctr">
                  <a:lnSpc>
                    <a:spcPct val="100000"/>
                  </a:lnSpc>
                  <a:spcBef>
                    <a:spcPts val="0"/>
                  </a:spcBef>
                  <a:buNone/>
                </a:pPr>
                <a:r>
                  <a:rPr lang="ru-RU" sz="2400" dirty="0"/>
                  <a:t>Модель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sz="24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acc>
                          <m:accPr>
                            <m:chr m:val="̂"/>
                            <m:ctrlPr>
                              <a:rPr lang="en-US" sz="2400" i="1">
                                <a:latin typeface="Cambria Math" panose="02040503050406030204" pitchFamily="18" charset="0"/>
                              </a:rPr>
                            </m:ctrlPr>
                          </m:accPr>
                          <m:e>
                            <m:r>
                              <a:rPr lang="en-US" sz="2400" i="1">
                                <a:latin typeface="Cambria Math" panose="02040503050406030204" pitchFamily="18" charset="0"/>
                              </a:rPr>
                              <m:t>𝑌</m:t>
                            </m:r>
                          </m:e>
                        </m:acc>
                      </m:e>
                      <m:sub>
                        <m:r>
                          <a:rPr lang="en-US" sz="2400" i="1">
                            <a:latin typeface="Cambria Math" panose="02040503050406030204" pitchFamily="18" charset="0"/>
                          </a:rPr>
                          <m:t>𝑛</m:t>
                        </m:r>
                        <m:r>
                          <a:rPr lang="ru-RU" sz="2400" i="1">
                            <a:latin typeface="Cambria Math" panose="02040503050406030204" pitchFamily="18" charset="0"/>
                          </a:rPr>
                          <m:t>+1</m:t>
                        </m:r>
                      </m:sub>
                    </m:sSub>
                    <m:r>
                      <a:rPr lang="en-US" sz="2400" i="1">
                        <a:latin typeface="Cambria Math" panose="02040503050406030204" pitchFamily="18" charset="0"/>
                      </a:rPr>
                      <m:t>=</m:t>
                    </m:r>
                    <m:nary>
                      <m:naryPr>
                        <m:chr m:val="∑"/>
                        <m:limLoc m:val="undOvr"/>
                        <m:ctrlPr>
                          <a:rPr lang="en-US" sz="2400" i="1">
                            <a:latin typeface="Cambria Math" panose="02040503050406030204" pitchFamily="18" charset="0"/>
                          </a:rPr>
                        </m:ctrlPr>
                      </m:naryPr>
                      <m:sub>
                        <m:r>
                          <a:rPr lang="en-US" sz="2400" i="1">
                            <a:latin typeface="Cambria Math" panose="02040503050406030204" pitchFamily="18" charset="0"/>
                          </a:rPr>
                          <m:t>𝑖</m:t>
                        </m:r>
                        <m:r>
                          <a:rPr lang="en-US" sz="2400" i="1">
                            <a:latin typeface="Cambria Math" panose="02040503050406030204" pitchFamily="18" charset="0"/>
                          </a:rPr>
                          <m:t>=0</m:t>
                        </m:r>
                      </m:sub>
                      <m:sup>
                        <m:r>
                          <a:rPr lang="en-US" sz="2400" i="1">
                            <a:latin typeface="Cambria Math" panose="02040503050406030204" pitchFamily="18" charset="0"/>
                          </a:rPr>
                          <m:t>𝑃</m:t>
                        </m:r>
                      </m:sup>
                      <m:e>
                        <m:sSub>
                          <m:sSubPr>
                            <m:ctrlPr>
                              <a:rPr lang="en-US" sz="2400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sz="2400" i="1">
                                <a:latin typeface="Cambria Math" panose="02040503050406030204" pitchFamily="18" charset="0"/>
                              </a:rPr>
                              <m:t>𝐴</m:t>
                            </m:r>
                          </m:e>
                          <m:sub>
                            <m:r>
                              <a:rPr lang="en-US" sz="2400" i="1">
                                <a:latin typeface="Cambria Math" panose="02040503050406030204" pitchFamily="18" charset="0"/>
                              </a:rPr>
                              <m:t>𝑖</m:t>
                            </m:r>
                          </m:sub>
                        </m:sSub>
                      </m:e>
                    </m:nary>
                    <m:sSub>
                      <m:sSubPr>
                        <m:ctrlPr>
                          <a:rPr lang="en-US" sz="24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400" i="1">
                            <a:latin typeface="Cambria Math" panose="02040503050406030204" pitchFamily="18" charset="0"/>
                          </a:rPr>
                          <m:t>𝑌</m:t>
                        </m:r>
                      </m:e>
                      <m:sub>
                        <m:r>
                          <a:rPr lang="en-US" sz="2400" i="1">
                            <a:latin typeface="Cambria Math" panose="02040503050406030204" pitchFamily="18" charset="0"/>
                          </a:rPr>
                          <m:t>𝑛</m:t>
                        </m:r>
                        <m:r>
                          <a:rPr lang="en-US" sz="2400" i="1"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US" sz="2400" i="1">
                            <a:latin typeface="Cambria Math" panose="02040503050406030204" pitchFamily="18" charset="0"/>
                          </a:rPr>
                          <m:t>𝑖</m:t>
                        </m:r>
                      </m:sub>
                    </m:sSub>
                  </m:oMath>
                </a14:m>
                <a:r>
                  <a:rPr lang="ru-RU" sz="2400" dirty="0"/>
                  <a:t> - </a:t>
                </a:r>
                <a:r>
                  <a:rPr lang="ru-RU" sz="2400" b="1" dirty="0"/>
                  <a:t>модель векторной авторегрессии - </a:t>
                </a:r>
                <a:r>
                  <a:rPr lang="en-US" sz="2400" b="1" dirty="0"/>
                  <a:t>VAR</a:t>
                </a:r>
              </a:p>
              <a:p>
                <a:pPr marL="0" indent="0">
                  <a:lnSpc>
                    <a:spcPct val="100000"/>
                  </a:lnSpc>
                  <a:spcBef>
                    <a:spcPts val="0"/>
                  </a:spcBef>
                  <a:buNone/>
                </a:pPr>
                <a:r>
                  <a:rPr lang="ru-RU" sz="2400" i="1" dirty="0"/>
                  <a:t>Иногда вводят и более полные модели </a:t>
                </a:r>
                <a:r>
                  <a:rPr lang="en-US" sz="2400" i="1" dirty="0"/>
                  <a:t>VARMA</a:t>
                </a:r>
              </a:p>
              <a:p>
                <a:pPr marL="0" indent="0">
                  <a:lnSpc>
                    <a:spcPct val="100000"/>
                  </a:lnSpc>
                  <a:spcBef>
                    <a:spcPts val="0"/>
                  </a:spcBef>
                  <a:buNone/>
                </a:pPr>
                <a:r>
                  <a:rPr lang="ru-RU" sz="2400" i="1" dirty="0"/>
                  <a:t>	</a:t>
                </a:r>
                <a:r>
                  <a:rPr lang="ru-RU" sz="2000" i="1" dirty="0"/>
                  <a:t>Если ВР не стационары, просто </a:t>
                </a:r>
                <a:r>
                  <a:rPr lang="en-US" sz="2000" i="1" dirty="0"/>
                  <a:t>VARIMA </a:t>
                </a:r>
                <a:r>
                  <a:rPr lang="ru-RU" sz="2000" i="1" dirty="0"/>
                  <a:t>может быть недостаточно! </a:t>
                </a:r>
              </a:p>
            </p:txBody>
          </p:sp>
        </mc:Choice>
        <mc:Fallback xmlns="">
          <p:sp>
            <p:nvSpPr>
              <p:cNvPr id="3" name="Объект 2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142875" y="600076"/>
                <a:ext cx="11801475" cy="6105524"/>
              </a:xfrm>
              <a:blipFill>
                <a:blip r:embed="rId2"/>
                <a:stretch>
                  <a:fillRect l="-860" t="-1247"/>
                </a:stretch>
              </a:blipFill>
            </p:spPr>
            <p:txBody>
              <a:bodyPr/>
              <a:lstStyle/>
              <a:p>
                <a:r>
                  <a:rPr lang="ru-RU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Прямоугольник 3"/>
          <p:cNvSpPr/>
          <p:nvPr/>
        </p:nvSpPr>
        <p:spPr>
          <a:xfrm>
            <a:off x="4371974" y="6581777"/>
            <a:ext cx="8277225" cy="24622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ru-RU" sz="1000" dirty="0"/>
              <a:t>https://github.com/phdinds-aim/time_series_handbook/blob/main/03_VectorAutoregressiveModels/03_VectorAutoregressiveMethods.ipynb</a:t>
            </a:r>
          </a:p>
        </p:txBody>
      </p:sp>
    </p:spTree>
    <p:extLst>
      <p:ext uri="{BB962C8B-B14F-4D97-AF65-F5344CB8AC3E}">
        <p14:creationId xmlns:p14="http://schemas.microsoft.com/office/powerpoint/2010/main" val="289289099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314325" y="136526"/>
            <a:ext cx="11430000" cy="634999"/>
          </a:xfrm>
        </p:spPr>
        <p:txBody>
          <a:bodyPr>
            <a:normAutofit fontScale="90000"/>
          </a:bodyPr>
          <a:lstStyle/>
          <a:p>
            <a:pPr algn="ctr"/>
            <a:r>
              <a:rPr lang="ru-RU" b="1" dirty="0"/>
              <a:t>Типы связей в МВР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Объект 2"/>
              <p:cNvSpPr>
                <a:spLocks noGrp="1"/>
              </p:cNvSpPr>
              <p:nvPr>
                <p:ph idx="1"/>
              </p:nvPr>
            </p:nvSpPr>
            <p:spPr>
              <a:xfrm>
                <a:off x="314325" y="638174"/>
                <a:ext cx="11772900" cy="5895975"/>
              </a:xfrm>
            </p:spPr>
            <p:txBody>
              <a:bodyPr>
                <a:normAutofit fontScale="92500" lnSpcReduction="20000"/>
              </a:bodyPr>
              <a:lstStyle/>
              <a:p>
                <a:pPr marL="0" indent="0">
                  <a:lnSpc>
                    <a:spcPct val="110000"/>
                  </a:lnSpc>
                  <a:buNone/>
                </a:pPr>
                <a:r>
                  <a:rPr lang="ru-RU" sz="2200" b="1" dirty="0"/>
                  <a:t>В МВР – </a:t>
                </a:r>
                <a:r>
                  <a:rPr lang="ru-RU" sz="2200" dirty="0"/>
                  <a:t>отдельные</a:t>
                </a:r>
                <a:r>
                  <a:rPr lang="ru-RU" sz="2200" b="1" dirty="0"/>
                  <a:t> </a:t>
                </a:r>
                <a:r>
                  <a:rPr lang="ru-RU" sz="2200" dirty="0"/>
                  <a:t>ВР могут показать зависимость своих значений от других ВР в системе. То есть ВР связаны.</a:t>
                </a:r>
              </a:p>
              <a:p>
                <a:pPr>
                  <a:lnSpc>
                    <a:spcPct val="110000"/>
                  </a:lnSpc>
                </a:pPr>
                <a:r>
                  <a:rPr lang="ru-RU" sz="2200" b="1" dirty="0"/>
                  <a:t>Корреляционная связь </a:t>
                </a:r>
                <a:r>
                  <a:rPr lang="ru-RU" sz="2200" dirty="0"/>
                  <a:t>– ВР имеют линейную зависимость</a:t>
                </a:r>
              </a:p>
              <a:p>
                <a:pPr lvl="1">
                  <a:lnSpc>
                    <a:spcPct val="110000"/>
                  </a:lnSpc>
                </a:pPr>
                <a:r>
                  <a:rPr lang="ru-RU" sz="2200" dirty="0"/>
                  <a:t>Примеры: Температура и давление в баке.</a:t>
                </a:r>
              </a:p>
              <a:p>
                <a:pPr lvl="1">
                  <a:lnSpc>
                    <a:spcPct val="110000"/>
                  </a:lnSpc>
                </a:pPr>
                <a:r>
                  <a:rPr lang="ru-RU" sz="2000" b="1" dirty="0"/>
                  <a:t>Сезонная корреляция </a:t>
                </a:r>
                <a:r>
                  <a:rPr lang="ru-RU" sz="2000" dirty="0"/>
                  <a:t>– корреляция с лагом в сезон, </a:t>
                </a:r>
                <a:br>
                  <a:rPr lang="ru-RU" sz="2000" dirty="0"/>
                </a:br>
                <a:r>
                  <a:rPr lang="ru-RU" sz="2100" dirty="0"/>
                  <a:t>например, закупка сырья </a:t>
                </a:r>
                <a14:m>
                  <m:oMath xmlns:m="http://schemas.openxmlformats.org/officeDocument/2006/math">
                    <m:r>
                      <a:rPr lang="ru-RU" sz="2100">
                        <a:latin typeface="Cambria Math" panose="02040503050406030204" pitchFamily="18" charset="0"/>
                      </a:rPr>
                      <m:t>↔</m:t>
                    </m:r>
                  </m:oMath>
                </a14:m>
                <a:r>
                  <a:rPr lang="ru-RU" sz="2100" dirty="0"/>
                  <a:t> выпуск продукции, Летом выше температура и влажность (есть общий объясняющий фактор)</a:t>
                </a:r>
              </a:p>
              <a:p>
                <a:pPr>
                  <a:lnSpc>
                    <a:spcPct val="110000"/>
                  </a:lnSpc>
                </a:pPr>
                <a:r>
                  <a:rPr lang="ru-RU" sz="2200" b="1" dirty="0"/>
                  <a:t>Казуальная связь </a:t>
                </a:r>
                <a:r>
                  <a:rPr lang="ru-RU" sz="2200" dirty="0"/>
                  <a:t>– один из ВР связан с последующими лагами другого ВР.</a:t>
                </a:r>
              </a:p>
              <a:p>
                <a:pPr lvl="1">
                  <a:lnSpc>
                    <a:spcPct val="110000"/>
                  </a:lnSpc>
                </a:pPr>
                <a:r>
                  <a:rPr lang="ru-RU" sz="2200" b="1" dirty="0"/>
                  <a:t>Примеры: </a:t>
                </a:r>
                <a:r>
                  <a:rPr lang="ru-RU" sz="2200" dirty="0"/>
                  <a:t>Процентные ставки → инфляция, направление ветра → изменение в погоде </a:t>
                </a:r>
                <a:br>
                  <a:rPr lang="ru-RU" sz="2200" dirty="0"/>
                </a:br>
                <a:r>
                  <a:rPr lang="ru-RU" sz="2200" b="1" dirty="0"/>
                  <a:t>(но не наоборот!)</a:t>
                </a:r>
              </a:p>
              <a:p>
                <a:pPr lvl="1">
                  <a:lnSpc>
                    <a:spcPct val="110000"/>
                  </a:lnSpc>
                </a:pPr>
                <a:r>
                  <a:rPr lang="ru-RU" sz="2200" dirty="0"/>
                  <a:t>В отличии от сезонной корреляции ВР в казуальности связь причинная (только опережающая), а не симметричная (характеристика динамики ВР). Например перед дождем падает давление (но нет связи наоборот).</a:t>
                </a:r>
              </a:p>
              <a:p>
                <a:pPr algn="just">
                  <a:lnSpc>
                    <a:spcPct val="110000"/>
                  </a:lnSpc>
                </a:pPr>
                <a:r>
                  <a:rPr lang="ru-RU" sz="2200" b="1" dirty="0" err="1"/>
                  <a:t>Коинтеграционная</a:t>
                </a:r>
                <a:r>
                  <a:rPr lang="ru-RU" sz="2200" b="1" dirty="0"/>
                  <a:t> связь </a:t>
                </a:r>
                <a:r>
                  <a:rPr lang="ru-RU" sz="2200" dirty="0"/>
                  <a:t>– Нестационарные ряды в долгосрочной перспективе "движутся вместе" — их линейная комбинация стационарна (</a:t>
                </a:r>
                <a:r>
                  <a:rPr lang="ru-RU" sz="2200" dirty="0" err="1"/>
                  <a:t>коинтеграция</a:t>
                </a:r>
                <a:r>
                  <a:rPr lang="ru-RU" sz="2200" dirty="0"/>
                  <a:t> 1го порядка).</a:t>
                </a:r>
              </a:p>
              <a:p>
                <a:pPr lvl="2">
                  <a:lnSpc>
                    <a:spcPct val="110000"/>
                  </a:lnSpc>
                </a:pPr>
                <a:r>
                  <a:rPr lang="ru-RU" sz="2200" dirty="0"/>
                  <a:t>система не стационарных ВР до порядка дифференцирования </a:t>
                </a:r>
                <a14:m>
                  <m:oMath xmlns:m="http://schemas.openxmlformats.org/officeDocument/2006/math">
                    <m:r>
                      <a:rPr lang="en-US" sz="2200" i="1" dirty="0" smtClean="0">
                        <a:latin typeface="Cambria Math" panose="02040503050406030204" pitchFamily="18" charset="0"/>
                      </a:rPr>
                      <m:t>𝑑</m:t>
                    </m:r>
                    <m:r>
                      <a:rPr lang="en-US" sz="2200" b="0" i="1" dirty="0" smtClean="0">
                        <a:latin typeface="Cambria Math" panose="02040503050406030204" pitchFamily="18" charset="0"/>
                      </a:rPr>
                      <m:t> </m:t>
                    </m:r>
                  </m:oMath>
                </a14:m>
                <a:r>
                  <a:rPr lang="en-US" sz="2200" dirty="0"/>
                  <a:t> </a:t>
                </a:r>
                <a:r>
                  <a:rPr lang="ru-RU" sz="2200" dirty="0"/>
                  <a:t>ВР составляет линейную комбинацию, имеющую не стационарность ВР до порядка дифференцирования </a:t>
                </a:r>
                <a14:m>
                  <m:oMath xmlns:m="http://schemas.openxmlformats.org/officeDocument/2006/math">
                    <m:r>
                      <a:rPr lang="en-US" sz="2200" dirty="0">
                        <a:latin typeface="Cambria Math" panose="02040503050406030204" pitchFamily="18" charset="0"/>
                      </a:rPr>
                      <m:t>&lt;</m:t>
                    </m:r>
                    <m:r>
                      <a:rPr lang="en-US" sz="2200" i="1" dirty="0">
                        <a:latin typeface="Cambria Math" panose="02040503050406030204" pitchFamily="18" charset="0"/>
                      </a:rPr>
                      <m:t>𝑑</m:t>
                    </m:r>
                    <m:r>
                      <a:rPr lang="en-US" sz="2200" i="1" dirty="0">
                        <a:latin typeface="Cambria Math" panose="02040503050406030204" pitchFamily="18" charset="0"/>
                      </a:rPr>
                      <m:t> </m:t>
                    </m:r>
                  </m:oMath>
                </a14:m>
                <a:endParaRPr lang="en-US" sz="2200" dirty="0"/>
              </a:p>
              <a:p>
                <a:pPr lvl="2">
                  <a:lnSpc>
                    <a:spcPct val="110000"/>
                  </a:lnSpc>
                </a:pPr>
                <a:r>
                  <a:rPr lang="ru-RU" sz="2200" dirty="0"/>
                  <a:t>Пример: Цены на сырую нефть и бензин (их разность (маржа) – стационарна)</a:t>
                </a:r>
                <a:endParaRPr lang="en-US" sz="2200" dirty="0"/>
              </a:p>
            </p:txBody>
          </p:sp>
        </mc:Choice>
        <mc:Fallback xmlns="">
          <p:sp>
            <p:nvSpPr>
              <p:cNvPr id="3" name="Объект 2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314325" y="638174"/>
                <a:ext cx="11772900" cy="5895975"/>
              </a:xfrm>
              <a:blipFill>
                <a:blip r:embed="rId2"/>
                <a:stretch>
                  <a:fillRect l="-570" t="-1138" r="-518"/>
                </a:stretch>
              </a:blipFill>
            </p:spPr>
            <p:txBody>
              <a:bodyPr/>
              <a:lstStyle/>
              <a:p>
                <a:r>
                  <a:rPr lang="ru-RU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5" name="TextBox 4">
            <a:extLst>
              <a:ext uri="{FF2B5EF4-FFF2-40B4-BE49-F238E27FC236}">
                <a16:creationId xmlns:a16="http://schemas.microsoft.com/office/drawing/2014/main" id="{CDFF455B-0874-8488-85B2-7BA468BB902B}"/>
              </a:ext>
            </a:extLst>
          </p:cNvPr>
          <p:cNvSpPr txBox="1"/>
          <p:nvPr/>
        </p:nvSpPr>
        <p:spPr>
          <a:xfrm>
            <a:off x="104775" y="6427113"/>
            <a:ext cx="6093912" cy="43088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ru-RU" sz="1050" dirty="0" err="1"/>
              <a:t>https</a:t>
            </a:r>
            <a:r>
              <a:rPr lang="ru-RU" sz="1050" dirty="0"/>
              <a:t>://</a:t>
            </a:r>
            <a:r>
              <a:rPr lang="ru-RU" sz="1050" dirty="0" err="1"/>
              <a:t>www.adb.org</a:t>
            </a:r>
            <a:r>
              <a:rPr lang="ru-RU" sz="1050" dirty="0"/>
              <a:t>/</a:t>
            </a:r>
            <a:r>
              <a:rPr lang="ru-RU" sz="1050" dirty="0" err="1"/>
              <a:t>sites</a:t>
            </a:r>
            <a:r>
              <a:rPr lang="ru-RU" sz="1050" dirty="0"/>
              <a:t>/</a:t>
            </a:r>
            <a:r>
              <a:rPr lang="ru-RU" sz="1050" dirty="0" err="1"/>
              <a:t>default</a:t>
            </a:r>
            <a:r>
              <a:rPr lang="ru-RU" sz="1050" dirty="0"/>
              <a:t>/</a:t>
            </a:r>
            <a:r>
              <a:rPr lang="ru-RU" sz="1050" dirty="0" err="1"/>
              <a:t>files</a:t>
            </a:r>
            <a:r>
              <a:rPr lang="ru-RU" sz="1050" dirty="0"/>
              <a:t>/</a:t>
            </a:r>
            <a:r>
              <a:rPr lang="ru-RU" sz="1050" dirty="0" err="1"/>
              <a:t>event</a:t>
            </a:r>
            <a:r>
              <a:rPr lang="ru-RU" sz="1050" dirty="0"/>
              <a:t>/978811/</a:t>
            </a:r>
            <a:r>
              <a:rPr lang="ru-RU" sz="1050" dirty="0" err="1"/>
              <a:t>files</a:t>
            </a:r>
            <a:r>
              <a:rPr lang="ru-RU" sz="1050" dirty="0"/>
              <a:t>/session45-dr-law-siong-hook-time-series-analysis-i-stationarity-and-cointegration-analysis-ii-var.pdf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716DAEEB-BB71-C17F-EAB0-B9CB0742E9E9}"/>
              </a:ext>
            </a:extLst>
          </p:cNvPr>
          <p:cNvSpPr txBox="1"/>
          <p:nvPr/>
        </p:nvSpPr>
        <p:spPr>
          <a:xfrm>
            <a:off x="6904972" y="6511751"/>
            <a:ext cx="6093912" cy="2616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ru-RU" sz="1100" dirty="0" err="1"/>
              <a:t>https</a:t>
            </a:r>
            <a:r>
              <a:rPr lang="ru-RU" sz="1100" dirty="0"/>
              <a:t>://</a:t>
            </a:r>
            <a:r>
              <a:rPr lang="ru-RU" sz="1100" dirty="0" err="1"/>
              <a:t>www.sciencedirect.com</a:t>
            </a:r>
            <a:r>
              <a:rPr lang="ru-RU" sz="1100" dirty="0"/>
              <a:t>/</a:t>
            </a:r>
            <a:r>
              <a:rPr lang="ru-RU" sz="1100" dirty="0" err="1"/>
              <a:t>science</a:t>
            </a:r>
            <a:r>
              <a:rPr lang="ru-RU" sz="1100" dirty="0"/>
              <a:t>/</a:t>
            </a:r>
            <a:r>
              <a:rPr lang="ru-RU" sz="1100" dirty="0" err="1"/>
              <a:t>article</a:t>
            </a:r>
            <a:r>
              <a:rPr lang="ru-RU" sz="1100" dirty="0"/>
              <a:t>/</a:t>
            </a:r>
            <a:r>
              <a:rPr lang="ru-RU" sz="1100" dirty="0" err="1"/>
              <a:t>abs</a:t>
            </a:r>
            <a:r>
              <a:rPr lang="ru-RU" sz="1100" dirty="0"/>
              <a:t>/</a:t>
            </a:r>
            <a:r>
              <a:rPr lang="ru-RU" sz="1100" dirty="0" err="1"/>
              <a:t>pii</a:t>
            </a:r>
            <a:r>
              <a:rPr lang="ru-RU" sz="1100" dirty="0"/>
              <a:t>/B9780128167977000084</a:t>
            </a:r>
          </a:p>
        </p:txBody>
      </p:sp>
    </p:spTree>
    <p:extLst>
      <p:ext uri="{BB962C8B-B14F-4D97-AF65-F5344CB8AC3E}">
        <p14:creationId xmlns:p14="http://schemas.microsoft.com/office/powerpoint/2010/main" val="2779865956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031" name="Rectangle 1030">
            <a:extLst>
              <a:ext uri="{FF2B5EF4-FFF2-40B4-BE49-F238E27FC236}">
                <a16:creationId xmlns:a16="http://schemas.microsoft.com/office/drawing/2014/main" id="{1A95671B-3CC6-4792-9114-B74FAEA224E6}"/>
              </a:ext>
              <a:ext uri="{C183D7F6-B498-43B3-948B-1728B52AA6E4}">
                <adec:decorative xmlns:adec="http://schemas.microsoft.com/office/drawing/2017/decorative" xmlns="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88952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40890A3E-B885-7153-BE00-9F7FAC519D3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08184" y="174032"/>
            <a:ext cx="10175631" cy="767905"/>
          </a:xfrm>
        </p:spPr>
        <p:txBody>
          <a:bodyPr anchor="ctr">
            <a:normAutofit/>
          </a:bodyPr>
          <a:lstStyle/>
          <a:p>
            <a:pPr algn="ctr"/>
            <a:r>
              <a:rPr lang="ru-RU" sz="4000" b="1" dirty="0"/>
              <a:t>Типы связей в МВР</a:t>
            </a:r>
            <a:endParaRPr lang="ru-RU" sz="4000" dirty="0"/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88357E57-5770-C638-7F6E-EDA7775A11D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008184" y="1459907"/>
            <a:ext cx="10175630" cy="767904"/>
          </a:xfrm>
        </p:spPr>
        <p:txBody>
          <a:bodyPr anchor="ctr">
            <a:normAutofit/>
          </a:bodyPr>
          <a:lstStyle/>
          <a:p>
            <a:pPr algn="ctr"/>
            <a:endParaRPr lang="ru-RU" sz="2000"/>
          </a:p>
        </p:txBody>
      </p:sp>
      <p:pic>
        <p:nvPicPr>
          <p:cNvPr id="1026" name="Picture 2" descr="Example of cointegrated time series with low correlation.">
            <a:extLst>
              <a:ext uri="{FF2B5EF4-FFF2-40B4-BE49-F238E27FC236}">
                <a16:creationId xmlns:a16="http://schemas.microsoft.com/office/drawing/2014/main" id="{B5DCDE3D-5199-AA7A-E922-EF527F83DFE4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 bwMode="auto">
          <a:xfrm>
            <a:off x="5361141" y="4150076"/>
            <a:ext cx="6732025" cy="244035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28" name="Picture 4" descr="Example of non-cointegrated time series with high correlation.">
            <a:extLst>
              <a:ext uri="{FF2B5EF4-FFF2-40B4-BE49-F238E27FC236}">
                <a16:creationId xmlns:a16="http://schemas.microsoft.com/office/drawing/2014/main" id="{1932A2C8-08DF-C714-D8EF-9803DA7D73B2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-38633" y="1346388"/>
            <a:ext cx="6565806" cy="238779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5" name="TextBox 4">
            <a:extLst>
              <a:ext uri="{FF2B5EF4-FFF2-40B4-BE49-F238E27FC236}">
                <a16:creationId xmlns:a16="http://schemas.microsoft.com/office/drawing/2014/main" id="{51345572-1415-8A20-FEE1-71B95D982B0C}"/>
              </a:ext>
            </a:extLst>
          </p:cNvPr>
          <p:cNvSpPr txBox="1"/>
          <p:nvPr/>
        </p:nvSpPr>
        <p:spPr>
          <a:xfrm>
            <a:off x="4932915" y="6553163"/>
            <a:ext cx="6093912" cy="2616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ru-RU" sz="1100" dirty="0" err="1"/>
              <a:t>https</a:t>
            </a:r>
            <a:r>
              <a:rPr lang="ru-RU" sz="1100" dirty="0"/>
              <a:t>://</a:t>
            </a:r>
            <a:r>
              <a:rPr lang="ru-RU" sz="1100" dirty="0" err="1"/>
              <a:t>bookdown.org</a:t>
            </a:r>
            <a:r>
              <a:rPr lang="ru-RU" sz="1100" dirty="0"/>
              <a:t>/</a:t>
            </a:r>
            <a:r>
              <a:rPr lang="ru-RU" sz="1100" dirty="0" err="1"/>
              <a:t>palomar</a:t>
            </a:r>
            <a:r>
              <a:rPr lang="ru-RU" sz="1100" dirty="0"/>
              <a:t>/</a:t>
            </a:r>
            <a:r>
              <a:rPr lang="ru-RU" sz="1100" dirty="0" err="1"/>
              <a:t>portfoliooptimizationbook</a:t>
            </a:r>
            <a:r>
              <a:rPr lang="ru-RU" sz="1100" dirty="0"/>
              <a:t>/15.2-cointegration-vs-correlation.html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42B9BAD6-262F-31C0-5581-5B0F448E2E7D}"/>
              </a:ext>
            </a:extLst>
          </p:cNvPr>
          <p:cNvSpPr txBox="1"/>
          <p:nvPr/>
        </p:nvSpPr>
        <p:spPr>
          <a:xfrm>
            <a:off x="265054" y="4257543"/>
            <a:ext cx="5265413" cy="249299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900"/>
              </a:spcBef>
              <a:spcAft>
                <a:spcPts val="900"/>
              </a:spcAft>
              <a:buFont typeface="Arial" panose="020B0604020202020204" pitchFamily="34" charset="0"/>
              <a:buChar char="•"/>
            </a:pPr>
            <a:r>
              <a:rPr lang="ru-RU" b="0" i="0" dirty="0">
                <a:solidFill>
                  <a:srgbClr val="111827"/>
                </a:solidFill>
                <a:effectLst/>
                <a:latin typeface="system-ui"/>
              </a:rPr>
              <a:t>Корреляция</a:t>
            </a:r>
            <a:r>
              <a:rPr lang="ru-RU" b="0" i="0" dirty="0">
                <a:solidFill>
                  <a:srgbClr val="2C2C36"/>
                </a:solidFill>
                <a:effectLst/>
                <a:latin typeface="system-ui"/>
              </a:rPr>
              <a:t> — синхронное движение (статистическая связь</a:t>
            </a:r>
            <a:r>
              <a:rPr lang="ru-RU" dirty="0">
                <a:solidFill>
                  <a:srgbClr val="2C2C36"/>
                </a:solidFill>
                <a:latin typeface="system-ui"/>
              </a:rPr>
              <a:t>, может быть ложной, если оба связаны со скрытой переменной)</a:t>
            </a:r>
            <a:endParaRPr lang="ru-RU" b="0" i="0" dirty="0">
              <a:solidFill>
                <a:srgbClr val="2C2C36"/>
              </a:solidFill>
              <a:effectLst/>
              <a:latin typeface="system-ui"/>
            </a:endParaRPr>
          </a:p>
          <a:p>
            <a:pPr algn="l">
              <a:spcBef>
                <a:spcPts val="900"/>
              </a:spcBef>
              <a:spcAft>
                <a:spcPts val="900"/>
              </a:spcAft>
              <a:buFont typeface="Arial" panose="020B0604020202020204" pitchFamily="34" charset="0"/>
              <a:buChar char="•"/>
            </a:pPr>
            <a:r>
              <a:rPr lang="ru-RU" b="0" i="0" dirty="0" err="1">
                <a:solidFill>
                  <a:srgbClr val="111827"/>
                </a:solidFill>
                <a:effectLst/>
                <a:latin typeface="system-ui"/>
              </a:rPr>
              <a:t>Коинтеграция</a:t>
            </a:r>
            <a:r>
              <a:rPr lang="ru-RU" b="0" i="0" dirty="0">
                <a:solidFill>
                  <a:srgbClr val="2C2C36"/>
                </a:solidFill>
                <a:effectLst/>
                <a:latin typeface="system-ui"/>
              </a:rPr>
              <a:t> — долгосрочная устойчивая связь (равновесие), даже если иногда расходятся</a:t>
            </a:r>
          </a:p>
          <a:p>
            <a:pPr algn="l">
              <a:spcBef>
                <a:spcPts val="900"/>
              </a:spcBef>
              <a:spcAft>
                <a:spcPts val="900"/>
              </a:spcAft>
              <a:buFont typeface="Arial" panose="020B0604020202020204" pitchFamily="34" charset="0"/>
              <a:buChar char="•"/>
            </a:pPr>
            <a:r>
              <a:rPr lang="ru-RU" b="0" i="0" dirty="0">
                <a:solidFill>
                  <a:srgbClr val="111827"/>
                </a:solidFill>
                <a:effectLst/>
                <a:latin typeface="system-ui"/>
              </a:rPr>
              <a:t>Казуальность</a:t>
            </a:r>
            <a:r>
              <a:rPr lang="ru-RU" b="0" i="0" dirty="0">
                <a:solidFill>
                  <a:srgbClr val="2C2C36"/>
                </a:solidFill>
                <a:effectLst/>
                <a:latin typeface="system-ui"/>
              </a:rPr>
              <a:t> — направление влияния во времени (кто «ведёт» - информационная предсказуемость).</a:t>
            </a:r>
          </a:p>
        </p:txBody>
      </p:sp>
      <p:pic>
        <p:nvPicPr>
          <p:cNvPr id="1030" name="Picture 6" descr="Example of possible Granger-causality between time series [image by the author]">
            <a:extLst>
              <a:ext uri="{FF2B5EF4-FFF2-40B4-BE49-F238E27FC236}">
                <a16:creationId xmlns:a16="http://schemas.microsoft.com/office/drawing/2014/main" id="{024B156C-3179-A6EE-AC7C-AE8955F3B61F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827531" y="1671466"/>
            <a:ext cx="5061063" cy="175753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9" name="TextBox 8">
            <a:extLst>
              <a:ext uri="{FF2B5EF4-FFF2-40B4-BE49-F238E27FC236}">
                <a16:creationId xmlns:a16="http://schemas.microsoft.com/office/drawing/2014/main" id="{AC3D347A-8B5C-F411-22A8-CAB7F4717E55}"/>
              </a:ext>
            </a:extLst>
          </p:cNvPr>
          <p:cNvSpPr txBox="1"/>
          <p:nvPr/>
        </p:nvSpPr>
        <p:spPr>
          <a:xfrm>
            <a:off x="8727153" y="1855706"/>
            <a:ext cx="2873608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" b="1" i="0" dirty="0">
                <a:solidFill>
                  <a:srgbClr val="2A2A2A"/>
                </a:solidFill>
                <a:effectLst/>
                <a:latin typeface="Work Sans" panose="020F0502020204030204" pitchFamily="34" charset="0"/>
              </a:rPr>
              <a:t>Causality Y1 </a:t>
            </a:r>
            <a:r>
              <a:rPr lang="en" b="1" i="1" dirty="0">
                <a:solidFill>
                  <a:srgbClr val="2A2A2A"/>
                </a:solidFill>
                <a:effectLst/>
                <a:latin typeface="Work Sans" panose="020F0502020204030204" pitchFamily="34" charset="0"/>
              </a:rPr>
              <a:t>causes </a:t>
            </a:r>
            <a:r>
              <a:rPr lang="en" b="1" i="0" dirty="0">
                <a:solidFill>
                  <a:srgbClr val="2A2A2A"/>
                </a:solidFill>
                <a:effectLst/>
                <a:latin typeface="Work Sans" panose="020F0502020204030204" pitchFamily="34" charset="0"/>
              </a:rPr>
              <a:t>Y2</a:t>
            </a:r>
            <a:endParaRPr lang="ru-RU" dirty="0"/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58AB1CC4-562B-43AD-4FC4-8D15BF589705}"/>
              </a:ext>
            </a:extLst>
          </p:cNvPr>
          <p:cNvSpPr txBox="1"/>
          <p:nvPr/>
        </p:nvSpPr>
        <p:spPr>
          <a:xfrm>
            <a:off x="506777" y="1393342"/>
            <a:ext cx="3246168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" b="1" i="0" dirty="0">
                <a:solidFill>
                  <a:srgbClr val="2A2A2A"/>
                </a:solidFill>
                <a:effectLst/>
                <a:latin typeface="Work Sans" panose="020F0502020204030204" pitchFamily="34" charset="0"/>
              </a:rPr>
              <a:t>Correlation + cointegration</a:t>
            </a:r>
            <a:endParaRPr lang="ru-RU" dirty="0"/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E0DCCA38-54EC-96F1-3A81-CDA9DF6F31EA}"/>
              </a:ext>
            </a:extLst>
          </p:cNvPr>
          <p:cNvSpPr txBox="1"/>
          <p:nvPr/>
        </p:nvSpPr>
        <p:spPr>
          <a:xfrm>
            <a:off x="6356787" y="3958525"/>
            <a:ext cx="3246168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" b="1" i="0" dirty="0">
                <a:solidFill>
                  <a:srgbClr val="2A2A2A"/>
                </a:solidFill>
                <a:effectLst/>
                <a:latin typeface="Work Sans" panose="020F0502020204030204" pitchFamily="34" charset="0"/>
              </a:rPr>
              <a:t>Cointegration only</a:t>
            </a:r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2075121730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2D686201-4EBC-4A85-A511-D32F09D2F3C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50843" y="365126"/>
            <a:ext cx="10802957" cy="560292"/>
          </a:xfrm>
        </p:spPr>
        <p:txBody>
          <a:bodyPr>
            <a:normAutofit fontScale="90000"/>
          </a:bodyPr>
          <a:lstStyle/>
          <a:p>
            <a:pPr algn="ctr"/>
            <a:r>
              <a:rPr lang="en-US" b="1" dirty="0" err="1"/>
              <a:t>Ка</a:t>
            </a:r>
            <a:r>
              <a:rPr lang="ru-RU" b="1" dirty="0" err="1"/>
              <a:t>зуальность</a:t>
            </a:r>
            <a:r>
              <a:rPr lang="ru-RU" b="1" dirty="0"/>
              <a:t> МВР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Объект 2">
                <a:extLst>
                  <a:ext uri="{FF2B5EF4-FFF2-40B4-BE49-F238E27FC236}">
                    <a16:creationId xmlns:a16="http://schemas.microsoft.com/office/drawing/2014/main" id="{799D7BF9-B755-2917-A268-2945F31B8F2D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>
              <a:xfrm>
                <a:off x="345195" y="925418"/>
                <a:ext cx="11655846" cy="5563518"/>
              </a:xfrm>
            </p:spPr>
            <p:txBody>
              <a:bodyPr>
                <a:normAutofit/>
              </a:bodyPr>
              <a:lstStyle/>
              <a:p>
                <a:pPr marL="0" indent="0">
                  <a:buNone/>
                </a:pPr>
                <a:r>
                  <a:rPr lang="en-US" sz="2200" dirty="0"/>
                  <a:t>Ка</a:t>
                </a:r>
                <a:r>
                  <a:rPr lang="ru-RU" sz="2200" dirty="0" err="1"/>
                  <a:t>зуальность</a:t>
                </a:r>
                <a:r>
                  <a:rPr lang="ru-RU" sz="2200" dirty="0"/>
                  <a:t> (причинность) по Грейнджеру (</a:t>
                </a:r>
                <a:r>
                  <a:rPr lang="en" sz="2200" dirty="0"/>
                  <a:t>Granger Causality) - </a:t>
                </a:r>
                <a:r>
                  <a:rPr lang="ru-RU" sz="2200" dirty="0"/>
                  <a:t>временной ряд </a:t>
                </a:r>
                <a:r>
                  <a:rPr lang="en" sz="2200" i="1" dirty="0" err="1"/>
                  <a:t>xt</a:t>
                </a:r>
                <a:r>
                  <a:rPr lang="en" sz="2200" dirty="0"/>
                  <a:t>​ </a:t>
                </a:r>
                <a:r>
                  <a:rPr lang="ru-RU" sz="2200" i="1" dirty="0"/>
                  <a:t>вызывает</a:t>
                </a:r>
                <a:r>
                  <a:rPr lang="ru-RU" sz="2200" dirty="0"/>
                  <a:t> по Грейнджеру временной ряд </a:t>
                </a:r>
                <a:r>
                  <a:rPr lang="en" sz="2200" i="1" dirty="0" err="1"/>
                  <a:t>yt</a:t>
                </a:r>
                <a:r>
                  <a:rPr lang="en" sz="2200" dirty="0"/>
                  <a:t>​ , </a:t>
                </a:r>
                <a:r>
                  <a:rPr lang="ru-RU" sz="2200" dirty="0"/>
                  <a:t>если прошлые значения </a:t>
                </a:r>
                <a:r>
                  <a:rPr lang="en" sz="2200" i="1" dirty="0" err="1"/>
                  <a:t>xt</a:t>
                </a:r>
                <a:r>
                  <a:rPr lang="en" sz="2200" dirty="0"/>
                  <a:t>​ </a:t>
                </a:r>
                <a:r>
                  <a:rPr lang="ru-RU" sz="2200" dirty="0"/>
                  <a:t>улучшают прогноз </a:t>
                </a:r>
                <a:r>
                  <a:rPr lang="en" sz="2200" i="1" dirty="0" err="1"/>
                  <a:t>Yt</a:t>
                </a:r>
                <a:r>
                  <a:rPr lang="en" sz="2200" dirty="0"/>
                  <a:t>​ </a:t>
                </a:r>
                <a:r>
                  <a:rPr lang="ru-RU" sz="2200" dirty="0"/>
                  <a:t>по сравнению с прогнозом, основанным только на прошлых значениях </a:t>
                </a:r>
                <a:r>
                  <a:rPr lang="en" sz="2200" i="1" dirty="0" err="1"/>
                  <a:t>yt</a:t>
                </a:r>
                <a:r>
                  <a:rPr lang="en" sz="2200" dirty="0"/>
                  <a:t>​ . </a:t>
                </a:r>
                <a:endParaRPr lang="ru-RU" sz="2200" dirty="0"/>
              </a:p>
              <a:p>
                <a:pPr marL="0" indent="0">
                  <a:buNone/>
                </a:pPr>
                <a:r>
                  <a:rPr lang="ru-RU" sz="2200" dirty="0"/>
                  <a:t>Для двух стационарных временных рядов </a:t>
                </a:r>
                <a:r>
                  <a:rPr lang="en-US" sz="2200" dirty="0"/>
                  <a:t>x  </a:t>
                </a:r>
                <a:r>
                  <a:rPr lang="ru-RU" sz="2200" dirty="0"/>
                  <a:t>и  </a:t>
                </a:r>
                <a:r>
                  <a:rPr lang="en-US" sz="2200" dirty="0"/>
                  <a:t>y</a:t>
                </a:r>
                <a:r>
                  <a:rPr lang="ru-RU" sz="2200" dirty="0"/>
                  <a:t> если</a:t>
                </a:r>
                <a:r>
                  <a:rPr lang="en-US" sz="2200" dirty="0"/>
                  <a:t> </a:t>
                </a:r>
                <a:r>
                  <a:rPr lang="en-US" sz="2200" dirty="0" err="1"/>
                  <a:t>в</a:t>
                </a:r>
                <a:r>
                  <a:rPr lang="ru-RU" sz="2200" dirty="0"/>
                  <a:t>плоть до лага </a:t>
                </a:r>
                <a:r>
                  <a:rPr lang="en-US" sz="2200" dirty="0"/>
                  <a:t>p:</a:t>
                </a:r>
                <a:endParaRPr lang="ru-RU" sz="2200" dirty="0"/>
              </a:p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sz="2200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2200" b="0" i="1" smtClean="0">
                              <a:latin typeface="Cambria Math" panose="02040503050406030204" pitchFamily="18" charset="0"/>
                            </a:rPr>
                            <m:t>𝑦</m:t>
                          </m:r>
                        </m:e>
                        <m:sub>
                          <m:r>
                            <a:rPr lang="en-US" sz="2200" i="1">
                              <a:latin typeface="Cambria Math" panose="02040503050406030204" pitchFamily="18" charset="0"/>
                            </a:rPr>
                            <m:t>𝑛</m:t>
                          </m:r>
                        </m:sub>
                      </m:sSub>
                      <m:r>
                        <a:rPr lang="en-US" sz="2200" i="1">
                          <a:latin typeface="Cambria Math" panose="02040503050406030204" pitchFamily="18" charset="0"/>
                        </a:rPr>
                        <m:t>=</m:t>
                      </m:r>
                      <m:nary>
                        <m:naryPr>
                          <m:chr m:val="∑"/>
                          <m:limLoc m:val="undOvr"/>
                          <m:ctrlPr>
                            <a:rPr lang="en-US" sz="2200" i="1">
                              <a:latin typeface="Cambria Math" panose="02040503050406030204" pitchFamily="18" charset="0"/>
                            </a:rPr>
                          </m:ctrlPr>
                        </m:naryPr>
                        <m:sub>
                          <m:r>
                            <a:rPr lang="en-US" sz="2200" i="1">
                              <a:latin typeface="Cambria Math" panose="02040503050406030204" pitchFamily="18" charset="0"/>
                            </a:rPr>
                            <m:t>𝑖</m:t>
                          </m:r>
                          <m:r>
                            <a:rPr lang="en-US" sz="2200" i="1">
                              <a:latin typeface="Cambria Math" panose="02040503050406030204" pitchFamily="18" charset="0"/>
                            </a:rPr>
                            <m:t>=0</m:t>
                          </m:r>
                        </m:sub>
                        <m:sup>
                          <m:r>
                            <a:rPr lang="en-US" sz="2200" b="0" i="1" smtClean="0">
                              <a:latin typeface="Cambria Math" panose="02040503050406030204" pitchFamily="18" charset="0"/>
                            </a:rPr>
                            <m:t>𝑝</m:t>
                          </m:r>
                        </m:sup>
                        <m:e>
                          <m:sSub>
                            <m:sSubPr>
                              <m:ctrlPr>
                                <a:rPr lang="en-US" sz="2200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ru-RU" sz="2200" i="1">
                                  <a:latin typeface="Cambria Math" panose="02040503050406030204" pitchFamily="18" charset="0"/>
                                </a:rPr>
                                <m:t>𝑎</m:t>
                              </m:r>
                            </m:e>
                            <m:sub>
                              <m:r>
                                <a:rPr lang="en-US" sz="2200" i="1">
                                  <a:latin typeface="Cambria Math" panose="02040503050406030204" pitchFamily="18" charset="0"/>
                                </a:rPr>
                                <m:t>𝑖</m:t>
                              </m:r>
                            </m:sub>
                          </m:sSub>
                        </m:e>
                      </m:nary>
                      <m:sSub>
                        <m:sSubPr>
                          <m:ctrlPr>
                            <a:rPr lang="en-US" sz="2200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2200" i="1">
                              <a:latin typeface="Cambria Math" panose="02040503050406030204" pitchFamily="18" charset="0"/>
                            </a:rPr>
                            <m:t>𝑦</m:t>
                          </m:r>
                        </m:e>
                        <m:sub>
                          <m:r>
                            <a:rPr lang="en-US" sz="2200" i="1">
                              <a:latin typeface="Cambria Math" panose="02040503050406030204" pitchFamily="18" charset="0"/>
                            </a:rPr>
                            <m:t>𝑛</m:t>
                          </m:r>
                          <m:r>
                            <a:rPr lang="en-US" sz="2200" i="1">
                              <a:latin typeface="Cambria Math" panose="02040503050406030204" pitchFamily="18" charset="0"/>
                            </a:rPr>
                            <m:t>−</m:t>
                          </m:r>
                          <m:r>
                            <a:rPr lang="en-US" sz="2200" i="1">
                              <a:latin typeface="Cambria Math" panose="02040503050406030204" pitchFamily="18" charset="0"/>
                            </a:rPr>
                            <m:t>𝑖</m:t>
                          </m:r>
                        </m:sub>
                      </m:sSub>
                      <m:r>
                        <a:rPr lang="en-US" sz="2200" i="1">
                          <a:latin typeface="Cambria Math" panose="02040503050406030204" pitchFamily="18" charset="0"/>
                        </a:rPr>
                        <m:t>+</m:t>
                      </m:r>
                      <m:nary>
                        <m:naryPr>
                          <m:chr m:val="∑"/>
                          <m:limLoc m:val="undOvr"/>
                          <m:ctrlPr>
                            <a:rPr lang="en-US" sz="2200" i="1">
                              <a:latin typeface="Cambria Math" panose="02040503050406030204" pitchFamily="18" charset="0"/>
                            </a:rPr>
                          </m:ctrlPr>
                        </m:naryPr>
                        <m:sub>
                          <m:r>
                            <a:rPr lang="en-US" sz="2200" i="1">
                              <a:latin typeface="Cambria Math" panose="02040503050406030204" pitchFamily="18" charset="0"/>
                            </a:rPr>
                            <m:t>𝑖</m:t>
                          </m:r>
                          <m:r>
                            <a:rPr lang="en-US" sz="2200" i="1">
                              <a:latin typeface="Cambria Math" panose="02040503050406030204" pitchFamily="18" charset="0"/>
                            </a:rPr>
                            <m:t>=0</m:t>
                          </m:r>
                        </m:sub>
                        <m:sup>
                          <m:r>
                            <a:rPr lang="en-US" sz="2200" b="0" i="1" smtClean="0">
                              <a:latin typeface="Cambria Math" panose="02040503050406030204" pitchFamily="18" charset="0"/>
                            </a:rPr>
                            <m:t>𝑝</m:t>
                          </m:r>
                        </m:sup>
                        <m:e>
                          <m:sSub>
                            <m:sSubPr>
                              <m:ctrlPr>
                                <a:rPr lang="en-US" sz="2200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sz="2200" b="0" i="1" smtClean="0">
                                  <a:latin typeface="Cambria Math" panose="02040503050406030204" pitchFamily="18" charset="0"/>
                                </a:rPr>
                                <m:t>𝛽</m:t>
                              </m:r>
                            </m:e>
                            <m:sub>
                              <m:r>
                                <a:rPr lang="en-US" sz="2200" i="1">
                                  <a:latin typeface="Cambria Math" panose="02040503050406030204" pitchFamily="18" charset="0"/>
                                </a:rPr>
                                <m:t>𝑖</m:t>
                              </m:r>
                            </m:sub>
                          </m:sSub>
                        </m:e>
                      </m:nary>
                      <m:sSub>
                        <m:sSubPr>
                          <m:ctrlPr>
                            <a:rPr lang="en-US" sz="2200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2200" b="0" i="1" smtClean="0"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  <m:sub>
                          <m:r>
                            <a:rPr lang="en-US" sz="2200" i="1">
                              <a:latin typeface="Cambria Math" panose="02040503050406030204" pitchFamily="18" charset="0"/>
                            </a:rPr>
                            <m:t>𝑛</m:t>
                          </m:r>
                          <m:r>
                            <a:rPr lang="en-US" sz="2200" i="1">
                              <a:latin typeface="Cambria Math" panose="02040503050406030204" pitchFamily="18" charset="0"/>
                            </a:rPr>
                            <m:t>−</m:t>
                          </m:r>
                          <m:r>
                            <a:rPr lang="en-US" sz="2200" i="1">
                              <a:latin typeface="Cambria Math" panose="02040503050406030204" pitchFamily="18" charset="0"/>
                            </a:rPr>
                            <m:t>𝑖</m:t>
                          </m:r>
                        </m:sub>
                      </m:sSub>
                    </m:oMath>
                  </m:oMathPara>
                </a14:m>
                <a:endParaRPr lang="en-US" sz="2200" dirty="0"/>
              </a:p>
              <a:p>
                <a:pPr marL="0" indent="0">
                  <a:lnSpc>
                    <a:spcPct val="100000"/>
                  </a:lnSpc>
                  <a:spcBef>
                    <a:spcPts val="0"/>
                  </a:spcBef>
                  <a:buNone/>
                </a:pPr>
                <a:r>
                  <a:rPr lang="ru-RU" sz="2200" dirty="0"/>
                  <a:t>где</a:t>
                </a:r>
                <a:r>
                  <a:rPr lang="en-US" sz="2200" dirty="0"/>
                  <a:t> </a:t>
                </a:r>
                <a:r>
                  <a:rPr lang="ru-RU" sz="2200" dirty="0"/>
                  <a:t>один или несколько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sz="22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200" i="1">
                            <a:latin typeface="Cambria Math" panose="02040503050406030204" pitchFamily="18" charset="0"/>
                          </a:rPr>
                          <m:t>𝛽</m:t>
                        </m:r>
                      </m:e>
                      <m:sub>
                        <m:r>
                          <a:rPr lang="en-US" sz="2200" i="1">
                            <a:latin typeface="Cambria Math" panose="02040503050406030204" pitchFamily="18" charset="0"/>
                          </a:rPr>
                          <m:t>𝑖</m:t>
                        </m:r>
                      </m:sub>
                    </m:sSub>
                    <m:r>
                      <a:rPr lang="en-US" sz="2200" b="0" i="1" smtClean="0">
                        <a:latin typeface="Cambria Math" panose="02040503050406030204" pitchFamily="18" charset="0"/>
                      </a:rPr>
                      <m:t>≠0</m:t>
                    </m:r>
                    <m:r>
                      <a:rPr lang="ru-RU" sz="2200" b="0" i="1" smtClean="0">
                        <a:latin typeface="Cambria Math" panose="02040503050406030204" pitchFamily="18" charset="0"/>
                      </a:rPr>
                      <m:t> и </m:t>
                    </m:r>
                    <m:sSub>
                      <m:sSubPr>
                        <m:ctrlPr>
                          <a:rPr lang="en-US" sz="2200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m:rPr>
                            <m:sty m:val="p"/>
                          </m:rPr>
                          <a:rPr lang="ru-RU" sz="2200" b="0" i="0" smtClean="0">
                            <a:latin typeface="Cambria Math" panose="02040503050406030204" pitchFamily="18" charset="0"/>
                          </a:rPr>
                          <m:t>F</m:t>
                        </m:r>
                      </m:e>
                      <m:sub>
                        <m:r>
                          <a:rPr lang="en-US" sz="2200" b="0" i="1" smtClean="0">
                            <a:latin typeface="Cambria Math" panose="02040503050406030204" pitchFamily="18" charset="0"/>
                          </a:rPr>
                          <m:t>𝑝</m:t>
                        </m:r>
                        <m:r>
                          <a:rPr lang="en-US" sz="2200" b="0" i="1" smtClean="0">
                            <a:latin typeface="Cambria Math" panose="02040503050406030204" pitchFamily="18" charset="0"/>
                          </a:rPr>
                          <m:t>,</m:t>
                        </m:r>
                        <m:r>
                          <a:rPr lang="en-US" sz="2200" b="0" i="1" smtClean="0">
                            <a:latin typeface="Cambria Math" panose="02040503050406030204" pitchFamily="18" charset="0"/>
                          </a:rPr>
                          <m:t>𝑛</m:t>
                        </m:r>
                        <m:r>
                          <a:rPr lang="en-US" sz="2200" b="0" i="1" smtClean="0">
                            <a:latin typeface="Cambria Math" panose="02040503050406030204" pitchFamily="18" charset="0"/>
                          </a:rPr>
                          <m:t>−2</m:t>
                        </m:r>
                        <m:r>
                          <a:rPr lang="en-US" sz="2200" b="0" i="1" smtClean="0">
                            <a:latin typeface="Cambria Math" panose="02040503050406030204" pitchFamily="18" charset="0"/>
                          </a:rPr>
                          <m:t>𝑝</m:t>
                        </m:r>
                        <m:r>
                          <a:rPr lang="en-US" sz="2200" b="0" i="1" smtClean="0">
                            <a:latin typeface="Cambria Math" panose="02040503050406030204" pitchFamily="18" charset="0"/>
                          </a:rPr>
                          <m:t>−1</m:t>
                        </m:r>
                      </m:sub>
                    </m:sSub>
                    <m:r>
                      <a:rPr lang="en-US" sz="2200" b="0" i="1" smtClean="0"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ctrlPr>
                          <a:rPr lang="en-US" sz="2200" b="0" i="1" smtClean="0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d>
                          <m:dPr>
                            <m:ctrlPr>
                              <a:rPr lang="en-US" sz="2200" b="0" i="1" smtClean="0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n-US" sz="2200" i="1">
                                <a:latin typeface="Cambria Math" panose="02040503050406030204" pitchFamily="18" charset="0"/>
                              </a:rPr>
                              <m:t>𝑆𝑆</m:t>
                            </m:r>
                            <m:sSub>
                              <m:sSubPr>
                                <m:ctrlPr>
                                  <a:rPr lang="en-US" sz="2200" i="1"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en-US" sz="2200" i="1">
                                    <a:latin typeface="Cambria Math" panose="02040503050406030204" pitchFamily="18" charset="0"/>
                                  </a:rPr>
                                  <m:t>𝐸</m:t>
                                </m:r>
                              </m:e>
                              <m:sub>
                                <m:r>
                                  <a:rPr lang="en-US" sz="2200" i="1">
                                    <a:latin typeface="Cambria Math" panose="02040503050406030204" pitchFamily="18" charset="0"/>
                                  </a:rPr>
                                  <m:t>𝑥</m:t>
                                </m:r>
                                <m:r>
                                  <a:rPr lang="en-US" sz="2200" i="1">
                                    <a:latin typeface="Cambria Math" panose="02040503050406030204" pitchFamily="18" charset="0"/>
                                  </a:rPr>
                                  <m:t>,</m:t>
                                </m:r>
                                <m:r>
                                  <a:rPr lang="en-US" sz="2200" i="1">
                                    <a:latin typeface="Cambria Math" panose="02040503050406030204" pitchFamily="18" charset="0"/>
                                  </a:rPr>
                                  <m:t>𝑦</m:t>
                                </m:r>
                              </m:sub>
                            </m:sSub>
                          </m:e>
                        </m:d>
                        <m:d>
                          <m:dPr>
                            <m:ctrlPr>
                              <a:rPr lang="en-US" sz="2200" b="0" i="1" smtClean="0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n-US" sz="2200" i="1">
                                <a:latin typeface="Cambria Math" panose="02040503050406030204" pitchFamily="18" charset="0"/>
                              </a:rPr>
                              <m:t>𝑆𝑆</m:t>
                            </m:r>
                            <m:sSub>
                              <m:sSubPr>
                                <m:ctrlPr>
                                  <a:rPr lang="en-US" sz="2200" i="1"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en-US" sz="2200" i="1">
                                    <a:latin typeface="Cambria Math" panose="02040503050406030204" pitchFamily="18" charset="0"/>
                                  </a:rPr>
                                  <m:t>𝐸</m:t>
                                </m:r>
                              </m:e>
                              <m:sub>
                                <m:r>
                                  <a:rPr lang="en-US" sz="2200" i="1">
                                    <a:latin typeface="Cambria Math" panose="02040503050406030204" pitchFamily="18" charset="0"/>
                                  </a:rPr>
                                  <m:t>𝑦</m:t>
                                </m:r>
                              </m:sub>
                            </m:sSub>
                            <m:r>
                              <a:rPr lang="ru-RU" sz="2200" b="0" i="1" smtClean="0">
                                <a:latin typeface="Cambria Math" panose="02040503050406030204" pitchFamily="18" charset="0"/>
                              </a:rPr>
                              <m:t>−</m:t>
                            </m:r>
                            <m:r>
                              <a:rPr lang="en-US" sz="2200" i="1">
                                <a:latin typeface="Cambria Math" panose="02040503050406030204" pitchFamily="18" charset="0"/>
                              </a:rPr>
                              <m:t>𝑆𝑆</m:t>
                            </m:r>
                            <m:sSub>
                              <m:sSubPr>
                                <m:ctrlPr>
                                  <a:rPr lang="en-US" sz="2200" i="1"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en-US" sz="2200" i="1">
                                    <a:latin typeface="Cambria Math" panose="02040503050406030204" pitchFamily="18" charset="0"/>
                                  </a:rPr>
                                  <m:t>𝐸</m:t>
                                </m:r>
                              </m:e>
                              <m:sub>
                                <m:r>
                                  <a:rPr lang="en-US" sz="2200" i="1">
                                    <a:latin typeface="Cambria Math" panose="02040503050406030204" pitchFamily="18" charset="0"/>
                                  </a:rPr>
                                  <m:t>𝑥</m:t>
                                </m:r>
                                <m:r>
                                  <a:rPr lang="en-US" sz="2200" i="1">
                                    <a:latin typeface="Cambria Math" panose="02040503050406030204" pitchFamily="18" charset="0"/>
                                  </a:rPr>
                                  <m:t>,</m:t>
                                </m:r>
                                <m:r>
                                  <a:rPr lang="en-US" sz="2200" i="1">
                                    <a:latin typeface="Cambria Math" panose="02040503050406030204" pitchFamily="18" charset="0"/>
                                  </a:rPr>
                                  <m:t>𝑦</m:t>
                                </m:r>
                              </m:sub>
                            </m:sSub>
                          </m:e>
                        </m:d>
                      </m:num>
                      <m:den>
                        <m:r>
                          <a:rPr lang="en-US" sz="2200" b="0" i="1" smtClean="0">
                            <a:latin typeface="Cambria Math" panose="02040503050406030204" pitchFamily="18" charset="0"/>
                          </a:rPr>
                          <m:t>𝑝</m:t>
                        </m:r>
                        <m:r>
                          <a:rPr lang="en-US" sz="2200" i="1">
                            <a:latin typeface="Cambria Math" panose="02040503050406030204" pitchFamily="18" charset="0"/>
                          </a:rPr>
                          <m:t>𝑆𝑆</m:t>
                        </m:r>
                        <m:sSub>
                          <m:sSubPr>
                            <m:ctrlPr>
                              <a:rPr lang="en-US" sz="2200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sz="2200" i="1">
                                <a:latin typeface="Cambria Math" panose="02040503050406030204" pitchFamily="18" charset="0"/>
                              </a:rPr>
                              <m:t>𝐸</m:t>
                            </m:r>
                          </m:e>
                          <m:sub>
                            <m:r>
                              <a:rPr lang="en-US" sz="2200" i="1">
                                <a:latin typeface="Cambria Math" panose="02040503050406030204" pitchFamily="18" charset="0"/>
                              </a:rPr>
                              <m:t>𝑥</m:t>
                            </m:r>
                            <m:r>
                              <a:rPr lang="en-US" sz="2200" i="1">
                                <a:latin typeface="Cambria Math" panose="02040503050406030204" pitchFamily="18" charset="0"/>
                              </a:rPr>
                              <m:t>,</m:t>
                            </m:r>
                            <m:r>
                              <a:rPr lang="en-US" sz="2200" i="1">
                                <a:latin typeface="Cambria Math" panose="02040503050406030204" pitchFamily="18" charset="0"/>
                              </a:rPr>
                              <m:t>𝑦</m:t>
                            </m:r>
                          </m:sub>
                        </m:sSub>
                      </m:den>
                    </m:f>
                    <m:r>
                      <a:rPr lang="en-US" sz="2200" b="0" i="0" smtClean="0">
                        <a:latin typeface="Cambria Math" panose="02040503050406030204" pitchFamily="18" charset="0"/>
                      </a:rPr>
                      <m:t>&gt;</m:t>
                    </m:r>
                    <m:r>
                      <a:rPr lang="en-US" sz="2200" b="0" i="1" smtClean="0">
                        <a:latin typeface="Cambria Math" panose="02040503050406030204" pitchFamily="18" charset="0"/>
                      </a:rPr>
                      <m:t>𝛼</m:t>
                    </m:r>
                  </m:oMath>
                </a14:m>
                <a:r>
                  <a:rPr lang="en-US" sz="2200" dirty="0"/>
                  <a:t>(F-test) – X </a:t>
                </a:r>
                <a:r>
                  <a:rPr lang="ru-RU" sz="2200" dirty="0"/>
                  <a:t>и </a:t>
                </a:r>
                <a:r>
                  <a:rPr lang="en-US" sz="2200" dirty="0"/>
                  <a:t>Y</a:t>
                </a:r>
                <a:r>
                  <a:rPr lang="ru-RU" sz="2200" dirty="0"/>
                  <a:t> </a:t>
                </a:r>
                <a:r>
                  <a:rPr lang="ru-RU" sz="2200" dirty="0" err="1"/>
                  <a:t>казуальны</a:t>
                </a:r>
                <a:endParaRPr lang="ru-RU" sz="2200" dirty="0"/>
              </a:p>
              <a:p>
                <a:pPr marL="0" indent="0">
                  <a:buNone/>
                </a:pPr>
                <a:endParaRPr lang="ru-RU" sz="2400" dirty="0"/>
              </a:p>
            </p:txBody>
          </p:sp>
        </mc:Choice>
        <mc:Fallback xmlns="">
          <p:sp>
            <p:nvSpPr>
              <p:cNvPr id="3" name="Объект 2">
                <a:extLst>
                  <a:ext uri="{FF2B5EF4-FFF2-40B4-BE49-F238E27FC236}">
                    <a16:creationId xmlns:a16="http://schemas.microsoft.com/office/drawing/2014/main" id="{799D7BF9-B755-2917-A268-2945F31B8F2D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345195" y="925418"/>
                <a:ext cx="11655846" cy="5563518"/>
              </a:xfrm>
              <a:blipFill>
                <a:blip r:embed="rId3"/>
                <a:stretch>
                  <a:fillRect l="-653" t="-1367" r="-979"/>
                </a:stretch>
              </a:blipFill>
            </p:spPr>
            <p:txBody>
              <a:bodyPr/>
              <a:lstStyle/>
              <a:p>
                <a:r>
                  <a:rPr lang="ru-RU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2050" name="Picture 2" descr="trend Granger Causality">
            <a:extLst>
              <a:ext uri="{FF2B5EF4-FFF2-40B4-BE49-F238E27FC236}">
                <a16:creationId xmlns:a16="http://schemas.microsoft.com/office/drawing/2014/main" id="{1B534AEC-9B29-7382-F1C9-88D85BBF4CA7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6232" r="7721"/>
          <a:stretch>
            <a:fillRect/>
          </a:stretch>
        </p:blipFill>
        <p:spPr bwMode="auto">
          <a:xfrm>
            <a:off x="7384973" y="3921280"/>
            <a:ext cx="4461832" cy="256765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7" name="TextBox 6">
            <a:extLst>
              <a:ext uri="{FF2B5EF4-FFF2-40B4-BE49-F238E27FC236}">
                <a16:creationId xmlns:a16="http://schemas.microsoft.com/office/drawing/2014/main" id="{075FAA14-DCB6-384A-D606-358920E4B61D}"/>
              </a:ext>
            </a:extLst>
          </p:cNvPr>
          <p:cNvSpPr txBox="1"/>
          <p:nvPr/>
        </p:nvSpPr>
        <p:spPr>
          <a:xfrm>
            <a:off x="4236998" y="6581001"/>
            <a:ext cx="8177270" cy="276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ru-RU" sz="1200" dirty="0" err="1"/>
              <a:t>https</a:t>
            </a:r>
            <a:r>
              <a:rPr lang="ru-RU" sz="1200" dirty="0"/>
              <a:t>://</a:t>
            </a:r>
            <a:r>
              <a:rPr lang="ru-RU" sz="1200" dirty="0" err="1"/>
              <a:t>www.analyticsvidhya.com</a:t>
            </a:r>
            <a:r>
              <a:rPr lang="ru-RU" sz="1200" dirty="0"/>
              <a:t>/</a:t>
            </a:r>
            <a:r>
              <a:rPr lang="ru-RU" sz="1200" dirty="0" err="1"/>
              <a:t>blog</a:t>
            </a:r>
            <a:r>
              <a:rPr lang="ru-RU" sz="1200" dirty="0"/>
              <a:t>/2021/08/granger-causality-in-time-series-explained-using-chicken-and-egg-problem/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159AF3C6-C881-84FC-F8EF-137FBA69243E}"/>
              </a:ext>
            </a:extLst>
          </p:cNvPr>
          <p:cNvSpPr txBox="1"/>
          <p:nvPr/>
        </p:nvSpPr>
        <p:spPr>
          <a:xfrm>
            <a:off x="345195" y="3921280"/>
            <a:ext cx="6093912" cy="175432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ru-RU" dirty="0" err="1"/>
              <a:t>There</a:t>
            </a:r>
            <a:r>
              <a:rPr lang="ru-RU" dirty="0"/>
              <a:t> </a:t>
            </a:r>
            <a:r>
              <a:rPr lang="ru-RU" dirty="0" err="1"/>
              <a:t>are</a:t>
            </a:r>
            <a:r>
              <a:rPr lang="ru-RU" dirty="0"/>
              <a:t> 4 </a:t>
            </a:r>
            <a:r>
              <a:rPr lang="ru-RU" dirty="0" err="1"/>
              <a:t>possible</a:t>
            </a:r>
            <a:r>
              <a:rPr lang="ru-RU" dirty="0"/>
              <a:t> </a:t>
            </a:r>
            <a:r>
              <a:rPr lang="ru-RU" dirty="0" err="1"/>
              <a:t>conclusions</a:t>
            </a:r>
            <a:r>
              <a:rPr lang="ru-RU" dirty="0"/>
              <a:t> </a:t>
            </a:r>
            <a:r>
              <a:rPr lang="ru-RU" dirty="0" err="1"/>
              <a:t>from</a:t>
            </a:r>
            <a:r>
              <a:rPr lang="ru-RU" dirty="0"/>
              <a:t> </a:t>
            </a:r>
            <a:r>
              <a:rPr lang="ru-RU" dirty="0" err="1"/>
              <a:t>test</a:t>
            </a:r>
            <a:r>
              <a:rPr lang="ru-RU" dirty="0"/>
              <a:t>:</a:t>
            </a:r>
          </a:p>
          <a:p>
            <a:r>
              <a:rPr lang="ru-RU" dirty="0"/>
              <a:t>1. 𝑋 </a:t>
            </a:r>
            <a:r>
              <a:rPr lang="ru-RU" dirty="0" err="1"/>
              <a:t>Granger</a:t>
            </a:r>
            <a:r>
              <a:rPr lang="ru-RU" dirty="0"/>
              <a:t> </a:t>
            </a:r>
            <a:r>
              <a:rPr lang="ru-RU" dirty="0" err="1"/>
              <a:t>causes</a:t>
            </a:r>
            <a:r>
              <a:rPr lang="ru-RU" dirty="0"/>
              <a:t> </a:t>
            </a:r>
            <a:r>
              <a:rPr lang="ru-RU" dirty="0" err="1"/>
              <a:t>Y</a:t>
            </a:r>
            <a:r>
              <a:rPr lang="ru-RU" dirty="0"/>
              <a:t>, </a:t>
            </a:r>
            <a:r>
              <a:rPr lang="ru-RU" dirty="0" err="1"/>
              <a:t>but</a:t>
            </a:r>
            <a:r>
              <a:rPr lang="ru-RU" dirty="0"/>
              <a:t> </a:t>
            </a:r>
            <a:r>
              <a:rPr lang="ru-RU" dirty="0" err="1"/>
              <a:t>Y</a:t>
            </a:r>
            <a:r>
              <a:rPr lang="ru-RU" dirty="0"/>
              <a:t> </a:t>
            </a:r>
            <a:r>
              <a:rPr lang="ru-RU" dirty="0" err="1"/>
              <a:t>does</a:t>
            </a:r>
            <a:r>
              <a:rPr lang="ru-RU" dirty="0"/>
              <a:t> </a:t>
            </a:r>
            <a:r>
              <a:rPr lang="ru-RU" dirty="0" err="1"/>
              <a:t>not</a:t>
            </a:r>
            <a:r>
              <a:rPr lang="ru-RU" dirty="0"/>
              <a:t> </a:t>
            </a:r>
            <a:r>
              <a:rPr lang="ru-RU" dirty="0" err="1"/>
              <a:t>Granger</a:t>
            </a:r>
            <a:r>
              <a:rPr lang="ru-RU" dirty="0"/>
              <a:t> </a:t>
            </a:r>
            <a:r>
              <a:rPr lang="ru-RU" dirty="0" err="1"/>
              <a:t>cause</a:t>
            </a:r>
            <a:r>
              <a:rPr lang="ru-RU" dirty="0"/>
              <a:t> 𝑋2. </a:t>
            </a:r>
            <a:r>
              <a:rPr lang="ru-RU" dirty="0" err="1"/>
              <a:t>Y</a:t>
            </a:r>
            <a:r>
              <a:rPr lang="ru-RU" dirty="0"/>
              <a:t> </a:t>
            </a:r>
            <a:r>
              <a:rPr lang="ru-RU" dirty="0" err="1"/>
              <a:t>Granger</a:t>
            </a:r>
            <a:r>
              <a:rPr lang="ru-RU" dirty="0"/>
              <a:t> </a:t>
            </a:r>
            <a:r>
              <a:rPr lang="ru-RU" dirty="0" err="1"/>
              <a:t>causes</a:t>
            </a:r>
            <a:r>
              <a:rPr lang="ru-RU" dirty="0"/>
              <a:t> X, </a:t>
            </a:r>
            <a:r>
              <a:rPr lang="ru-RU" dirty="0" err="1"/>
              <a:t>but</a:t>
            </a:r>
            <a:r>
              <a:rPr lang="ru-RU" dirty="0"/>
              <a:t> 𝑋 </a:t>
            </a:r>
            <a:r>
              <a:rPr lang="ru-RU" dirty="0" err="1"/>
              <a:t>does</a:t>
            </a:r>
            <a:r>
              <a:rPr lang="ru-RU" dirty="0"/>
              <a:t> </a:t>
            </a:r>
            <a:r>
              <a:rPr lang="ru-RU" dirty="0" err="1"/>
              <a:t>not</a:t>
            </a:r>
            <a:r>
              <a:rPr lang="ru-RU" dirty="0"/>
              <a:t> </a:t>
            </a:r>
            <a:r>
              <a:rPr lang="ru-RU" dirty="0" err="1"/>
              <a:t>Granger</a:t>
            </a:r>
            <a:r>
              <a:rPr lang="ru-RU" dirty="0"/>
              <a:t> </a:t>
            </a:r>
            <a:r>
              <a:rPr lang="ru-RU" dirty="0" err="1"/>
              <a:t>cause</a:t>
            </a:r>
            <a:r>
              <a:rPr lang="ru-RU" dirty="0"/>
              <a:t> Y3. 𝑋 </a:t>
            </a:r>
            <a:r>
              <a:rPr lang="ru-RU" dirty="0" err="1"/>
              <a:t>Granger</a:t>
            </a:r>
            <a:r>
              <a:rPr lang="ru-RU" dirty="0"/>
              <a:t> </a:t>
            </a:r>
            <a:r>
              <a:rPr lang="ru-RU" dirty="0" err="1"/>
              <a:t>causes</a:t>
            </a:r>
            <a:r>
              <a:rPr lang="ru-RU" dirty="0"/>
              <a:t> </a:t>
            </a:r>
            <a:r>
              <a:rPr lang="ru-RU" dirty="0" err="1"/>
              <a:t>Y</a:t>
            </a:r>
            <a:r>
              <a:rPr lang="ru-RU" dirty="0"/>
              <a:t> </a:t>
            </a:r>
            <a:r>
              <a:rPr lang="ru-RU" dirty="0" err="1"/>
              <a:t>and</a:t>
            </a:r>
            <a:r>
              <a:rPr lang="ru-RU" dirty="0"/>
              <a:t> </a:t>
            </a:r>
            <a:r>
              <a:rPr lang="ru-RU" dirty="0" err="1"/>
              <a:t>Y</a:t>
            </a:r>
            <a:r>
              <a:rPr lang="ru-RU" dirty="0"/>
              <a:t> </a:t>
            </a:r>
            <a:r>
              <a:rPr lang="ru-RU" dirty="0" err="1"/>
              <a:t>Granger</a:t>
            </a:r>
            <a:r>
              <a:rPr lang="ru-RU" dirty="0"/>
              <a:t> </a:t>
            </a:r>
            <a:r>
              <a:rPr lang="ru-RU" dirty="0" err="1"/>
              <a:t>causes</a:t>
            </a:r>
            <a:r>
              <a:rPr lang="ru-RU" dirty="0"/>
              <a:t> 𝑋 --</a:t>
            </a:r>
            <a:r>
              <a:rPr lang="ru-RU" dirty="0" err="1"/>
              <a:t>i.e</a:t>
            </a:r>
            <a:r>
              <a:rPr lang="ru-RU" dirty="0"/>
              <a:t>., </a:t>
            </a:r>
            <a:r>
              <a:rPr lang="ru-RU" dirty="0" err="1"/>
              <a:t>there</a:t>
            </a:r>
            <a:r>
              <a:rPr lang="ru-RU" dirty="0"/>
              <a:t> </a:t>
            </a:r>
            <a:r>
              <a:rPr lang="ru-RU" dirty="0" err="1"/>
              <a:t>is</a:t>
            </a:r>
            <a:r>
              <a:rPr lang="ru-RU" dirty="0"/>
              <a:t> </a:t>
            </a:r>
            <a:r>
              <a:rPr lang="ru-RU" dirty="0" err="1"/>
              <a:t>a</a:t>
            </a:r>
            <a:endParaRPr lang="ru-RU" dirty="0"/>
          </a:p>
          <a:p>
            <a:r>
              <a:rPr lang="ru-RU" dirty="0" err="1"/>
              <a:t>feedback</a:t>
            </a:r>
            <a:r>
              <a:rPr lang="ru-RU" dirty="0"/>
              <a:t> </a:t>
            </a:r>
            <a:r>
              <a:rPr lang="ru-RU" dirty="0" err="1"/>
              <a:t>system</a:t>
            </a:r>
            <a:r>
              <a:rPr lang="ru-RU" dirty="0"/>
              <a:t> </a:t>
            </a:r>
            <a:r>
              <a:rPr lang="ru-RU" dirty="0" err="1"/>
              <a:t>or</a:t>
            </a:r>
            <a:r>
              <a:rPr lang="ru-RU" dirty="0"/>
              <a:t> </a:t>
            </a:r>
            <a:r>
              <a:rPr lang="ru-RU" dirty="0" err="1"/>
              <a:t>bidirectional</a:t>
            </a:r>
            <a:r>
              <a:rPr lang="ru-RU" dirty="0"/>
              <a:t> </a:t>
            </a:r>
            <a:r>
              <a:rPr lang="ru-RU" dirty="0" err="1"/>
              <a:t>causality</a:t>
            </a:r>
            <a:r>
              <a:rPr lang="ru-RU" dirty="0"/>
              <a:t>.</a:t>
            </a:r>
          </a:p>
          <a:p>
            <a:r>
              <a:rPr lang="ru-RU" dirty="0"/>
              <a:t>4. 𝑋 </a:t>
            </a:r>
            <a:r>
              <a:rPr lang="ru-RU" dirty="0" err="1"/>
              <a:t>does</a:t>
            </a:r>
            <a:r>
              <a:rPr lang="ru-RU" dirty="0"/>
              <a:t> </a:t>
            </a:r>
            <a:r>
              <a:rPr lang="ru-RU" dirty="0" err="1"/>
              <a:t>not</a:t>
            </a:r>
            <a:r>
              <a:rPr lang="ru-RU" dirty="0"/>
              <a:t> </a:t>
            </a:r>
            <a:r>
              <a:rPr lang="ru-RU" dirty="0" err="1"/>
              <a:t>Granger</a:t>
            </a:r>
            <a:r>
              <a:rPr lang="ru-RU" dirty="0"/>
              <a:t> </a:t>
            </a:r>
            <a:r>
              <a:rPr lang="ru-RU" dirty="0" err="1"/>
              <a:t>cause</a:t>
            </a:r>
            <a:r>
              <a:rPr lang="ru-RU" dirty="0"/>
              <a:t> </a:t>
            </a:r>
            <a:r>
              <a:rPr lang="ru-RU" dirty="0" err="1"/>
              <a:t>Y</a:t>
            </a:r>
            <a:r>
              <a:rPr lang="ru-RU" dirty="0"/>
              <a:t> </a:t>
            </a:r>
            <a:r>
              <a:rPr lang="ru-RU" dirty="0" err="1"/>
              <a:t>and</a:t>
            </a:r>
            <a:r>
              <a:rPr lang="ru-RU" dirty="0"/>
              <a:t> </a:t>
            </a:r>
            <a:r>
              <a:rPr lang="ru-RU" dirty="0" err="1"/>
              <a:t>Y</a:t>
            </a:r>
            <a:r>
              <a:rPr lang="ru-RU" dirty="0"/>
              <a:t> </a:t>
            </a:r>
            <a:r>
              <a:rPr lang="ru-RU" dirty="0" err="1"/>
              <a:t>does</a:t>
            </a:r>
            <a:r>
              <a:rPr lang="ru-RU" dirty="0"/>
              <a:t> </a:t>
            </a:r>
            <a:r>
              <a:rPr lang="ru-RU" dirty="0" err="1"/>
              <a:t>not</a:t>
            </a:r>
            <a:r>
              <a:rPr lang="ru-RU" dirty="0"/>
              <a:t> </a:t>
            </a:r>
            <a:r>
              <a:rPr lang="ru-RU" dirty="0" err="1"/>
              <a:t>Granger</a:t>
            </a:r>
            <a:r>
              <a:rPr lang="ru-RU" dirty="0"/>
              <a:t> </a:t>
            </a:r>
            <a:r>
              <a:rPr lang="ru-RU" dirty="0" err="1"/>
              <a:t>cause</a:t>
            </a:r>
            <a:r>
              <a:rPr lang="ru-RU" dirty="0"/>
              <a:t> 𝑋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6A517A6E-9EEE-5F75-EEA1-391B7B151418}"/>
              </a:ext>
            </a:extLst>
          </p:cNvPr>
          <p:cNvSpPr txBox="1"/>
          <p:nvPr/>
        </p:nvSpPr>
        <p:spPr>
          <a:xfrm>
            <a:off x="241126" y="6581000"/>
            <a:ext cx="6093912" cy="276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ru-RU" sz="1200" dirty="0" err="1"/>
              <a:t>https</a:t>
            </a:r>
            <a:r>
              <a:rPr lang="ru-RU" sz="1200" dirty="0"/>
              <a:t>://</a:t>
            </a:r>
            <a:r>
              <a:rPr lang="ru-RU" sz="1200" dirty="0" err="1"/>
              <a:t>www.bauer.uh.edu</a:t>
            </a:r>
            <a:r>
              <a:rPr lang="ru-RU" sz="1200" dirty="0"/>
              <a:t>/</a:t>
            </a:r>
            <a:r>
              <a:rPr lang="ru-RU" sz="1200" dirty="0" err="1"/>
              <a:t>rsusmel</a:t>
            </a:r>
            <a:r>
              <a:rPr lang="ru-RU" sz="1200" dirty="0"/>
              <a:t>/</a:t>
            </a:r>
            <a:r>
              <a:rPr lang="ru-RU" sz="1200" dirty="0" err="1"/>
              <a:t>phd</a:t>
            </a:r>
            <a:r>
              <a:rPr lang="ru-RU" sz="1200" dirty="0"/>
              <a:t>/ec2-6.pdf</a:t>
            </a:r>
          </a:p>
        </p:txBody>
      </p:sp>
    </p:spTree>
    <p:extLst>
      <p:ext uri="{BB962C8B-B14F-4D97-AF65-F5344CB8AC3E}">
        <p14:creationId xmlns:p14="http://schemas.microsoft.com/office/powerpoint/2010/main" val="824787256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38E728CA-EF5A-F8A7-5C98-5AF82A78B22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424015"/>
          </a:xfrm>
        </p:spPr>
        <p:txBody>
          <a:bodyPr>
            <a:normAutofit fontScale="90000"/>
          </a:bodyPr>
          <a:lstStyle/>
          <a:p>
            <a:r>
              <a:rPr lang="en-US" b="1" dirty="0" err="1"/>
              <a:t>Ка</a:t>
            </a:r>
            <a:r>
              <a:rPr lang="ru-RU" b="1" dirty="0" err="1"/>
              <a:t>зуальность</a:t>
            </a:r>
            <a:r>
              <a:rPr lang="ru-RU" b="1" dirty="0"/>
              <a:t> МВР</a:t>
            </a:r>
            <a:endParaRPr lang="ru-RU" dirty="0"/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3C199195-BD5C-8558-68D8-AABE8A3EEA3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63047" y="964504"/>
            <a:ext cx="11611627" cy="5528371"/>
          </a:xfrm>
        </p:spPr>
        <p:txBody>
          <a:bodyPr/>
          <a:lstStyle/>
          <a:p>
            <a:r>
              <a:rPr lang="ru-RU" sz="2200" dirty="0"/>
              <a:t>Казуальность по Грейнджеру помогает выявлять </a:t>
            </a:r>
            <a:r>
              <a:rPr lang="en-US" sz="2200" i="1" dirty="0" err="1"/>
              <a:t>стати</a:t>
            </a:r>
            <a:r>
              <a:rPr lang="ru-RU" sz="2200" i="1" dirty="0" err="1"/>
              <a:t>стические</a:t>
            </a:r>
            <a:r>
              <a:rPr lang="ru-RU" sz="2200" i="1" dirty="0"/>
              <a:t> причинные связи</a:t>
            </a:r>
            <a:r>
              <a:rPr lang="ru-RU" sz="2200" dirty="0"/>
              <a:t>, но не доказывает их.</a:t>
            </a:r>
          </a:p>
          <a:p>
            <a:pPr marL="285750" indent="-285750"/>
            <a:r>
              <a:rPr lang="ru-RU" sz="2200" dirty="0"/>
              <a:t>Всегда интерпретируйте результаты в контексте предметной области.</a:t>
            </a:r>
          </a:p>
          <a:p>
            <a:pPr marL="285750" indent="-285750"/>
            <a:r>
              <a:rPr lang="ru-RU" sz="2200" dirty="0"/>
              <a:t>Совмещайте статистические тесты с экспертными знаниями.</a:t>
            </a:r>
          </a:p>
          <a:p>
            <a:pPr marL="285750" indent="-285750"/>
            <a:r>
              <a:rPr lang="ru-RU" sz="2200" dirty="0"/>
              <a:t>Ложная казуальность возможна при:</a:t>
            </a:r>
          </a:p>
          <a:p>
            <a:pPr marL="742950" lvl="1" indent="-285750"/>
            <a:r>
              <a:rPr lang="ru-RU" sz="2200" dirty="0"/>
              <a:t>Наличии скрытой (латентной) переменной, влияющей на оба ряда.</a:t>
            </a:r>
          </a:p>
          <a:p>
            <a:pPr marL="742950" lvl="1" indent="-285750"/>
            <a:r>
              <a:rPr lang="ru-RU" sz="2200" dirty="0"/>
              <a:t>Неправильном выборе лага </a:t>
            </a:r>
            <a:r>
              <a:rPr lang="en" sz="2200" i="1" dirty="0"/>
              <a:t>p</a:t>
            </a:r>
            <a:r>
              <a:rPr lang="en" sz="2200" dirty="0"/>
              <a:t> .</a:t>
            </a:r>
          </a:p>
          <a:p>
            <a:pPr marL="742950" lvl="1" indent="-285750"/>
            <a:r>
              <a:rPr lang="ru-RU" sz="2200" dirty="0"/>
              <a:t>Нестационарности рядов </a:t>
            </a:r>
            <a:endParaRPr lang="en-US" sz="2200" dirty="0"/>
          </a:p>
          <a:p>
            <a:pPr marL="0" indent="0">
              <a:buNone/>
            </a:pPr>
            <a:r>
              <a:rPr lang="en-US" sz="2400" dirty="0" err="1"/>
              <a:t>П</a:t>
            </a:r>
            <a:r>
              <a:rPr lang="ru-RU" sz="2400" dirty="0" err="1"/>
              <a:t>омимо</a:t>
            </a:r>
            <a:r>
              <a:rPr lang="ru-RU" sz="2400" dirty="0"/>
              <a:t> казуальности по Грейнджеру </a:t>
            </a:r>
            <a:r>
              <a:rPr lang="ru-RU" sz="2400" dirty="0" err="1"/>
              <a:t>казулальность</a:t>
            </a:r>
            <a:r>
              <a:rPr lang="ru-RU" sz="2400" dirty="0"/>
              <a:t> может быть более сложной, например условной, сезонной </a:t>
            </a:r>
            <a:br>
              <a:rPr lang="ru-RU" sz="2400" dirty="0"/>
            </a:br>
            <a:r>
              <a:rPr lang="ru-RU" sz="2400" dirty="0"/>
              <a:t>или представлять собой граф (</a:t>
            </a:r>
            <a:r>
              <a:rPr lang="en" sz="2400" dirty="0"/>
              <a:t>causal discovery</a:t>
            </a:r>
            <a:r>
              <a:rPr lang="ru-RU" sz="2400" dirty="0"/>
              <a:t>)</a:t>
            </a:r>
          </a:p>
        </p:txBody>
      </p:sp>
      <p:pic>
        <p:nvPicPr>
          <p:cNvPr id="4" name="Рисунок 3">
            <a:extLst>
              <a:ext uri="{FF2B5EF4-FFF2-40B4-BE49-F238E27FC236}">
                <a16:creationId xmlns:a16="http://schemas.microsoft.com/office/drawing/2014/main" id="{E4B3B271-106F-3359-C16F-E315B67B2D3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804759" y="4390302"/>
            <a:ext cx="4069915" cy="2277937"/>
          </a:xfrm>
          <a:prstGeom prst="rect">
            <a:avLst/>
          </a:prstGeom>
        </p:spPr>
      </p:pic>
      <p:sp>
        <p:nvSpPr>
          <p:cNvPr id="5" name="TextBox 4">
            <a:extLst>
              <a:ext uri="{FF2B5EF4-FFF2-40B4-BE49-F238E27FC236}">
                <a16:creationId xmlns:a16="http://schemas.microsoft.com/office/drawing/2014/main" id="{ABAD593B-431E-13EF-F915-5CF3D7658901}"/>
              </a:ext>
            </a:extLst>
          </p:cNvPr>
          <p:cNvSpPr txBox="1"/>
          <p:nvPr/>
        </p:nvSpPr>
        <p:spPr>
          <a:xfrm>
            <a:off x="2007365" y="6581001"/>
            <a:ext cx="8177270" cy="276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ru-RU" sz="1200" dirty="0" err="1"/>
              <a:t>https</a:t>
            </a:r>
            <a:r>
              <a:rPr lang="ru-RU" sz="1200" dirty="0"/>
              <a:t>://</a:t>
            </a:r>
            <a:r>
              <a:rPr lang="ru-RU" sz="1200" dirty="0" err="1"/>
              <a:t>www.analyticsvidhya.com</a:t>
            </a:r>
            <a:r>
              <a:rPr lang="ru-RU" sz="1200" dirty="0"/>
              <a:t>/</a:t>
            </a:r>
            <a:r>
              <a:rPr lang="ru-RU" sz="1200" dirty="0" err="1"/>
              <a:t>blog</a:t>
            </a:r>
            <a:r>
              <a:rPr lang="ru-RU" sz="1200" dirty="0"/>
              <a:t>/2021/08/granger-causality-in-time-series-explained-using-chicken-and-egg-problem/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535C2EE9-D502-5FF6-3127-D1A2545D4EAD}"/>
              </a:ext>
            </a:extLst>
          </p:cNvPr>
          <p:cNvSpPr txBox="1"/>
          <p:nvPr/>
        </p:nvSpPr>
        <p:spPr>
          <a:xfrm>
            <a:off x="317326" y="6329685"/>
            <a:ext cx="6093912" cy="3385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ru-RU" sz="1600" dirty="0" err="1"/>
              <a:t>https</a:t>
            </a:r>
            <a:r>
              <a:rPr lang="ru-RU" sz="1600" dirty="0"/>
              <a:t>://</a:t>
            </a:r>
            <a:r>
              <a:rPr lang="ru-RU" sz="1600" dirty="0" err="1"/>
              <a:t>github.com</a:t>
            </a:r>
            <a:r>
              <a:rPr lang="ru-RU" sz="1600" dirty="0"/>
              <a:t>/</a:t>
            </a:r>
            <a:r>
              <a:rPr lang="ru-RU" sz="1600" dirty="0" err="1"/>
              <a:t>jakobrunge</a:t>
            </a:r>
            <a:r>
              <a:rPr lang="ru-RU" sz="1600" dirty="0"/>
              <a:t>/</a:t>
            </a:r>
            <a:r>
              <a:rPr lang="ru-RU" sz="1600" dirty="0" err="1"/>
              <a:t>tigramite</a:t>
            </a:r>
            <a:r>
              <a:rPr lang="ru-RU" sz="1600" dirty="0"/>
              <a:t>/</a:t>
            </a:r>
            <a:r>
              <a:rPr lang="ru-RU" sz="1600" dirty="0" err="1"/>
              <a:t>tree</a:t>
            </a:r>
            <a:r>
              <a:rPr lang="ru-RU" sz="1600" dirty="0"/>
              <a:t>/</a:t>
            </a:r>
            <a:r>
              <a:rPr lang="ru-RU" sz="1600" dirty="0" err="1"/>
              <a:t>master</a:t>
            </a:r>
            <a:r>
              <a:rPr lang="ru-RU" sz="1600" dirty="0"/>
              <a:t>/</a:t>
            </a:r>
            <a:r>
              <a:rPr lang="ru-RU" sz="1600" dirty="0" err="1"/>
              <a:t>tutorials</a:t>
            </a:r>
            <a:r>
              <a:rPr lang="ru-RU" sz="1600" dirty="0"/>
              <a:t>/</a:t>
            </a:r>
          </a:p>
        </p:txBody>
      </p:sp>
    </p:spTree>
    <p:extLst>
      <p:ext uri="{BB962C8B-B14F-4D97-AF65-F5344CB8AC3E}">
        <p14:creationId xmlns:p14="http://schemas.microsoft.com/office/powerpoint/2010/main" val="3615208541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CC1E1FF-2767-E424-803E-6A04158E800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2FC6FCCA-4C35-E687-EBED-9E7B234D9B8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424015"/>
          </a:xfrm>
        </p:spPr>
        <p:txBody>
          <a:bodyPr>
            <a:normAutofit fontScale="90000"/>
          </a:bodyPr>
          <a:lstStyle/>
          <a:p>
            <a:r>
              <a:rPr lang="en-US" b="1" dirty="0" err="1"/>
              <a:t>Ка</a:t>
            </a:r>
            <a:r>
              <a:rPr lang="ru-RU" b="1" dirty="0" err="1"/>
              <a:t>зуальность</a:t>
            </a:r>
            <a:r>
              <a:rPr lang="ru-RU" b="1" dirty="0"/>
              <a:t> МВР</a:t>
            </a:r>
            <a:endParaRPr lang="ru-RU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Объект 2">
                <a:extLst>
                  <a:ext uri="{FF2B5EF4-FFF2-40B4-BE49-F238E27FC236}">
                    <a16:creationId xmlns:a16="http://schemas.microsoft.com/office/drawing/2014/main" id="{405DF7BD-7E27-DFCC-2911-D1AE1DF6D7B6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>
              <a:xfrm>
                <a:off x="263047" y="964504"/>
                <a:ext cx="11611627" cy="5528371"/>
              </a:xfrm>
            </p:spPr>
            <p:txBody>
              <a:bodyPr/>
              <a:lstStyle/>
              <a:p>
                <a:r>
                  <a:rPr lang="ru-RU" sz="2200" dirty="0"/>
                  <a:t>Если известно, то в МВР имеет место казуальность можно </a:t>
                </a:r>
              </a:p>
              <a:p>
                <a:pPr lvl="1"/>
                <a:r>
                  <a:rPr lang="ru-RU" dirty="0"/>
                  <a:t>рассмотреть казуальные ВР отдельно </a:t>
                </a:r>
              </a:p>
              <a:p>
                <a:pPr lvl="1"/>
                <a:r>
                  <a:rPr lang="ru-RU" dirty="0"/>
                  <a:t>Рассмотреть казуальный ВР как экзогенный фактор для остальных ВР</a:t>
                </a:r>
              </a:p>
              <a:p>
                <a:pPr lvl="1"/>
                <a:r>
                  <a:rPr lang="ru-RU" dirty="0"/>
                  <a:t>использовать структурный </a:t>
                </a:r>
                <a:r>
                  <a:rPr lang="en-US" dirty="0"/>
                  <a:t>VAR (</a:t>
                </a:r>
                <a:r>
                  <a:rPr lang="en" dirty="0"/>
                  <a:t>structural VAR, SVAP</a:t>
                </a:r>
                <a:r>
                  <a:rPr lang="en-US" dirty="0"/>
                  <a:t>)</a:t>
                </a:r>
              </a:p>
              <a:p>
                <a:r>
                  <a:rPr lang="ru-RU" sz="2200" dirty="0"/>
                  <a:t>П</a:t>
                </a:r>
                <a:r>
                  <a:rPr lang="en-US" sz="2200" dirty="0" err="1"/>
                  <a:t>у</a:t>
                </a:r>
                <a:r>
                  <a:rPr lang="ru-RU" sz="2200" dirty="0" err="1"/>
                  <a:t>сть</a:t>
                </a:r>
                <a:r>
                  <a:rPr lang="ru-RU" sz="2200" dirty="0"/>
                  <a:t> в МВР параметры упорядочены в обратной последовательности (если </a:t>
                </a:r>
                <a:r>
                  <a:rPr lang="en-US" sz="2200" dirty="0"/>
                  <a:t>X-&gt;Y-&gt;Z,</a:t>
                </a:r>
                <a:r>
                  <a:rPr lang="ru-RU" sz="2200" dirty="0"/>
                  <a:t> то первая пе</a:t>
                </a:r>
                <a:r>
                  <a:rPr lang="en-US" sz="2200" dirty="0" err="1"/>
                  <a:t>р</a:t>
                </a:r>
                <a:r>
                  <a:rPr lang="ru-RU" sz="2200" dirty="0" err="1"/>
                  <a:t>менная</a:t>
                </a:r>
                <a:r>
                  <a:rPr lang="ru-RU" sz="2200" dirty="0"/>
                  <a:t> </a:t>
                </a:r>
                <a:r>
                  <a:rPr lang="en-US" sz="2200" dirty="0"/>
                  <a:t>Z)</a:t>
                </a:r>
              </a:p>
              <a:p>
                <a:r>
                  <a:rPr lang="ru-RU" sz="2400" dirty="0"/>
                  <a:t>Тогда введем структурную матрицу </a:t>
                </a:r>
                <a:r>
                  <a:rPr lang="en-US" sz="2400" dirty="0"/>
                  <a:t>B</a:t>
                </a:r>
                <a:endParaRPr lang="ru-RU" sz="2400" dirty="0"/>
              </a:p>
              <a:p>
                <a:pPr marL="0" indent="0" algn="ctr">
                  <a:buNone/>
                </a:pPr>
                <a:r>
                  <a:rPr lang="en-US" sz="2400" dirty="0"/>
                  <a:t>B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sz="24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acc>
                          <m:accPr>
                            <m:chr m:val="̂"/>
                            <m:ctrlPr>
                              <a:rPr lang="en-US" sz="2400" i="1">
                                <a:latin typeface="Cambria Math" panose="02040503050406030204" pitchFamily="18" charset="0"/>
                              </a:rPr>
                            </m:ctrlPr>
                          </m:accPr>
                          <m:e>
                            <m:r>
                              <a:rPr lang="en-US" sz="2400" i="1">
                                <a:latin typeface="Cambria Math" panose="02040503050406030204" pitchFamily="18" charset="0"/>
                              </a:rPr>
                              <m:t>𝑌</m:t>
                            </m:r>
                          </m:e>
                        </m:acc>
                      </m:e>
                      <m:sub>
                        <m:r>
                          <a:rPr lang="en-US" sz="2400" i="1">
                            <a:latin typeface="Cambria Math" panose="02040503050406030204" pitchFamily="18" charset="0"/>
                          </a:rPr>
                          <m:t>𝑛</m:t>
                        </m:r>
                        <m:r>
                          <a:rPr lang="ru-RU" sz="2400" i="1">
                            <a:latin typeface="Cambria Math" panose="02040503050406030204" pitchFamily="18" charset="0"/>
                          </a:rPr>
                          <m:t>+1</m:t>
                        </m:r>
                      </m:sub>
                    </m:sSub>
                    <m:r>
                      <a:rPr lang="en-US" sz="2400" i="1">
                        <a:latin typeface="Cambria Math" panose="02040503050406030204" pitchFamily="18" charset="0"/>
                      </a:rPr>
                      <m:t>=</m:t>
                    </m:r>
                    <m:sSub>
                      <m:sSubPr>
                        <m:ctrlPr>
                          <a:rPr lang="en-US" sz="24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400" b="0" i="1" smtClean="0">
                            <a:latin typeface="Cambria Math" panose="02040503050406030204" pitchFamily="18" charset="0"/>
                          </a:rPr>
                          <m:t>𝐵</m:t>
                        </m:r>
                      </m:e>
                      <m:sub>
                        <m:r>
                          <a:rPr lang="ru-RU" sz="2400" i="1">
                            <a:latin typeface="Cambria Math" panose="02040503050406030204" pitchFamily="18" charset="0"/>
                          </a:rPr>
                          <m:t>0</m:t>
                        </m:r>
                      </m:sub>
                    </m:sSub>
                    <m:sSub>
                      <m:sSubPr>
                        <m:ctrlPr>
                          <a:rPr lang="en-US" sz="24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400" i="1">
                            <a:latin typeface="Cambria Math" panose="02040503050406030204" pitchFamily="18" charset="0"/>
                          </a:rPr>
                          <m:t>𝑌</m:t>
                        </m:r>
                      </m:e>
                      <m:sub>
                        <m:r>
                          <a:rPr lang="en-US" sz="2400" i="1">
                            <a:latin typeface="Cambria Math" panose="02040503050406030204" pitchFamily="18" charset="0"/>
                          </a:rPr>
                          <m:t>𝑛</m:t>
                        </m:r>
                      </m:sub>
                    </m:sSub>
                    <m:r>
                      <a:rPr lang="en-US" sz="2400" i="1">
                        <a:latin typeface="Cambria Math" panose="02040503050406030204" pitchFamily="18" charset="0"/>
                      </a:rPr>
                      <m:t>+</m:t>
                    </m:r>
                    <m:sSub>
                      <m:sSubPr>
                        <m:ctrlPr>
                          <a:rPr lang="en-US" sz="24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400" b="0" i="1" smtClean="0">
                            <a:latin typeface="Cambria Math" panose="02040503050406030204" pitchFamily="18" charset="0"/>
                          </a:rPr>
                          <m:t>𝐵</m:t>
                        </m:r>
                      </m:e>
                      <m:sub>
                        <m:r>
                          <a:rPr lang="en-US" sz="2400" i="1"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  <m:sSub>
                      <m:sSubPr>
                        <m:ctrlPr>
                          <a:rPr lang="en-US" sz="24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400" i="1">
                            <a:latin typeface="Cambria Math" panose="02040503050406030204" pitchFamily="18" charset="0"/>
                          </a:rPr>
                          <m:t>𝑌</m:t>
                        </m:r>
                      </m:e>
                      <m:sub>
                        <m:r>
                          <a:rPr lang="en-US" sz="2400" i="1">
                            <a:latin typeface="Cambria Math" panose="02040503050406030204" pitchFamily="18" charset="0"/>
                          </a:rPr>
                          <m:t>𝑛</m:t>
                        </m:r>
                        <m:r>
                          <a:rPr lang="en-US" sz="2400" i="1">
                            <a:latin typeface="Cambria Math" panose="02040503050406030204" pitchFamily="18" charset="0"/>
                          </a:rPr>
                          <m:t>−1</m:t>
                        </m:r>
                      </m:sub>
                    </m:sSub>
                    <m:r>
                      <a:rPr lang="en-US" sz="2400" i="1">
                        <a:latin typeface="Cambria Math" panose="02040503050406030204" pitchFamily="18" charset="0"/>
                      </a:rPr>
                      <m:t>+</m:t>
                    </m:r>
                    <m:sSub>
                      <m:sSubPr>
                        <m:ctrlPr>
                          <a:rPr lang="en-US" sz="24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400" b="0" i="1" smtClean="0">
                            <a:latin typeface="Cambria Math" panose="02040503050406030204" pitchFamily="18" charset="0"/>
                          </a:rPr>
                          <m:t>𝐵</m:t>
                        </m:r>
                      </m:e>
                      <m:sub>
                        <m:r>
                          <a:rPr lang="en-US" sz="2400" i="1"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</m:sSub>
                    <m:sSub>
                      <m:sSubPr>
                        <m:ctrlPr>
                          <a:rPr lang="en-US" sz="24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400" i="1">
                            <a:latin typeface="Cambria Math" panose="02040503050406030204" pitchFamily="18" charset="0"/>
                          </a:rPr>
                          <m:t>𝑌</m:t>
                        </m:r>
                      </m:e>
                      <m:sub>
                        <m:r>
                          <a:rPr lang="en-US" sz="2400" i="1">
                            <a:latin typeface="Cambria Math" panose="02040503050406030204" pitchFamily="18" charset="0"/>
                          </a:rPr>
                          <m:t>𝑛</m:t>
                        </m:r>
                        <m:r>
                          <a:rPr lang="en-US" sz="2400" i="1">
                            <a:latin typeface="Cambria Math" panose="02040503050406030204" pitchFamily="18" charset="0"/>
                          </a:rPr>
                          <m:t>−2</m:t>
                        </m:r>
                      </m:sub>
                    </m:sSub>
                    <m:r>
                      <a:rPr lang="en-US" sz="2400" i="1">
                        <a:latin typeface="Cambria Math" panose="02040503050406030204" pitchFamily="18" charset="0"/>
                      </a:rPr>
                      <m:t>+...=</m:t>
                    </m:r>
                    <m:nary>
                      <m:naryPr>
                        <m:chr m:val="∑"/>
                        <m:limLoc m:val="undOvr"/>
                        <m:ctrlPr>
                          <a:rPr lang="en-US" sz="2400" i="1">
                            <a:latin typeface="Cambria Math" panose="02040503050406030204" pitchFamily="18" charset="0"/>
                          </a:rPr>
                        </m:ctrlPr>
                      </m:naryPr>
                      <m:sub>
                        <m:r>
                          <a:rPr lang="en-US" sz="2400" i="1">
                            <a:latin typeface="Cambria Math" panose="02040503050406030204" pitchFamily="18" charset="0"/>
                          </a:rPr>
                          <m:t>𝑖</m:t>
                        </m:r>
                        <m:r>
                          <a:rPr lang="en-US" sz="2400" i="1">
                            <a:latin typeface="Cambria Math" panose="02040503050406030204" pitchFamily="18" charset="0"/>
                          </a:rPr>
                          <m:t>=0</m:t>
                        </m:r>
                      </m:sub>
                      <m:sup>
                        <m:r>
                          <a:rPr lang="en-US" sz="2400" i="1">
                            <a:latin typeface="Cambria Math" panose="02040503050406030204" pitchFamily="18" charset="0"/>
                          </a:rPr>
                          <m:t>𝑝</m:t>
                        </m:r>
                      </m:sup>
                      <m:e>
                        <m:sSub>
                          <m:sSubPr>
                            <m:ctrlPr>
                              <a:rPr lang="en-US" sz="2400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sz="2400" b="0" i="1" smtClean="0">
                                <a:latin typeface="Cambria Math" panose="02040503050406030204" pitchFamily="18" charset="0"/>
                              </a:rPr>
                              <m:t>𝐵</m:t>
                            </m:r>
                          </m:e>
                          <m:sub>
                            <m:r>
                              <a:rPr lang="en-US" sz="2400" i="1">
                                <a:latin typeface="Cambria Math" panose="02040503050406030204" pitchFamily="18" charset="0"/>
                              </a:rPr>
                              <m:t>𝑖</m:t>
                            </m:r>
                          </m:sub>
                        </m:sSub>
                      </m:e>
                    </m:nary>
                    <m:sSub>
                      <m:sSubPr>
                        <m:ctrlPr>
                          <a:rPr lang="en-US" sz="24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400" i="1">
                            <a:latin typeface="Cambria Math" panose="02040503050406030204" pitchFamily="18" charset="0"/>
                          </a:rPr>
                          <m:t>𝑌</m:t>
                        </m:r>
                      </m:e>
                      <m:sub>
                        <m:r>
                          <a:rPr lang="en-US" sz="2400" i="1">
                            <a:latin typeface="Cambria Math" panose="02040503050406030204" pitchFamily="18" charset="0"/>
                          </a:rPr>
                          <m:t>𝑛</m:t>
                        </m:r>
                        <m:r>
                          <a:rPr lang="en-US" sz="2400" i="1"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US" sz="2400" i="1">
                            <a:latin typeface="Cambria Math" panose="02040503050406030204" pitchFamily="18" charset="0"/>
                          </a:rPr>
                          <m:t>𝑖</m:t>
                        </m:r>
                      </m:sub>
                    </m:sSub>
                  </m:oMath>
                </a14:m>
                <a:endParaRPr lang="en-US" sz="2400" dirty="0"/>
              </a:p>
              <a:p>
                <a:r>
                  <a:rPr lang="en-US" sz="2400" dirty="0"/>
                  <a:t>B</a:t>
                </a:r>
                <a:r>
                  <a:rPr lang="en" sz="2400" dirty="0"/>
                  <a:t> = </a:t>
                </a:r>
                <a:r>
                  <a:rPr lang="en" sz="2400" dirty="0" err="1"/>
                  <a:t>np.asarray</a:t>
                </a:r>
                <a:r>
                  <a:rPr lang="en" sz="2400" dirty="0"/>
                  <a:t>([[1, 0, 0],['E', 1, 0],['E', 'E', 1]])</a:t>
                </a:r>
              </a:p>
              <a:p>
                <a:r>
                  <a:rPr lang="ru-RU" sz="2400" dirty="0"/>
                  <a:t>Могут быть и более сложные виды матрицы</a:t>
                </a:r>
              </a:p>
              <a:p>
                <a:r>
                  <a:rPr lang="ru-RU" sz="2400" dirty="0" err="1"/>
                  <a:t>B</a:t>
                </a:r>
                <a:r>
                  <a:rPr lang="ru-RU" sz="2400" dirty="0"/>
                  <a:t> отражает долгие зависимости, можно также ввести структурные шоки.</a:t>
                </a:r>
              </a:p>
              <a:p>
                <a:endParaRPr lang="ru-RU" sz="2400" dirty="0"/>
              </a:p>
            </p:txBody>
          </p:sp>
        </mc:Choice>
        <mc:Fallback xmlns="">
          <p:sp>
            <p:nvSpPr>
              <p:cNvPr id="3" name="Объект 2">
                <a:extLst>
                  <a:ext uri="{FF2B5EF4-FFF2-40B4-BE49-F238E27FC236}">
                    <a16:creationId xmlns:a16="http://schemas.microsoft.com/office/drawing/2014/main" id="{405DF7BD-7E27-DFCC-2911-D1AE1DF6D7B6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263047" y="964504"/>
                <a:ext cx="11611627" cy="5528371"/>
              </a:xfrm>
              <a:blipFill>
                <a:blip r:embed="rId3"/>
                <a:stretch>
                  <a:fillRect l="-655" t="-1373"/>
                </a:stretch>
              </a:blipFill>
            </p:spPr>
            <p:txBody>
              <a:bodyPr/>
              <a:lstStyle/>
              <a:p>
                <a:r>
                  <a:rPr lang="ru-RU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5" name="TextBox 4">
            <a:extLst>
              <a:ext uri="{FF2B5EF4-FFF2-40B4-BE49-F238E27FC236}">
                <a16:creationId xmlns:a16="http://schemas.microsoft.com/office/drawing/2014/main" id="{5C2FDDE9-ADD0-9FCA-BA23-BC49281AFACC}"/>
              </a:ext>
            </a:extLst>
          </p:cNvPr>
          <p:cNvSpPr txBox="1"/>
          <p:nvPr/>
        </p:nvSpPr>
        <p:spPr>
          <a:xfrm>
            <a:off x="2007365" y="6581001"/>
            <a:ext cx="8177270" cy="276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ru-RU" sz="1200" dirty="0" err="1"/>
              <a:t>https</a:t>
            </a:r>
            <a:r>
              <a:rPr lang="ru-RU" sz="1200" dirty="0"/>
              <a:t>://</a:t>
            </a:r>
            <a:r>
              <a:rPr lang="ru-RU" sz="1200" dirty="0" err="1"/>
              <a:t>www.analyticsvidhya.com</a:t>
            </a:r>
            <a:r>
              <a:rPr lang="ru-RU" sz="1200" dirty="0"/>
              <a:t>/</a:t>
            </a:r>
            <a:r>
              <a:rPr lang="ru-RU" sz="1200" dirty="0" err="1"/>
              <a:t>blog</a:t>
            </a:r>
            <a:r>
              <a:rPr lang="ru-RU" sz="1200" dirty="0"/>
              <a:t>/2021/08/granger-causality-in-time-series-explained-using-chicken-and-egg-problem/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F820173F-8791-21EB-4F95-9D83DD1E7274}"/>
              </a:ext>
            </a:extLst>
          </p:cNvPr>
          <p:cNvSpPr txBox="1"/>
          <p:nvPr/>
        </p:nvSpPr>
        <p:spPr>
          <a:xfrm>
            <a:off x="317326" y="6329685"/>
            <a:ext cx="6093912" cy="3385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ru-RU" sz="1600" dirty="0" err="1"/>
              <a:t>https</a:t>
            </a:r>
            <a:r>
              <a:rPr lang="ru-RU" sz="1600" dirty="0"/>
              <a:t>://</a:t>
            </a:r>
            <a:r>
              <a:rPr lang="ru-RU" sz="1600" dirty="0" err="1"/>
              <a:t>github.com</a:t>
            </a:r>
            <a:r>
              <a:rPr lang="ru-RU" sz="1600" dirty="0"/>
              <a:t>/</a:t>
            </a:r>
            <a:r>
              <a:rPr lang="ru-RU" sz="1600" dirty="0" err="1"/>
              <a:t>jakobrunge</a:t>
            </a:r>
            <a:r>
              <a:rPr lang="ru-RU" sz="1600" dirty="0"/>
              <a:t>/</a:t>
            </a:r>
            <a:r>
              <a:rPr lang="ru-RU" sz="1600" dirty="0" err="1"/>
              <a:t>tigramite</a:t>
            </a:r>
            <a:r>
              <a:rPr lang="ru-RU" sz="1600" dirty="0"/>
              <a:t>/</a:t>
            </a:r>
            <a:r>
              <a:rPr lang="ru-RU" sz="1600" dirty="0" err="1"/>
              <a:t>tree</a:t>
            </a:r>
            <a:r>
              <a:rPr lang="ru-RU" sz="1600" dirty="0"/>
              <a:t>/</a:t>
            </a:r>
            <a:r>
              <a:rPr lang="ru-RU" sz="1600" dirty="0" err="1"/>
              <a:t>master</a:t>
            </a:r>
            <a:r>
              <a:rPr lang="ru-RU" sz="1600" dirty="0"/>
              <a:t>/</a:t>
            </a:r>
            <a:r>
              <a:rPr lang="ru-RU" sz="1600" dirty="0" err="1"/>
              <a:t>tutorials</a:t>
            </a:r>
            <a:r>
              <a:rPr lang="ru-RU" sz="1600" dirty="0"/>
              <a:t>/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6F308CC6-BB71-E096-6794-DFE5C4F05384}"/>
              </a:ext>
            </a:extLst>
          </p:cNvPr>
          <p:cNvSpPr txBox="1"/>
          <p:nvPr/>
        </p:nvSpPr>
        <p:spPr>
          <a:xfrm>
            <a:off x="7667461" y="6211225"/>
            <a:ext cx="6093912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ru-RU" dirty="0" err="1"/>
              <a:t>https</a:t>
            </a:r>
            <a:r>
              <a:rPr lang="ru-RU" dirty="0"/>
              <a:t>://</a:t>
            </a:r>
            <a:r>
              <a:rPr lang="ru-RU" dirty="0" err="1"/>
              <a:t>www.laurentoudre.fr</a:t>
            </a:r>
            <a:r>
              <a:rPr lang="ru-RU" dirty="0"/>
              <a:t>/</a:t>
            </a:r>
            <a:r>
              <a:rPr lang="ru-RU" dirty="0" err="1"/>
              <a:t>ast</a:t>
            </a:r>
            <a:r>
              <a:rPr lang="ru-RU" dirty="0"/>
              <a:t>/AST1.pdf</a:t>
            </a:r>
          </a:p>
        </p:txBody>
      </p:sp>
    </p:spTree>
    <p:extLst>
      <p:ext uri="{BB962C8B-B14F-4D97-AF65-F5344CB8AC3E}">
        <p14:creationId xmlns:p14="http://schemas.microsoft.com/office/powerpoint/2010/main" val="2470813556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838200" y="216188"/>
            <a:ext cx="10515600" cy="621846"/>
          </a:xfrm>
        </p:spPr>
        <p:txBody>
          <a:bodyPr>
            <a:normAutofit fontScale="90000"/>
          </a:bodyPr>
          <a:lstStyle/>
          <a:p>
            <a:pPr algn="ctr"/>
            <a:r>
              <a:rPr lang="ru-RU" b="1" dirty="0" err="1"/>
              <a:t>Коинтегрированность</a:t>
            </a:r>
            <a:endParaRPr lang="ru-RU" b="1" dirty="0"/>
          </a:p>
        </p:txBody>
      </p:sp>
      <p:sp>
        <p:nvSpPr>
          <p:cNvPr id="3" name="Объект 2"/>
          <p:cNvSpPr>
            <a:spLocks noGrp="1"/>
          </p:cNvSpPr>
          <p:nvPr>
            <p:ph idx="1"/>
          </p:nvPr>
        </p:nvSpPr>
        <p:spPr>
          <a:xfrm>
            <a:off x="295729" y="745208"/>
            <a:ext cx="11600542" cy="4351338"/>
          </a:xfrm>
        </p:spPr>
        <p:txBody>
          <a:bodyPr>
            <a:normAutofit/>
          </a:bodyPr>
          <a:lstStyle/>
          <a:p>
            <a:pPr marL="0" indent="0">
              <a:lnSpc>
                <a:spcPct val="100000"/>
              </a:lnSpc>
              <a:spcBef>
                <a:spcPts val="200"/>
              </a:spcBef>
              <a:buNone/>
            </a:pPr>
            <a:r>
              <a:rPr lang="ru-RU" sz="2400" dirty="0"/>
              <a:t>Если два ВР X и Y имеют стационарность разностей</a:t>
            </a:r>
            <a:r>
              <a:rPr lang="en-US" sz="2400" dirty="0"/>
              <a:t> </a:t>
            </a:r>
            <a:r>
              <a:rPr lang="ru-RU" sz="2400" dirty="0"/>
              <a:t> I(1) и если существует θ , такое, что Y− </a:t>
            </a:r>
            <a:r>
              <a:rPr lang="ru-RU" sz="2400" dirty="0" err="1"/>
              <a:t>θX</a:t>
            </a:r>
            <a:r>
              <a:rPr lang="ru-RU" sz="2400" dirty="0"/>
              <a:t> равно I(0) , то X и Y </a:t>
            </a:r>
            <a:r>
              <a:rPr lang="ru-RU" sz="2400" dirty="0" err="1"/>
              <a:t>коинтегрированы</a:t>
            </a:r>
            <a:r>
              <a:rPr lang="ru-RU" sz="2400" dirty="0"/>
              <a:t>. Иными словами, X и Y имеют одинаковый или общий стохастический тренд этот тренд можно устранить, взяв разницу ВР.</a:t>
            </a:r>
          </a:p>
          <a:p>
            <a:pPr>
              <a:lnSpc>
                <a:spcPct val="100000"/>
              </a:lnSpc>
              <a:spcBef>
                <a:spcPts val="200"/>
              </a:spcBef>
            </a:pPr>
            <a:r>
              <a:rPr lang="ru-RU" sz="2400" dirty="0"/>
              <a:t>Технически </a:t>
            </a:r>
            <a:r>
              <a:rPr lang="ru-RU" sz="2400" dirty="0" err="1"/>
              <a:t>коинтеграция</a:t>
            </a:r>
            <a:r>
              <a:rPr lang="ru-RU" sz="2400" dirty="0"/>
              <a:t> может быть и выше 1 порядка. </a:t>
            </a:r>
          </a:p>
          <a:p>
            <a:pPr>
              <a:lnSpc>
                <a:spcPct val="100000"/>
              </a:lnSpc>
              <a:spcBef>
                <a:spcPts val="200"/>
              </a:spcBef>
            </a:pPr>
            <a:r>
              <a:rPr lang="ru-RU" sz="2400" dirty="0" err="1"/>
              <a:t>Коинтеграция</a:t>
            </a:r>
            <a:r>
              <a:rPr lang="ru-RU" sz="2400" dirty="0"/>
              <a:t> может быть для нескольких рядов, не только для двух.</a:t>
            </a:r>
          </a:p>
          <a:p>
            <a:pPr>
              <a:lnSpc>
                <a:spcPct val="100000"/>
              </a:lnSpc>
              <a:spcBef>
                <a:spcPts val="200"/>
              </a:spcBef>
            </a:pPr>
            <a:endParaRPr lang="ru-RU" sz="2400" dirty="0"/>
          </a:p>
        </p:txBody>
      </p:sp>
      <p:pic>
        <p:nvPicPr>
          <p:cNvPr id="1026" name="Picture 2" descr="https://www.econometrics-with-r.org/ITER_files/figure-html/unnamed-chunk-733-1.png"/>
          <p:cNvPicPr>
            <a:picLocks noChangeAspect="1" noChangeArrowheads="1"/>
          </p:cNvPicPr>
          <p:nvPr/>
        </p:nvPicPr>
        <p:blipFill rotWithShape="1"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13564" b="9332"/>
          <a:stretch/>
        </p:blipFill>
        <p:spPr bwMode="auto">
          <a:xfrm>
            <a:off x="6610120" y="2855701"/>
            <a:ext cx="5460848" cy="300752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4" name="Прямоугольник 3"/>
          <p:cNvSpPr/>
          <p:nvPr/>
        </p:nvSpPr>
        <p:spPr>
          <a:xfrm>
            <a:off x="0" y="6550223"/>
            <a:ext cx="4069640" cy="276999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ru-RU" sz="1200" dirty="0"/>
              <a:t>https://www.econometrics-with-r.org/16.3-cointegration.html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8652" y="5623003"/>
            <a:ext cx="11994695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sz="2000" b="1" dirty="0"/>
              <a:t>Интуиция</a:t>
            </a:r>
            <a:r>
              <a:rPr lang="ru-RU" sz="2000" dirty="0"/>
              <a:t>: если авторегрессия – это зависимость ВР </a:t>
            </a:r>
            <a:r>
              <a:rPr lang="en-US" sz="2000" dirty="0"/>
              <a:t>Y</a:t>
            </a:r>
            <a:r>
              <a:rPr lang="ru-RU" sz="2000" dirty="0"/>
              <a:t> от своих лагов, </a:t>
            </a:r>
            <a:br>
              <a:rPr lang="ru-RU" sz="2000" dirty="0"/>
            </a:br>
            <a:r>
              <a:rPr lang="ru-RU" sz="2000" dirty="0"/>
              <a:t>то </a:t>
            </a:r>
            <a:r>
              <a:rPr lang="ru-RU" sz="2000" dirty="0" err="1"/>
              <a:t>коинтеграция</a:t>
            </a:r>
            <a:r>
              <a:rPr lang="ru-RU" sz="2000" dirty="0"/>
              <a:t> – зависимость от ВР </a:t>
            </a:r>
            <a:r>
              <a:rPr lang="en-US" sz="2000" dirty="0"/>
              <a:t>Y </a:t>
            </a:r>
            <a:r>
              <a:rPr lang="ru-RU" sz="2000" dirty="0"/>
              <a:t>от лагов другого ВР</a:t>
            </a:r>
            <a:r>
              <a:rPr lang="en-US" sz="2000" dirty="0"/>
              <a:t> X</a:t>
            </a:r>
            <a:r>
              <a:rPr lang="ru-RU" sz="2000" dirty="0"/>
              <a:t>.</a:t>
            </a:r>
            <a:r>
              <a:rPr lang="en-US" sz="2000" dirty="0"/>
              <a:t> </a:t>
            </a:r>
            <a:r>
              <a:rPr lang="ru-RU" sz="2000" dirty="0"/>
              <a:t> Например если </a:t>
            </a:r>
            <a:r>
              <a:rPr lang="en-US" sz="2000" dirty="0"/>
              <a:t>e X </a:t>
            </a:r>
            <a:r>
              <a:rPr lang="ru-RU" sz="2000" dirty="0"/>
              <a:t>и </a:t>
            </a:r>
            <a:r>
              <a:rPr lang="en-US" sz="2000" dirty="0"/>
              <a:t>Y </a:t>
            </a:r>
            <a:r>
              <a:rPr lang="ru-RU" sz="2000" dirty="0"/>
              <a:t>совместный тренд. </a:t>
            </a:r>
          </a:p>
        </p:txBody>
      </p:sp>
      <p:pic>
        <p:nvPicPr>
          <p:cNvPr id="7" name="Рисунок 6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38200" y="2783621"/>
            <a:ext cx="4449896" cy="2886957"/>
          </a:xfrm>
          <a:prstGeom prst="rect">
            <a:avLst/>
          </a:prstGeom>
        </p:spPr>
      </p:pic>
      <p:sp>
        <p:nvSpPr>
          <p:cNvPr id="10" name="Прямоугольник 9"/>
          <p:cNvSpPr/>
          <p:nvPr/>
        </p:nvSpPr>
        <p:spPr>
          <a:xfrm>
            <a:off x="476250" y="6265530"/>
            <a:ext cx="11617097" cy="36933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ru-RU" i="1" dirty="0"/>
              <a:t>Напр. Brent−0.8⋅Бензин−0.7⋅Дизель∼I(0)</a:t>
            </a:r>
            <a:r>
              <a:rPr lang="en-US" i="1" dirty="0"/>
              <a:t>-</a:t>
            </a:r>
            <a:r>
              <a:rPr lang="ru-RU" i="1" dirty="0"/>
              <a:t> маржа между нефтью и продуктами стабильна — возможен арбитраж. </a:t>
            </a:r>
          </a:p>
        </p:txBody>
      </p:sp>
      <p:sp>
        <p:nvSpPr>
          <p:cNvPr id="5" name="Прямоугольник 4"/>
          <p:cNvSpPr/>
          <p:nvPr/>
        </p:nvSpPr>
        <p:spPr>
          <a:xfrm>
            <a:off x="6498304" y="2657789"/>
            <a:ext cx="5081840" cy="338554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sz="1600" dirty="0">
                <a:solidFill>
                  <a:srgbClr val="333333"/>
                </a:solidFill>
                <a:latin typeface="Source Sans Pro" panose="020B0503030403020204" pitchFamily="34" charset="0"/>
              </a:rPr>
              <a:t> U.S. 3-month treasury bills, U.S. 10-years treasury bonds </a:t>
            </a:r>
            <a:endParaRPr lang="ru-RU" sz="1600" dirty="0"/>
          </a:p>
        </p:txBody>
      </p:sp>
      <p:pic>
        <p:nvPicPr>
          <p:cNvPr id="12" name="Picture 2" descr="https://www.econometrics-with-r.org/ITER_files/figure-html/unnamed-chunk-733-1.png"/>
          <p:cNvPicPr>
            <a:picLocks noChangeAspect="1" noChangeArrowheads="1"/>
          </p:cNvPicPr>
          <p:nvPr/>
        </p:nvPicPr>
        <p:blipFill rotWithShape="1"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36205" t="5782" r="32452" b="89203"/>
          <a:stretch/>
        </p:blipFill>
        <p:spPr bwMode="auto">
          <a:xfrm>
            <a:off x="7281804" y="3194255"/>
            <a:ext cx="1333501" cy="1524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999211994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838200" y="177643"/>
            <a:ext cx="10515600" cy="621846"/>
          </a:xfrm>
        </p:spPr>
        <p:txBody>
          <a:bodyPr>
            <a:normAutofit fontScale="90000"/>
          </a:bodyPr>
          <a:lstStyle/>
          <a:p>
            <a:pPr algn="ctr"/>
            <a:r>
              <a:rPr lang="ru-RU" b="1" dirty="0" err="1"/>
              <a:t>Коинтегрированность</a:t>
            </a:r>
            <a:endParaRPr lang="ru-RU" b="1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Объект 2"/>
              <p:cNvSpPr>
                <a:spLocks noGrp="1"/>
              </p:cNvSpPr>
              <p:nvPr>
                <p:ph idx="1"/>
              </p:nvPr>
            </p:nvSpPr>
            <p:spPr>
              <a:xfrm>
                <a:off x="238352" y="691768"/>
                <a:ext cx="11715296" cy="5518383"/>
              </a:xfrm>
            </p:spPr>
            <p:txBody>
              <a:bodyPr>
                <a:normAutofit lnSpcReduction="10000"/>
              </a:bodyPr>
              <a:lstStyle/>
              <a:p>
                <a:pPr marL="0" indent="0">
                  <a:lnSpc>
                    <a:spcPct val="100000"/>
                  </a:lnSpc>
                  <a:spcBef>
                    <a:spcPts val="200"/>
                  </a:spcBef>
                  <a:buNone/>
                </a:pPr>
                <a:r>
                  <a:rPr lang="ru-RU" sz="2400" dirty="0"/>
                  <a:t>Если два ВР X и Y имеют стационарность разностей</a:t>
                </a:r>
                <a:r>
                  <a:rPr lang="en-US" sz="2400" dirty="0"/>
                  <a:t> </a:t>
                </a:r>
                <a:r>
                  <a:rPr lang="ru-RU" sz="2400" dirty="0"/>
                  <a:t> I(1) и если существует θ , такое, что Y− </a:t>
                </a:r>
                <a:r>
                  <a:rPr lang="ru-RU" sz="2400" dirty="0" err="1"/>
                  <a:t>θX</a:t>
                </a:r>
                <a:r>
                  <a:rPr lang="ru-RU" sz="2400" dirty="0"/>
                  <a:t> равно I(0) , то X и Y </a:t>
                </a:r>
                <a:r>
                  <a:rPr lang="ru-RU" sz="2400" dirty="0" err="1"/>
                  <a:t>коинтегрированы</a:t>
                </a:r>
                <a:r>
                  <a:rPr lang="ru-RU" sz="2400" dirty="0"/>
                  <a:t>. </a:t>
                </a:r>
              </a:p>
              <a:p>
                <a:pPr>
                  <a:lnSpc>
                    <a:spcPct val="100000"/>
                  </a:lnSpc>
                  <a:spcBef>
                    <a:spcPts val="200"/>
                  </a:spcBef>
                </a:pPr>
                <a:r>
                  <a:rPr lang="ru-RU" sz="2400" dirty="0"/>
                  <a:t>Если θ известна, </a:t>
                </a:r>
                <a:r>
                  <a:rPr lang="ru-RU" sz="2400" dirty="0" err="1"/>
                  <a:t>коинтеграция</a:t>
                </a:r>
                <a:r>
                  <a:rPr lang="ru-RU" sz="2400" dirty="0"/>
                  <a:t> – проверка Y− </a:t>
                </a:r>
                <a:r>
                  <a:rPr lang="ru-RU" sz="2400" dirty="0" err="1"/>
                  <a:t>θX</a:t>
                </a:r>
                <a:r>
                  <a:rPr lang="ru-RU" sz="2400" dirty="0"/>
                  <a:t>  на стационарность</a:t>
                </a:r>
              </a:p>
              <a:p>
                <a:pPr>
                  <a:lnSpc>
                    <a:spcPct val="100000"/>
                  </a:lnSpc>
                  <a:spcBef>
                    <a:spcPts val="200"/>
                  </a:spcBef>
                </a:pPr>
                <a:r>
                  <a:rPr lang="ru-RU" sz="2400" dirty="0"/>
                  <a:t>Если θ не известна, то можно оценить регрессией и проверить остатки Y− </a:t>
                </a:r>
                <a:r>
                  <a:rPr lang="ru-RU" sz="2400" dirty="0" err="1"/>
                  <a:t>θX</a:t>
                </a:r>
                <a:r>
                  <a:rPr lang="ru-RU" sz="2400" dirty="0"/>
                  <a:t>  на стационарность (тест </a:t>
                </a:r>
                <a:r>
                  <a:rPr lang="ru-RU" sz="2400" dirty="0" err="1"/>
                  <a:t>Энгла</a:t>
                </a:r>
                <a:r>
                  <a:rPr lang="ru-RU" sz="2400" dirty="0"/>
                  <a:t>–</a:t>
                </a:r>
                <a:r>
                  <a:rPr lang="ru-RU" sz="2400" dirty="0" err="1"/>
                  <a:t>Грейнджера</a:t>
                </a:r>
                <a:r>
                  <a:rPr lang="ru-RU" sz="2400" dirty="0"/>
                  <a:t> (</a:t>
                </a:r>
                <a:r>
                  <a:rPr lang="en-US" sz="2400" dirty="0"/>
                  <a:t>Engle-Granger)</a:t>
                </a:r>
                <a:r>
                  <a:rPr lang="ru-RU" sz="2400" dirty="0"/>
                  <a:t>)</a:t>
                </a:r>
              </a:p>
              <a:p>
                <a:pPr>
                  <a:lnSpc>
                    <a:spcPct val="100000"/>
                  </a:lnSpc>
                  <a:spcBef>
                    <a:spcPts val="200"/>
                  </a:spcBef>
                </a:pPr>
                <a:r>
                  <a:rPr lang="ru-RU" sz="2400" dirty="0"/>
                  <a:t>Также можно оценить </a:t>
                </a:r>
                <a:r>
                  <a:rPr lang="ru-RU" sz="2400" dirty="0" err="1"/>
                  <a:t>коинтеграцию</a:t>
                </a:r>
                <a:r>
                  <a:rPr lang="ru-RU" sz="2400" dirty="0"/>
                  <a:t> как добавку к </a:t>
                </a:r>
                <a:r>
                  <a:rPr lang="en-US" sz="2400" dirty="0"/>
                  <a:t>VAR:</a:t>
                </a:r>
              </a:p>
              <a:p>
                <a:pPr marL="914400" lvl="2" indent="0">
                  <a:lnSpc>
                    <a:spcPct val="100000"/>
                  </a:lnSpc>
                  <a:spcBef>
                    <a:spcPts val="200"/>
                  </a:spcBef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m:rPr>
                          <m:sty m:val="p"/>
                        </m:rPr>
                        <a:rPr lang="en-US" sz="2400" b="0" i="0" smtClean="0">
                          <a:latin typeface="Cambria Math" panose="02040503050406030204" pitchFamily="18" charset="0"/>
                        </a:rPr>
                        <m:t>Δ</m:t>
                      </m:r>
                      <m:r>
                        <a:rPr lang="en-US" sz="2400" b="0" i="1" smtClean="0">
                          <a:latin typeface="Cambria Math" panose="02040503050406030204" pitchFamily="18" charset="0"/>
                        </a:rPr>
                        <m:t> </m:t>
                      </m:r>
                      <m:sSub>
                        <m:sSubPr>
                          <m:ctrlPr>
                            <a:rPr lang="en-US" sz="2400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acc>
                            <m:accPr>
                              <m:chr m:val="̂"/>
                              <m:ctrlPr>
                                <a:rPr lang="en-US" sz="2400" b="0" i="1" smtClean="0">
                                  <a:latin typeface="Cambria Math" panose="02040503050406030204" pitchFamily="18" charset="0"/>
                                </a:rPr>
                              </m:ctrlPr>
                            </m:accPr>
                            <m:e>
                              <m:r>
                                <a:rPr lang="en-US" sz="2400" b="0" i="1" smtClean="0">
                                  <a:latin typeface="Cambria Math" panose="02040503050406030204" pitchFamily="18" charset="0"/>
                                </a:rPr>
                                <m:t>𝑌</m:t>
                              </m:r>
                            </m:e>
                          </m:acc>
                        </m:e>
                        <m:sub>
                          <m:r>
                            <a:rPr lang="en-US" sz="2400" b="0" i="1" smtClean="0">
                              <a:latin typeface="Cambria Math" panose="02040503050406030204" pitchFamily="18" charset="0"/>
                            </a:rPr>
                            <m:t>𝑛</m:t>
                          </m:r>
                        </m:sub>
                      </m:sSub>
                      <m:r>
                        <a:rPr lang="en-US" sz="2400" b="0" i="1" smtClean="0"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n-US" sz="2400" b="0" i="1" smtClean="0">
                          <a:latin typeface="Cambria Math" panose="02040503050406030204" pitchFamily="18" charset="0"/>
                        </a:rPr>
                        <m:t>𝐵</m:t>
                      </m:r>
                      <m:sSub>
                        <m:sSubPr>
                          <m:ctrlPr>
                            <a:rPr lang="en-US" sz="2400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2400" b="0" i="1" smtClean="0">
                              <a:latin typeface="Cambria Math" panose="02040503050406030204" pitchFamily="18" charset="0"/>
                            </a:rPr>
                            <m:t>𝑌</m:t>
                          </m:r>
                        </m:e>
                        <m:sub>
                          <m:r>
                            <a:rPr lang="en-US" sz="2400" b="0" i="1" smtClean="0">
                              <a:latin typeface="Cambria Math" panose="02040503050406030204" pitchFamily="18" charset="0"/>
                            </a:rPr>
                            <m:t>𝑛</m:t>
                          </m:r>
                        </m:sub>
                      </m:sSub>
                      <m:r>
                        <a:rPr lang="en-US" sz="2400" b="0" i="1" smtClean="0">
                          <a:latin typeface="Cambria Math" panose="02040503050406030204" pitchFamily="18" charset="0"/>
                        </a:rPr>
                        <m:t>+</m:t>
                      </m:r>
                      <m:nary>
                        <m:naryPr>
                          <m:chr m:val="∑"/>
                          <m:limLoc m:val="undOvr"/>
                          <m:ctrlPr>
                            <a:rPr lang="en-US" sz="2400" i="1">
                              <a:latin typeface="Cambria Math" panose="02040503050406030204" pitchFamily="18" charset="0"/>
                            </a:rPr>
                          </m:ctrlPr>
                        </m:naryPr>
                        <m:sub>
                          <m:r>
                            <a:rPr lang="en-US" sz="2400" i="1">
                              <a:latin typeface="Cambria Math" panose="02040503050406030204" pitchFamily="18" charset="0"/>
                            </a:rPr>
                            <m:t>𝑖</m:t>
                          </m:r>
                          <m:r>
                            <a:rPr lang="en-US" sz="2400" i="1">
                              <a:latin typeface="Cambria Math" panose="02040503050406030204" pitchFamily="18" charset="0"/>
                            </a:rPr>
                            <m:t>=0</m:t>
                          </m:r>
                        </m:sub>
                        <m:sup>
                          <m:r>
                            <a:rPr lang="en-US" sz="2400" b="0" i="1" smtClean="0">
                              <a:latin typeface="Cambria Math" panose="02040503050406030204" pitchFamily="18" charset="0"/>
                            </a:rPr>
                            <m:t>𝑝</m:t>
                          </m:r>
                        </m:sup>
                        <m:e>
                          <m:sSub>
                            <m:sSubPr>
                              <m:ctrlPr>
                                <a:rPr lang="en-US" sz="2400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sz="2400" i="1">
                                  <a:latin typeface="Cambria Math" panose="02040503050406030204" pitchFamily="18" charset="0"/>
                                </a:rPr>
                                <m:t>𝐴</m:t>
                              </m:r>
                            </m:e>
                            <m:sub>
                              <m:r>
                                <a:rPr lang="en-US" sz="2400" i="1">
                                  <a:latin typeface="Cambria Math" panose="02040503050406030204" pitchFamily="18" charset="0"/>
                                </a:rPr>
                                <m:t>𝑖</m:t>
                              </m:r>
                            </m:sub>
                          </m:sSub>
                          <m:r>
                            <m:rPr>
                              <m:sty m:val="p"/>
                            </m:rPr>
                            <a:rPr lang="en-US" sz="2400">
                              <a:latin typeface="Cambria Math" panose="02040503050406030204" pitchFamily="18" charset="0"/>
                            </a:rPr>
                            <m:t>Δ</m:t>
                          </m:r>
                        </m:e>
                      </m:nary>
                      <m:sSub>
                        <m:sSubPr>
                          <m:ctrlPr>
                            <a:rPr lang="en-US" sz="2400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2400" i="1">
                              <a:latin typeface="Cambria Math" panose="02040503050406030204" pitchFamily="18" charset="0"/>
                            </a:rPr>
                            <m:t>𝑌</m:t>
                          </m:r>
                        </m:e>
                        <m:sub>
                          <m:r>
                            <a:rPr lang="en-US" sz="2400" i="1">
                              <a:latin typeface="Cambria Math" panose="02040503050406030204" pitchFamily="18" charset="0"/>
                            </a:rPr>
                            <m:t>𝑛</m:t>
                          </m:r>
                          <m:r>
                            <a:rPr lang="en-US" sz="2400" i="1">
                              <a:latin typeface="Cambria Math" panose="02040503050406030204" pitchFamily="18" charset="0"/>
                            </a:rPr>
                            <m:t>−</m:t>
                          </m:r>
                          <m:r>
                            <a:rPr lang="en-US" sz="2400" i="1">
                              <a:latin typeface="Cambria Math" panose="02040503050406030204" pitchFamily="18" charset="0"/>
                            </a:rPr>
                            <m:t>𝑖</m:t>
                          </m:r>
                        </m:sub>
                      </m:sSub>
                    </m:oMath>
                  </m:oMathPara>
                </a14:m>
                <a:endParaRPr lang="ru-RU" sz="2400" dirty="0"/>
              </a:p>
              <a:p>
                <a:pPr marL="457200" lvl="1" indent="0">
                  <a:lnSpc>
                    <a:spcPct val="100000"/>
                  </a:lnSpc>
                  <a:spcBef>
                    <a:spcPts val="200"/>
                  </a:spcBef>
                  <a:buNone/>
                </a:pPr>
                <a:r>
                  <a:rPr lang="ru-RU" dirty="0"/>
                  <a:t>где </a:t>
                </a:r>
                <a14:m>
                  <m:oMath xmlns:m="http://schemas.openxmlformats.org/officeDocument/2006/math">
                    <m:nary>
                      <m:naryPr>
                        <m:chr m:val="∑"/>
                        <m:limLoc m:val="undOvr"/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naryPr>
                      <m:sub>
                        <m:r>
                          <a:rPr lang="en-US" i="1">
                            <a:latin typeface="Cambria Math" panose="02040503050406030204" pitchFamily="18" charset="0"/>
                          </a:rPr>
                          <m:t>𝑖</m:t>
                        </m:r>
                        <m:r>
                          <a:rPr lang="en-US" i="1">
                            <a:latin typeface="Cambria Math" panose="02040503050406030204" pitchFamily="18" charset="0"/>
                          </a:rPr>
                          <m:t>=0</m:t>
                        </m:r>
                      </m:sub>
                      <m:sup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𝑝</m:t>
                        </m:r>
                      </m:sup>
                      <m:e>
                        <m:sSub>
                          <m:sSubPr>
                            <m:ctrlPr>
                              <a:rPr lang="en-US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i="1">
                                <a:latin typeface="Cambria Math" panose="02040503050406030204" pitchFamily="18" charset="0"/>
                              </a:rPr>
                              <m:t>𝐴</m:t>
                            </m:r>
                          </m:e>
                          <m:sub>
                            <m:r>
                              <a:rPr lang="en-US" i="1">
                                <a:latin typeface="Cambria Math" panose="02040503050406030204" pitchFamily="18" charset="0"/>
                              </a:rPr>
                              <m:t>𝑖</m:t>
                            </m:r>
                          </m:sub>
                        </m:sSub>
                        <m:r>
                          <m:rPr>
                            <m:sty m:val="p"/>
                          </m:rPr>
                          <a:rPr lang="en-US">
                            <a:latin typeface="Cambria Math" panose="02040503050406030204" pitchFamily="18" charset="0"/>
                          </a:rPr>
                          <m:t>Δ</m:t>
                        </m:r>
                      </m:e>
                    </m:nary>
                    <m:sSub>
                      <m:sSub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i="1">
                            <a:latin typeface="Cambria Math" panose="02040503050406030204" pitchFamily="18" charset="0"/>
                          </a:rPr>
                          <m:t>𝑌</m:t>
                        </m:r>
                      </m:e>
                      <m:sub>
                        <m:r>
                          <a:rPr lang="en-US" i="1">
                            <a:latin typeface="Cambria Math" panose="02040503050406030204" pitchFamily="18" charset="0"/>
                          </a:rPr>
                          <m:t>𝑛</m:t>
                        </m:r>
                        <m:r>
                          <a:rPr lang="en-US" i="1"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US" i="1">
                            <a:latin typeface="Cambria Math" panose="02040503050406030204" pitchFamily="18" charset="0"/>
                          </a:rPr>
                          <m:t>𝑖</m:t>
                        </m:r>
                      </m:sub>
                    </m:sSub>
                  </m:oMath>
                </a14:m>
                <a:r>
                  <a:rPr lang="ru-RU" dirty="0"/>
                  <a:t> - </a:t>
                </a:r>
                <a:r>
                  <a:rPr lang="en-US" dirty="0"/>
                  <a:t>VAR, </a:t>
                </a:r>
                <a14:m>
                  <m:oMath xmlns:m="http://schemas.openxmlformats.org/officeDocument/2006/math">
                    <m:r>
                      <a:rPr lang="en-US" b="1" i="1">
                        <a:latin typeface="Cambria Math" panose="02040503050406030204" pitchFamily="18" charset="0"/>
                      </a:rPr>
                      <m:t>𝑩</m:t>
                    </m:r>
                  </m:oMath>
                </a14:m>
                <a:r>
                  <a:rPr lang="en-US" b="1" dirty="0"/>
                  <a:t> – </a:t>
                </a:r>
                <a:r>
                  <a:rPr lang="ru-RU" b="1" dirty="0"/>
                  <a:t>матрица </a:t>
                </a:r>
                <a:r>
                  <a:rPr lang="ru-RU" b="1" dirty="0" err="1"/>
                  <a:t>коинтеграции</a:t>
                </a:r>
                <a:r>
                  <a:rPr lang="ru-RU" b="1" dirty="0"/>
                  <a:t> ранга </a:t>
                </a:r>
                <a:r>
                  <a:rPr lang="en-US" b="1" dirty="0"/>
                  <a:t>r</a:t>
                </a:r>
                <a:r>
                  <a:rPr lang="ru-RU" dirty="0"/>
                  <a:t>.</a:t>
                </a:r>
                <a:r>
                  <a:rPr lang="en-US" dirty="0"/>
                  <a:t> </a:t>
                </a:r>
                <a:r>
                  <a:rPr lang="ru-RU" dirty="0"/>
                  <a:t>Если </a:t>
                </a:r>
                <a14:m>
                  <m:oMath xmlns:m="http://schemas.openxmlformats.org/officeDocument/2006/math">
                    <m:r>
                      <a:rPr lang="en-US" i="1" dirty="0" smtClean="0">
                        <a:latin typeface="Cambria Math" panose="02040503050406030204" pitchFamily="18" charset="0"/>
                      </a:rPr>
                      <m:t>𝑟</m:t>
                    </m:r>
                    <m:r>
                      <a:rPr lang="ru-RU" i="1" dirty="0" smtClean="0">
                        <a:latin typeface="Cambria Math" panose="02040503050406030204" pitchFamily="18" charset="0"/>
                      </a:rPr>
                      <m:t>=0</m:t>
                    </m:r>
                    <m:r>
                      <a:rPr lang="ru-RU" b="0" i="1" dirty="0" smtClean="0">
                        <a:latin typeface="Cambria Math" panose="02040503050406030204" pitchFamily="18" charset="0"/>
                      </a:rPr>
                      <m:t>→</m:t>
                    </m:r>
                  </m:oMath>
                </a14:m>
                <a:r>
                  <a:rPr lang="ru-RU" b="0" i="0" dirty="0">
                    <a:latin typeface="+mj-lt"/>
                  </a:rPr>
                  <a:t>нет </a:t>
                </a:r>
                <a:r>
                  <a:rPr lang="ru-RU" b="0" i="0" dirty="0" err="1">
                    <a:latin typeface="+mj-lt"/>
                  </a:rPr>
                  <a:t>коинтеграций</a:t>
                </a:r>
                <a:r>
                  <a:rPr lang="ru-RU" b="0" i="0" dirty="0">
                    <a:latin typeface="+mj-lt"/>
                  </a:rPr>
                  <a:t>, </a:t>
                </a:r>
                <a14:m>
                  <m:oMath xmlns:m="http://schemas.openxmlformats.org/officeDocument/2006/math">
                    <m:r>
                      <a:rPr lang="en-US" i="1" dirty="0">
                        <a:latin typeface="Cambria Math" panose="02040503050406030204" pitchFamily="18" charset="0"/>
                      </a:rPr>
                      <m:t>𝑟</m:t>
                    </m:r>
                    <m:r>
                      <a:rPr lang="en-US" b="0" i="1" dirty="0" smtClean="0">
                        <a:latin typeface="Cambria Math" panose="02040503050406030204" pitchFamily="18" charset="0"/>
                      </a:rPr>
                      <m:t>&lt;</m:t>
                    </m:r>
                    <m:r>
                      <a:rPr lang="en-US" b="0" i="1" dirty="0" smtClean="0">
                        <a:latin typeface="Cambria Math" panose="02040503050406030204" pitchFamily="18" charset="0"/>
                      </a:rPr>
                      <m:t>𝑚</m:t>
                    </m:r>
                  </m:oMath>
                </a14:m>
                <a:r>
                  <a:rPr lang="en-US" dirty="0"/>
                  <a:t> </a:t>
                </a:r>
                <a:r>
                  <a:rPr lang="ru-RU" dirty="0"/>
                  <a:t>(число ВР) – есть </a:t>
                </a:r>
                <a14:m>
                  <m:oMath xmlns:m="http://schemas.openxmlformats.org/officeDocument/2006/math">
                    <m:r>
                      <a:rPr lang="en-US" i="1" dirty="0" smtClean="0">
                        <a:latin typeface="Cambria Math" panose="02040503050406030204" pitchFamily="18" charset="0"/>
                      </a:rPr>
                      <m:t>𝑟</m:t>
                    </m:r>
                  </m:oMath>
                </a14:m>
                <a:r>
                  <a:rPr lang="en-US" dirty="0"/>
                  <a:t> </a:t>
                </a:r>
                <a:r>
                  <a:rPr lang="ru-RU" sz="2000" dirty="0" err="1"/>
                  <a:t>коинтеграций</a:t>
                </a:r>
                <a:r>
                  <a:rPr lang="en-US" sz="2000" dirty="0"/>
                  <a:t>, </a:t>
                </a:r>
                <a14:m>
                  <m:oMath xmlns:m="http://schemas.openxmlformats.org/officeDocument/2006/math">
                    <m:r>
                      <a:rPr lang="en-US" sz="2000" b="0" i="1" smtClean="0">
                        <a:latin typeface="Cambria Math" panose="02040503050406030204" pitchFamily="18" charset="0"/>
                      </a:rPr>
                      <m:t>𝑟</m:t>
                    </m:r>
                    <m:r>
                      <a:rPr lang="en-US" sz="2000" b="0" i="1" smtClean="0">
                        <a:latin typeface="Cambria Math" panose="02040503050406030204" pitchFamily="18" charset="0"/>
                      </a:rPr>
                      <m:t>=</m:t>
                    </m:r>
                    <m:r>
                      <a:rPr lang="en-US" sz="2000" b="0" i="1" smtClean="0">
                        <a:latin typeface="Cambria Math" panose="02040503050406030204" pitchFamily="18" charset="0"/>
                      </a:rPr>
                      <m:t>𝑚</m:t>
                    </m:r>
                  </m:oMath>
                </a14:m>
                <a:r>
                  <a:rPr lang="en-US" dirty="0"/>
                  <a:t> – </a:t>
                </a:r>
                <a:r>
                  <a:rPr lang="ru-RU" dirty="0"/>
                  <a:t>все ВР стационарны (все и так I(0)) </a:t>
                </a:r>
              </a:p>
              <a:p>
                <a:pPr marL="457200" lvl="1" indent="0">
                  <a:lnSpc>
                    <a:spcPct val="100000"/>
                  </a:lnSpc>
                  <a:spcBef>
                    <a:spcPts val="200"/>
                  </a:spcBef>
                  <a:buNone/>
                </a:pPr>
                <a:r>
                  <a:rPr lang="ru-RU" dirty="0"/>
                  <a:t>	</a:t>
                </a:r>
                <a:r>
                  <a:rPr lang="ru-RU" i="1" dirty="0"/>
                  <a:t>проверка статистик на </a:t>
                </a:r>
                <a:r>
                  <a:rPr lang="en-US" i="1" dirty="0"/>
                  <a:t>r 2 </a:t>
                </a:r>
                <a:r>
                  <a:rPr lang="ru-RU" i="1" dirty="0"/>
                  <a:t>особыми способами!</a:t>
                </a:r>
              </a:p>
              <a:p>
                <a:pPr marL="457200" lvl="1" indent="0">
                  <a:lnSpc>
                    <a:spcPct val="100000"/>
                  </a:lnSpc>
                  <a:spcBef>
                    <a:spcPts val="200"/>
                  </a:spcBef>
                  <a:buNone/>
                </a:pPr>
                <a:r>
                  <a:rPr lang="ru-RU" dirty="0"/>
                  <a:t>	Тест матрицы </a:t>
                </a:r>
                <a:r>
                  <a:rPr lang="en-US" b="1" dirty="0"/>
                  <a:t>B</a:t>
                </a:r>
                <a:r>
                  <a:rPr lang="ru-RU" dirty="0"/>
                  <a:t> – </a:t>
                </a:r>
                <a:r>
                  <a:rPr lang="ru-RU" b="1" dirty="0"/>
                  <a:t>тест </a:t>
                </a:r>
                <a:r>
                  <a:rPr lang="ru-RU" b="1" dirty="0" err="1"/>
                  <a:t>Йохансена</a:t>
                </a:r>
                <a:r>
                  <a:rPr lang="ru-RU" b="1" dirty="0"/>
                  <a:t>.</a:t>
                </a:r>
                <a:endParaRPr lang="en-US" b="1" dirty="0"/>
              </a:p>
              <a:p>
                <a:pPr marL="457200" lvl="1" indent="0">
                  <a:lnSpc>
                    <a:spcPct val="100000"/>
                  </a:lnSpc>
                  <a:spcBef>
                    <a:spcPts val="200"/>
                  </a:spcBef>
                  <a:buNone/>
                </a:pPr>
                <a:r>
                  <a:rPr lang="ru-RU" dirty="0"/>
                  <a:t>Модель </a:t>
                </a:r>
                <a:r>
                  <a:rPr lang="en-US" dirty="0"/>
                  <a:t>VAR </a:t>
                </a:r>
                <a:r>
                  <a:rPr lang="ru-RU" dirty="0"/>
                  <a:t>для </a:t>
                </a:r>
                <a:r>
                  <a:rPr lang="ru-RU" dirty="0" err="1"/>
                  <a:t>коинтегрированных</a:t>
                </a:r>
                <a:r>
                  <a:rPr lang="ru-RU" dirty="0"/>
                  <a:t> ВР - </a:t>
                </a:r>
                <a:r>
                  <a:rPr lang="es-ES" b="1" dirty="0"/>
                  <a:t>vector error correction model (VECM)</a:t>
                </a:r>
                <a:endParaRPr lang="ru-RU" b="1" dirty="0"/>
              </a:p>
            </p:txBody>
          </p:sp>
        </mc:Choice>
        <mc:Fallback xmlns="">
          <p:sp>
            <p:nvSpPr>
              <p:cNvPr id="3" name="Объект 2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238352" y="691768"/>
                <a:ext cx="11715296" cy="5518383"/>
              </a:xfrm>
              <a:blipFill>
                <a:blip r:embed="rId3"/>
                <a:stretch>
                  <a:fillRect l="-758" t="-1376" r="-866"/>
                </a:stretch>
              </a:blipFill>
            </p:spPr>
            <p:txBody>
              <a:bodyPr/>
              <a:lstStyle/>
              <a:p>
                <a:r>
                  <a:rPr lang="ru-RU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Прямоугольник 3"/>
          <p:cNvSpPr/>
          <p:nvPr/>
        </p:nvSpPr>
        <p:spPr>
          <a:xfrm>
            <a:off x="7715704" y="6317873"/>
            <a:ext cx="4379725" cy="26161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sz="1100" dirty="0"/>
              <a:t>https://www.numberanalytics.com/blog/cointegration-basics-time-series</a:t>
            </a:r>
            <a:endParaRPr lang="ru-RU" sz="1100" dirty="0"/>
          </a:p>
        </p:txBody>
      </p:sp>
      <p:sp>
        <p:nvSpPr>
          <p:cNvPr id="6" name="Прямоугольник 5"/>
          <p:cNvSpPr/>
          <p:nvPr/>
        </p:nvSpPr>
        <p:spPr>
          <a:xfrm>
            <a:off x="3413124" y="6613076"/>
            <a:ext cx="8848271" cy="276999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ru-RU" sz="1200" dirty="0"/>
              <a:t>https://eodhd.com/financial-academy/portfolio-performance-examples/benchmark-tracking-and-cointegration-analysis-with-python</a:t>
            </a:r>
          </a:p>
        </p:txBody>
      </p:sp>
      <p:sp>
        <p:nvSpPr>
          <p:cNvPr id="7" name="Прямоугольник 6"/>
          <p:cNvSpPr/>
          <p:nvPr/>
        </p:nvSpPr>
        <p:spPr>
          <a:xfrm>
            <a:off x="8122360" y="6147343"/>
            <a:ext cx="4069640" cy="276999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ru-RU" sz="1200" dirty="0"/>
              <a:t>https://www.econometrics-with-r.org/16.3-cointegration.html</a:t>
            </a:r>
          </a:p>
        </p:txBody>
      </p:sp>
      <p:sp>
        <p:nvSpPr>
          <p:cNvPr id="8" name="Прямоугольник 7"/>
          <p:cNvSpPr/>
          <p:nvPr/>
        </p:nvSpPr>
        <p:spPr>
          <a:xfrm>
            <a:off x="328080" y="6170950"/>
            <a:ext cx="5125699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ru-RU" b="1" dirty="0"/>
              <a:t>Интуиция </a:t>
            </a:r>
            <a:r>
              <a:rPr lang="es-ES" b="1" dirty="0"/>
              <a:t>VECM</a:t>
            </a:r>
            <a:r>
              <a:rPr lang="ru-RU" b="1" dirty="0"/>
              <a:t> – это </a:t>
            </a:r>
            <a:r>
              <a:rPr lang="en-US" b="1" dirty="0"/>
              <a:t>VARI</a:t>
            </a:r>
            <a:r>
              <a:rPr lang="ru-RU" b="1" dirty="0"/>
              <a:t> </a:t>
            </a:r>
            <a:r>
              <a:rPr lang="en-US" b="1" dirty="0"/>
              <a:t> + </a:t>
            </a:r>
            <a:r>
              <a:rPr lang="ru-RU" b="1" dirty="0"/>
              <a:t>взаимные эффекты </a:t>
            </a:r>
            <a:endParaRPr lang="ru-RU" dirty="0"/>
          </a:p>
        </p:txBody>
      </p:sp>
      <p:sp>
        <p:nvSpPr>
          <p:cNvPr id="9" name="Прямоугольник 8"/>
          <p:cNvSpPr/>
          <p:nvPr/>
        </p:nvSpPr>
        <p:spPr>
          <a:xfrm>
            <a:off x="5257800" y="6505354"/>
            <a:ext cx="6096000" cy="215444"/>
          </a:xfrm>
          <a:prstGeom prst="rect">
            <a:avLst/>
          </a:prstGeom>
        </p:spPr>
        <p:txBody>
          <a:bodyPr>
            <a:spAutoFit/>
          </a:bodyPr>
          <a:lstStyle/>
          <a:p>
            <a:r>
              <a:rPr lang="ru-RU" sz="800" dirty="0"/>
              <a:t>https://readmedium.com/unveiling-cointegration-johansen-test-explained-with-python-examples-db8385219f1f</a:t>
            </a:r>
          </a:p>
        </p:txBody>
      </p:sp>
    </p:spTree>
    <p:extLst>
      <p:ext uri="{BB962C8B-B14F-4D97-AF65-F5344CB8AC3E}">
        <p14:creationId xmlns:p14="http://schemas.microsoft.com/office/powerpoint/2010/main" val="3617524500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593223E7-A524-671B-448B-011E3889144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00832" y="206679"/>
            <a:ext cx="11461315" cy="707721"/>
          </a:xfrm>
        </p:spPr>
        <p:txBody>
          <a:bodyPr>
            <a:normAutofit/>
          </a:bodyPr>
          <a:lstStyle/>
          <a:p>
            <a:r>
              <a:rPr lang="ru-RU" b="1"/>
              <a:t>Глобальные объясняющие факторы</a:t>
            </a:r>
            <a:endParaRPr lang="ru-RU" b="1" dirty="0"/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713A2CAC-5605-60BB-73D3-81454D6A546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29853" y="826718"/>
            <a:ext cx="11532294" cy="5824603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ru-RU" sz="2400" dirty="0"/>
              <a:t>В ряде МВР могут присутствовать общие объясняющие переменные, напр.:</a:t>
            </a:r>
          </a:p>
          <a:p>
            <a:r>
              <a:rPr lang="ru-RU" sz="2400" dirty="0"/>
              <a:t>Все датчики температуры двигателя растут вместе при перегреве</a:t>
            </a:r>
          </a:p>
          <a:p>
            <a:r>
              <a:rPr lang="ru-RU" sz="2400" dirty="0"/>
              <a:t>Акции в одной отрасли движутся синхронно напр. в зависимости от курса валют</a:t>
            </a:r>
          </a:p>
          <a:p>
            <a:endParaRPr lang="ru-RU" dirty="0"/>
          </a:p>
        </p:txBody>
      </p:sp>
      <p:graphicFrame>
        <p:nvGraphicFramePr>
          <p:cNvPr id="4" name="Таблица 3">
            <a:extLst>
              <a:ext uri="{FF2B5EF4-FFF2-40B4-BE49-F238E27FC236}">
                <a16:creationId xmlns:a16="http://schemas.microsoft.com/office/drawing/2014/main" id="{8F75D77D-75FE-80FB-E60C-E7FC165FC0C5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626297828"/>
              </p:ext>
            </p:extLst>
          </p:nvPr>
        </p:nvGraphicFramePr>
        <p:xfrm>
          <a:off x="400832" y="2685422"/>
          <a:ext cx="11118935" cy="2953980"/>
        </p:xfrm>
        <a:graphic>
          <a:graphicData uri="http://schemas.openxmlformats.org/drawingml/2006/table">
            <a:tbl>
              <a:tblPr/>
              <a:tblGrid>
                <a:gridCol w="5131495">
                  <a:extLst>
                    <a:ext uri="{9D8B030D-6E8A-4147-A177-3AD203B41FA5}">
                      <a16:colId xmlns:a16="http://schemas.microsoft.com/office/drawing/2014/main" val="3559473103"/>
                    </a:ext>
                  </a:extLst>
                </a:gridCol>
                <a:gridCol w="5987440">
                  <a:extLst>
                    <a:ext uri="{9D8B030D-6E8A-4147-A177-3AD203B41FA5}">
                      <a16:colId xmlns:a16="http://schemas.microsoft.com/office/drawing/2014/main" val="32182090"/>
                    </a:ext>
                  </a:extLst>
                </a:gridCol>
              </a:tblGrid>
              <a:tr h="198752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ru-RU" sz="2000" b="1" dirty="0">
                          <a:solidFill>
                            <a:srgbClr val="000000"/>
                          </a:solidFill>
                          <a:effectLst/>
                          <a:latin typeface="+mn-lt"/>
                        </a:rPr>
                        <a:t>Сигнал</a:t>
                      </a:r>
                      <a:endParaRPr lang="ru-RU" sz="2000" dirty="0">
                        <a:effectLst/>
                        <a:latin typeface="+mn-lt"/>
                      </a:endParaRPr>
                    </a:p>
                  </a:txBody>
                  <a:tcPr marL="34209" marR="34209" marT="34209" marB="34209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0B3B2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ru-RU" sz="2000" b="1">
                          <a:solidFill>
                            <a:srgbClr val="000000"/>
                          </a:solidFill>
                          <a:effectLst/>
                          <a:latin typeface="+mn-lt"/>
                        </a:rPr>
                        <a:t>Интерпретация</a:t>
                      </a:r>
                      <a:endParaRPr lang="ru-RU" sz="2000">
                        <a:effectLst/>
                        <a:latin typeface="+mn-lt"/>
                      </a:endParaRPr>
                    </a:p>
                  </a:txBody>
                  <a:tcPr marL="34209" marR="34209" marT="34209" marB="34209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0B3B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369315891"/>
                  </a:ext>
                </a:extLst>
              </a:tr>
              <a:tr h="509842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ru-RU" sz="2000" b="1" dirty="0">
                          <a:solidFill>
                            <a:srgbClr val="000000"/>
                          </a:solidFill>
                          <a:effectLst/>
                          <a:latin typeface="+mn-lt"/>
                        </a:rPr>
                        <a:t>Высокая корреляция между переменными</a:t>
                      </a:r>
                      <a:endParaRPr lang="ru-RU" sz="2000" dirty="0">
                        <a:effectLst/>
                        <a:latin typeface="+mn-lt"/>
                      </a:endParaRPr>
                    </a:p>
                  </a:txBody>
                  <a:tcPr marL="34209" marR="34209" marT="34209" marB="34209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4D4D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ru-RU" sz="2000">
                          <a:solidFill>
                            <a:srgbClr val="000000"/>
                          </a:solidFill>
                          <a:effectLst/>
                          <a:latin typeface="+mn-lt"/>
                        </a:rPr>
                        <a:t>Возможен общий фактор</a:t>
                      </a:r>
                      <a:endParaRPr lang="ru-RU" sz="2000">
                        <a:effectLst/>
                        <a:latin typeface="+mn-lt"/>
                      </a:endParaRPr>
                    </a:p>
                  </a:txBody>
                  <a:tcPr marL="34209" marR="34209" marT="34209" marB="34209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220808944"/>
                  </a:ext>
                </a:extLst>
              </a:tr>
              <a:tr h="665387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ru-RU" sz="2000" b="1" dirty="0">
                          <a:solidFill>
                            <a:srgbClr val="000000"/>
                          </a:solidFill>
                          <a:effectLst/>
                          <a:latin typeface="+mn-lt"/>
                        </a:rPr>
                        <a:t>Первая главная компонента объясняет &gt;70% дисперсии</a:t>
                      </a:r>
                      <a:endParaRPr lang="ru-RU" sz="2000" dirty="0">
                        <a:effectLst/>
                        <a:latin typeface="+mn-lt"/>
                      </a:endParaRPr>
                    </a:p>
                  </a:txBody>
                  <a:tcPr marL="34209" marR="34209" marT="34209" marB="34209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4D4D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" sz="2000" dirty="0">
                          <a:solidFill>
                            <a:srgbClr val="000000"/>
                          </a:solidFill>
                          <a:effectLst/>
                          <a:latin typeface="+mn-lt"/>
                        </a:rPr>
                        <a:t>PCA </a:t>
                      </a:r>
                      <a:r>
                        <a:rPr lang="ru-RU" sz="2000" dirty="0">
                          <a:solidFill>
                            <a:srgbClr val="000000"/>
                          </a:solidFill>
                          <a:effectLst/>
                          <a:latin typeface="+mn-lt"/>
                        </a:rPr>
                        <a:t>выделил доминирующий режим</a:t>
                      </a:r>
                      <a:endParaRPr lang="ru-RU" sz="2000" dirty="0">
                        <a:effectLst/>
                        <a:latin typeface="+mn-lt"/>
                      </a:endParaRPr>
                    </a:p>
                  </a:txBody>
                  <a:tcPr marL="34209" marR="34209" marT="34209" marB="34209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228036815"/>
                  </a:ext>
                </a:extLst>
              </a:tr>
              <a:tr h="509842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" sz="2000" b="1" dirty="0">
                          <a:solidFill>
                            <a:srgbClr val="000000"/>
                          </a:solidFill>
                          <a:effectLst/>
                          <a:latin typeface="+mn-lt"/>
                        </a:rPr>
                        <a:t>Granger-</a:t>
                      </a:r>
                      <a:r>
                        <a:rPr lang="ru-RU" sz="2000" b="1" dirty="0">
                          <a:solidFill>
                            <a:srgbClr val="000000"/>
                          </a:solidFill>
                          <a:effectLst/>
                          <a:latin typeface="+mn-lt"/>
                        </a:rPr>
                        <a:t>тест показывает "всё вызывает всё"</a:t>
                      </a:r>
                      <a:endParaRPr lang="ru-RU" sz="2000" dirty="0">
                        <a:effectLst/>
                        <a:latin typeface="+mn-lt"/>
                      </a:endParaRPr>
                    </a:p>
                  </a:txBody>
                  <a:tcPr marL="34209" marR="34209" marT="34209" marB="34209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4D4D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ru-RU" sz="2000" dirty="0">
                          <a:solidFill>
                            <a:srgbClr val="000000"/>
                          </a:solidFill>
                          <a:effectLst/>
                          <a:latin typeface="+mn-lt"/>
                        </a:rPr>
                        <a:t>Возможно, общий фактор влияет на всех</a:t>
                      </a:r>
                      <a:endParaRPr lang="ru-RU" sz="2000" dirty="0">
                        <a:effectLst/>
                        <a:latin typeface="+mn-lt"/>
                      </a:endParaRPr>
                    </a:p>
                  </a:txBody>
                  <a:tcPr marL="34209" marR="34209" marT="34209" marB="34209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384637492"/>
                  </a:ext>
                </a:extLst>
              </a:tr>
              <a:tr h="354297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ru-RU" sz="2000" b="1">
                          <a:solidFill>
                            <a:srgbClr val="000000"/>
                          </a:solidFill>
                          <a:effectLst/>
                          <a:latin typeface="+mn-lt"/>
                        </a:rPr>
                        <a:t>Остатки после </a:t>
                      </a:r>
                      <a:r>
                        <a:rPr lang="en" sz="2000" b="1">
                          <a:solidFill>
                            <a:srgbClr val="000000"/>
                          </a:solidFill>
                          <a:effectLst/>
                          <a:latin typeface="+mn-lt"/>
                        </a:rPr>
                        <a:t>VAR </a:t>
                      </a:r>
                      <a:r>
                        <a:rPr lang="ru-RU" sz="2000" b="1">
                          <a:solidFill>
                            <a:srgbClr val="000000"/>
                          </a:solidFill>
                          <a:effectLst/>
                          <a:latin typeface="+mn-lt"/>
                        </a:rPr>
                        <a:t>не </a:t>
                      </a:r>
                      <a:r>
                        <a:rPr lang="en" sz="2000" b="1">
                          <a:solidFill>
                            <a:srgbClr val="000000"/>
                          </a:solidFill>
                          <a:effectLst/>
                          <a:latin typeface="+mn-lt"/>
                        </a:rPr>
                        <a:t>i.i.d. (BDS </a:t>
                      </a:r>
                      <a:r>
                        <a:rPr lang="ru-RU" sz="2000" b="1">
                          <a:solidFill>
                            <a:srgbClr val="000000"/>
                          </a:solidFill>
                          <a:effectLst/>
                          <a:latin typeface="+mn-lt"/>
                        </a:rPr>
                        <a:t>значим)</a:t>
                      </a:r>
                      <a:endParaRPr lang="ru-RU" sz="2000">
                        <a:effectLst/>
                        <a:latin typeface="+mn-lt"/>
                      </a:endParaRPr>
                    </a:p>
                  </a:txBody>
                  <a:tcPr marL="34209" marR="34209" marT="34209" marB="34209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4D4D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ru-RU" sz="2000" dirty="0">
                          <a:solidFill>
                            <a:srgbClr val="000000"/>
                          </a:solidFill>
                          <a:effectLst/>
                          <a:latin typeface="+mn-lt"/>
                        </a:rPr>
                        <a:t>Есть скрытая структура</a:t>
                      </a:r>
                      <a:endParaRPr lang="ru-RU" sz="2000" dirty="0">
                        <a:effectLst/>
                        <a:latin typeface="+mn-lt"/>
                      </a:endParaRPr>
                    </a:p>
                  </a:txBody>
                  <a:tcPr marL="34209" marR="34209" marT="34209" marB="34209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653274546"/>
                  </a:ext>
                </a:extLst>
              </a:tr>
              <a:tr h="509842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ru-RU" sz="2000" b="1">
                          <a:solidFill>
                            <a:srgbClr val="000000"/>
                          </a:solidFill>
                          <a:effectLst/>
                          <a:latin typeface="+mn-lt"/>
                        </a:rPr>
                        <a:t>Сезонность или тренд в остатках</a:t>
                      </a:r>
                      <a:endParaRPr lang="ru-RU" sz="2000">
                        <a:effectLst/>
                        <a:latin typeface="+mn-lt"/>
                      </a:endParaRPr>
                    </a:p>
                  </a:txBody>
                  <a:tcPr marL="34209" marR="34209" marT="34209" marB="34209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4D4D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ru-RU" sz="2000" dirty="0">
                          <a:solidFill>
                            <a:srgbClr val="000000"/>
                          </a:solidFill>
                          <a:effectLst/>
                          <a:latin typeface="+mn-lt"/>
                        </a:rPr>
                        <a:t>Не учтён внешний фактор</a:t>
                      </a:r>
                      <a:endParaRPr lang="ru-RU" sz="2000" dirty="0">
                        <a:effectLst/>
                        <a:latin typeface="+mn-lt"/>
                      </a:endParaRPr>
                    </a:p>
                  </a:txBody>
                  <a:tcPr marL="34209" marR="34209" marT="34209" marB="34209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597988997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007271149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018DCAB-041C-C16F-ED55-7E5C48E4052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CD619ED7-4CF8-86DC-12FD-195160CD62F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00832" y="206679"/>
            <a:ext cx="11461315" cy="707721"/>
          </a:xfrm>
        </p:spPr>
        <p:txBody>
          <a:bodyPr>
            <a:normAutofit/>
          </a:bodyPr>
          <a:lstStyle/>
          <a:p>
            <a:r>
              <a:rPr lang="ru-RU" b="1" dirty="0"/>
              <a:t>Глобальные объясняющие факторы</a:t>
            </a:r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DCEB7F0C-22A6-2B63-9324-6BA1F132184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29853" y="826718"/>
            <a:ext cx="11532294" cy="5824603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ru-RU" sz="2400" dirty="0"/>
              <a:t>В таких случаях нужно отделить их виляние от закономерностей внутри каждого ряда и других связей между переменными. Методы:</a:t>
            </a:r>
          </a:p>
          <a:p>
            <a:r>
              <a:rPr lang="ru-RU" sz="2400" dirty="0"/>
              <a:t>Вычитание скользящего среднего общей переменной (если подходит)</a:t>
            </a:r>
          </a:p>
          <a:p>
            <a:pPr lvl="1"/>
            <a:r>
              <a:rPr lang="ru-RU" dirty="0"/>
              <a:t>Если переменные одной природы!</a:t>
            </a:r>
          </a:p>
          <a:p>
            <a:r>
              <a:rPr lang="ru-RU" sz="2400" dirty="0"/>
              <a:t>Вычитание регрессии одной переменной на другую</a:t>
            </a:r>
          </a:p>
          <a:p>
            <a:pPr lvl="1"/>
            <a:r>
              <a:rPr lang="ru-RU" dirty="0"/>
              <a:t>Если связь линейная</a:t>
            </a:r>
          </a:p>
          <a:p>
            <a:r>
              <a:rPr lang="ru-RU" sz="2400" dirty="0"/>
              <a:t>Интерпретация переменной как экзогенного фактора</a:t>
            </a:r>
          </a:p>
          <a:p>
            <a:pPr lvl="1"/>
            <a:r>
              <a:rPr lang="ru-RU" dirty="0"/>
              <a:t>Если модель правильно учтет переменную</a:t>
            </a:r>
          </a:p>
          <a:p>
            <a:r>
              <a:rPr lang="ru-RU" sz="2400" dirty="0"/>
              <a:t>Методы сжатия - восстановления размерности</a:t>
            </a:r>
          </a:p>
          <a:p>
            <a:pPr lvl="1"/>
            <a:r>
              <a:rPr lang="ru-RU" dirty="0"/>
              <a:t>Напр. метод главных компонент (</a:t>
            </a:r>
            <a:r>
              <a:rPr lang="en-US" dirty="0"/>
              <a:t>PCA -&gt; </a:t>
            </a:r>
            <a:r>
              <a:rPr lang="ru-RU" dirty="0"/>
              <a:t>восстановление без 0-й компоненты </a:t>
            </a:r>
            <a:r>
              <a:rPr lang="en-US" dirty="0"/>
              <a:t>PCA)</a:t>
            </a:r>
            <a:endParaRPr lang="ru-RU" dirty="0"/>
          </a:p>
          <a:p>
            <a:pPr lvl="1"/>
            <a:r>
              <a:rPr lang="ru-RU" dirty="0"/>
              <a:t>Или метод </a:t>
            </a:r>
            <a:r>
              <a:rPr lang="ru-RU" dirty="0" err="1"/>
              <a:t>автоэнкодера</a:t>
            </a:r>
            <a:r>
              <a:rPr lang="ru-RU" dirty="0"/>
              <a:t> (зануление 0 компоненты скрытого пространства)</a:t>
            </a:r>
          </a:p>
          <a:p>
            <a:pPr lvl="1"/>
            <a:r>
              <a:rPr lang="ru-RU" dirty="0"/>
              <a:t>0-я компонента – как правило общая тенденция</a:t>
            </a:r>
          </a:p>
          <a:p>
            <a:pPr lvl="1"/>
            <a:r>
              <a:rPr lang="ru-RU" dirty="0"/>
              <a:t>Проверка: компонента влияет на остальные (казуальность, корреляция)</a:t>
            </a:r>
          </a:p>
          <a:p>
            <a:pPr marL="457200" lvl="1" indent="0">
              <a:buNone/>
            </a:pPr>
            <a:endParaRPr lang="ru-RU" dirty="0"/>
          </a:p>
          <a:p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1933017096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C0B310A8-1639-074E-D1B0-CAC9C025B1F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50521" y="365126"/>
            <a:ext cx="11103279" cy="787270"/>
          </a:xfrm>
        </p:spPr>
        <p:txBody>
          <a:bodyPr/>
          <a:lstStyle/>
          <a:p>
            <a:pPr algn="ctr"/>
            <a:r>
              <a:rPr lang="ru-RU" b="1" dirty="0" err="1"/>
              <a:t>Сумматризация</a:t>
            </a:r>
            <a:r>
              <a:rPr lang="ru-RU" b="1" dirty="0"/>
              <a:t> тестов</a:t>
            </a:r>
          </a:p>
        </p:txBody>
      </p:sp>
      <p:graphicFrame>
        <p:nvGraphicFramePr>
          <p:cNvPr id="4" name="Объект 3">
            <a:extLst>
              <a:ext uri="{FF2B5EF4-FFF2-40B4-BE49-F238E27FC236}">
                <a16:creationId xmlns:a16="http://schemas.microsoft.com/office/drawing/2014/main" id="{E9037AD2-3D62-1E05-80BD-810A0CC0BA22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1430488392"/>
              </p:ext>
            </p:extLst>
          </p:nvPr>
        </p:nvGraphicFramePr>
        <p:xfrm>
          <a:off x="250521" y="1152396"/>
          <a:ext cx="11448790" cy="52806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392471">
                  <a:extLst>
                    <a:ext uri="{9D8B030D-6E8A-4147-A177-3AD203B41FA5}">
                      <a16:colId xmlns:a16="http://schemas.microsoft.com/office/drawing/2014/main" val="1144837396"/>
                    </a:ext>
                  </a:extLst>
                </a:gridCol>
                <a:gridCol w="2071421">
                  <a:extLst>
                    <a:ext uri="{9D8B030D-6E8A-4147-A177-3AD203B41FA5}">
                      <a16:colId xmlns:a16="http://schemas.microsoft.com/office/drawing/2014/main" val="3680973962"/>
                    </a:ext>
                  </a:extLst>
                </a:gridCol>
                <a:gridCol w="2738573">
                  <a:extLst>
                    <a:ext uri="{9D8B030D-6E8A-4147-A177-3AD203B41FA5}">
                      <a16:colId xmlns:a16="http://schemas.microsoft.com/office/drawing/2014/main" val="4292674020"/>
                    </a:ext>
                  </a:extLst>
                </a:gridCol>
                <a:gridCol w="4246325">
                  <a:extLst>
                    <a:ext uri="{9D8B030D-6E8A-4147-A177-3AD203B41FA5}">
                      <a16:colId xmlns:a16="http://schemas.microsoft.com/office/drawing/2014/main" val="1747132449"/>
                    </a:ext>
                  </a:extLst>
                </a:gridCol>
              </a:tblGrid>
              <a:tr h="423284">
                <a:tc>
                  <a:txBody>
                    <a:bodyPr/>
                    <a:lstStyle/>
                    <a:p>
                      <a:pPr algn="ctr"/>
                      <a:r>
                        <a:rPr lang="ru-RU" sz="2200" dirty="0"/>
                        <a:t>Тип МВР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sz="2200" dirty="0"/>
                        <a:t>Тест на тип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sz="2200" dirty="0"/>
                        <a:t>метод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ru-RU" sz="2200" dirty="0"/>
                        <a:t>Дополнительные действия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13324849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ru-RU" sz="2200" dirty="0"/>
                        <a:t>Стационарный ВР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sz="2200" dirty="0"/>
                        <a:t>AD</a:t>
                      </a:r>
                      <a:r>
                        <a:rPr lang="en-US" sz="2200" dirty="0"/>
                        <a:t>F, KPSS</a:t>
                      </a:r>
                      <a:endParaRPr lang="ru-RU" sz="22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200" dirty="0"/>
                        <a:t>VAR</a:t>
                      </a:r>
                      <a:endParaRPr lang="ru-RU" sz="22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ru-RU" sz="2200" dirty="0"/>
                        <a:t>Обработка каждого ВР отдельно (</a:t>
                      </a:r>
                      <a:r>
                        <a:rPr lang="ru-RU" sz="2200" dirty="0" err="1"/>
                        <a:t>диф</a:t>
                      </a:r>
                      <a:r>
                        <a:rPr lang="ru-RU" sz="2200" dirty="0"/>
                        <a:t>, лог, STL</a:t>
                      </a:r>
                      <a:r>
                        <a:rPr lang="en-US" sz="2200" dirty="0"/>
                        <a:t>)</a:t>
                      </a:r>
                      <a:endParaRPr lang="ru-RU" sz="22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761321647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ru-RU" sz="2200" dirty="0"/>
                        <a:t>корреляции</a:t>
                      </a:r>
                      <a:r>
                        <a:rPr lang="en-US" sz="2200" dirty="0"/>
                        <a:t> + </a:t>
                      </a:r>
                      <a:r>
                        <a:rPr lang="en-US" sz="2200" dirty="0" err="1"/>
                        <a:t>стац</a:t>
                      </a:r>
                      <a:r>
                        <a:rPr lang="ru-RU" sz="2200" dirty="0" err="1"/>
                        <a:t>ионарность</a:t>
                      </a:r>
                      <a:endParaRPr lang="ru-RU" sz="22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sz="2200" dirty="0"/>
                        <a:t>Cross</a:t>
                      </a:r>
                      <a:r>
                        <a:rPr lang="en-US" sz="2200" dirty="0"/>
                        <a:t>-</a:t>
                      </a:r>
                      <a:r>
                        <a:rPr lang="en-US" sz="2200" dirty="0" err="1"/>
                        <a:t>corr</a:t>
                      </a:r>
                      <a:r>
                        <a:rPr lang="en-US" sz="2200" dirty="0"/>
                        <a:t>, f-test</a:t>
                      </a:r>
                      <a:endParaRPr lang="ru-RU" sz="22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200" dirty="0"/>
                        <a:t>VAR + </a:t>
                      </a:r>
                      <a:r>
                        <a:rPr lang="ru-RU" sz="2200" dirty="0"/>
                        <a:t>регуляризация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ru-RU" sz="2000" dirty="0" smtClean="0">
                          <a:effectLst/>
                        </a:rPr>
                        <a:t>Раздельное </a:t>
                      </a:r>
                      <a:r>
                        <a:rPr lang="ru-RU" sz="2000" dirty="0">
                          <a:effectLst/>
                        </a:rPr>
                        <a:t>моделирование, уменьшение размерности (PC</a:t>
                      </a:r>
                      <a:r>
                        <a:rPr lang="en-US" sz="2000" dirty="0">
                          <a:effectLst/>
                        </a:rPr>
                        <a:t>A)</a:t>
                      </a:r>
                      <a:endParaRPr lang="ru-RU" sz="2000" dirty="0">
                        <a:effectLst/>
                      </a:endParaRPr>
                    </a:p>
                  </a:txBody>
                  <a:tcPr marL="95250" marR="95250" marT="95250" marB="95250" anchor="ctr"/>
                </a:tc>
                <a:extLst>
                  <a:ext uri="{0D108BD9-81ED-4DB2-BD59-A6C34878D82A}">
                    <a16:rowId xmlns:a16="http://schemas.microsoft.com/office/drawing/2014/main" val="697037357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ru-RU" sz="2200" dirty="0"/>
                        <a:t>казуальность</a:t>
                      </a:r>
                      <a:r>
                        <a:rPr lang="en-US" sz="2200" dirty="0"/>
                        <a:t>+ </a:t>
                      </a:r>
                      <a:r>
                        <a:rPr lang="en-US" sz="2200" dirty="0" err="1"/>
                        <a:t>стац</a:t>
                      </a:r>
                      <a:r>
                        <a:rPr lang="ru-RU" sz="2200" dirty="0" err="1"/>
                        <a:t>ионарность</a:t>
                      </a:r>
                      <a:endParaRPr lang="ru-RU" sz="22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200" dirty="0"/>
                        <a:t>Granger-test</a:t>
                      </a:r>
                      <a:endParaRPr lang="ru-RU" sz="22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200" dirty="0"/>
                        <a:t>SVAR</a:t>
                      </a:r>
                      <a:r>
                        <a:rPr lang="ru-RU" sz="2200" dirty="0"/>
                        <a:t>, 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ru-RU" sz="2000" dirty="0"/>
                        <a:t>убрать/сделать экзогенными казуальные переменные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634730389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sz="2200" dirty="0" err="1"/>
                        <a:t>Ес</a:t>
                      </a:r>
                      <a:r>
                        <a:rPr lang="ru-RU" sz="2200" dirty="0" err="1"/>
                        <a:t>ть</a:t>
                      </a:r>
                      <a:r>
                        <a:rPr lang="ru-RU" sz="2200" dirty="0"/>
                        <a:t> </a:t>
                      </a:r>
                      <a:r>
                        <a:rPr lang="ru-RU" sz="2200" dirty="0" err="1"/>
                        <a:t>коинтеграции</a:t>
                      </a:r>
                      <a:endParaRPr lang="ru-RU" sz="22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200" dirty="0"/>
                        <a:t>Johansen test</a:t>
                      </a:r>
                      <a:r>
                        <a:rPr lang="ru-RU" sz="2200" dirty="0"/>
                        <a:t> </a:t>
                      </a:r>
                      <a:r>
                        <a:rPr lang="en" sz="2200" b="0" i="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Engle-Granger</a:t>
                      </a:r>
                      <a:endParaRPr lang="ru-RU" sz="22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sz="2200" dirty="0"/>
                        <a:t>VEC</a:t>
                      </a:r>
                      <a:r>
                        <a:rPr lang="en-US" sz="2200" dirty="0"/>
                        <a:t>M</a:t>
                      </a:r>
                      <a:endParaRPr lang="ru-RU" sz="22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ru-RU" sz="2000" b="0" i="0" kern="1200" dirty="0" err="1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Слоабая</a:t>
                      </a:r>
                      <a:r>
                        <a:rPr lang="ru-RU" sz="2000" b="0" i="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 </a:t>
                      </a:r>
                      <a:r>
                        <a:rPr lang="ru-RU" sz="2000" b="0" i="0" kern="1200" dirty="0" err="1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коинтеграция</a:t>
                      </a:r>
                      <a:r>
                        <a:rPr lang="ru-RU" sz="2000" b="0" i="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 → обычный </a:t>
                      </a:r>
                      <a:r>
                        <a:rPr lang="en" sz="2000" b="0" i="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VAR </a:t>
                      </a:r>
                      <a:r>
                        <a:rPr lang="ru-RU" sz="2000" b="0" i="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в первых разностях.</a:t>
                      </a:r>
                      <a:endParaRPr lang="ru-RU" sz="20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220271657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ru-RU" sz="2200" dirty="0"/>
                        <a:t>Глобальный объясняющий фактор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sz="2200" dirty="0"/>
                        <a:t>Проверка первых компонент </a:t>
                      </a:r>
                      <a:r>
                        <a:rPr lang="en-US" sz="2200" dirty="0"/>
                        <a:t>PCA</a:t>
                      </a:r>
                      <a:endParaRPr lang="ru-RU" sz="22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200" dirty="0"/>
                        <a:t>VARX (</a:t>
                      </a:r>
                      <a:r>
                        <a:rPr lang="en-US" sz="2200" dirty="0" err="1"/>
                        <a:t>гло</a:t>
                      </a:r>
                      <a:r>
                        <a:rPr lang="ru-RU" sz="2200" dirty="0"/>
                        <a:t>бальный фактор-экзогенный)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ru-RU" sz="2200" dirty="0"/>
                        <a:t>Устранить влияние фактора</a:t>
                      </a:r>
                    </a:p>
                    <a:p>
                      <a:r>
                        <a:rPr lang="ru-RU" sz="2200" dirty="0"/>
                        <a:t>Через регрессию и вычитание если известен?</a:t>
                      </a:r>
                    </a:p>
                    <a:p>
                      <a:r>
                        <a:rPr lang="ru-RU" sz="2200" dirty="0"/>
                        <a:t> через сжатие - восстановление размерности если неизвестен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107968156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655742984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C22F2355-ECD2-CFE7-1326-3F7024B660E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25677" y="365125"/>
            <a:ext cx="11028123" cy="611905"/>
          </a:xfrm>
        </p:spPr>
        <p:txBody>
          <a:bodyPr>
            <a:normAutofit fontScale="90000"/>
          </a:bodyPr>
          <a:lstStyle/>
          <a:p>
            <a:pPr algn="ctr"/>
            <a:r>
              <a:rPr lang="ru-RU" dirty="0"/>
              <a:t>Использование МО в МВР</a:t>
            </a:r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DF9F0CCA-662F-AA58-2402-C436EA6BB4E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62838" y="839244"/>
            <a:ext cx="11703485" cy="6018756"/>
          </a:xfrm>
        </p:spPr>
        <p:txBody>
          <a:bodyPr>
            <a:normAutofit/>
          </a:bodyPr>
          <a:lstStyle/>
          <a:p>
            <a:pPr marL="0" indent="0">
              <a:lnSpc>
                <a:spcPct val="100000"/>
              </a:lnSpc>
              <a:spcBef>
                <a:spcPts val="0"/>
              </a:spcBef>
              <a:buNone/>
            </a:pPr>
            <a:r>
              <a:rPr lang="ru-RU" sz="2200" dirty="0"/>
              <a:t>Многие реальные МВР — нелинейны, </a:t>
            </a:r>
            <a:r>
              <a:rPr lang="ru-RU" sz="2200" dirty="0" err="1"/>
              <a:t>нестационарны</a:t>
            </a:r>
            <a:r>
              <a:rPr lang="ru-RU" sz="2200" dirty="0"/>
              <a:t> и содержат сложные взаимодействия и достаточно большие объемы данных.</a:t>
            </a:r>
            <a:endParaRPr lang="en-US" sz="2200" dirty="0"/>
          </a:p>
          <a:p>
            <a:pPr>
              <a:lnSpc>
                <a:spcPct val="100000"/>
              </a:lnSpc>
              <a:spcBef>
                <a:spcPts val="0"/>
              </a:spcBef>
            </a:pPr>
            <a:r>
              <a:rPr lang="en-US" sz="2200" dirty="0" err="1"/>
              <a:t>При</a:t>
            </a:r>
            <a:r>
              <a:rPr lang="en-US" sz="2200" dirty="0"/>
              <a:t> </a:t>
            </a:r>
            <a:r>
              <a:rPr lang="ru-RU" sz="2200" dirty="0"/>
              <a:t>этом часто в разы проще собрать единую модель для прогноза на основе всех ВР – глобальную прогнозную модель</a:t>
            </a:r>
            <a:endParaRPr lang="en-US" sz="2200" dirty="0"/>
          </a:p>
          <a:p>
            <a:pPr marL="0" indent="0">
              <a:lnSpc>
                <a:spcPct val="100000"/>
              </a:lnSpc>
              <a:spcBef>
                <a:spcPts val="600"/>
              </a:spcBef>
              <a:buNone/>
            </a:pPr>
            <a:r>
              <a:rPr lang="ru-RU" sz="2200" b="1" dirty="0"/>
              <a:t>Преимущества глобальных моделей: </a:t>
            </a:r>
          </a:p>
          <a:p>
            <a:pPr>
              <a:lnSpc>
                <a:spcPct val="100000"/>
              </a:lnSpc>
              <a:spcBef>
                <a:spcPts val="0"/>
              </a:spcBef>
            </a:pPr>
            <a:r>
              <a:rPr lang="ru-RU" sz="2200" dirty="0"/>
              <a:t>Проще поддерживать и отслеживать одну модель, чем несколько. </a:t>
            </a:r>
          </a:p>
          <a:p>
            <a:pPr>
              <a:lnSpc>
                <a:spcPct val="100000"/>
              </a:lnSpc>
              <a:spcBef>
                <a:spcPts val="0"/>
              </a:spcBef>
            </a:pPr>
            <a:r>
              <a:rPr lang="ru-RU" sz="2200" dirty="0"/>
              <a:t>Поскольку все временные ряды объединяются во время обучения, модель обладает более высокой способностью к обучению, даже если ряды короткие. </a:t>
            </a:r>
          </a:p>
          <a:p>
            <a:pPr>
              <a:lnSpc>
                <a:spcPct val="100000"/>
              </a:lnSpc>
              <a:spcBef>
                <a:spcPts val="0"/>
              </a:spcBef>
            </a:pPr>
            <a:r>
              <a:rPr lang="ru-RU" sz="2200" dirty="0"/>
              <a:t>Комбинируя несколько временных рядов, модель может отражать более общие закономерности. </a:t>
            </a:r>
          </a:p>
          <a:p>
            <a:pPr>
              <a:lnSpc>
                <a:spcPct val="100000"/>
              </a:lnSpc>
              <a:spcBef>
                <a:spcPts val="0"/>
              </a:spcBef>
            </a:pPr>
            <a:r>
              <a:rPr lang="ru-RU" sz="2200" dirty="0"/>
              <a:t>В модели можно добавлять дополнительные признаки, например </a:t>
            </a:r>
            <a:r>
              <a:rPr lang="en-US" sz="2200" dirty="0"/>
              <a:t>Granger-test</a:t>
            </a:r>
            <a:r>
              <a:rPr lang="ru-RU" sz="2200" dirty="0"/>
              <a:t>, </a:t>
            </a:r>
            <a:r>
              <a:rPr lang="en-US" sz="2200" dirty="0"/>
              <a:t>Johansen test</a:t>
            </a:r>
            <a:r>
              <a:rPr lang="ru-RU" sz="2200" dirty="0"/>
              <a:t> </a:t>
            </a:r>
          </a:p>
          <a:p>
            <a:pPr marL="0" indent="0">
              <a:lnSpc>
                <a:spcPct val="100000"/>
              </a:lnSpc>
              <a:spcBef>
                <a:spcPts val="600"/>
              </a:spcBef>
              <a:buNone/>
            </a:pPr>
            <a:r>
              <a:rPr lang="ru-RU" sz="2200" b="1" dirty="0"/>
              <a:t>Ограничения глобальных моделей: </a:t>
            </a:r>
          </a:p>
          <a:p>
            <a:pPr>
              <a:lnSpc>
                <a:spcPct val="100000"/>
              </a:lnSpc>
              <a:spcBef>
                <a:spcPts val="0"/>
              </a:spcBef>
            </a:pPr>
            <a:r>
              <a:rPr lang="ru-RU" sz="2200" dirty="0"/>
              <a:t>Если ВР не соответствуют одной и той же внутренней динамике, модель может изучить закономерность, которая не отражает ни одну из них. </a:t>
            </a:r>
          </a:p>
          <a:p>
            <a:pPr>
              <a:lnSpc>
                <a:spcPct val="100000"/>
              </a:lnSpc>
              <a:spcBef>
                <a:spcPts val="0"/>
              </a:spcBef>
            </a:pPr>
            <a:r>
              <a:rPr lang="ru-RU" sz="2200" dirty="0"/>
              <a:t>ВР могут маскировать друг друга, поэтому модель может разную точность для разных моделей. 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96C86B62-A632-F341-B87F-A1546472B4B8}"/>
              </a:ext>
            </a:extLst>
          </p:cNvPr>
          <p:cNvSpPr txBox="1"/>
          <p:nvPr/>
        </p:nvSpPr>
        <p:spPr>
          <a:xfrm>
            <a:off x="6416457" y="6492875"/>
            <a:ext cx="6093912" cy="276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ru-RU" sz="1200" dirty="0" err="1"/>
              <a:t>https</a:t>
            </a:r>
            <a:r>
              <a:rPr lang="ru-RU" sz="1200" dirty="0"/>
              <a:t>://</a:t>
            </a:r>
            <a:r>
              <a:rPr lang="ru-RU" sz="1200" dirty="0" err="1"/>
              <a:t>cienciadedatos.net</a:t>
            </a:r>
            <a:r>
              <a:rPr lang="ru-RU" sz="1200" dirty="0"/>
              <a:t>/</a:t>
            </a:r>
            <a:r>
              <a:rPr lang="ru-RU" sz="1200" dirty="0" err="1"/>
              <a:t>documentos</a:t>
            </a:r>
            <a:r>
              <a:rPr lang="ru-RU" sz="1200" dirty="0"/>
              <a:t>/py44-multi-series-forecasting-skforecast</a:t>
            </a:r>
          </a:p>
        </p:txBody>
      </p:sp>
    </p:spTree>
    <p:extLst>
      <p:ext uri="{BB962C8B-B14F-4D97-AF65-F5344CB8AC3E}">
        <p14:creationId xmlns:p14="http://schemas.microsoft.com/office/powerpoint/2010/main" val="395841035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6ECDE8D-51B4-38BC-18EA-9CF99CF5CA3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D4797A1F-0AE1-8AB3-30E6-F034904CE91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25677" y="365125"/>
            <a:ext cx="11028123" cy="611905"/>
          </a:xfrm>
        </p:spPr>
        <p:txBody>
          <a:bodyPr>
            <a:normAutofit fontScale="90000"/>
          </a:bodyPr>
          <a:lstStyle/>
          <a:p>
            <a:pPr algn="ctr"/>
            <a:r>
              <a:rPr lang="ru-RU" dirty="0"/>
              <a:t>Использование МО в МВР</a:t>
            </a:r>
          </a:p>
        </p:txBody>
      </p:sp>
      <p:pic>
        <p:nvPicPr>
          <p:cNvPr id="7170" name="Picture 2" descr="No description has been provided for this image">
            <a:extLst>
              <a:ext uri="{FF2B5EF4-FFF2-40B4-BE49-F238E27FC236}">
                <a16:creationId xmlns:a16="http://schemas.microsoft.com/office/drawing/2014/main" id="{0E5E7C2C-4768-BB16-3E5C-1DD0E64C04D1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94889" y="3581444"/>
            <a:ext cx="7827588" cy="299955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7172" name="Picture 4" descr="No description has been provided for this image">
            <a:extLst>
              <a:ext uri="{FF2B5EF4-FFF2-40B4-BE49-F238E27FC236}">
                <a16:creationId xmlns:a16="http://schemas.microsoft.com/office/drawing/2014/main" id="{64B845F8-1452-975A-2225-955872615B93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43605" b="55251"/>
          <a:stretch>
            <a:fillRect/>
          </a:stretch>
        </p:blipFill>
        <p:spPr bwMode="auto">
          <a:xfrm>
            <a:off x="8331553" y="2141951"/>
            <a:ext cx="3774634" cy="236544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4" name="Picture 4" descr="No description has been provided for this image">
            <a:extLst>
              <a:ext uri="{FF2B5EF4-FFF2-40B4-BE49-F238E27FC236}">
                <a16:creationId xmlns:a16="http://schemas.microsoft.com/office/drawing/2014/main" id="{FE3EFD21-7CDD-3D5F-FB1F-A80930370F1F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527" t="53346" r="43078" b="1905"/>
          <a:stretch>
            <a:fillRect/>
          </a:stretch>
        </p:blipFill>
        <p:spPr bwMode="auto">
          <a:xfrm>
            <a:off x="8567803" y="4577264"/>
            <a:ext cx="3418452" cy="214223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F4B73EB9-A521-0359-F076-60BA61308128}"/>
              </a:ext>
            </a:extLst>
          </p:cNvPr>
          <p:cNvSpPr txBox="1"/>
          <p:nvPr/>
        </p:nvSpPr>
        <p:spPr>
          <a:xfrm>
            <a:off x="917532" y="6581001"/>
            <a:ext cx="6093912" cy="276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ru-RU" sz="1200" dirty="0" err="1"/>
              <a:t>https</a:t>
            </a:r>
            <a:r>
              <a:rPr lang="ru-RU" sz="1200" dirty="0"/>
              <a:t>://</a:t>
            </a:r>
            <a:r>
              <a:rPr lang="ru-RU" sz="1200" dirty="0" err="1"/>
              <a:t>skforecast.org</a:t>
            </a:r>
            <a:r>
              <a:rPr lang="ru-RU" sz="1200" dirty="0"/>
              <a:t>/0.16.0/</a:t>
            </a:r>
            <a:r>
              <a:rPr lang="ru-RU" sz="1200" dirty="0" err="1"/>
              <a:t>user_guides</a:t>
            </a:r>
            <a:r>
              <a:rPr lang="ru-RU" sz="1200" dirty="0"/>
              <a:t>/</a:t>
            </a:r>
            <a:r>
              <a:rPr lang="ru-RU" sz="1200" dirty="0" err="1"/>
              <a:t>independent-multi-time-series-forecasting.html</a:t>
            </a:r>
            <a:endParaRPr lang="ru-RU" sz="1200" dirty="0"/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7C0D6A77-9C3F-3FB9-8C93-86B1F9EA5E4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94889" y="977029"/>
            <a:ext cx="11571434" cy="2361157"/>
          </a:xfrm>
        </p:spPr>
        <p:txBody>
          <a:bodyPr>
            <a:normAutofit/>
          </a:bodyPr>
          <a:lstStyle/>
          <a:p>
            <a:pPr marL="0" indent="0">
              <a:lnSpc>
                <a:spcPct val="100000"/>
              </a:lnSpc>
              <a:spcBef>
                <a:spcPts val="0"/>
              </a:spcBef>
              <a:buNone/>
            </a:pPr>
            <a:r>
              <a:rPr lang="ru-RU" sz="2200" dirty="0"/>
              <a:t>Независимое </a:t>
            </a:r>
            <a:r>
              <a:rPr lang="en-US" sz="2200" dirty="0"/>
              <a:t>ML </a:t>
            </a:r>
            <a:r>
              <a:rPr lang="ru-RU" sz="2200" dirty="0"/>
              <a:t>моделирование - Экономия на числе моделей</a:t>
            </a:r>
          </a:p>
          <a:p>
            <a:pPr marL="0" indent="0">
              <a:lnSpc>
                <a:spcPct val="100000"/>
              </a:lnSpc>
              <a:spcBef>
                <a:spcPts val="0"/>
              </a:spcBef>
              <a:buNone/>
            </a:pPr>
            <a:endParaRPr lang="ru-RU" sz="2200" dirty="0"/>
          </a:p>
          <a:p>
            <a:pPr>
              <a:lnSpc>
                <a:spcPct val="100000"/>
              </a:lnSpc>
              <a:spcBef>
                <a:spcPts val="0"/>
              </a:spcBef>
            </a:pPr>
            <a:r>
              <a:rPr lang="ru-RU" sz="2200" dirty="0"/>
              <a:t>Все ВР предсказываются одновременно и независимо </a:t>
            </a:r>
          </a:p>
          <a:p>
            <a:pPr>
              <a:lnSpc>
                <a:spcPct val="100000"/>
              </a:lnSpc>
              <a:spcBef>
                <a:spcPts val="0"/>
              </a:spcBef>
            </a:pPr>
            <a:r>
              <a:rPr lang="ru-RU" sz="2200" dirty="0"/>
              <a:t>Используется одна модель с разными вход</a:t>
            </a:r>
            <a:r>
              <a:rPr lang="en-US" sz="2200" dirty="0" err="1"/>
              <a:t>а</a:t>
            </a:r>
            <a:r>
              <a:rPr lang="ru-RU" sz="2200" dirty="0"/>
              <a:t>ми</a:t>
            </a:r>
          </a:p>
        </p:txBody>
      </p:sp>
    </p:spTree>
    <p:extLst>
      <p:ext uri="{BB962C8B-B14F-4D97-AF65-F5344CB8AC3E}">
        <p14:creationId xmlns:p14="http://schemas.microsoft.com/office/powerpoint/2010/main" val="1718813876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388E07F-4A80-3AAA-DD72-D48DC70E541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353A7EB9-BF18-C31D-8BB8-100F3B722C7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25677" y="365125"/>
            <a:ext cx="11028123" cy="611905"/>
          </a:xfrm>
        </p:spPr>
        <p:txBody>
          <a:bodyPr>
            <a:normAutofit fontScale="90000"/>
          </a:bodyPr>
          <a:lstStyle/>
          <a:p>
            <a:pPr algn="ctr"/>
            <a:r>
              <a:rPr lang="ru-RU" dirty="0"/>
              <a:t>Использование МО в МВР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34718CDC-A096-2FD4-15B5-5DF511104DFC}"/>
              </a:ext>
            </a:extLst>
          </p:cNvPr>
          <p:cNvSpPr txBox="1"/>
          <p:nvPr/>
        </p:nvSpPr>
        <p:spPr>
          <a:xfrm>
            <a:off x="917532" y="6581001"/>
            <a:ext cx="8113734" cy="276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ru-RU" sz="1200" dirty="0" err="1"/>
              <a:t>https</a:t>
            </a:r>
            <a:r>
              <a:rPr lang="ru-RU" sz="1200" dirty="0"/>
              <a:t>://</a:t>
            </a:r>
            <a:r>
              <a:rPr lang="ru-RU" sz="1200" dirty="0" err="1"/>
              <a:t>skforecast.org</a:t>
            </a:r>
            <a:r>
              <a:rPr lang="ru-RU" sz="1200" dirty="0"/>
              <a:t>/0.16.0/</a:t>
            </a:r>
            <a:r>
              <a:rPr lang="ru-RU" sz="1200" dirty="0" err="1"/>
              <a:t>user_guides</a:t>
            </a:r>
            <a:r>
              <a:rPr lang="ru-RU" sz="1200" dirty="0"/>
              <a:t>/</a:t>
            </a:r>
            <a:r>
              <a:rPr lang="en" sz="1200" dirty="0"/>
              <a:t>dependent-multi-series-multivariate-forecasting</a:t>
            </a:r>
            <a:r>
              <a:rPr lang="ru-RU" sz="1200" dirty="0"/>
              <a:t>.</a:t>
            </a:r>
            <a:r>
              <a:rPr lang="ru-RU" sz="1200" dirty="0" err="1"/>
              <a:t>html</a:t>
            </a:r>
            <a:endParaRPr lang="ru-RU" sz="1200" dirty="0"/>
          </a:p>
        </p:txBody>
      </p:sp>
      <p:pic>
        <p:nvPicPr>
          <p:cNvPr id="7174" name="Picture 6" descr="No description has been provided for this image">
            <a:extLst>
              <a:ext uri="{FF2B5EF4-FFF2-40B4-BE49-F238E27FC236}">
                <a16:creationId xmlns:a16="http://schemas.microsoft.com/office/drawing/2014/main" id="{57BFD057-BE3B-DAD3-9AE6-E8644B850F83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38200" y="2967589"/>
            <a:ext cx="7202466" cy="329081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7" name="Объект 2">
            <a:extLst>
              <a:ext uri="{FF2B5EF4-FFF2-40B4-BE49-F238E27FC236}">
                <a16:creationId xmlns:a16="http://schemas.microsoft.com/office/drawing/2014/main" id="{758AC149-2662-0B1C-4DBF-870DAB089E76}"/>
              </a:ext>
            </a:extLst>
          </p:cNvPr>
          <p:cNvSpPr txBox="1">
            <a:spLocks/>
          </p:cNvSpPr>
          <p:nvPr/>
        </p:nvSpPr>
        <p:spPr>
          <a:xfrm>
            <a:off x="6070728" y="1002079"/>
            <a:ext cx="6035459" cy="5515845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lnSpc>
                <a:spcPct val="100000"/>
              </a:lnSpc>
              <a:spcBef>
                <a:spcPts val="0"/>
              </a:spcBef>
              <a:buFont typeface="Arial" panose="020B0604020202020204" pitchFamily="34" charset="0"/>
              <a:buNone/>
            </a:pPr>
            <a:endParaRPr lang="ru-RU" sz="2400" dirty="0"/>
          </a:p>
        </p:txBody>
      </p:sp>
      <p:sp>
        <p:nvSpPr>
          <p:cNvPr id="8" name="Объект 7">
            <a:extLst>
              <a:ext uri="{FF2B5EF4-FFF2-40B4-BE49-F238E27FC236}">
                <a16:creationId xmlns:a16="http://schemas.microsoft.com/office/drawing/2014/main" id="{A72B7C35-8818-C2B8-3175-469FA347024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25677" y="977030"/>
            <a:ext cx="11028123" cy="2155895"/>
          </a:xfrm>
        </p:spPr>
        <p:txBody>
          <a:bodyPr>
            <a:normAutofit fontScale="92500" lnSpcReduction="20000"/>
          </a:bodyPr>
          <a:lstStyle/>
          <a:p>
            <a:pPr marL="0" indent="0">
              <a:lnSpc>
                <a:spcPct val="100000"/>
              </a:lnSpc>
              <a:spcBef>
                <a:spcPts val="0"/>
              </a:spcBef>
              <a:buNone/>
            </a:pPr>
            <a:r>
              <a:rPr lang="ru-RU" dirty="0"/>
              <a:t>Зависимое моделирование</a:t>
            </a:r>
          </a:p>
          <a:p>
            <a:pPr>
              <a:lnSpc>
                <a:spcPct val="100000"/>
              </a:lnSpc>
              <a:spcBef>
                <a:spcPts val="0"/>
              </a:spcBef>
            </a:pPr>
            <a:r>
              <a:rPr lang="ru-RU" dirty="0"/>
              <a:t>Результат предсказания одной переменной – вход другой</a:t>
            </a:r>
          </a:p>
          <a:p>
            <a:pPr>
              <a:lnSpc>
                <a:spcPct val="100000"/>
              </a:lnSpc>
              <a:spcBef>
                <a:spcPts val="0"/>
              </a:spcBef>
            </a:pPr>
            <a:r>
              <a:rPr lang="ru-RU" dirty="0"/>
              <a:t>То есть каждая модель зависит как от предыдущих значений одного ВР так и другого ВР</a:t>
            </a:r>
          </a:p>
          <a:p>
            <a:pPr lvl="1">
              <a:lnSpc>
                <a:spcPct val="100000"/>
              </a:lnSpc>
              <a:spcBef>
                <a:spcPts val="0"/>
              </a:spcBef>
            </a:pPr>
            <a:r>
              <a:rPr lang="ru-RU" dirty="0"/>
              <a:t>Возможно потребуются разные модели для разных ВР</a:t>
            </a:r>
          </a:p>
          <a:p>
            <a:pPr>
              <a:lnSpc>
                <a:spcPct val="100000"/>
              </a:lnSpc>
              <a:spcBef>
                <a:spcPts val="0"/>
              </a:spcBef>
            </a:pPr>
            <a:r>
              <a:rPr lang="ru-RU" dirty="0"/>
              <a:t>Моделируется связи между переменными</a:t>
            </a:r>
          </a:p>
          <a:p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3466559472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311499" y="365126"/>
            <a:ext cx="11042301" cy="679904"/>
          </a:xfrm>
        </p:spPr>
        <p:txBody>
          <a:bodyPr>
            <a:normAutofit fontScale="90000"/>
          </a:bodyPr>
          <a:lstStyle/>
          <a:p>
            <a:pPr algn="ctr"/>
            <a:r>
              <a:rPr lang="ru-RU" dirty="0" smtClean="0"/>
              <a:t>Вопросы для самоконтроля</a:t>
            </a:r>
            <a:endParaRPr lang="ru-RU" dirty="0"/>
          </a:p>
        </p:txBody>
      </p:sp>
      <p:sp>
        <p:nvSpPr>
          <p:cNvPr id="3" name="Объект 2"/>
          <p:cNvSpPr>
            <a:spLocks noGrp="1"/>
          </p:cNvSpPr>
          <p:nvPr>
            <p:ph idx="1"/>
          </p:nvPr>
        </p:nvSpPr>
        <p:spPr>
          <a:xfrm>
            <a:off x="311498" y="1045030"/>
            <a:ext cx="11465169" cy="5406012"/>
          </a:xfrm>
        </p:spPr>
        <p:txBody>
          <a:bodyPr/>
          <a:lstStyle/>
          <a:p>
            <a:pPr lvl="0"/>
            <a:r>
              <a:rPr lang="ru-RU" dirty="0"/>
              <a:t>Объясните особенности анализ многомерных ВР. В каких случаях такой подход будет предпочтительней, приведите примеры. В каких случаях предпочтительно использовать одномерные ВР? </a:t>
            </a:r>
          </a:p>
          <a:p>
            <a:r>
              <a:rPr lang="ru-RU" dirty="0" smtClean="0"/>
              <a:t>Объясните основные типы связей во ВР. Приведите примеры задач. </a:t>
            </a:r>
            <a:br>
              <a:rPr lang="ru-RU" dirty="0" smtClean="0"/>
            </a:br>
            <a:r>
              <a:rPr lang="ru-RU" dirty="0" smtClean="0"/>
              <a:t>Как обрабатывать эти типы связей, и как </a:t>
            </a:r>
            <a:r>
              <a:rPr lang="ru-RU" dirty="0" err="1" smtClean="0"/>
              <a:t>неучет</a:t>
            </a:r>
            <a:r>
              <a:rPr lang="ru-RU" dirty="0" smtClean="0"/>
              <a:t> их скажется на надежности работы системы анализа ВР.</a:t>
            </a:r>
          </a:p>
          <a:p>
            <a:r>
              <a:rPr lang="ru-RU" dirty="0" smtClean="0"/>
              <a:t>Объясните какие задачи МВР требуют использования методом машинного обучения. Как реализовать соответствующий </a:t>
            </a:r>
            <a:r>
              <a:rPr lang="ru-RU" dirty="0" err="1" smtClean="0"/>
              <a:t>пайплайн</a:t>
            </a:r>
            <a:r>
              <a:rPr lang="ru-RU" dirty="0" smtClean="0"/>
              <a:t>. Почему не всегда достаточно статистических методов. </a:t>
            </a:r>
          </a:p>
          <a:p>
            <a:r>
              <a:rPr lang="ru-RU" dirty="0" smtClean="0"/>
              <a:t>Проанализируйте особенности МВР с точки зрения мониторинга работы моделей. Приведите примеры задач. </a:t>
            </a:r>
          </a:p>
          <a:p>
            <a:endParaRPr lang="ru-RU" dirty="0" smtClean="0"/>
          </a:p>
          <a:p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3292593348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>
          <a:extLst>
            <a:ext uri="{FF2B5EF4-FFF2-40B4-BE49-F238E27FC236}">
              <a16:creationId xmlns:a16="http://schemas.microsoft.com/office/drawing/2014/main" id="{5979C28D-AC9E-A12C-9800-272F83BC8F8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5CE24EE3-0115-4096-7A8F-8ACBCDE4666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75573" y="365126"/>
            <a:ext cx="11078227" cy="315912"/>
          </a:xfrm>
        </p:spPr>
        <p:txBody>
          <a:bodyPr>
            <a:normAutofit fontScale="90000"/>
          </a:bodyPr>
          <a:lstStyle/>
          <a:p>
            <a:r>
              <a:rPr lang="ru-RU" sz="3200" dirty="0"/>
              <a:t>Особенности анализа сверх больших массивов ВР</a:t>
            </a:r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1C8F7207-602B-1BF6-F43A-E6F1D44E271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62838" y="789140"/>
            <a:ext cx="11498893" cy="5703734"/>
          </a:xfrm>
        </p:spPr>
        <p:txBody>
          <a:bodyPr/>
          <a:lstStyle/>
          <a:p>
            <a:r>
              <a:rPr lang="ru-RU" sz="1800" dirty="0"/>
              <a:t>Под сверхбольшими массивами ВР мы понимаем:</a:t>
            </a:r>
          </a:p>
          <a:p>
            <a:r>
              <a:rPr lang="ru-RU" sz="1800" dirty="0"/>
              <a:t>Длительность: </a:t>
            </a:r>
            <a:r>
              <a:rPr lang="en" sz="1800" i="1" dirty="0"/>
              <a:t>T</a:t>
            </a:r>
            <a:r>
              <a:rPr lang="en" sz="1800" dirty="0"/>
              <a:t>&gt;106 </a:t>
            </a:r>
            <a:r>
              <a:rPr lang="ru-RU" sz="1800" dirty="0"/>
              <a:t>наблюдений (например, данные с датчиков с частотой 1 Гц за несколько лет).</a:t>
            </a:r>
          </a:p>
          <a:p>
            <a:r>
              <a:rPr lang="ru-RU" sz="1800" dirty="0"/>
              <a:t>Многомерность(Масштаб): </a:t>
            </a:r>
            <a:r>
              <a:rPr lang="en" sz="1800" i="1" dirty="0"/>
              <a:t>d</a:t>
            </a:r>
            <a:r>
              <a:rPr lang="en" sz="1800" dirty="0"/>
              <a:t>&gt;1000 </a:t>
            </a:r>
            <a:r>
              <a:rPr lang="ru-RU" sz="1800" dirty="0"/>
              <a:t>переменных (тысячи датчиков на производственной линии).</a:t>
            </a:r>
          </a:p>
          <a:p>
            <a:r>
              <a:rPr lang="ru-RU" sz="1800" dirty="0"/>
              <a:t>Горизонты прогноза:  достаточно большие</a:t>
            </a:r>
          </a:p>
          <a:p>
            <a:endParaRPr lang="ru-RU" sz="1800" dirty="0"/>
          </a:p>
          <a:p>
            <a:r>
              <a:rPr lang="ru-RU" dirty="0"/>
              <a:t/>
            </a:r>
            <a:br>
              <a:rPr lang="ru-RU" dirty="0"/>
            </a:br>
            <a:endParaRPr lang="ru-RU" dirty="0"/>
          </a:p>
        </p:txBody>
      </p:sp>
      <p:graphicFrame>
        <p:nvGraphicFramePr>
          <p:cNvPr id="4" name="Таблица 3">
            <a:extLst>
              <a:ext uri="{FF2B5EF4-FFF2-40B4-BE49-F238E27FC236}">
                <a16:creationId xmlns:a16="http://schemas.microsoft.com/office/drawing/2014/main" id="{86D6C968-6FE2-1A66-74B7-A8697C4BB7F5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801317620"/>
              </p:ext>
            </p:extLst>
          </p:nvPr>
        </p:nvGraphicFramePr>
        <p:xfrm>
          <a:off x="870037" y="2462271"/>
          <a:ext cx="10451926" cy="1760112"/>
        </p:xfrm>
        <a:graphic>
          <a:graphicData uri="http://schemas.openxmlformats.org/drawingml/2006/table">
            <a:tbl>
              <a:tblPr/>
              <a:tblGrid>
                <a:gridCol w="2834081">
                  <a:extLst>
                    <a:ext uri="{9D8B030D-6E8A-4147-A177-3AD203B41FA5}">
                      <a16:colId xmlns:a16="http://schemas.microsoft.com/office/drawing/2014/main" val="2868848429"/>
                    </a:ext>
                  </a:extLst>
                </a:gridCol>
                <a:gridCol w="4140570">
                  <a:extLst>
                    <a:ext uri="{9D8B030D-6E8A-4147-A177-3AD203B41FA5}">
                      <a16:colId xmlns:a16="http://schemas.microsoft.com/office/drawing/2014/main" val="3685004216"/>
                    </a:ext>
                  </a:extLst>
                </a:gridCol>
                <a:gridCol w="3477275">
                  <a:extLst>
                    <a:ext uri="{9D8B030D-6E8A-4147-A177-3AD203B41FA5}">
                      <a16:colId xmlns:a16="http://schemas.microsoft.com/office/drawing/2014/main" val="2672242584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ru-RU" sz="1500" b="1">
                          <a:solidFill>
                            <a:srgbClr val="000000"/>
                          </a:solidFill>
                          <a:effectLst/>
                          <a:latin typeface="Helvetica Neue" panose="02000503000000020004" pitchFamily="2" charset="0"/>
                        </a:rPr>
                        <a:t>Проблема</a:t>
                      </a:r>
                      <a:endParaRPr lang="ru-RU" sz="1500">
                        <a:effectLst/>
                      </a:endParaRPr>
                    </a:p>
                  </a:txBody>
                  <a:tcPr marL="32376" marR="32376" marT="32376" marB="32376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0B3B2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ru-RU" sz="1500" b="1">
                          <a:solidFill>
                            <a:srgbClr val="000000"/>
                          </a:solidFill>
                          <a:effectLst/>
                          <a:latin typeface="Helvetica Neue" panose="02000503000000020004" pitchFamily="2" charset="0"/>
                        </a:rPr>
                        <a:t>Причина</a:t>
                      </a:r>
                      <a:endParaRPr lang="ru-RU" sz="1500">
                        <a:effectLst/>
                      </a:endParaRPr>
                    </a:p>
                  </a:txBody>
                  <a:tcPr marL="32376" marR="32376" marT="32376" marB="32376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0B3B2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ru-RU" sz="1500" b="1">
                          <a:solidFill>
                            <a:srgbClr val="000000"/>
                          </a:solidFill>
                          <a:effectLst/>
                          <a:latin typeface="Helvetica Neue" panose="02000503000000020004" pitchFamily="2" charset="0"/>
                        </a:rPr>
                        <a:t>Последствие</a:t>
                      </a:r>
                      <a:endParaRPr lang="ru-RU" sz="1500">
                        <a:effectLst/>
                      </a:endParaRPr>
                    </a:p>
                  </a:txBody>
                  <a:tcPr marL="32376" marR="32376" marT="32376" marB="32376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0B3B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638039043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ru-RU" sz="1500" b="1">
                          <a:solidFill>
                            <a:srgbClr val="000000"/>
                          </a:solidFill>
                          <a:effectLst/>
                          <a:latin typeface="Helvetica Neue" panose="02000503000000020004" pitchFamily="2" charset="0"/>
                        </a:rPr>
                        <a:t>Вычислительная сложность</a:t>
                      </a:r>
                      <a:endParaRPr lang="ru-RU" sz="1500">
                        <a:effectLst/>
                      </a:endParaRPr>
                    </a:p>
                  </a:txBody>
                  <a:tcPr marL="32376" marR="32376" marT="32376" marB="32376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4D4D4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" sz="1500" dirty="0">
                          <a:solidFill>
                            <a:srgbClr val="000000"/>
                          </a:solidFill>
                          <a:effectLst/>
                          <a:latin typeface="Helvetica Neue" panose="02000503000000020004" pitchFamily="2" charset="0"/>
                        </a:rPr>
                        <a:t>O(n³) </a:t>
                      </a:r>
                      <a:r>
                        <a:rPr lang="ru-RU" sz="1500" dirty="0">
                          <a:solidFill>
                            <a:srgbClr val="000000"/>
                          </a:solidFill>
                          <a:effectLst/>
                          <a:latin typeface="Helvetica Neue" panose="02000503000000020004" pitchFamily="2" charset="0"/>
                        </a:rPr>
                        <a:t>у </a:t>
                      </a:r>
                      <a:r>
                        <a:rPr lang="en" sz="1500" dirty="0">
                          <a:solidFill>
                            <a:srgbClr val="000000"/>
                          </a:solidFill>
                          <a:effectLst/>
                          <a:latin typeface="Helvetica Neue" panose="02000503000000020004" pitchFamily="2" charset="0"/>
                        </a:rPr>
                        <a:t>ARIMA/VAR, </a:t>
                      </a:r>
                      <a:endParaRPr lang="ru-RU" sz="1500" dirty="0">
                        <a:effectLst/>
                      </a:endParaRPr>
                    </a:p>
                  </a:txBody>
                  <a:tcPr marL="32376" marR="32376" marT="32376" marB="32376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ru-RU" sz="1500">
                          <a:solidFill>
                            <a:srgbClr val="000000"/>
                          </a:solidFill>
                          <a:effectLst/>
                          <a:latin typeface="Helvetica Neue" panose="02000503000000020004" pitchFamily="2" charset="0"/>
                        </a:rPr>
                        <a:t>Невозможно обучить на 1</a:t>
                      </a:r>
                      <a:r>
                        <a:rPr lang="en" sz="1500">
                          <a:solidFill>
                            <a:srgbClr val="000000"/>
                          </a:solidFill>
                          <a:effectLst/>
                          <a:latin typeface="Helvetica Neue" panose="02000503000000020004" pitchFamily="2" charset="0"/>
                        </a:rPr>
                        <a:t>M+ </a:t>
                      </a:r>
                      <a:r>
                        <a:rPr lang="ru-RU" sz="1500">
                          <a:solidFill>
                            <a:srgbClr val="000000"/>
                          </a:solidFill>
                          <a:effectLst/>
                          <a:latin typeface="Helvetica Neue" panose="02000503000000020004" pitchFamily="2" charset="0"/>
                        </a:rPr>
                        <a:t>точек</a:t>
                      </a:r>
                      <a:endParaRPr lang="ru-RU" sz="1500">
                        <a:effectLst/>
                      </a:endParaRPr>
                    </a:p>
                  </a:txBody>
                  <a:tcPr marL="32376" marR="32376" marT="32376" marB="32376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419702017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ru-RU" sz="1500" b="1">
                          <a:solidFill>
                            <a:srgbClr val="000000"/>
                          </a:solidFill>
                          <a:effectLst/>
                          <a:latin typeface="Helvetica Neue" panose="02000503000000020004" pitchFamily="2" charset="0"/>
                        </a:rPr>
                        <a:t>Память</a:t>
                      </a:r>
                      <a:endParaRPr lang="ru-RU" sz="1500">
                        <a:effectLst/>
                      </a:endParaRPr>
                    </a:p>
                  </a:txBody>
                  <a:tcPr marL="32376" marR="32376" marT="32376" marB="32376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4D4D4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ru-RU" sz="1500">
                          <a:solidFill>
                            <a:srgbClr val="000000"/>
                          </a:solidFill>
                          <a:effectLst/>
                          <a:latin typeface="Helvetica Neue" panose="02000503000000020004" pitchFamily="2" charset="0"/>
                        </a:rPr>
                        <a:t>Хранение ковариационных матриц, лагов</a:t>
                      </a:r>
                      <a:endParaRPr lang="ru-RU" sz="1500">
                        <a:effectLst/>
                      </a:endParaRPr>
                    </a:p>
                  </a:txBody>
                  <a:tcPr marL="32376" marR="32376" marT="32376" marB="32376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ru-RU" sz="1500">
                          <a:solidFill>
                            <a:srgbClr val="000000"/>
                          </a:solidFill>
                          <a:effectLst/>
                          <a:latin typeface="Helvetica Neue" panose="02000503000000020004" pitchFamily="2" charset="0"/>
                        </a:rPr>
                        <a:t>Переполнение </a:t>
                      </a:r>
                      <a:r>
                        <a:rPr lang="en" sz="1500">
                          <a:solidFill>
                            <a:srgbClr val="000000"/>
                          </a:solidFill>
                          <a:effectLst/>
                          <a:latin typeface="Helvetica Neue" panose="02000503000000020004" pitchFamily="2" charset="0"/>
                        </a:rPr>
                        <a:t>RAM</a:t>
                      </a:r>
                      <a:endParaRPr lang="en" sz="1500">
                        <a:effectLst/>
                      </a:endParaRPr>
                    </a:p>
                  </a:txBody>
                  <a:tcPr marL="32376" marR="32376" marT="32376" marB="32376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801047392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ru-RU" sz="1500" b="1">
                          <a:solidFill>
                            <a:srgbClr val="000000"/>
                          </a:solidFill>
                          <a:effectLst/>
                          <a:latin typeface="Helvetica Neue" panose="02000503000000020004" pitchFamily="2" charset="0"/>
                        </a:rPr>
                        <a:t>Стационарность</a:t>
                      </a:r>
                      <a:endParaRPr lang="ru-RU" sz="1500">
                        <a:effectLst/>
                      </a:endParaRPr>
                    </a:p>
                  </a:txBody>
                  <a:tcPr marL="32376" marR="32376" marT="32376" marB="32376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4D4D4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ru-RU" sz="1500">
                          <a:solidFill>
                            <a:srgbClr val="000000"/>
                          </a:solidFill>
                          <a:effectLst/>
                          <a:latin typeface="Helvetica Neue" panose="02000503000000020004" pitchFamily="2" charset="0"/>
                        </a:rPr>
                        <a:t>Долгие ряды почти всегда нестационарны</a:t>
                      </a:r>
                      <a:endParaRPr lang="ru-RU" sz="1500">
                        <a:effectLst/>
                      </a:endParaRPr>
                    </a:p>
                  </a:txBody>
                  <a:tcPr marL="32376" marR="32376" marT="32376" marB="32376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ru-RU" sz="1500">
                          <a:solidFill>
                            <a:srgbClr val="000000"/>
                          </a:solidFill>
                          <a:effectLst/>
                          <a:latin typeface="Helvetica Neue" panose="02000503000000020004" pitchFamily="2" charset="0"/>
                        </a:rPr>
                        <a:t>Модели дают смещённые прогнозы</a:t>
                      </a:r>
                      <a:endParaRPr lang="ru-RU" sz="1500">
                        <a:effectLst/>
                      </a:endParaRPr>
                    </a:p>
                  </a:txBody>
                  <a:tcPr marL="32376" marR="32376" marT="32376" marB="32376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545524973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ru-RU" sz="1500" b="1">
                          <a:solidFill>
                            <a:srgbClr val="000000"/>
                          </a:solidFill>
                          <a:effectLst/>
                          <a:latin typeface="Helvetica Neue" panose="02000503000000020004" pitchFamily="2" charset="0"/>
                        </a:rPr>
                        <a:t>Мультиколлинеарность</a:t>
                      </a:r>
                      <a:endParaRPr lang="ru-RU" sz="1500">
                        <a:effectLst/>
                      </a:endParaRPr>
                    </a:p>
                  </a:txBody>
                  <a:tcPr marL="32376" marR="32376" marT="32376" marB="32376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4D4D4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ru-RU" sz="1500" dirty="0">
                          <a:solidFill>
                            <a:srgbClr val="000000"/>
                          </a:solidFill>
                          <a:effectLst/>
                          <a:latin typeface="Helvetica Neue" panose="02000503000000020004" pitchFamily="2" charset="0"/>
                        </a:rPr>
                        <a:t>Многие ВР коррелируют</a:t>
                      </a:r>
                      <a:endParaRPr lang="ru-RU" sz="1500" dirty="0">
                        <a:effectLst/>
                      </a:endParaRPr>
                    </a:p>
                  </a:txBody>
                  <a:tcPr marL="32376" marR="32376" marT="32376" marB="32376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ru-RU" sz="1500">
                          <a:solidFill>
                            <a:srgbClr val="000000"/>
                          </a:solidFill>
                          <a:effectLst/>
                          <a:latin typeface="Helvetica Neue" panose="02000503000000020004" pitchFamily="2" charset="0"/>
                        </a:rPr>
                        <a:t>Переменные мешают, а не помогают</a:t>
                      </a:r>
                      <a:endParaRPr lang="ru-RU" sz="1500">
                        <a:effectLst/>
                      </a:endParaRPr>
                    </a:p>
                  </a:txBody>
                  <a:tcPr marL="32376" marR="32376" marT="32376" marB="32376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813296528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ru-RU" sz="1500" b="1">
                          <a:solidFill>
                            <a:srgbClr val="000000"/>
                          </a:solidFill>
                          <a:effectLst/>
                          <a:latin typeface="Helvetica Neue" panose="02000503000000020004" pitchFamily="2" charset="0"/>
                        </a:rPr>
                        <a:t>Пропуски и шум</a:t>
                      </a:r>
                      <a:endParaRPr lang="ru-RU" sz="1500">
                        <a:effectLst/>
                      </a:endParaRPr>
                    </a:p>
                  </a:txBody>
                  <a:tcPr marL="32376" marR="32376" marT="32376" marB="32376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4D4D4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ru-RU" sz="1500" dirty="0">
                          <a:solidFill>
                            <a:srgbClr val="000000"/>
                          </a:solidFill>
                          <a:effectLst/>
                          <a:latin typeface="Helvetica Neue" panose="02000503000000020004" pitchFamily="2" charset="0"/>
                        </a:rPr>
                        <a:t>Реальные данные «грязные»</a:t>
                      </a:r>
                      <a:endParaRPr lang="ru-RU" sz="1500" dirty="0">
                        <a:effectLst/>
                      </a:endParaRPr>
                    </a:p>
                  </a:txBody>
                  <a:tcPr marL="32376" marR="32376" marT="32376" marB="32376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ru-RU" sz="1500" dirty="0">
                          <a:solidFill>
                            <a:srgbClr val="000000"/>
                          </a:solidFill>
                          <a:effectLst/>
                          <a:latin typeface="Helvetica Neue" panose="02000503000000020004" pitchFamily="2" charset="0"/>
                        </a:rPr>
                        <a:t>Модели неустойчивы</a:t>
                      </a:r>
                      <a:endParaRPr lang="ru-RU" sz="1500" dirty="0">
                        <a:effectLst/>
                      </a:endParaRPr>
                    </a:p>
                  </a:txBody>
                  <a:tcPr marL="32376" marR="32376" marT="32376" marB="32376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86133994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601725008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2000"/>
    </mc:Choice>
    <mc:Fallback>
      <p:transition spd="slow"/>
    </mc:Fallback>
  </mc:AlternateContent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>
          <a:extLst>
            <a:ext uri="{FF2B5EF4-FFF2-40B4-BE49-F238E27FC236}">
              <a16:creationId xmlns:a16="http://schemas.microsoft.com/office/drawing/2014/main" id="{AD75F56E-71A5-6503-EB19-209346A85E2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06569FBC-C037-C591-CED3-514814F6A51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75573" y="365126"/>
            <a:ext cx="11078227" cy="315912"/>
          </a:xfrm>
        </p:spPr>
        <p:txBody>
          <a:bodyPr>
            <a:normAutofit fontScale="90000"/>
          </a:bodyPr>
          <a:lstStyle/>
          <a:p>
            <a:r>
              <a:rPr lang="ru-RU" sz="3200" dirty="0"/>
              <a:t>Особенности анализа сверх больших массивов ВР</a:t>
            </a:r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A574CC75-0A52-6803-AE1D-3980F6DC476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62838" y="789140"/>
            <a:ext cx="11498893" cy="5703734"/>
          </a:xfrm>
        </p:spPr>
        <p:txBody>
          <a:bodyPr>
            <a:normAutofit/>
          </a:bodyPr>
          <a:lstStyle/>
          <a:p>
            <a:r>
              <a:rPr lang="ru-RU" dirty="0"/>
              <a:t>Декомпозиция задачи</a:t>
            </a:r>
            <a:endParaRPr lang="ru-RU" b="1" dirty="0"/>
          </a:p>
          <a:p>
            <a:r>
              <a:rPr lang="ru-RU" dirty="0"/>
              <a:t>По времени: Агрегация данных </a:t>
            </a:r>
          </a:p>
          <a:p>
            <a:r>
              <a:rPr lang="ru-RU" dirty="0"/>
              <a:t>По переменным: кластеризация</a:t>
            </a:r>
            <a:r>
              <a:rPr lang="en" dirty="0"/>
              <a:t>, PCA.</a:t>
            </a:r>
          </a:p>
          <a:p>
            <a:pPr lvl="1"/>
            <a:r>
              <a:rPr lang="ru-RU" dirty="0"/>
              <a:t>Пример: вместо </a:t>
            </a:r>
            <a:r>
              <a:rPr lang="en" dirty="0"/>
              <a:t>VAR(1000) — 100 VAR(10) </a:t>
            </a:r>
            <a:r>
              <a:rPr lang="ru-RU" dirty="0"/>
              <a:t>на кластерах. </a:t>
            </a:r>
          </a:p>
          <a:p>
            <a:endParaRPr lang="ru-RU" sz="1800" dirty="0"/>
          </a:p>
          <a:p>
            <a:r>
              <a:rPr lang="ru-RU" dirty="0"/>
              <a:t/>
            </a:r>
            <a:br>
              <a:rPr lang="ru-RU" dirty="0"/>
            </a:br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2950533641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2000"/>
    </mc:Choice>
    <mc:Fallback>
      <p:transition spd="slow"/>
    </mc:Fallback>
  </mc:AlternateContent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E03E863B-82FA-8A26-F3C1-29816B527E6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00625" y="365125"/>
            <a:ext cx="11053175" cy="624431"/>
          </a:xfrm>
        </p:spPr>
        <p:txBody>
          <a:bodyPr>
            <a:normAutofit fontScale="90000"/>
          </a:bodyPr>
          <a:lstStyle/>
          <a:p>
            <a:r>
              <a:rPr lang="ru-RU" dirty="0"/>
              <a:t>Онлайн обучение</a:t>
            </a:r>
          </a:p>
        </p:txBody>
      </p:sp>
      <p:graphicFrame>
        <p:nvGraphicFramePr>
          <p:cNvPr id="4" name="Объект 3">
            <a:extLst>
              <a:ext uri="{FF2B5EF4-FFF2-40B4-BE49-F238E27FC236}">
                <a16:creationId xmlns:a16="http://schemas.microsoft.com/office/drawing/2014/main" id="{4418E6E2-362A-9003-6BD0-19B65E679BC7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3203120644"/>
              </p:ext>
            </p:extLst>
          </p:nvPr>
        </p:nvGraphicFramePr>
        <p:xfrm>
          <a:off x="543250" y="1367018"/>
          <a:ext cx="4943475" cy="4770120"/>
        </p:xfrm>
        <a:graphic>
          <a:graphicData uri="http://schemas.openxmlformats.org/drawingml/2006/table">
            <a:tbl>
              <a:tblPr/>
              <a:tblGrid>
                <a:gridCol w="1552575">
                  <a:extLst>
                    <a:ext uri="{9D8B030D-6E8A-4147-A177-3AD203B41FA5}">
                      <a16:colId xmlns:a16="http://schemas.microsoft.com/office/drawing/2014/main" val="3745897110"/>
                    </a:ext>
                  </a:extLst>
                </a:gridCol>
                <a:gridCol w="1476375">
                  <a:extLst>
                    <a:ext uri="{9D8B030D-6E8A-4147-A177-3AD203B41FA5}">
                      <a16:colId xmlns:a16="http://schemas.microsoft.com/office/drawing/2014/main" val="3457291006"/>
                    </a:ext>
                  </a:extLst>
                </a:gridCol>
                <a:gridCol w="1914525">
                  <a:extLst>
                    <a:ext uri="{9D8B030D-6E8A-4147-A177-3AD203B41FA5}">
                      <a16:colId xmlns:a16="http://schemas.microsoft.com/office/drawing/2014/main" val="1305253127"/>
                    </a:ext>
                  </a:extLst>
                </a:gridCol>
              </a:tblGrid>
              <a:tr h="104775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ru-RU" b="1">
                          <a:solidFill>
                            <a:srgbClr val="000000"/>
                          </a:solidFill>
                          <a:effectLst/>
                          <a:latin typeface="Helvetica Neue" panose="02000503000000020004" pitchFamily="2" charset="0"/>
                        </a:rPr>
                        <a:t>Модель</a:t>
                      </a:r>
                      <a:endParaRPr lang="ru-RU">
                        <a:effectLst/>
                      </a:endParaRPr>
                    </a:p>
                  </a:txBody>
                  <a:tcPr marL="38100" marR="38100" marT="38100" marB="38100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0B3B2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ru-RU" b="1">
                          <a:solidFill>
                            <a:srgbClr val="000000"/>
                          </a:solidFill>
                          <a:effectLst/>
                          <a:latin typeface="Helvetica Neue" panose="02000503000000020004" pitchFamily="2" charset="0"/>
                        </a:rPr>
                        <a:t>Онлайновая версия</a:t>
                      </a:r>
                      <a:endParaRPr lang="ru-RU">
                        <a:effectLst/>
                      </a:endParaRPr>
                    </a:p>
                  </a:txBody>
                  <a:tcPr marL="38100" marR="38100" marT="38100" marB="38100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0B3B2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ru-RU" b="1">
                          <a:solidFill>
                            <a:srgbClr val="000000"/>
                          </a:solidFill>
                          <a:effectLst/>
                          <a:latin typeface="Helvetica Neue" panose="02000503000000020004" pitchFamily="2" charset="0"/>
                        </a:rPr>
                        <a:t>Особенности</a:t>
                      </a:r>
                      <a:endParaRPr lang="ru-RU">
                        <a:effectLst/>
                      </a:endParaRPr>
                    </a:p>
                  </a:txBody>
                  <a:tcPr marL="38100" marR="38100" marT="38100" marB="38100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0B3B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484045394"/>
                  </a:ext>
                </a:extLst>
              </a:tr>
              <a:tr h="11430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ru-RU" b="1">
                          <a:solidFill>
                            <a:srgbClr val="000000"/>
                          </a:solidFill>
                          <a:effectLst/>
                          <a:latin typeface="Helvetica Neue" panose="02000503000000020004" pitchFamily="2" charset="0"/>
                        </a:rPr>
                        <a:t>Линейная регрессия</a:t>
                      </a:r>
                      <a:endParaRPr lang="ru-RU">
                        <a:effectLst/>
                      </a:endParaRPr>
                    </a:p>
                  </a:txBody>
                  <a:tcPr marL="38100" marR="38100" marT="38100" marB="38100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4D4D4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">
                          <a:solidFill>
                            <a:srgbClr val="000000"/>
                          </a:solidFill>
                          <a:effectLst/>
                          <a:latin typeface="Helvetica Neue" panose="02000503000000020004" pitchFamily="2" charset="0"/>
                        </a:rPr>
                        <a:t>SGDRegressor (sklearn)</a:t>
                      </a:r>
                      <a:endParaRPr lang="en">
                        <a:effectLst/>
                      </a:endParaRPr>
                    </a:p>
                  </a:txBody>
                  <a:tcPr marL="38100" marR="38100" marT="38100" marB="38100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ru-RU">
                          <a:solidFill>
                            <a:srgbClr val="000000"/>
                          </a:solidFill>
                          <a:effectLst/>
                          <a:latin typeface="Helvetica Neue" panose="02000503000000020004" pitchFamily="2" charset="0"/>
                        </a:rPr>
                        <a:t>Обновление весов по одному примеру</a:t>
                      </a:r>
                      <a:endParaRPr lang="ru-RU">
                        <a:effectLst/>
                      </a:endParaRPr>
                    </a:p>
                  </a:txBody>
                  <a:tcPr marL="38100" marR="38100" marT="38100" marB="38100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984170604"/>
                  </a:ext>
                </a:extLst>
              </a:tr>
              <a:tr h="104775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" b="1">
                          <a:solidFill>
                            <a:srgbClr val="000000"/>
                          </a:solidFill>
                          <a:effectLst/>
                          <a:latin typeface="Helvetica Neue" panose="02000503000000020004" pitchFamily="2" charset="0"/>
                        </a:rPr>
                        <a:t>ARIMA</a:t>
                      </a:r>
                      <a:endParaRPr lang="en">
                        <a:effectLst/>
                      </a:endParaRPr>
                    </a:p>
                  </a:txBody>
                  <a:tcPr marL="38100" marR="38100" marT="38100" marB="38100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4D4D4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">
                          <a:solidFill>
                            <a:srgbClr val="000000"/>
                          </a:solidFill>
                          <a:effectLst/>
                          <a:latin typeface="Helvetica Neue" panose="02000503000000020004" pitchFamily="2" charset="0"/>
                        </a:rPr>
                        <a:t>SARIMAX </a:t>
                      </a:r>
                      <a:r>
                        <a:rPr lang="ru-RU">
                          <a:solidFill>
                            <a:srgbClr val="000000"/>
                          </a:solidFill>
                          <a:effectLst/>
                          <a:latin typeface="Helvetica Neue" panose="02000503000000020004" pitchFamily="2" charset="0"/>
                        </a:rPr>
                        <a:t>с онлайн-обновлением</a:t>
                      </a:r>
                      <a:endParaRPr lang="ru-RU">
                        <a:effectLst/>
                      </a:endParaRPr>
                    </a:p>
                  </a:txBody>
                  <a:tcPr marL="38100" marR="38100" marT="38100" marB="38100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ru-RU">
                          <a:solidFill>
                            <a:srgbClr val="000000"/>
                          </a:solidFill>
                          <a:effectLst/>
                          <a:latin typeface="Helvetica Neue" panose="02000503000000020004" pitchFamily="2" charset="0"/>
                        </a:rPr>
                        <a:t>Через </a:t>
                      </a:r>
                      <a:r>
                        <a:rPr lang="en">
                          <a:solidFill>
                            <a:srgbClr val="000000"/>
                          </a:solidFill>
                          <a:effectLst/>
                          <a:latin typeface="Helvetica Neue" panose="02000503000000020004" pitchFamily="2" charset="0"/>
                        </a:rPr>
                        <a:t>update() </a:t>
                      </a:r>
                      <a:r>
                        <a:rPr lang="ru-RU">
                          <a:solidFill>
                            <a:srgbClr val="000000"/>
                          </a:solidFill>
                          <a:effectLst/>
                          <a:latin typeface="Helvetica Neue" panose="02000503000000020004" pitchFamily="2" charset="0"/>
                        </a:rPr>
                        <a:t>в </a:t>
                      </a:r>
                      <a:r>
                        <a:rPr lang="en">
                          <a:solidFill>
                            <a:srgbClr val="000000"/>
                          </a:solidFill>
                          <a:effectLst/>
                          <a:latin typeface="Helvetica Neue" panose="02000503000000020004" pitchFamily="2" charset="0"/>
                        </a:rPr>
                        <a:t>statsmodels (</a:t>
                      </a:r>
                      <a:r>
                        <a:rPr lang="ru-RU">
                          <a:solidFill>
                            <a:srgbClr val="000000"/>
                          </a:solidFill>
                          <a:effectLst/>
                          <a:latin typeface="Helvetica Neue" panose="02000503000000020004" pitchFamily="2" charset="0"/>
                        </a:rPr>
                        <a:t>ограниченно)</a:t>
                      </a:r>
                      <a:endParaRPr lang="ru-RU">
                        <a:effectLst/>
                      </a:endParaRPr>
                    </a:p>
                  </a:txBody>
                  <a:tcPr marL="38100" marR="38100" marT="38100" marB="38100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022906322"/>
                  </a:ext>
                </a:extLst>
              </a:tr>
              <a:tr h="104775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ru-RU" b="1">
                          <a:solidFill>
                            <a:srgbClr val="000000"/>
                          </a:solidFill>
                          <a:effectLst/>
                          <a:latin typeface="Helvetica Neue" panose="02000503000000020004" pitchFamily="2" charset="0"/>
                        </a:rPr>
                        <a:t>Экспоненциальное сглаживание</a:t>
                      </a:r>
                      <a:endParaRPr lang="ru-RU">
                        <a:effectLst/>
                      </a:endParaRPr>
                    </a:p>
                  </a:txBody>
                  <a:tcPr marL="38100" marR="38100" marT="38100" marB="38100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4D4D4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">
                          <a:solidFill>
                            <a:srgbClr val="000000"/>
                          </a:solidFill>
                          <a:effectLst/>
                          <a:latin typeface="Helvetica Neue" panose="02000503000000020004" pitchFamily="2" charset="0"/>
                        </a:rPr>
                        <a:t>Holt-Winters </a:t>
                      </a:r>
                      <a:r>
                        <a:rPr lang="ru-RU">
                          <a:solidFill>
                            <a:srgbClr val="000000"/>
                          </a:solidFill>
                          <a:effectLst/>
                          <a:latin typeface="Helvetica Neue" panose="02000503000000020004" pitchFamily="2" charset="0"/>
                        </a:rPr>
                        <a:t>с онлайн-шагом</a:t>
                      </a:r>
                      <a:endParaRPr lang="ru-RU">
                        <a:effectLst/>
                      </a:endParaRPr>
                    </a:p>
                  </a:txBody>
                  <a:tcPr marL="38100" marR="38100" marT="38100" marB="38100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ru-RU">
                          <a:solidFill>
                            <a:srgbClr val="000000"/>
                          </a:solidFill>
                          <a:effectLst/>
                          <a:latin typeface="Helvetica Neue" panose="02000503000000020004" pitchFamily="2" charset="0"/>
                        </a:rPr>
                        <a:t>Рекуррентное обновление параметров</a:t>
                      </a:r>
                      <a:endParaRPr lang="ru-RU">
                        <a:effectLst/>
                      </a:endParaRPr>
                    </a:p>
                  </a:txBody>
                  <a:tcPr marL="38100" marR="38100" marT="38100" marB="38100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520562672"/>
                  </a:ext>
                </a:extLst>
              </a:tr>
              <a:tr h="104775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" b="1">
                          <a:solidFill>
                            <a:srgbClr val="000000"/>
                          </a:solidFill>
                          <a:effectLst/>
                          <a:latin typeface="Helvetica Neue" panose="02000503000000020004" pitchFamily="2" charset="0"/>
                        </a:rPr>
                        <a:t>PCA</a:t>
                      </a:r>
                      <a:endParaRPr lang="en">
                        <a:effectLst/>
                      </a:endParaRPr>
                    </a:p>
                  </a:txBody>
                  <a:tcPr marL="38100" marR="38100" marT="38100" marB="38100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4D4D4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">
                          <a:solidFill>
                            <a:srgbClr val="000000"/>
                          </a:solidFill>
                          <a:effectLst/>
                          <a:latin typeface="Helvetica Neue" panose="02000503000000020004" pitchFamily="2" charset="0"/>
                        </a:rPr>
                        <a:t>IncrementalPCA</a:t>
                      </a:r>
                      <a:endParaRPr lang="en">
                        <a:effectLst/>
                      </a:endParaRPr>
                    </a:p>
                  </a:txBody>
                  <a:tcPr marL="38100" marR="38100" marT="38100" marB="38100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ru-RU" dirty="0">
                          <a:solidFill>
                            <a:srgbClr val="000000"/>
                          </a:solidFill>
                          <a:effectLst/>
                          <a:latin typeface="Helvetica Neue" panose="02000503000000020004" pitchFamily="2" charset="0"/>
                        </a:rPr>
                        <a:t>Постепенное обучение на </a:t>
                      </a:r>
                      <a:r>
                        <a:rPr lang="ru-RU" dirty="0" err="1">
                          <a:solidFill>
                            <a:srgbClr val="000000"/>
                          </a:solidFill>
                          <a:effectLst/>
                          <a:latin typeface="Helvetica Neue" panose="02000503000000020004" pitchFamily="2" charset="0"/>
                        </a:rPr>
                        <a:t>батчах</a:t>
                      </a:r>
                      <a:endParaRPr lang="ru-RU" dirty="0">
                        <a:effectLst/>
                      </a:endParaRPr>
                    </a:p>
                  </a:txBody>
                  <a:tcPr marL="38100" marR="38100" marT="38100" marB="38100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769144903"/>
                  </a:ext>
                </a:extLst>
              </a:tr>
            </a:tbl>
          </a:graphicData>
        </a:graphic>
      </p:graphicFrame>
      <p:graphicFrame>
        <p:nvGraphicFramePr>
          <p:cNvPr id="5" name="Таблица 4">
            <a:extLst>
              <a:ext uri="{FF2B5EF4-FFF2-40B4-BE49-F238E27FC236}">
                <a16:creationId xmlns:a16="http://schemas.microsoft.com/office/drawing/2014/main" id="{23281D89-5EB1-85C4-DC63-794DC1CC6763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834980162"/>
              </p:ext>
            </p:extLst>
          </p:nvPr>
        </p:nvGraphicFramePr>
        <p:xfrm>
          <a:off x="5701535" y="1367018"/>
          <a:ext cx="2916371" cy="4657998"/>
        </p:xfrm>
        <a:graphic>
          <a:graphicData uri="http://schemas.openxmlformats.org/drawingml/2006/table">
            <a:tbl>
              <a:tblPr/>
              <a:tblGrid>
                <a:gridCol w="756348">
                  <a:extLst>
                    <a:ext uri="{9D8B030D-6E8A-4147-A177-3AD203B41FA5}">
                      <a16:colId xmlns:a16="http://schemas.microsoft.com/office/drawing/2014/main" val="3249602966"/>
                    </a:ext>
                  </a:extLst>
                </a:gridCol>
                <a:gridCol w="872186">
                  <a:extLst>
                    <a:ext uri="{9D8B030D-6E8A-4147-A177-3AD203B41FA5}">
                      <a16:colId xmlns:a16="http://schemas.microsoft.com/office/drawing/2014/main" val="618606980"/>
                    </a:ext>
                  </a:extLst>
                </a:gridCol>
                <a:gridCol w="1287837">
                  <a:extLst>
                    <a:ext uri="{9D8B030D-6E8A-4147-A177-3AD203B41FA5}">
                      <a16:colId xmlns:a16="http://schemas.microsoft.com/office/drawing/2014/main" val="3607487269"/>
                    </a:ext>
                  </a:extLst>
                </a:gridCol>
              </a:tblGrid>
              <a:tr h="588484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ru-RU" sz="1100" b="1">
                          <a:solidFill>
                            <a:srgbClr val="000000"/>
                          </a:solidFill>
                          <a:effectLst/>
                          <a:latin typeface="Helvetica Neue" panose="02000503000000020004" pitchFamily="2" charset="0"/>
                        </a:rPr>
                        <a:t>Модель</a:t>
                      </a:r>
                      <a:endParaRPr lang="ru-RU" sz="1100">
                        <a:effectLst/>
                      </a:endParaRPr>
                    </a:p>
                  </a:txBody>
                  <a:tcPr marL="23294" marR="23294" marT="23294" marB="23294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0B3B2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ru-RU" sz="1100" b="1">
                          <a:solidFill>
                            <a:srgbClr val="000000"/>
                          </a:solidFill>
                          <a:effectLst/>
                          <a:latin typeface="Helvetica Neue" panose="02000503000000020004" pitchFamily="2" charset="0"/>
                        </a:rPr>
                        <a:t>Масштабируемость</a:t>
                      </a:r>
                      <a:endParaRPr lang="ru-RU" sz="1100">
                        <a:effectLst/>
                      </a:endParaRPr>
                    </a:p>
                  </a:txBody>
                  <a:tcPr marL="23294" marR="23294" marT="23294" marB="23294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0B3B2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ru-RU" sz="1100" b="1">
                          <a:solidFill>
                            <a:srgbClr val="000000"/>
                          </a:solidFill>
                          <a:effectLst/>
                          <a:latin typeface="Helvetica Neue" panose="02000503000000020004" pitchFamily="2" charset="0"/>
                        </a:rPr>
                        <a:t>Когда использовать</a:t>
                      </a:r>
                      <a:endParaRPr lang="ru-RU" sz="1100">
                        <a:effectLst/>
                      </a:endParaRPr>
                    </a:p>
                  </a:txBody>
                  <a:tcPr marL="23294" marR="23294" marT="23294" marB="23294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0B3B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09217052"/>
                  </a:ext>
                </a:extLst>
              </a:tr>
              <a:tr h="588484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" sz="1100" b="1">
                          <a:solidFill>
                            <a:srgbClr val="000000"/>
                          </a:solidFill>
                          <a:effectLst/>
                          <a:latin typeface="Helvetica Neue" panose="02000503000000020004" pitchFamily="2" charset="0"/>
                        </a:rPr>
                        <a:t>ARIMA / SARIMA</a:t>
                      </a:r>
                      <a:endParaRPr lang="en" sz="1100">
                        <a:effectLst/>
                      </a:endParaRPr>
                    </a:p>
                  </a:txBody>
                  <a:tcPr marL="23294" marR="23294" marT="23294" marB="23294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4D4D4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ru-RU" sz="1100">
                          <a:solidFill>
                            <a:srgbClr val="000000"/>
                          </a:solidFill>
                          <a:effectLst/>
                          <a:latin typeface="Helvetica Neue" panose="02000503000000020004" pitchFamily="2" charset="0"/>
                        </a:rPr>
                        <a:t>Низкая ( </a:t>
                      </a:r>
                      <a:r>
                        <a:rPr lang="en" sz="1100">
                          <a:solidFill>
                            <a:srgbClr val="000000"/>
                          </a:solidFill>
                          <a:effectLst/>
                          <a:latin typeface="Helvetica Neue" panose="02000503000000020004" pitchFamily="2" charset="0"/>
                        </a:rPr>
                        <a:t>O(n^2) )</a:t>
                      </a:r>
                      <a:endParaRPr lang="en" sz="1100">
                        <a:effectLst/>
                      </a:endParaRPr>
                    </a:p>
                  </a:txBody>
                  <a:tcPr marL="23294" marR="23294" marT="23294" marB="23294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ru-RU" sz="1100">
                          <a:solidFill>
                            <a:srgbClr val="000000"/>
                          </a:solidFill>
                          <a:effectLst/>
                          <a:latin typeface="Helvetica Neue" panose="02000503000000020004" pitchFamily="2" charset="0"/>
                        </a:rPr>
                        <a:t>Только на коротких сегментах</a:t>
                      </a:r>
                      <a:endParaRPr lang="ru-RU" sz="1100">
                        <a:effectLst/>
                      </a:endParaRPr>
                    </a:p>
                  </a:txBody>
                  <a:tcPr marL="23294" marR="23294" marT="23294" marB="23294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317116029"/>
                  </a:ext>
                </a:extLst>
              </a:tr>
              <a:tr h="768021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" sz="1100" b="1">
                          <a:solidFill>
                            <a:srgbClr val="000000"/>
                          </a:solidFill>
                          <a:effectLst/>
                          <a:latin typeface="Helvetica Neue" panose="02000503000000020004" pitchFamily="2" charset="0"/>
                        </a:rPr>
                        <a:t>VAR</a:t>
                      </a:r>
                      <a:endParaRPr lang="en" sz="1100">
                        <a:effectLst/>
                      </a:endParaRPr>
                    </a:p>
                  </a:txBody>
                  <a:tcPr marL="23294" marR="23294" marT="23294" marB="23294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4D4D4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ru-RU" sz="1100">
                          <a:solidFill>
                            <a:srgbClr val="000000"/>
                          </a:solidFill>
                          <a:effectLst/>
                          <a:latin typeface="Helvetica Neue" panose="02000503000000020004" pitchFamily="2" charset="0"/>
                        </a:rPr>
                        <a:t>Очень низкая ( </a:t>
                      </a:r>
                      <a:r>
                        <a:rPr lang="en" sz="1100">
                          <a:solidFill>
                            <a:srgbClr val="000000"/>
                          </a:solidFill>
                          <a:effectLst/>
                          <a:latin typeface="Helvetica Neue" panose="02000503000000020004" pitchFamily="2" charset="0"/>
                        </a:rPr>
                        <a:t>O(d^2 n^2) )</a:t>
                      </a:r>
                      <a:endParaRPr lang="en" sz="1100">
                        <a:effectLst/>
                      </a:endParaRPr>
                    </a:p>
                  </a:txBody>
                  <a:tcPr marL="23294" marR="23294" marT="23294" marB="23294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ru-RU" sz="1100">
                          <a:solidFill>
                            <a:srgbClr val="000000"/>
                          </a:solidFill>
                          <a:effectLst/>
                          <a:latin typeface="Helvetica Neue" panose="02000503000000020004" pitchFamily="2" charset="0"/>
                        </a:rPr>
                        <a:t>При  </a:t>
                      </a:r>
                      <a:r>
                        <a:rPr lang="en" sz="1100">
                          <a:solidFill>
                            <a:srgbClr val="000000"/>
                          </a:solidFill>
                          <a:effectLst/>
                          <a:latin typeface="Helvetica Neue" panose="02000503000000020004" pitchFamily="2" charset="0"/>
                        </a:rPr>
                        <a:t>d &lt; 10  </a:t>
                      </a:r>
                      <a:r>
                        <a:rPr lang="ru-RU" sz="1100">
                          <a:solidFill>
                            <a:srgbClr val="000000"/>
                          </a:solidFill>
                          <a:effectLst/>
                          <a:latin typeface="Helvetica Neue" panose="02000503000000020004" pitchFamily="2" charset="0"/>
                        </a:rPr>
                        <a:t>и  </a:t>
                      </a:r>
                      <a:r>
                        <a:rPr lang="en" sz="1100">
                          <a:solidFill>
                            <a:srgbClr val="000000"/>
                          </a:solidFill>
                          <a:effectLst/>
                          <a:latin typeface="Helvetica Neue" panose="02000503000000020004" pitchFamily="2" charset="0"/>
                        </a:rPr>
                        <a:t>n &lt; 10^4</a:t>
                      </a:r>
                      <a:endParaRPr lang="en" sz="1100">
                        <a:effectLst/>
                      </a:endParaRPr>
                    </a:p>
                  </a:txBody>
                  <a:tcPr marL="23294" marR="23294" marT="23294" marB="23294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281531838"/>
                  </a:ext>
                </a:extLst>
              </a:tr>
              <a:tr h="768021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" sz="1100" b="1">
                          <a:solidFill>
                            <a:srgbClr val="000000"/>
                          </a:solidFill>
                          <a:effectLst/>
                          <a:latin typeface="Helvetica Neue" panose="02000503000000020004" pitchFamily="2" charset="0"/>
                        </a:rPr>
                        <a:t>Exponential Smoothing</a:t>
                      </a:r>
                      <a:endParaRPr lang="en" sz="1100">
                        <a:effectLst/>
                      </a:endParaRPr>
                    </a:p>
                  </a:txBody>
                  <a:tcPr marL="23294" marR="23294" marT="23294" marB="23294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4D4D4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ru-RU" sz="1100">
                          <a:solidFill>
                            <a:srgbClr val="000000"/>
                          </a:solidFill>
                          <a:effectLst/>
                          <a:latin typeface="Helvetica Neue" panose="02000503000000020004" pitchFamily="2" charset="0"/>
                        </a:rPr>
                        <a:t>Высокая</a:t>
                      </a:r>
                      <a:endParaRPr lang="ru-RU" sz="1100">
                        <a:effectLst/>
                      </a:endParaRPr>
                    </a:p>
                  </a:txBody>
                  <a:tcPr marL="23294" marR="23294" marT="23294" marB="23294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ru-RU" sz="1100">
                          <a:solidFill>
                            <a:srgbClr val="000000"/>
                          </a:solidFill>
                          <a:effectLst/>
                          <a:latin typeface="Helvetica Neue" panose="02000503000000020004" pitchFamily="2" charset="0"/>
                        </a:rPr>
                        <a:t>Для быстрого </a:t>
                      </a:r>
                      <a:r>
                        <a:rPr lang="en" sz="1100">
                          <a:solidFill>
                            <a:srgbClr val="000000"/>
                          </a:solidFill>
                          <a:effectLst/>
                          <a:latin typeface="Helvetica Neue" panose="02000503000000020004" pitchFamily="2" charset="0"/>
                        </a:rPr>
                        <a:t>baseline'</a:t>
                      </a:r>
                      <a:r>
                        <a:rPr lang="ru-RU" sz="1100">
                          <a:solidFill>
                            <a:srgbClr val="000000"/>
                          </a:solidFill>
                          <a:effectLst/>
                          <a:latin typeface="Helvetica Neue" panose="02000503000000020004" pitchFamily="2" charset="0"/>
                        </a:rPr>
                        <a:t>а</a:t>
                      </a:r>
                      <a:endParaRPr lang="ru-RU" sz="1100">
                        <a:effectLst/>
                      </a:endParaRPr>
                    </a:p>
                  </a:txBody>
                  <a:tcPr marL="23294" marR="23294" marT="23294" marB="23294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514922834"/>
                  </a:ext>
                </a:extLst>
              </a:tr>
              <a:tr h="768021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" sz="1100" b="1">
                          <a:solidFill>
                            <a:srgbClr val="000000"/>
                          </a:solidFill>
                          <a:effectLst/>
                          <a:latin typeface="Helvetica Neue" panose="02000503000000020004" pitchFamily="2" charset="0"/>
                        </a:rPr>
                        <a:t>XGBoost / LightGBM</a:t>
                      </a:r>
                      <a:endParaRPr lang="en" sz="1100">
                        <a:effectLst/>
                      </a:endParaRPr>
                    </a:p>
                  </a:txBody>
                  <a:tcPr marL="23294" marR="23294" marT="23294" marB="23294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4D4D4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ru-RU" sz="1100">
                          <a:solidFill>
                            <a:srgbClr val="000000"/>
                          </a:solidFill>
                          <a:effectLst/>
                          <a:latin typeface="Helvetica Neue" panose="02000503000000020004" pitchFamily="2" charset="0"/>
                        </a:rPr>
                        <a:t>Высокая</a:t>
                      </a:r>
                      <a:endParaRPr lang="ru-RU" sz="1100">
                        <a:effectLst/>
                      </a:endParaRPr>
                    </a:p>
                  </a:txBody>
                  <a:tcPr marL="23294" marR="23294" marT="23294" marB="23294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ru-RU" sz="1100">
                          <a:solidFill>
                            <a:srgbClr val="000000"/>
                          </a:solidFill>
                          <a:effectLst/>
                          <a:latin typeface="Helvetica Neue" panose="02000503000000020004" pitchFamily="2" charset="0"/>
                        </a:rPr>
                        <a:t>При правильной векторизации</a:t>
                      </a:r>
                      <a:endParaRPr lang="ru-RU" sz="1100">
                        <a:effectLst/>
                      </a:endParaRPr>
                    </a:p>
                  </a:txBody>
                  <a:tcPr marL="23294" marR="23294" marT="23294" marB="23294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196268023"/>
                  </a:ext>
                </a:extLst>
              </a:tr>
              <a:tr h="408946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" sz="1100" b="1">
                          <a:solidFill>
                            <a:srgbClr val="000000"/>
                          </a:solidFill>
                          <a:effectLst/>
                          <a:latin typeface="Helvetica Neue" panose="02000503000000020004" pitchFamily="2" charset="0"/>
                        </a:rPr>
                        <a:t>Random Forest</a:t>
                      </a:r>
                      <a:endParaRPr lang="en" sz="1100">
                        <a:effectLst/>
                      </a:endParaRPr>
                    </a:p>
                  </a:txBody>
                  <a:tcPr marL="23294" marR="23294" marT="23294" marB="23294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4D4D4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ru-RU" sz="1100">
                          <a:solidFill>
                            <a:srgbClr val="000000"/>
                          </a:solidFill>
                          <a:effectLst/>
                          <a:latin typeface="Helvetica Neue" panose="02000503000000020004" pitchFamily="2" charset="0"/>
                        </a:rPr>
                        <a:t>Средняя</a:t>
                      </a:r>
                      <a:endParaRPr lang="ru-RU" sz="1100">
                        <a:effectLst/>
                      </a:endParaRPr>
                    </a:p>
                  </a:txBody>
                  <a:tcPr marL="23294" marR="23294" marT="23294" marB="23294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ru-RU" sz="1100">
                          <a:solidFill>
                            <a:srgbClr val="000000"/>
                          </a:solidFill>
                          <a:effectLst/>
                          <a:latin typeface="Helvetica Neue" panose="02000503000000020004" pitchFamily="2" charset="0"/>
                        </a:rPr>
                        <a:t>При малом числе лагов</a:t>
                      </a:r>
                      <a:endParaRPr lang="ru-RU" sz="1100">
                        <a:effectLst/>
                      </a:endParaRPr>
                    </a:p>
                  </a:txBody>
                  <a:tcPr marL="23294" marR="23294" marT="23294" marB="23294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910438209"/>
                  </a:ext>
                </a:extLst>
              </a:tr>
              <a:tr h="768021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" sz="1100" b="1">
                          <a:solidFill>
                            <a:srgbClr val="000000"/>
                          </a:solidFill>
                          <a:effectLst/>
                          <a:latin typeface="Helvetica Neue" panose="02000503000000020004" pitchFamily="2" charset="0"/>
                        </a:rPr>
                        <a:t>Ridge / Lasso</a:t>
                      </a:r>
                      <a:endParaRPr lang="en" sz="1100">
                        <a:effectLst/>
                      </a:endParaRPr>
                    </a:p>
                  </a:txBody>
                  <a:tcPr marL="23294" marR="23294" marT="23294" marB="23294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4D4D4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ru-RU" sz="1100">
                          <a:solidFill>
                            <a:srgbClr val="000000"/>
                          </a:solidFill>
                          <a:effectLst/>
                          <a:latin typeface="Helvetica Neue" panose="02000503000000020004" pitchFamily="2" charset="0"/>
                        </a:rPr>
                        <a:t>Высокая</a:t>
                      </a:r>
                      <a:endParaRPr lang="ru-RU" sz="1100">
                        <a:effectLst/>
                      </a:endParaRPr>
                    </a:p>
                  </a:txBody>
                  <a:tcPr marL="23294" marR="23294" marT="23294" marB="23294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ru-RU" sz="1100" dirty="0">
                          <a:solidFill>
                            <a:srgbClr val="000000"/>
                          </a:solidFill>
                          <a:effectLst/>
                          <a:latin typeface="Helvetica Neue" panose="02000503000000020004" pitchFamily="2" charset="0"/>
                        </a:rPr>
                        <a:t>При регуляризации и отборе признаков</a:t>
                      </a:r>
                      <a:endParaRPr lang="ru-RU" sz="1100" dirty="0">
                        <a:effectLst/>
                      </a:endParaRPr>
                    </a:p>
                  </a:txBody>
                  <a:tcPr marL="23294" marR="23294" marT="23294" marB="23294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31252224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276634575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2000"/>
    </mc:Choice>
    <mc:Fallback>
      <p:transition spd="slow"/>
    </mc:Fallback>
  </mc:AlternateContent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/>
              <a:t>Типы многомерных ВР</a:t>
            </a:r>
          </a:p>
        </p:txBody>
      </p:sp>
      <p:graphicFrame>
        <p:nvGraphicFramePr>
          <p:cNvPr id="4" name="Объект 3"/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2486582924"/>
              </p:ext>
            </p:extLst>
          </p:nvPr>
        </p:nvGraphicFramePr>
        <p:xfrm>
          <a:off x="374649" y="1437483"/>
          <a:ext cx="11198225" cy="2486025"/>
        </p:xfrm>
        <a:graphic>
          <a:graphicData uri="http://schemas.openxmlformats.org/drawingml/2006/table">
            <a:tbl>
              <a:tblPr/>
              <a:tblGrid>
                <a:gridCol w="2435226">
                  <a:extLst>
                    <a:ext uri="{9D8B030D-6E8A-4147-A177-3AD203B41FA5}">
                      <a16:colId xmlns:a16="http://schemas.microsoft.com/office/drawing/2014/main" val="1298172271"/>
                    </a:ext>
                  </a:extLst>
                </a:gridCol>
                <a:gridCol w="5038725">
                  <a:extLst>
                    <a:ext uri="{9D8B030D-6E8A-4147-A177-3AD203B41FA5}">
                      <a16:colId xmlns:a16="http://schemas.microsoft.com/office/drawing/2014/main" val="2225433765"/>
                    </a:ext>
                  </a:extLst>
                </a:gridCol>
                <a:gridCol w="3724274">
                  <a:extLst>
                    <a:ext uri="{9D8B030D-6E8A-4147-A177-3AD203B41FA5}">
                      <a16:colId xmlns:a16="http://schemas.microsoft.com/office/drawing/2014/main" val="3005667624"/>
                    </a:ext>
                  </a:extLst>
                </a:gridCol>
              </a:tblGrid>
              <a:tr h="61520">
                <a:tc>
                  <a:txBody>
                    <a:bodyPr/>
                    <a:lstStyle/>
                    <a:p>
                      <a:pPr algn="l" fontAlgn="b"/>
                      <a:r>
                        <a:rPr lang="ru-RU" sz="20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Тип</a:t>
                      </a:r>
                    </a:p>
                  </a:txBody>
                  <a:tcPr marL="9525" marR="9525" marT="9525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ru-RU" sz="20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Описание</a:t>
                      </a:r>
                    </a:p>
                  </a:txBody>
                  <a:tcPr marL="9525" marR="9525" marT="9525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ru-RU" sz="20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Пример</a:t>
                      </a:r>
                    </a:p>
                  </a:txBody>
                  <a:tcPr marL="9525" marR="9525" marT="9525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890436517"/>
                  </a:ext>
                </a:extLst>
              </a:tr>
              <a:tr h="121176">
                <a:tc>
                  <a:txBody>
                    <a:bodyPr/>
                    <a:lstStyle/>
                    <a:p>
                      <a:pPr algn="l" fontAlgn="b"/>
                      <a:r>
                        <a:rPr lang="ru-RU" sz="20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Связанные ряды</a:t>
                      </a:r>
                    </a:p>
                  </a:txBody>
                  <a:tcPr marL="9525" marR="9525" marT="9525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ru-RU" sz="20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Переменные влияют друг на друга</a:t>
                      </a:r>
                    </a:p>
                  </a:txBody>
                  <a:tcPr marL="9525" marR="9525" marT="9525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ru-RU" sz="20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Температура и давление в реакторе</a:t>
                      </a:r>
                    </a:p>
                  </a:txBody>
                  <a:tcPr marL="9525" marR="9525" marT="9525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894701474"/>
                  </a:ext>
                </a:extLst>
              </a:tr>
              <a:tr h="61520">
                <a:tc>
                  <a:txBody>
                    <a:bodyPr/>
                    <a:lstStyle/>
                    <a:p>
                      <a:pPr algn="l" fontAlgn="b"/>
                      <a:r>
                        <a:rPr lang="ru-RU" sz="20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Многосерийные ряды</a:t>
                      </a:r>
                    </a:p>
                  </a:txBody>
                  <a:tcPr marL="9525" marR="9525" marT="9525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ru-RU" sz="20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Много независимых рядов (одномерных)</a:t>
                      </a:r>
                    </a:p>
                  </a:txBody>
                  <a:tcPr marL="9525" marR="9525" marT="9525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ru-RU" sz="20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Продажи по 100 магазинам</a:t>
                      </a:r>
                    </a:p>
                  </a:txBody>
                  <a:tcPr marL="9525" marR="9525" marT="9525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4181196808"/>
                  </a:ext>
                </a:extLst>
              </a:tr>
              <a:tr h="121176">
                <a:tc>
                  <a:txBody>
                    <a:bodyPr/>
                    <a:lstStyle/>
                    <a:p>
                      <a:pPr algn="l" fontAlgn="b"/>
                      <a:r>
                        <a:rPr lang="ru-RU" sz="20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Пространственно-временные поля</a:t>
                      </a:r>
                    </a:p>
                  </a:txBody>
                  <a:tcPr marL="9525" marR="9525" marT="9525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ru-RU" sz="20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Данные на сетке (</a:t>
                      </a:r>
                      <a:r>
                        <a:rPr lang="ru-RU" sz="2000" b="0" i="0" u="none" strike="noStrike" dirty="0" err="1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гео</a:t>
                      </a:r>
                      <a:r>
                        <a:rPr lang="ru-RU" sz="20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, датчики)</a:t>
                      </a:r>
                    </a:p>
                  </a:txBody>
                  <a:tcPr marL="9525" marR="9525" marT="9525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ru-RU" sz="20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Температура по датчикам в цеху</a:t>
                      </a:r>
                    </a:p>
                  </a:txBody>
                  <a:tcPr marL="9525" marR="9525" marT="9525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793687255"/>
                  </a:ext>
                </a:extLst>
              </a:tr>
              <a:tr h="121176">
                <a:tc>
                  <a:txBody>
                    <a:bodyPr/>
                    <a:lstStyle/>
                    <a:p>
                      <a:pPr algn="l" fontAlgn="b"/>
                      <a:r>
                        <a:rPr lang="ru-RU" sz="20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С иерархией</a:t>
                      </a:r>
                    </a:p>
                  </a:txBody>
                  <a:tcPr marL="9525" marR="9525" marT="9525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ru-RU" sz="20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Ряды связаны иерархически (регион → магазин)</a:t>
                      </a:r>
                    </a:p>
                  </a:txBody>
                  <a:tcPr marL="9525" marR="9525" marT="9525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ru-RU" sz="20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Общие продажи → по магазинам</a:t>
                      </a:r>
                    </a:p>
                  </a:txBody>
                  <a:tcPr marL="9525" marR="9525" marT="9525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14198523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993176027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2000"/>
    </mc:Choice>
    <mc:Fallback>
      <p:transition spd="slow"/>
    </mc:Fallback>
  </mc:AlternateContent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3" name="Объект 2"/>
          <p:cNvSpPr>
            <a:spLocks noGrp="1"/>
          </p:cNvSpPr>
          <p:nvPr>
            <p:ph idx="1"/>
          </p:nvPr>
        </p:nvSpPr>
        <p:spPr>
          <a:xfrm>
            <a:off x="276225" y="2016125"/>
            <a:ext cx="7762875" cy="4351338"/>
          </a:xfrm>
        </p:spPr>
        <p:txBody>
          <a:bodyPr>
            <a:normAutofit lnSpcReduction="10000"/>
          </a:bodyPr>
          <a:lstStyle/>
          <a:p>
            <a:pPr marL="0" indent="0">
              <a:buNone/>
            </a:pPr>
            <a:r>
              <a:rPr lang="ru-RU" b="1" dirty="0"/>
              <a:t>Преимущества МВР:</a:t>
            </a:r>
            <a:endParaRPr lang="ru-RU" dirty="0"/>
          </a:p>
          <a:p>
            <a:r>
              <a:rPr lang="ru-RU" dirty="0"/>
              <a:t>Учет взаимосвязей между переменными </a:t>
            </a:r>
          </a:p>
          <a:p>
            <a:pPr lvl="1"/>
            <a:r>
              <a:rPr lang="ru-RU" dirty="0"/>
              <a:t>Анализ причинно-следственных связей</a:t>
            </a:r>
          </a:p>
          <a:p>
            <a:pPr lvl="1"/>
            <a:r>
              <a:rPr lang="ru-RU" dirty="0"/>
              <a:t>Обнаружение общих трендов и циклов</a:t>
            </a:r>
          </a:p>
          <a:p>
            <a:r>
              <a:rPr lang="ru-RU" dirty="0"/>
              <a:t>Возможность создания глобальных моделей – одна модель для группы ВР</a:t>
            </a:r>
          </a:p>
          <a:p>
            <a:pPr marL="0" indent="0">
              <a:buNone/>
            </a:pPr>
            <a:r>
              <a:rPr lang="ru-RU" b="1" dirty="0"/>
              <a:t>Проблемы МВР:</a:t>
            </a:r>
            <a:endParaRPr lang="ru-RU" dirty="0"/>
          </a:p>
          <a:p>
            <a:r>
              <a:rPr lang="ru-RU" dirty="0"/>
              <a:t>Усложнение интерпретации</a:t>
            </a:r>
          </a:p>
          <a:p>
            <a:r>
              <a:rPr lang="ru-RU" dirty="0"/>
              <a:t>Усложнение подбора </a:t>
            </a:r>
            <a:r>
              <a:rPr lang="ru-RU" dirty="0" err="1"/>
              <a:t>гиперпараметров</a:t>
            </a:r>
            <a:r>
              <a:rPr lang="ru-RU" dirty="0"/>
              <a:t> глобальных моделей</a:t>
            </a:r>
          </a:p>
          <a:p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539953052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2000"/>
    </mc:Choice>
    <mc:Fallback>
      <p:transition spd="slow"/>
    </mc:Fallback>
  </mc:AlternateContent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247650" y="365125"/>
            <a:ext cx="11106150" cy="815975"/>
          </a:xfrm>
        </p:spPr>
        <p:txBody>
          <a:bodyPr/>
          <a:lstStyle/>
          <a:p>
            <a:r>
              <a:rPr lang="ru-RU" dirty="0"/>
              <a:t>Особенности предварительного анализа МВР</a:t>
            </a:r>
          </a:p>
        </p:txBody>
      </p:sp>
      <p:sp>
        <p:nvSpPr>
          <p:cNvPr id="3" name="Объект 2"/>
          <p:cNvSpPr>
            <a:spLocks noGrp="1"/>
          </p:cNvSpPr>
          <p:nvPr>
            <p:ph idx="1"/>
          </p:nvPr>
        </p:nvSpPr>
        <p:spPr>
          <a:xfrm>
            <a:off x="247649" y="1181100"/>
            <a:ext cx="11553825" cy="5286375"/>
          </a:xfrm>
        </p:spPr>
        <p:txBody>
          <a:bodyPr/>
          <a:lstStyle/>
          <a:p>
            <a:r>
              <a:rPr lang="ru-RU" dirty="0"/>
              <a:t>При МВР важно чтобы каждый ряд </a:t>
            </a:r>
            <a:r>
              <a:rPr lang="ru-RU" dirty="0" err="1"/>
              <a:t>небыл</a:t>
            </a:r>
            <a:r>
              <a:rPr lang="ru-RU" dirty="0"/>
              <a:t> сдвинутой копией другого. </a:t>
            </a:r>
          </a:p>
          <a:p>
            <a:pPr lvl="1"/>
            <a:r>
              <a:rPr lang="ru-RU"/>
              <a:t>Все </a:t>
            </a:r>
            <a:r>
              <a:rPr lang="ru-RU" dirty="0"/>
              <a:t>ВР должны быть </a:t>
            </a:r>
            <a:r>
              <a:rPr lang="ru-RU"/>
              <a:t>независимы.</a:t>
            </a:r>
          </a:p>
          <a:p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4081172957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2000"/>
    </mc:Choice>
    <mc:Fallback>
      <p:transition spd="slow"/>
    </mc:Fallback>
  </mc:AlternateContent>
</p:sld>
</file>

<file path=ppt/theme/theme1.xml><?xml version="1.0" encoding="utf-8"?>
<a:theme xmlns:a="http://schemas.openxmlformats.org/drawingml/2006/main" name="Тема Office">
  <a:themeElements>
    <a:clrScheme name="Стандартная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Стандартная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Стандартная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Тема Office">
  <a:themeElements>
    <a:clrScheme name="Стандартная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Стандартная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Стандартная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4369</TotalTime>
  <Words>1938</Words>
  <Application>Microsoft Office PowerPoint</Application>
  <PresentationFormat>Широкоэкранный</PresentationFormat>
  <Paragraphs>342</Paragraphs>
  <Slides>26</Slides>
  <Notes>13</Notes>
  <HiddenSlides>6</HiddenSlides>
  <MMClips>0</MMClips>
  <ScaleCrop>false</ScaleCrop>
  <HeadingPairs>
    <vt:vector size="6" baseType="variant">
      <vt:variant>
        <vt:lpstr>Использованные шрифты</vt:lpstr>
      </vt:variant>
      <vt:variant>
        <vt:i4>8</vt:i4>
      </vt:variant>
      <vt:variant>
        <vt:lpstr>Тема</vt:lpstr>
      </vt:variant>
      <vt:variant>
        <vt:i4>1</vt:i4>
      </vt:variant>
      <vt:variant>
        <vt:lpstr>Заголовки слайдов</vt:lpstr>
      </vt:variant>
      <vt:variant>
        <vt:i4>26</vt:i4>
      </vt:variant>
    </vt:vector>
  </HeadingPairs>
  <TitlesOfParts>
    <vt:vector size="35" baseType="lpstr">
      <vt:lpstr>Arial</vt:lpstr>
      <vt:lpstr>Calibri</vt:lpstr>
      <vt:lpstr>Calibri Light</vt:lpstr>
      <vt:lpstr>Cambria Math</vt:lpstr>
      <vt:lpstr>Helvetica Neue</vt:lpstr>
      <vt:lpstr>Source Sans Pro</vt:lpstr>
      <vt:lpstr>system-ui</vt:lpstr>
      <vt:lpstr>Work Sans</vt:lpstr>
      <vt:lpstr>Тема Office</vt:lpstr>
      <vt:lpstr>Многомерные временные ряды</vt:lpstr>
      <vt:lpstr>Определение многомерных ВР</vt:lpstr>
      <vt:lpstr>Типы ВР: Многомерные ВР</vt:lpstr>
      <vt:lpstr>Определение многомерных ВР</vt:lpstr>
      <vt:lpstr>Требования и проблемы МВР</vt:lpstr>
      <vt:lpstr>Векторная авторегрессия</vt:lpstr>
      <vt:lpstr>Типы связей в МВР</vt:lpstr>
      <vt:lpstr>Типы связей в МВР</vt:lpstr>
      <vt:lpstr>Казуальность МВР</vt:lpstr>
      <vt:lpstr>Казуальность МВР</vt:lpstr>
      <vt:lpstr>Казуальность МВР</vt:lpstr>
      <vt:lpstr>Коинтегрированность</vt:lpstr>
      <vt:lpstr>Коинтегрированность</vt:lpstr>
      <vt:lpstr>Глобальные объясняющие факторы</vt:lpstr>
      <vt:lpstr>Глобальные объясняющие факторы</vt:lpstr>
      <vt:lpstr>Сумматризация тестов</vt:lpstr>
      <vt:lpstr>Использование МО в МВР</vt:lpstr>
      <vt:lpstr>Использование МО в МВР</vt:lpstr>
      <vt:lpstr>Использование МО в МВР</vt:lpstr>
      <vt:lpstr>Вопросы для самоконтроля</vt:lpstr>
      <vt:lpstr>Особенности анализа сверх больших массивов ВР</vt:lpstr>
      <vt:lpstr>Особенности анализа сверх больших массивов ВР</vt:lpstr>
      <vt:lpstr>Онлайн обучение</vt:lpstr>
      <vt:lpstr>Типы многомерных ВР</vt:lpstr>
      <vt:lpstr>Презентация PowerPoint</vt:lpstr>
      <vt:lpstr>Особенности предварительного анализа МВР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Многомерные временные ряды</dc:title>
  <dc:creator>Ронкин Михаил Владимирович</dc:creator>
  <cp:lastModifiedBy>Ронкин Михаил Владимирович</cp:lastModifiedBy>
  <cp:revision>43</cp:revision>
  <dcterms:created xsi:type="dcterms:W3CDTF">2025-08-05T06:08:07Z</dcterms:created>
  <dcterms:modified xsi:type="dcterms:W3CDTF">2025-08-20T13:14:47Z</dcterms:modified>
</cp:coreProperties>
</file>