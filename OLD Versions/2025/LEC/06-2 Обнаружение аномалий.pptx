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92" r:id="rId4"/>
    <p:sldId id="296" r:id="rId5"/>
    <p:sldId id="267" r:id="rId6"/>
    <p:sldId id="268" r:id="rId7"/>
    <p:sldId id="301" r:id="rId8"/>
    <p:sldId id="265" r:id="rId9"/>
    <p:sldId id="272" r:id="rId10"/>
    <p:sldId id="271" r:id="rId11"/>
    <p:sldId id="298" r:id="rId12"/>
    <p:sldId id="276" r:id="rId13"/>
    <p:sldId id="278" r:id="rId14"/>
    <p:sldId id="273" r:id="rId15"/>
    <p:sldId id="277" r:id="rId16"/>
    <p:sldId id="275" r:id="rId17"/>
    <p:sldId id="297" r:id="rId18"/>
    <p:sldId id="279" r:id="rId19"/>
    <p:sldId id="280" r:id="rId20"/>
    <p:sldId id="281" r:id="rId21"/>
    <p:sldId id="282" r:id="rId22"/>
    <p:sldId id="285" r:id="rId23"/>
    <p:sldId id="286" r:id="rId24"/>
    <p:sldId id="288" r:id="rId25"/>
    <p:sldId id="289" r:id="rId26"/>
    <p:sldId id="291" r:id="rId27"/>
    <p:sldId id="290" r:id="rId28"/>
    <p:sldId id="308" r:id="rId29"/>
    <p:sldId id="299" r:id="rId30"/>
    <p:sldId id="302" r:id="rId31"/>
    <p:sldId id="303" r:id="rId32"/>
    <p:sldId id="304" r:id="rId33"/>
    <p:sldId id="305" r:id="rId34"/>
    <p:sldId id="306" r:id="rId35"/>
    <p:sldId id="30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1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Обнаружение Аномалий</a:t>
            </a:r>
            <a:endParaRPr lang="en-US" b="1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ctr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lvl="0"/>
            <a:r>
              <a:rPr lang="ru-RU" sz="2200" b="1" dirty="0"/>
              <a:t>Задача обнаружения аномалий</a:t>
            </a:r>
            <a:endParaRPr lang="ru-RU" sz="2200" dirty="0"/>
          </a:p>
          <a:p>
            <a:pPr lvl="0"/>
            <a:r>
              <a:rPr lang="ru-RU" sz="2200" dirty="0"/>
              <a:t>Проблема обнаружения выбросов или аномалий для временных рядов обычно формулируется как обнаружение резких </a:t>
            </a:r>
            <a:r>
              <a:rPr lang="en-US" sz="2200" dirty="0"/>
              <a:t>(</a:t>
            </a:r>
            <a:r>
              <a:rPr lang="ru-RU" sz="2200" dirty="0"/>
              <a:t>относительно кратковременных</a:t>
            </a:r>
            <a:r>
              <a:rPr lang="en-US" sz="2200" dirty="0"/>
              <a:t>)</a:t>
            </a:r>
            <a:r>
              <a:rPr lang="ru-RU" sz="2200" dirty="0"/>
              <a:t> изменений значений данных относительно некоторых стандартных, например предшествующих значений ряда.</a:t>
            </a:r>
          </a:p>
          <a:p>
            <a:pPr lvl="0"/>
            <a:r>
              <a:rPr lang="ru-RU" sz="2200" dirty="0"/>
              <a:t>Таким образом, части (или сегменты) ряда аномалий должны существенно отличаться от остальных данных в статистическом смысле.</a:t>
            </a:r>
            <a:endParaRPr lang="ru-RU" altLang="ru-RU" sz="2000" dirty="0"/>
          </a:p>
          <a:p>
            <a:pPr algn="l" rtl="0"/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208" y="3601811"/>
            <a:ext cx="6567019" cy="31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7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ctr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</a:rPr>
              <a:t>А</a:t>
            </a:r>
            <a:r>
              <a:rPr lang="en-US" sz="2200" dirty="0" err="1">
                <a:solidFill>
                  <a:srgbClr val="000000"/>
                </a:solidFill>
              </a:rPr>
              <a:t>номалия</a:t>
            </a:r>
            <a:r>
              <a:rPr lang="en-US" sz="2200" dirty="0">
                <a:solidFill>
                  <a:srgbClr val="000000"/>
                </a:solidFill>
              </a:rPr>
              <a:t> - </a:t>
            </a:r>
            <a:r>
              <a:rPr lang="en-US" sz="2200" dirty="0" err="1">
                <a:solidFill>
                  <a:srgbClr val="000000"/>
                </a:solidFill>
              </a:rPr>
              <a:t>это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наблюдение</a:t>
            </a:r>
            <a:r>
              <a:rPr lang="en-US" sz="2200" dirty="0">
                <a:solidFill>
                  <a:srgbClr val="000000"/>
                </a:solidFill>
              </a:rPr>
              <a:t>, в </a:t>
            </a:r>
            <a:r>
              <a:rPr lang="en-US" sz="2200" dirty="0" err="1">
                <a:solidFill>
                  <a:srgbClr val="000000"/>
                </a:solidFill>
              </a:rPr>
              <a:t>котором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по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крайней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мере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одна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переменная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имеет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необычное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значение</a:t>
            </a:r>
            <a:r>
              <a:rPr lang="ru-RU" sz="2200" dirty="0">
                <a:solidFill>
                  <a:srgbClr val="000000"/>
                </a:solidFill>
              </a:rPr>
              <a:t> в соответствии с </a:t>
            </a:r>
            <a:r>
              <a:rPr lang="ru-RU" sz="2200" dirty="0" err="1">
                <a:solidFill>
                  <a:srgbClr val="000000"/>
                </a:solidFill>
              </a:rPr>
              <a:t>заднным</a:t>
            </a:r>
            <a:r>
              <a:rPr lang="ru-RU" sz="2200" dirty="0">
                <a:solidFill>
                  <a:srgbClr val="000000"/>
                </a:solidFill>
              </a:rPr>
              <a:t> критерием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594" y="3885268"/>
            <a:ext cx="6181931" cy="2972732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3B9F4EA-C4AA-D4B2-7E29-CA1F67B44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501736"/>
              </p:ext>
            </p:extLst>
          </p:nvPr>
        </p:nvGraphicFramePr>
        <p:xfrm>
          <a:off x="1271989" y="1660228"/>
          <a:ext cx="8621193" cy="2225040"/>
        </p:xfrm>
        <a:graphic>
          <a:graphicData uri="http://schemas.openxmlformats.org/drawingml/2006/table">
            <a:tbl>
              <a:tblPr/>
              <a:tblGrid>
                <a:gridCol w="1904682">
                  <a:extLst>
                    <a:ext uri="{9D8B030D-6E8A-4147-A177-3AD203B41FA5}">
                      <a16:colId xmlns:a16="http://schemas.microsoft.com/office/drawing/2014/main" val="1627728832"/>
                    </a:ext>
                  </a:extLst>
                </a:gridCol>
                <a:gridCol w="3752081">
                  <a:extLst>
                    <a:ext uri="{9D8B030D-6E8A-4147-A177-3AD203B41FA5}">
                      <a16:colId xmlns:a16="http://schemas.microsoft.com/office/drawing/2014/main" val="2133845643"/>
                    </a:ext>
                  </a:extLst>
                </a:gridCol>
                <a:gridCol w="2964430">
                  <a:extLst>
                    <a:ext uri="{9D8B030D-6E8A-4147-A177-3AD203B41FA5}">
                      <a16:colId xmlns:a16="http://schemas.microsoft.com/office/drawing/2014/main" val="966753464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Тип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Описание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Пример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3335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Точечные (</a:t>
                      </a:r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point anomalies)</a:t>
                      </a:r>
                      <a:endParaRPr lang="en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Одиночное значение вне ожидаемого диапазона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Резкий скачок температуры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421977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Контекстные (</a:t>
                      </a:r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contextual)</a:t>
                      </a:r>
                      <a:endParaRPr lang="en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Значение аномально в контексте времени (сезонность)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Высокий трафик в 3 часа ночи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088869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Собирательные (</a:t>
                      </a:r>
                      <a:r>
                        <a:rPr lang="en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collective)</a:t>
                      </a:r>
                      <a:endParaRPr lang="en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Группа значений, вместе образующих аномалию</a:t>
                      </a:r>
                      <a:endParaRPr lang="ru-RU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Затяжное падение давления перед отказом</a:t>
                      </a:r>
                      <a:endParaRPr lang="ru-RU" dirty="0">
                        <a:effectLst/>
                        <a:latin typeface="+mn-lt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689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02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6703403" cy="5811139"/>
          </a:xfrm>
        </p:spPr>
        <p:txBody>
          <a:bodyPr>
            <a:normAutofit/>
          </a:bodyPr>
          <a:lstStyle/>
          <a:p>
            <a:pPr algn="l" rtl="0"/>
            <a:r>
              <a:rPr lang="en-US" sz="2200" dirty="0"/>
              <a:t>Различают локальные и глобальные аномалии.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/>
              <a:t>Точечные аномалии </a:t>
            </a:r>
            <a:r>
              <a:rPr lang="ru-RU" altLang="ru-RU" sz="2200" dirty="0"/>
              <a:t>возникают в ситуации, когда отдельный экземпляр данных может рассматриваться как безусловно аномальный по отношению к остальным.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/>
              <a:t>Контекстные аномалии </a:t>
            </a:r>
            <a:r>
              <a:rPr lang="ru-RU" altLang="ru-RU" sz="2200" dirty="0"/>
              <a:t>наблюдаются, если экземпляр аномальный в определённом контексте, или при выполнении определённого условия (поэтому также называются условными).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200" b="1" dirty="0"/>
              <a:t>Коллективные аномалии </a:t>
            </a:r>
            <a:r>
              <a:rPr lang="ru-RU" altLang="ru-RU" sz="2200" dirty="0"/>
              <a:t>возникают, когда последовательность связанных экземпляров данных (например, участок временного ряда) является аномальной по отношению к остальным данных. Такие аномалии могут быть в взаимосвязи данных а не данных как таковых (</a:t>
            </a:r>
            <a:r>
              <a:rPr lang="ru-RU" altLang="ru-RU" sz="2200" dirty="0" err="1"/>
              <a:t>напр.волотильность</a:t>
            </a:r>
            <a:r>
              <a:rPr lang="ru-RU" altLang="ru-RU" sz="2200" dirty="0"/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332772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3805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Объект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958" y="948583"/>
            <a:ext cx="5213503" cy="54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5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3568" y="177409"/>
            <a:ext cx="10515600" cy="711645"/>
          </a:xfrm>
        </p:spPr>
        <p:txBody>
          <a:bodyPr/>
          <a:lstStyle/>
          <a:p>
            <a:pPr algn="ctr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0736" y="724542"/>
            <a:ext cx="11961264" cy="358481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По  своему поведению можно выделить следующие  </a:t>
            </a:r>
            <a:r>
              <a:rPr lang="ru-RU" sz="2200" b="1" dirty="0"/>
              <a:t>типы аномалий</a:t>
            </a:r>
            <a:r>
              <a:rPr lang="ru-RU" sz="2200" dirty="0"/>
              <a:t> 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Внезапный  </a:t>
            </a:r>
            <a:r>
              <a:rPr lang="ru-RU" sz="2200" b="1" dirty="0"/>
              <a:t>точечный скачок</a:t>
            </a:r>
            <a:r>
              <a:rPr lang="ru-RU" sz="2200" dirty="0"/>
              <a:t> , отсутствие или коллапс  значения метрики (или выборки).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Внезапное и кратковременное  </a:t>
            </a:r>
            <a:r>
              <a:rPr lang="ru-RU" sz="2200" b="1" dirty="0"/>
              <a:t>изменение дисперсии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Внезапный и кратковременный  </a:t>
            </a:r>
            <a:r>
              <a:rPr lang="ru-RU" sz="2200" b="1" dirty="0"/>
              <a:t>сдвиг уровня или изменение тренда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Внезапное и кратковременное  </a:t>
            </a:r>
            <a:r>
              <a:rPr lang="ru-RU" sz="2200" b="1" dirty="0"/>
              <a:t>изменение огибающей как циклической части</a:t>
            </a:r>
            <a:r>
              <a:rPr lang="ru-RU" sz="2200" dirty="0"/>
              <a:t>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Внезапное и  </a:t>
            </a:r>
            <a:r>
              <a:rPr lang="ru-RU" sz="2200" b="1" dirty="0"/>
              <a:t>кратковременное отсутствие паттернов или изменение</a:t>
            </a:r>
            <a:r>
              <a:rPr lang="ru-RU" sz="2200" dirty="0"/>
              <a:t>  поведения.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Изменение сезонности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Сочетание</a:t>
            </a:r>
            <a:r>
              <a:rPr lang="ru-RU" sz="2200" dirty="0"/>
              <a:t>  предыдущих случаев.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658" y="3725693"/>
            <a:ext cx="8987409" cy="311285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87200" y="6550223"/>
            <a:ext cx="3603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i="1" dirty="0"/>
              <a:t>https://vldb.org/pvldb/vol15/p1779-wenig.pdf</a:t>
            </a:r>
          </a:p>
        </p:txBody>
      </p:sp>
    </p:spTree>
    <p:extLst>
      <p:ext uri="{BB962C8B-B14F-4D97-AF65-F5344CB8AC3E}">
        <p14:creationId xmlns:p14="http://schemas.microsoft.com/office/powerpoint/2010/main" val="294738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ctr" rtl="0"/>
            <a:r>
              <a:rPr lang="ru-RU" b="1" dirty="0"/>
              <a:t>Обнаружение аномалий. </a:t>
            </a:r>
            <a:r>
              <a:rPr lang="en-US" b="1" dirty="0"/>
              <a:t>Пример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253862" y="947738"/>
            <a:ext cx="10741025" cy="5100193"/>
          </a:xfrm>
        </p:spPr>
        <p:txBody>
          <a:bodyPr/>
          <a:lstStyle/>
          <a:p>
            <a:pPr marL="0" indent="0" algn="l" rtl="0">
              <a:buNone/>
            </a:pPr>
            <a:r>
              <a:rPr lang="en-US" dirty="0" err="1"/>
              <a:t>аномалии</a:t>
            </a:r>
            <a:r>
              <a:rPr lang="en-US" dirty="0"/>
              <a:t> изменения дисперсии.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452197"/>
            <a:ext cx="3138343" cy="244419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719455" y="883750"/>
            <a:ext cx="4062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2800" dirty="0" err="1"/>
              <a:t>аномалии</a:t>
            </a:r>
            <a:r>
              <a:rPr lang="en-US" sz="2800" dirty="0"/>
              <a:t> сдвига уровня.</a:t>
            </a:r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273" y="1368966"/>
            <a:ext cx="3305614" cy="2368391"/>
          </a:xfrm>
          <a:prstGeom prst="rect">
            <a:avLst/>
          </a:prstGeom>
        </p:spPr>
      </p:pic>
      <p:sp>
        <p:nvSpPr>
          <p:cNvPr id="3" name="Объект 7">
            <a:extLst>
              <a:ext uri="{FF2B5EF4-FFF2-40B4-BE49-F238E27FC236}">
                <a16:creationId xmlns:a16="http://schemas.microsoft.com/office/drawing/2014/main" id="{0D397EA7-5713-7070-B6F3-07BBB56012BA}"/>
              </a:ext>
            </a:extLst>
          </p:cNvPr>
          <p:cNvSpPr txBox="1">
            <a:spLocks/>
          </p:cNvSpPr>
          <p:nvPr/>
        </p:nvSpPr>
        <p:spPr>
          <a:xfrm>
            <a:off x="357171" y="3716784"/>
            <a:ext cx="4388716" cy="71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аномалии </a:t>
            </a:r>
            <a:r>
              <a:rPr lang="ru-RU"/>
              <a:t>огибающей</a:t>
            </a:r>
            <a:r>
              <a:rPr lang="en-US"/>
              <a:t>.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D6A871-A342-9B79-7B1F-51EF094D6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25753"/>
            <a:ext cx="3779221" cy="2467263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149424A-E184-CC3C-9A7F-CED88C8687FA}"/>
              </a:ext>
            </a:extLst>
          </p:cNvPr>
          <p:cNvSpPr/>
          <p:nvPr/>
        </p:nvSpPr>
        <p:spPr>
          <a:xfrm>
            <a:off x="4617421" y="3747379"/>
            <a:ext cx="71035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 err="1"/>
              <a:t>сезонность</a:t>
            </a:r>
            <a:r>
              <a:rPr lang="ru-RU" sz="2800" dirty="0"/>
              <a:t> /паттерн</a:t>
            </a:r>
            <a:r>
              <a:rPr lang="en-US" sz="2800" dirty="0"/>
              <a:t> аномалия поведения.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D362EFC-A286-90BD-8CDC-96FB112D8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916" y="4225753"/>
            <a:ext cx="6416385" cy="244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4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3568" y="177409"/>
            <a:ext cx="10515600" cy="711645"/>
          </a:xfrm>
        </p:spPr>
        <p:txBody>
          <a:bodyPr/>
          <a:lstStyle/>
          <a:p>
            <a:pPr algn="ctr" rtl="0"/>
            <a:r>
              <a:rPr lang="en-US" b="1" dirty="0" err="1"/>
              <a:t>Обнаружение</a:t>
            </a:r>
            <a:r>
              <a:rPr lang="en-US" b="1" dirty="0"/>
              <a:t> </a:t>
            </a:r>
            <a:r>
              <a:rPr lang="ru-RU" b="1" dirty="0" smtClean="0"/>
              <a:t>точек новизны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0736" y="724542"/>
            <a:ext cx="11961264" cy="3584811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 smtClean="0"/>
              <a:t>Стоит различать </a:t>
            </a:r>
            <a:r>
              <a:rPr lang="ru-RU" sz="2400" b="1" dirty="0" smtClean="0"/>
              <a:t>точки перегиба\новизны </a:t>
            </a:r>
            <a:r>
              <a:rPr lang="ru-RU" sz="2400" dirty="0" smtClean="0"/>
              <a:t>и аномалии.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К этой задаче также относится и задача сегментации ВР и поиск пиков во ВР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 smtClean="0"/>
              <a:t>Отличие точек перегиба\новизны в продолжительности участка.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Мы не можем считать участок аномалией, </a:t>
            </a:r>
          </a:p>
          <a:p>
            <a:pPr marL="0" lv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b="1" dirty="0" smtClean="0"/>
              <a:t>Сегмент</a:t>
            </a:r>
            <a:r>
              <a:rPr lang="ru-RU" sz="2400" dirty="0" smtClean="0"/>
              <a:t> – Гомогенный участок ВР, сохраняющий поведение (тип или непрерывность тренда, паттерны сезонности </a:t>
            </a:r>
            <a:r>
              <a:rPr lang="ru-RU" sz="2400" dirty="0" err="1" smtClean="0"/>
              <a:t>итд</a:t>
            </a:r>
            <a:r>
              <a:rPr lang="ru-RU" sz="2400" dirty="0" smtClean="0"/>
              <a:t>).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smtClean="0"/>
              <a:t>Основные особенности тут – это зашумленность\</a:t>
            </a:r>
            <a:r>
              <a:rPr lang="ru-RU" sz="2400" dirty="0" err="1" smtClean="0"/>
              <a:t>нестационарность</a:t>
            </a:r>
            <a:r>
              <a:rPr lang="ru-RU" sz="2400" dirty="0" smtClean="0"/>
              <a:t> данных </a:t>
            </a:r>
          </a:p>
          <a:p>
            <a:pPr marL="0" lvl="0" indent="0">
              <a:lnSpc>
                <a:spcPct val="100000"/>
              </a:lnSpc>
              <a:spcBef>
                <a:spcPts val="200"/>
              </a:spcBef>
              <a:buNone/>
            </a:pP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7200" y="6550223"/>
            <a:ext cx="32773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/>
              <a:t>https://www.laurentoudre.fr/ast/AST5.pdf</a:t>
            </a:r>
            <a:endParaRPr lang="ru-RU" sz="1400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50" y="3433879"/>
            <a:ext cx="6800850" cy="342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1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60337"/>
            <a:ext cx="10515600" cy="711645"/>
          </a:xfrm>
        </p:spPr>
        <p:txBody>
          <a:bodyPr/>
          <a:lstStyle/>
          <a:p>
            <a:pPr algn="ctr" rtl="0"/>
            <a:r>
              <a:rPr lang="en-US" b="1" dirty="0" err="1"/>
              <a:t>Обнаружение</a:t>
            </a:r>
            <a:r>
              <a:rPr lang="en-US" b="1" dirty="0"/>
              <a:t> </a:t>
            </a:r>
            <a:r>
              <a:rPr lang="en-US" b="1" dirty="0" err="1" smtClean="0"/>
              <a:t>аномалий</a:t>
            </a:r>
            <a:r>
              <a:rPr lang="ru-RU" b="1" dirty="0" smtClean="0"/>
              <a:t>. Замечание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4321" y="823325"/>
            <a:ext cx="11263357" cy="2605676"/>
          </a:xfrm>
        </p:spPr>
        <p:txBody>
          <a:bodyPr>
            <a:normAutofit/>
          </a:bodyPr>
          <a:lstStyle/>
          <a:p>
            <a:r>
              <a:rPr lang="ru-RU" sz="2100" dirty="0"/>
              <a:t>То, что является аномалией в одном контексте может не быть аномалией в другом контексте</a:t>
            </a:r>
          </a:p>
          <a:p>
            <a:r>
              <a:rPr lang="ru-RU" sz="2100" dirty="0"/>
              <a:t>Аномалии отличаются от редких событий тем что они не регулярны, случайны по значению и месту появления.</a:t>
            </a:r>
          </a:p>
          <a:p>
            <a:pPr lvl="1"/>
            <a:r>
              <a:rPr lang="ru-RU" sz="2200" dirty="0"/>
              <a:t>Важно понимать что с точки зрения модели редкие события более ошибочны – формально их можно Обработать как аномалии (убрать, про интерполировать и </a:t>
            </a:r>
            <a:r>
              <a:rPr lang="ru-RU" sz="2200" dirty="0" err="1"/>
              <a:t>тд</a:t>
            </a:r>
            <a:r>
              <a:rPr lang="ru-RU" sz="2200" dirty="0"/>
              <a:t>).</a:t>
            </a:r>
          </a:p>
          <a:p>
            <a:r>
              <a:rPr lang="ru-RU" sz="2100" dirty="0"/>
              <a:t>Для аномалий есть понятие их коревых причин. Важно понять причину аномалии прежде чем ее устранить. </a:t>
            </a:r>
            <a:endParaRPr lang="en-US" sz="21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292" t="15476" r="2292" b="14881"/>
          <a:stretch/>
        </p:blipFill>
        <p:spPr>
          <a:xfrm>
            <a:off x="2757336" y="3171217"/>
            <a:ext cx="9072051" cy="34762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B9BDE8-E9A7-625F-EC77-BC15FB64712C}"/>
              </a:ext>
            </a:extLst>
          </p:cNvPr>
          <p:cNvSpPr txBox="1"/>
          <p:nvPr/>
        </p:nvSpPr>
        <p:spPr>
          <a:xfrm>
            <a:off x="4259223" y="3429001"/>
            <a:ext cx="6928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>
              <a:buNone/>
            </a:pPr>
            <a:r>
              <a:rPr lang="en-US" sz="1800" dirty="0" err="1"/>
              <a:t>Пример</a:t>
            </a:r>
            <a:r>
              <a:rPr lang="en-US" sz="1800" dirty="0"/>
              <a:t> </a:t>
            </a:r>
            <a:r>
              <a:rPr lang="en-US" sz="1800" dirty="0" err="1"/>
              <a:t>аномалии</a:t>
            </a:r>
            <a:r>
              <a:rPr lang="en-US" sz="1800" dirty="0"/>
              <a:t> </a:t>
            </a:r>
            <a:r>
              <a:rPr lang="en-US" sz="1800" dirty="0" err="1"/>
              <a:t>интерпретация</a:t>
            </a:r>
            <a:r>
              <a:rPr lang="en-US" sz="1800" dirty="0"/>
              <a:t> </a:t>
            </a:r>
            <a:r>
              <a:rPr lang="en-US" sz="1800" dirty="0" err="1"/>
              <a:t>в</a:t>
            </a:r>
            <a:r>
              <a:rPr lang="en-US" sz="1800" dirty="0"/>
              <a:t> </a:t>
            </a:r>
            <a:r>
              <a:rPr lang="en-US" sz="1800" dirty="0" err="1"/>
              <a:t>прогнозировании</a:t>
            </a:r>
            <a:r>
              <a:rPr lang="en-US" sz="1800" dirty="0"/>
              <a:t> </a:t>
            </a:r>
            <a:r>
              <a:rPr lang="en-US" sz="1800" dirty="0" err="1"/>
              <a:t>продаж</a:t>
            </a:r>
            <a:r>
              <a:rPr lang="en-US" sz="1800" dirty="0"/>
              <a:t>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948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7575" y="282083"/>
            <a:ext cx="10515600" cy="711645"/>
          </a:xfrm>
        </p:spPr>
        <p:txBody>
          <a:bodyPr/>
          <a:lstStyle/>
          <a:p>
            <a:pPr algn="ctr" rtl="0"/>
            <a:r>
              <a:rPr lang="ru-RU" b="1" dirty="0"/>
              <a:t>Обнаружение аномалий. </a:t>
            </a:r>
            <a:r>
              <a:rPr lang="en-US" b="1" dirty="0"/>
              <a:t>Методы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07975" y="922336"/>
            <a:ext cx="11410949" cy="5545139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/>
              <a:t>Методы обнаружения аномалий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2200" dirty="0"/>
              <a:t>Обнаружение аномалий может быть выполнено с </a:t>
            </a:r>
            <a:r>
              <a:rPr lang="en-US" sz="2200" dirty="0" err="1"/>
              <a:t>использованием</a:t>
            </a:r>
            <a:r>
              <a:rPr lang="en-US" sz="2200" dirty="0" smtClean="0"/>
              <a:t>:</a:t>
            </a:r>
            <a:endParaRPr lang="en-US" sz="22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/>
              <a:t>контролируемые методы обнаружения аномалий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- серия с двумя классами, обозначенными как нормальный и </a:t>
            </a:r>
            <a:r>
              <a:rPr lang="en-US" sz="2200" dirty="0" err="1"/>
              <a:t>аномальный</a:t>
            </a:r>
            <a:r>
              <a:rPr lang="en-US" sz="2200" dirty="0" smtClean="0"/>
              <a:t>,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 err="1" smtClean="0"/>
              <a:t>полу-контролируемые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методы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обнаружения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аномалий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- в </a:t>
            </a:r>
            <a:r>
              <a:rPr lang="en-US" sz="2200" dirty="0" err="1" smtClean="0"/>
              <a:t>серии</a:t>
            </a:r>
            <a:r>
              <a:rPr lang="en-US" sz="2200" dirty="0" smtClean="0"/>
              <a:t> </a:t>
            </a:r>
            <a:r>
              <a:rPr lang="en-US" sz="2200" dirty="0" err="1" smtClean="0"/>
              <a:t>есть</a:t>
            </a:r>
            <a:r>
              <a:rPr lang="en-US" sz="2200" dirty="0" smtClean="0"/>
              <a:t> </a:t>
            </a:r>
            <a:r>
              <a:rPr lang="en-US" sz="2200" dirty="0" err="1" smtClean="0"/>
              <a:t>один</a:t>
            </a:r>
            <a:r>
              <a:rPr lang="en-US" sz="2200" dirty="0" smtClean="0"/>
              <a:t> </a:t>
            </a:r>
            <a:r>
              <a:rPr lang="en-US" sz="2200" dirty="0" err="1" smtClean="0"/>
              <a:t>класс</a:t>
            </a:r>
            <a:r>
              <a:rPr lang="en-US" sz="2200" dirty="0" smtClean="0"/>
              <a:t>, </a:t>
            </a:r>
            <a:r>
              <a:rPr lang="en-US" sz="2200" dirty="0" err="1" smtClean="0"/>
              <a:t>помеченный</a:t>
            </a:r>
            <a:r>
              <a:rPr lang="en-US" sz="2200" dirty="0" smtClean="0"/>
              <a:t> </a:t>
            </a:r>
            <a:r>
              <a:rPr lang="en-US" sz="2200" dirty="0" err="1" smtClean="0"/>
              <a:t>как</a:t>
            </a:r>
            <a:r>
              <a:rPr lang="en-US" sz="2200" dirty="0" smtClean="0"/>
              <a:t> </a:t>
            </a:r>
            <a:r>
              <a:rPr lang="en-US" sz="2200" dirty="0" err="1" smtClean="0"/>
              <a:t>нормальный</a:t>
            </a:r>
            <a:r>
              <a:rPr lang="en-US" sz="2200" dirty="0" smtClean="0"/>
              <a:t>, и </a:t>
            </a:r>
            <a:r>
              <a:rPr lang="en-US" sz="2200" dirty="0" err="1" smtClean="0"/>
              <a:t>множество</a:t>
            </a:r>
            <a:r>
              <a:rPr lang="en-US" sz="2200" dirty="0" smtClean="0"/>
              <a:t> </a:t>
            </a:r>
            <a:r>
              <a:rPr lang="en-US" sz="2200" dirty="0" err="1" smtClean="0"/>
              <a:t>немаркированных</a:t>
            </a:r>
            <a:r>
              <a:rPr lang="en-US" sz="2200" dirty="0" smtClean="0"/>
              <a:t> </a:t>
            </a:r>
            <a:r>
              <a:rPr lang="en-US" sz="2200" dirty="0" err="1" smtClean="0"/>
              <a:t>данных</a:t>
            </a:r>
            <a:r>
              <a:rPr lang="en-US" sz="2200" dirty="0" smtClean="0"/>
              <a:t>,</a:t>
            </a:r>
            <a:r>
              <a:rPr lang="ru-RU" sz="2200" dirty="0" smtClean="0"/>
              <a:t> в которых есть второй класс . Яркий пример – это появление новизны в данных.</a:t>
            </a:r>
            <a:endParaRPr lang="en-US" sz="22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2200" b="1" dirty="0" err="1" smtClean="0"/>
              <a:t>неконтролируемые</a:t>
            </a:r>
            <a:r>
              <a:rPr lang="en-US" sz="2200" b="1" dirty="0" smtClean="0"/>
              <a:t> </a:t>
            </a:r>
            <a:r>
              <a:rPr lang="en-US" sz="2200" b="1" dirty="0"/>
              <a:t>методы обнаружения аномалий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- </a:t>
            </a:r>
            <a:r>
              <a:rPr lang="en-US" sz="2200" dirty="0" err="1"/>
              <a:t>ряд</a:t>
            </a:r>
            <a:r>
              <a:rPr lang="ru-RU" sz="2200" dirty="0"/>
              <a:t> не размечен</a:t>
            </a:r>
            <a:r>
              <a:rPr lang="en-US" sz="2200" dirty="0"/>
              <a:t>, </a:t>
            </a:r>
            <a:r>
              <a:rPr lang="en-US" sz="2200" dirty="0" err="1"/>
              <a:t>но</a:t>
            </a:r>
            <a:r>
              <a:rPr lang="en-US" sz="2200" dirty="0"/>
              <a:t> </a:t>
            </a:r>
            <a:r>
              <a:rPr lang="en-US" sz="2200" dirty="0" err="1"/>
              <a:t>есть</a:t>
            </a:r>
            <a:r>
              <a:rPr lang="en-US" sz="2200" dirty="0"/>
              <a:t> </a:t>
            </a:r>
            <a:r>
              <a:rPr lang="en-US" sz="2200" dirty="0" err="1"/>
              <a:t>правил</a:t>
            </a:r>
            <a:r>
              <a:rPr lang="ru-RU" sz="2200" dirty="0"/>
              <a:t>а</a:t>
            </a:r>
            <a:r>
              <a:rPr lang="en-US" sz="2200" dirty="0"/>
              <a:t> </a:t>
            </a:r>
            <a:r>
              <a:rPr lang="ru-RU" sz="2200" dirty="0"/>
              <a:t>отбора</a:t>
            </a:r>
            <a:r>
              <a:rPr lang="en-US" sz="2200" dirty="0"/>
              <a:t>, </a:t>
            </a:r>
            <a:r>
              <a:rPr lang="en-US" sz="2200" dirty="0" err="1"/>
              <a:t>котор</a:t>
            </a:r>
            <a:r>
              <a:rPr lang="ru-RU" sz="2200" dirty="0"/>
              <a:t>ому</a:t>
            </a:r>
            <a:r>
              <a:rPr lang="en-US" sz="2200" dirty="0"/>
              <a:t> должны </a:t>
            </a:r>
            <a:r>
              <a:rPr lang="en-US" sz="2200" dirty="0" err="1"/>
              <a:t>удовлетворять</a:t>
            </a:r>
            <a:r>
              <a:rPr lang="en-US" sz="2200" dirty="0"/>
              <a:t> </a:t>
            </a:r>
            <a:r>
              <a:rPr lang="en-US" sz="2200" dirty="0" err="1"/>
              <a:t>нормальные</a:t>
            </a:r>
            <a:r>
              <a:rPr lang="ru-RU" sz="2200" dirty="0"/>
              <a:t> </a:t>
            </a:r>
            <a:r>
              <a:rPr lang="en-US" sz="2200" dirty="0" err="1"/>
              <a:t>данные</a:t>
            </a:r>
            <a:r>
              <a:rPr lang="en-US" sz="2200" dirty="0"/>
              <a:t>.</a:t>
            </a:r>
            <a:r>
              <a:rPr lang="ru-RU" sz="2200" dirty="0"/>
              <a:t> Правила могут быть явными (интерпретируемые) или нет (на основе методов </a:t>
            </a:r>
            <a:r>
              <a:rPr lang="en-US" sz="2200" dirty="0"/>
              <a:t>ml)</a:t>
            </a:r>
          </a:p>
          <a:p>
            <a:pPr algn="l" rtl="0"/>
            <a:endParaRPr lang="en-US" sz="2200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409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7575" y="158305"/>
            <a:ext cx="10515600" cy="711645"/>
          </a:xfrm>
        </p:spPr>
        <p:txBody>
          <a:bodyPr>
            <a:normAutofit/>
          </a:bodyPr>
          <a:lstStyle/>
          <a:p>
            <a:pPr algn="ctr" rtl="0"/>
            <a:r>
              <a:rPr lang="en-US" b="1" dirty="0"/>
              <a:t>Обнаружение аномалий</a:t>
            </a:r>
            <a:r>
              <a:rPr lang="ru-RU" b="1" dirty="0"/>
              <a:t>. П</a:t>
            </a:r>
            <a:r>
              <a:rPr lang="en-US" b="1" dirty="0" err="1" smtClean="0"/>
              <a:t>одходы</a:t>
            </a:r>
            <a:endParaRPr lang="en-US" b="1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260350" y="769937"/>
            <a:ext cx="11064875" cy="606425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Можно выделить несколько подходов к обнаружению аномалий: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ru-RU" b="1" dirty="0"/>
              <a:t>Статистические + эвристические (экспертные, пороговые) правила </a:t>
            </a:r>
            <a:endParaRPr lang="en-US" b="1" dirty="0"/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ru-RU" b="1" dirty="0"/>
              <a:t>Обнаружение аномалий на основе ошибки прогноза </a:t>
            </a:r>
            <a:r>
              <a:rPr lang="ru-RU" dirty="0"/>
              <a:t> временного ряда (и ее отклонения). – то есть правила/статистика для ошибки предсказания ВР (часто строим модель ВР.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ru-RU" b="1" dirty="0"/>
              <a:t>Обнаружение аномалий на основе метрик (метрические, изоляционный лес и другие)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ru-RU" b="1" dirty="0"/>
              <a:t>Обнаружение аномалий на основе реконструкции формы (закономерностей, поведения)</a:t>
            </a:r>
            <a:r>
              <a:rPr lang="ru-RU" dirty="0"/>
              <a:t>  временного ряда. (например сжатие - восстановление). При этом можно анализировать ошибку восстановления или сжатое пространство. Но саму задачу предсказания мы не решаем (модели не строим</a:t>
            </a:r>
            <a:r>
              <a:rPr lang="ru-RU" dirty="0" smtClean="0"/>
              <a:t>)</a:t>
            </a:r>
            <a:endParaRPr lang="ru-RU" dirty="0"/>
          </a:p>
          <a:p>
            <a:pPr marL="800100" lvl="1" indent="-342900">
              <a:lnSpc>
                <a:spcPct val="100000"/>
              </a:lnSpc>
              <a:spcBef>
                <a:spcPts val="300"/>
              </a:spcBef>
            </a:pPr>
            <a:r>
              <a:rPr lang="ru-RU" i="1" dirty="0"/>
              <a:t>Отметим,</a:t>
            </a:r>
            <a:r>
              <a:rPr lang="ru-RU" dirty="0"/>
              <a:t>  что поиск аномалии можно проводить как для полного временного ряда, так и по результатам его </a:t>
            </a:r>
            <a:r>
              <a:rPr lang="ru-RU" b="1" dirty="0"/>
              <a:t>преобразования</a:t>
            </a:r>
            <a:r>
              <a:rPr lang="ru-RU" dirty="0"/>
              <a:t>.</a:t>
            </a:r>
          </a:p>
          <a:p>
            <a:pPr marL="1257300" lvl="2" indent="-342900"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Пример поиска аномалии в остатках декомпозиции.</a:t>
            </a:r>
          </a:p>
          <a:p>
            <a:pPr lvl="0"/>
            <a:endParaRPr lang="ru-RU" sz="2400" dirty="0"/>
          </a:p>
          <a:p>
            <a:pPr lvl="0"/>
            <a:endParaRPr lang="ru-RU" sz="2400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104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B5C3E-F0FE-DD72-F3E2-26C6FC33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22" y="194636"/>
            <a:ext cx="10917382" cy="611620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Метрики </a:t>
            </a:r>
            <a:r>
              <a:rPr lang="ru-RU" b="1" dirty="0" smtClean="0"/>
              <a:t>поиска аномалий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F588EB-03B8-8CDF-3EA0-6A7D24B57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763" y="806256"/>
            <a:ext cx="6469526" cy="5312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Метрики для поиска </a:t>
            </a:r>
            <a:endParaRPr lang="ru-RU" sz="2200" b="1" dirty="0" smtClean="0"/>
          </a:p>
          <a:p>
            <a:r>
              <a:rPr lang="ru-RU" sz="2200" dirty="0" smtClean="0"/>
              <a:t>ограниченных </a:t>
            </a:r>
            <a:r>
              <a:rPr lang="ru-RU" sz="2200" dirty="0"/>
              <a:t>аномалий </a:t>
            </a:r>
            <a:endParaRPr lang="ru-RU" sz="2200" dirty="0" smtClean="0"/>
          </a:p>
          <a:p>
            <a:r>
              <a:rPr lang="ru-RU" sz="2200" dirty="0" smtClean="0"/>
              <a:t>точек </a:t>
            </a:r>
            <a:r>
              <a:rPr lang="ru-RU" sz="2200" dirty="0"/>
              <a:t>новизны 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b="1" dirty="0" smtClean="0"/>
              <a:t>Проблемы </a:t>
            </a:r>
            <a:r>
              <a:rPr lang="ru-RU" sz="2200" b="1" dirty="0"/>
              <a:t>поиска аномалий могут </a:t>
            </a:r>
            <a:r>
              <a:rPr lang="ru-RU" sz="2200" b="1" dirty="0" smtClean="0"/>
              <a:t>быть</a:t>
            </a:r>
            <a:r>
              <a:rPr lang="ru-RU" sz="2200" dirty="0" smtClean="0"/>
              <a:t>:</a:t>
            </a:r>
            <a:endParaRPr lang="ru-RU" sz="2200" dirty="0" smtClean="0"/>
          </a:p>
          <a:p>
            <a:r>
              <a:rPr lang="ru-RU" sz="2200" dirty="0" err="1" smtClean="0"/>
              <a:t>Олнайн</a:t>
            </a:r>
            <a:r>
              <a:rPr lang="ru-RU" sz="2200" dirty="0" smtClean="0"/>
              <a:t> – процессе сбора данных</a:t>
            </a:r>
          </a:p>
          <a:p>
            <a:r>
              <a:rPr lang="ru-RU" sz="2200" dirty="0" smtClean="0"/>
              <a:t>Офлайн – по собранной выборке</a:t>
            </a:r>
            <a:endParaRPr lang="ru-RU" sz="2200" dirty="0"/>
          </a:p>
          <a:p>
            <a:pPr marL="0" indent="0">
              <a:buNone/>
            </a:pPr>
            <a:r>
              <a:rPr lang="ru-RU" sz="2200" b="1" dirty="0" smtClean="0"/>
              <a:t>Метрики аномалий:</a:t>
            </a:r>
          </a:p>
          <a:p>
            <a:r>
              <a:rPr lang="ru-RU" sz="2200" b="1" dirty="0" smtClean="0"/>
              <a:t>Точечные метрики </a:t>
            </a:r>
            <a:r>
              <a:rPr lang="ru-RU" sz="2200" dirty="0" smtClean="0"/>
              <a:t>(метрики классификации)</a:t>
            </a:r>
          </a:p>
          <a:p>
            <a:r>
              <a:rPr lang="ru-RU" sz="2200" b="1" dirty="0" smtClean="0"/>
              <a:t>Метрики времени обнаружения аномалий </a:t>
            </a:r>
            <a:r>
              <a:rPr lang="ru-RU" sz="2200" dirty="0" smtClean="0"/>
              <a:t>(метрики регрессии)</a:t>
            </a:r>
          </a:p>
          <a:p>
            <a:r>
              <a:rPr lang="ru-RU" sz="2200" b="1" dirty="0"/>
              <a:t>Попадание аномалии в окно поиска </a:t>
            </a:r>
            <a:r>
              <a:rPr lang="ru-RU" sz="2200" dirty="0"/>
              <a:t>(метрики </a:t>
            </a:r>
            <a:r>
              <a:rPr lang="ru-RU" sz="2200" dirty="0" smtClean="0"/>
              <a:t>ранжирования или кластеризации в заданный временной интервал, )</a:t>
            </a:r>
          </a:p>
          <a:p>
            <a:pPr marL="0" indent="0">
              <a:buNone/>
            </a:pPr>
            <a:endParaRPr lang="ru-RU" sz="2200" dirty="0" smtClea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3B4BD-ECDC-03D4-D586-6459C4A825DF}"/>
              </a:ext>
            </a:extLst>
          </p:cNvPr>
          <p:cNvSpPr txBox="1"/>
          <p:nvPr/>
        </p:nvSpPr>
        <p:spPr>
          <a:xfrm>
            <a:off x="287006" y="6492875"/>
            <a:ext cx="8306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readmedium.com</a:t>
            </a:r>
            <a:r>
              <a:rPr lang="ru-RU" sz="1200" dirty="0"/>
              <a:t>/a-review-of-anomaly-detection-metrics-with-a-lot-of-related-information-736d88774712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DF5292-E3FA-CF3F-B690-CFE47AA5BE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3" r="13513"/>
          <a:stretch>
            <a:fillRect/>
          </a:stretch>
        </p:blipFill>
        <p:spPr bwMode="auto">
          <a:xfrm>
            <a:off x="68094" y="1151221"/>
            <a:ext cx="5392503" cy="211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D2E0A12-C7CD-DCBC-D484-0A30E5D79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4" r="14162"/>
          <a:stretch>
            <a:fillRect/>
          </a:stretch>
        </p:blipFill>
        <p:spPr bwMode="auto">
          <a:xfrm>
            <a:off x="346674" y="3642036"/>
            <a:ext cx="4835341" cy="2631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96F588EB-03B8-8CDF-3EA0-6A7D24B57E41}"/>
              </a:ext>
            </a:extLst>
          </p:cNvPr>
          <p:cNvSpPr txBox="1">
            <a:spLocks/>
          </p:cNvSpPr>
          <p:nvPr/>
        </p:nvSpPr>
        <p:spPr>
          <a:xfrm>
            <a:off x="7542305" y="-27485"/>
            <a:ext cx="5972810" cy="300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92503" y="59110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Лучший алгоритм – компромисс скорости обнаружения при минимуме ложных срабатываний </a:t>
            </a:r>
            <a:r>
              <a:rPr lang="en-US" dirty="0" smtClean="0"/>
              <a:t>(</a:t>
            </a:r>
            <a:r>
              <a:rPr lang="en-US" dirty="0" err="1" smtClean="0"/>
              <a:t>FPmin</a:t>
            </a:r>
            <a:r>
              <a:rPr lang="en-US" dirty="0" smtClean="0"/>
              <a:t>, max precision)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319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 smtClean="0"/>
              <a:t>Обнаружение аномалий. </a:t>
            </a:r>
            <a:r>
              <a:rPr lang="ru-RU" altLang="ru-RU" b="1" dirty="0" smtClean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731625" cy="5630864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Метод глобального порога</a:t>
            </a:r>
            <a:r>
              <a:rPr lang="ru-RU" sz="2000" dirty="0"/>
              <a:t>  - самый простой метод, который подходит для </a:t>
            </a:r>
            <a:r>
              <a:rPr lang="ru-RU" sz="2000" dirty="0" err="1"/>
              <a:t>оброса</a:t>
            </a:r>
            <a:r>
              <a:rPr lang="ru-RU" sz="2000" dirty="0"/>
              <a:t> значений глобальных выбросов.</a:t>
            </a:r>
          </a:p>
          <a:p>
            <a:pPr lvl="0"/>
            <a:r>
              <a:rPr lang="ru-RU" sz="2000" dirty="0"/>
              <a:t>Поиск может быть выполнен путем вычисления статистических значений, таких как среднее или медианное скользящее среднее данных, и использования стандартного отклонения для получения диапазона статистических значений, который может определять верхнюю и нижнюю границы, и все, что выходит за пределы этих диапазонов, может быть рассмотрено как аномалии.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3162300"/>
            <a:ext cx="5539870" cy="36195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87700"/>
            <a:ext cx="573405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5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731625" cy="5630864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Метод локального порога для поиска </a:t>
            </a:r>
            <a:r>
              <a:rPr lang="en-US" sz="2400" b="1" dirty="0" err="1"/>
              <a:t>аномалий</a:t>
            </a:r>
            <a:r>
              <a:rPr lang="en-US" sz="2400" b="1" dirty="0"/>
              <a:t>.</a:t>
            </a:r>
            <a:endParaRPr lang="ru-RU" sz="2400" b="1" dirty="0"/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 err="1"/>
              <a:t>Анализируйте</a:t>
            </a:r>
            <a:r>
              <a:rPr lang="en-US" sz="2400" dirty="0"/>
              <a:t> аномалии по относительному порогу в некотором движущемся окне. Например, </a:t>
            </a:r>
            <a:r>
              <a:rPr lang="en-US" sz="2400" dirty="0" err="1"/>
              <a:t>относительно</a:t>
            </a:r>
            <a:r>
              <a:rPr lang="en-US" sz="2400" dirty="0"/>
              <a:t> </a:t>
            </a:r>
            <a:r>
              <a:rPr lang="en-US" sz="2400" dirty="0" err="1"/>
              <a:t>среднего</a:t>
            </a:r>
            <a:r>
              <a:rPr lang="ru-RU" sz="2400" dirty="0"/>
              <a:t>, дисперсии</a:t>
            </a:r>
            <a:r>
              <a:rPr lang="en-US" sz="2400" dirty="0"/>
              <a:t> и</a:t>
            </a:r>
            <a:r>
              <a:rPr lang="ru-RU" sz="2400" dirty="0"/>
              <a:t> т.д.</a:t>
            </a:r>
            <a:endParaRPr lang="ru-RU" altLang="ru-RU" sz="18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798191"/>
            <a:ext cx="4460434" cy="3098355"/>
          </a:xfrm>
          <a:prstGeom prst="rect">
            <a:avLst/>
          </a:prstGeom>
        </p:spPr>
      </p:pic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09" y="2984500"/>
            <a:ext cx="7385316" cy="242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0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r>
              <a:rPr lang="ru-RU" b="1" dirty="0"/>
              <a:t>Метод </a:t>
            </a:r>
            <a:r>
              <a:rPr lang="ru-RU" b="1" dirty="0" err="1" smtClean="0"/>
              <a:t>межквартильного</a:t>
            </a:r>
            <a:r>
              <a:rPr lang="ru-RU" b="1" dirty="0" smtClean="0"/>
              <a:t> размаха </a:t>
            </a:r>
            <a:r>
              <a:rPr lang="en-US" b="1" dirty="0" smtClean="0"/>
              <a:t>(IQR)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07975" y="1018894"/>
            <a:ext cx="11621954" cy="5100193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Во многих случаях в качестве основы для сравнения методов обнаружения аномалий может применяться </a:t>
            </a:r>
            <a:r>
              <a:rPr lang="ru-RU" sz="2000" b="1" dirty="0" err="1"/>
              <a:t>межквартильный</a:t>
            </a:r>
            <a:r>
              <a:rPr lang="ru-RU" sz="2000" b="1" dirty="0"/>
              <a:t> размах (IQR)</a:t>
            </a:r>
            <a:r>
              <a:rPr lang="ru-RU" sz="2000" dirty="0"/>
              <a:t>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Метод представляет собой представление распределения данных в виде 4-квантилей.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Выбросы можно рассматривать как все значения квантилей выше 75% или ниже 25%.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Как правило, IQR графически представлены в виде   </a:t>
            </a:r>
            <a:r>
              <a:rPr lang="ru-RU" sz="2000" b="1" dirty="0"/>
              <a:t>диаграммы типа ящик с </a:t>
            </a:r>
            <a:r>
              <a:rPr lang="ru-RU" sz="2000" b="1" dirty="0" smtClean="0"/>
              <a:t>усами</a:t>
            </a:r>
            <a:r>
              <a:rPr lang="en-US" sz="2000" b="1" dirty="0" smtClean="0"/>
              <a:t> (boxplot)</a:t>
            </a:r>
            <a:r>
              <a:rPr lang="ru-RU" sz="2000" dirty="0" smtClean="0"/>
              <a:t>.</a:t>
            </a:r>
            <a:endParaRPr lang="ru-RU" sz="2000" dirty="0"/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Если вы упорядочиваете данные от малого к большему, средняя точка называется медианной. 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Другими </a:t>
            </a:r>
            <a:r>
              <a:rPr lang="ru-RU" sz="2000" dirty="0"/>
              <a:t>словами, вы можете разделить данные на 3 квартиля - 1-й, 2-й и 3-й (у 2-го квартиля есть название - медиана). </a:t>
            </a:r>
            <a:endParaRPr lang="ru-RU" sz="2000" dirty="0" smtClean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 smtClean="0"/>
              <a:t>Таким </a:t>
            </a:r>
            <a:r>
              <a:rPr lang="ru-RU" sz="2000" dirty="0"/>
              <a:t>образом, </a:t>
            </a:r>
            <a:r>
              <a:rPr lang="ru-RU" sz="2000" dirty="0" err="1"/>
              <a:t>межквартильный</a:t>
            </a:r>
            <a:r>
              <a:rPr lang="ru-RU" sz="2000" dirty="0"/>
              <a:t> размах - это расстояние между 1-м и 3-м квартилями. 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Теория обнаружения аномалий с использованием IQR заключается в том, что если точка данных находится слишком далеко от 1-го и 3-го квартилей, это, вероятно, является выбросом</a:t>
            </a:r>
            <a:r>
              <a:rPr lang="ru-RU" sz="2000" dirty="0" smtClean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Усы обычно увеличиваются на расстояние 1,5 * IQR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/>
          <a:srcRect l="5788" t="13854" r="5151" b="22958"/>
          <a:stretch/>
        </p:blipFill>
        <p:spPr>
          <a:xfrm>
            <a:off x="5667375" y="4588951"/>
            <a:ext cx="5444739" cy="1931492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175" y="4876998"/>
            <a:ext cx="2409794" cy="171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731625" cy="5630864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Пример выбора порога на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оценки</a:t>
            </a:r>
            <a:r>
              <a:rPr lang="ru-RU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.</a:t>
            </a:r>
            <a:endParaRPr lang="ru-RU" altLang="ru-RU" sz="20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5" y="4317942"/>
            <a:ext cx="9894888" cy="20145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83387" y="3818952"/>
            <a:ext cx="15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/>
              <a:t>Порог STD</a:t>
            </a:r>
            <a:endParaRPr lang="ru-RU" dirty="0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63" y="1682305"/>
            <a:ext cx="3867023" cy="250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4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lvl="0"/>
            <a:r>
              <a:rPr 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/>
              <p:cNvSpPr>
                <a:spLocks noGrp="1"/>
              </p:cNvSpPr>
              <p:nvPr>
                <p:ph idx="1"/>
              </p:nvPr>
            </p:nvSpPr>
            <p:spPr>
              <a:xfrm>
                <a:off x="460375" y="1074736"/>
                <a:ext cx="11731625" cy="5630864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ru-RU" sz="2000" dirty="0"/>
                  <a:t>Большинство методов  </a:t>
                </a:r>
                <a:r>
                  <a:rPr lang="ru-RU" sz="2000" b="1" dirty="0"/>
                  <a:t>неконтролируемого</a:t>
                </a:r>
                <a:r>
                  <a:rPr lang="ru-RU" sz="2000" dirty="0"/>
                  <a:t>  обнаружения аномалий пытаются определить аномалии путем анализа распределения всех значений ошибок и использования порогового значения </a:t>
                </a:r>
                <a:r>
                  <a:rPr lang="ru-RU" sz="2000" dirty="0" err="1"/>
                  <a:t>процентиля</a:t>
                </a:r>
                <a:r>
                  <a:rPr lang="ru-RU" sz="2000" dirty="0"/>
                  <a:t>.</a:t>
                </a:r>
              </a:p>
              <a:p>
                <a:pPr lvl="0"/>
                <a:r>
                  <a:rPr lang="ru-RU" sz="2000" dirty="0"/>
                  <a:t>Один из распространенных подходов - установить порог = 3⋅𝑠𝑡𝑑, где 𝑠𝑡𝑑 - стандартное отклонение рассматриваемого распределения. Данные могут быть предварительно нормализованы для оценки их значений (и выбросов) в относительных единицах.</a:t>
                </a: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altLang="ru-RU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ru-RU" altLang="ru-RU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𝐸𝑉</m:t>
                          </m:r>
                          <m:d>
                            <m:dPr>
                              <m:ctrlP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ru-RU" altLang="ru-RU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𝑠𝑡𝑑</m:t>
                          </m:r>
                          <m:d>
                            <m:dPr>
                              <m:ctrlP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ru-RU" altLang="ru-RU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ru-RU" sz="2000" dirty="0">
                  <a:solidFill>
                    <a:srgbClr val="000000"/>
                  </a:solidFill>
                </a:endParaRPr>
              </a:p>
              <a:p>
                <a:pPr lvl="0"/>
                <a:r>
                  <a:rPr lang="ru-RU" sz="2000" dirty="0"/>
                  <a:t>все значения z выше 2,5 или ниже -2,5 следует рассматривать как выбросы с достоверностью 99%.</a:t>
                </a:r>
              </a:p>
              <a:p>
                <a:pPr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000" dirty="0">
                    <a:solidFill>
                      <a:srgbClr val="000000"/>
                    </a:solidFill>
                  </a:rPr>
                  <a:t>Иллюстрация из в </a:t>
                </a:r>
                <a:r>
                  <a:rPr lang="ru-RU" altLang="ru-RU" sz="2000" b="1" dirty="0" err="1">
                    <a:solidFill>
                      <a:srgbClr val="000000"/>
                    </a:solidFill>
                  </a:rPr>
                  <a:t>процентиль</a:t>
                </a:r>
                <a:r>
                  <a:rPr lang="ru-RU" altLang="ru-RU" sz="2000" b="1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ru-RU" sz="2000" dirty="0">
                    <a:solidFill>
                      <a:srgbClr val="000000"/>
                    </a:solidFill>
                  </a:rPr>
                  <a:t>в качестве пример </a:t>
                </a:r>
                <a:endParaRPr lang="en-US" altLang="ru-RU" sz="2000" dirty="0">
                  <a:solidFill>
                    <a:srgbClr val="000000"/>
                  </a:solidFill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000" b="1" dirty="0">
                    <a:solidFill>
                      <a:srgbClr val="000000"/>
                    </a:solidFill>
                  </a:rPr>
                  <a:t>правило 68-95-99,7 </a:t>
                </a:r>
                <a:r>
                  <a:rPr lang="ru-RU" altLang="ru-RU" sz="2000" dirty="0">
                    <a:solidFill>
                      <a:srgbClr val="000000"/>
                    </a:solidFill>
                  </a:rPr>
                  <a:t>или </a:t>
                </a:r>
                <a:r>
                  <a:rPr lang="ru-RU" altLang="ru-RU" sz="2000" b="1" dirty="0">
                    <a:solidFill>
                      <a:srgbClr val="000000"/>
                    </a:solidFill>
                  </a:rPr>
                  <a:t>правило </a:t>
                </a:r>
                <a:r>
                  <a:rPr lang="en-US" altLang="ru-RU" sz="2000" b="1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ru-RU" sz="2000" b="1" dirty="0">
                    <a:solidFill>
                      <a:srgbClr val="000000"/>
                    </a:solidFill>
                  </a:rPr>
                  <a:t>три сигма</a:t>
                </a:r>
                <a:endParaRPr lang="en-US" altLang="ru-RU" sz="2000" b="1" dirty="0">
                  <a:solidFill>
                    <a:srgbClr val="000000"/>
                  </a:solidFill>
                </a:endParaRP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1800" dirty="0">
                    <a:solidFill>
                      <a:srgbClr val="000000"/>
                    </a:solidFill>
                  </a:rPr>
                  <a:t>68% значение в </a:t>
                </a:r>
                <a:r>
                  <a:rPr lang="ru-RU" altLang="ru-RU" sz="1800" dirty="0" err="1">
                    <a:solidFill>
                      <a:srgbClr val="000000"/>
                    </a:solidFill>
                  </a:rPr>
                  <a:t>дипазоне</a:t>
                </a:r>
                <a:r>
                  <a:rPr lang="ru-RU" altLang="ru-RU" sz="1800" dirty="0">
                    <a:solidFill>
                      <a:srgbClr val="000000"/>
                    </a:solidFill>
                  </a:rPr>
                  <a:t> [𝑚𝑒𝑎𝑛 − 𝑠𝑡𝑑, 𝑚𝑒𝑎𝑛 +𝑠𝑡𝑑</a:t>
                </a:r>
                <a:r>
                  <a:rPr lang="en-US" altLang="ru-RU" sz="1800" dirty="0">
                    <a:solidFill>
                      <a:srgbClr val="000000"/>
                    </a:solidFill>
                  </a:rPr>
                  <a:t>]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1800" dirty="0">
                    <a:solidFill>
                      <a:srgbClr val="000000"/>
                    </a:solidFill>
                  </a:rPr>
                  <a:t>95% значение в </a:t>
                </a:r>
                <a:r>
                  <a:rPr lang="ru-RU" altLang="ru-RU" sz="1800" dirty="0" err="1">
                    <a:solidFill>
                      <a:srgbClr val="000000"/>
                    </a:solidFill>
                  </a:rPr>
                  <a:t>дипазоне</a:t>
                </a:r>
                <a:r>
                  <a:rPr lang="ru-RU" altLang="ru-RU" sz="1800" dirty="0">
                    <a:solidFill>
                      <a:srgbClr val="000000"/>
                    </a:solidFill>
                  </a:rPr>
                  <a:t> [𝑚𝑒𝑎𝑛 − 2⋅𝑠𝑡𝑑, 𝑚𝑒𝑎𝑛 + ⋅𝑠𝑡𝑑</a:t>
                </a:r>
                <a:r>
                  <a:rPr lang="en-US" altLang="ru-RU" sz="1800" dirty="0">
                    <a:solidFill>
                      <a:srgbClr val="000000"/>
                    </a:solidFill>
                  </a:rPr>
                  <a:t>]</a:t>
                </a:r>
                <a:endParaRPr lang="ru-RU" altLang="ru-RU" sz="1800" dirty="0">
                  <a:solidFill>
                    <a:srgbClr val="000000"/>
                  </a:solidFill>
                </a:endParaRP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1800" dirty="0">
                    <a:solidFill>
                      <a:srgbClr val="000000"/>
                    </a:solidFill>
                  </a:rPr>
                  <a:t>99,7% значение в </a:t>
                </a:r>
                <a:r>
                  <a:rPr lang="ru-RU" altLang="ru-RU" sz="1800" dirty="0" err="1">
                    <a:solidFill>
                      <a:srgbClr val="000000"/>
                    </a:solidFill>
                  </a:rPr>
                  <a:t>дипазоне</a:t>
                </a:r>
                <a:r>
                  <a:rPr lang="ru-RU" altLang="ru-RU" sz="1800" dirty="0">
                    <a:solidFill>
                      <a:srgbClr val="000000"/>
                    </a:solidFill>
                  </a:rPr>
                  <a:t> [𝑚𝑒𝑎𝑛 − 3⋅𝑠𝑡𝑑, 𝑚𝑒𝑎𝑛 + 3⋅𝑠𝑡𝑑].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8" name="Объект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375" y="1074736"/>
                <a:ext cx="11731625" cy="5630864"/>
              </a:xfrm>
              <a:blipFill>
                <a:blip r:embed="rId2"/>
                <a:stretch>
                  <a:fillRect l="-468" t="-1082" r="-1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9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893" y="3940175"/>
            <a:ext cx="4418721" cy="291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l" rtl="0"/>
            <a:r>
              <a:rPr lang="en-US" sz="3600" b="1" dirty="0" err="1"/>
              <a:t>Полу-контролируемые</a:t>
            </a:r>
            <a:r>
              <a:rPr lang="en-US" sz="3600" b="1" dirty="0"/>
              <a:t> методы. Z-оценка</a:t>
            </a:r>
            <a:endParaRPr lang="ru-RU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5600" y="1143000"/>
                <a:ext cx="10998200" cy="5033963"/>
              </a:xfrm>
            </p:spPr>
            <p:txBody>
              <a:bodyPr>
                <a:normAutofit lnSpcReduction="10000"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en-US" sz="2000" dirty="0"/>
                  <a:t> </a:t>
                </a:r>
                <a:r>
                  <a:rPr lang="en-US" sz="2000" dirty="0" err="1"/>
                  <a:t>Если</a:t>
                </a:r>
                <a:r>
                  <a:rPr lang="en-US" sz="2000" dirty="0"/>
                  <a:t> известны </a:t>
                </a:r>
                <a:r>
                  <a:rPr lang="en-US" sz="2000" dirty="0" err="1"/>
                  <a:t>нормальные</a:t>
                </a:r>
                <a:r>
                  <a:rPr lang="en-US" sz="2000" dirty="0"/>
                  <a:t> </a:t>
                </a:r>
                <a:r>
                  <a:rPr lang="ru-RU" sz="2000" dirty="0"/>
                  <a:t>данные</a:t>
                </a:r>
                <a:r>
                  <a:rPr lang="en-US" sz="2000" dirty="0"/>
                  <a:t>, метод глобального порога может быть уточнен, например, входные данные могут быть преобразованы в так называемую z-оценку.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𝐸𝑉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𝑠𝑡𝑑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- среднее значение и стандартное отклонение для нормальных данных. Все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значения выше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sz="2000" dirty="0"/>
                  <a:t> или ниже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−2.5</m:t>
                    </m:r>
                  </m:oMath>
                </a14:m>
                <a:r>
                  <a:rPr lang="en-US" sz="2000" dirty="0"/>
                  <a:t> следует рассматривать как выбросы с уверенностью 99%. </a:t>
                </a:r>
                <a:br>
                  <a:rPr lang="en-US" sz="2000" dirty="0"/>
                </a:br>
                <a:r>
                  <a:rPr lang="en-US" sz="2000" dirty="0"/>
                  <a:t>Оценка глобального порога z-показателя может быть сделана </a:t>
                </a:r>
                <a:r>
                  <a:rPr lang="en-US" sz="2000" dirty="0" err="1"/>
                  <a:t>для</a:t>
                </a:r>
                <a:r>
                  <a:rPr lang="en-US" sz="2000" dirty="0"/>
                  <a:t> </a:t>
                </a:r>
                <a:r>
                  <a:rPr lang="en-US" sz="2000" dirty="0" err="1"/>
                  <a:t>скользящ</a:t>
                </a:r>
                <a:r>
                  <a:rPr lang="ru-RU" sz="2000" dirty="0"/>
                  <a:t>его</a:t>
                </a:r>
                <a:r>
                  <a:rPr lang="en-US" sz="2000" dirty="0"/>
                  <a:t> оконных данных. Если данные не являются нормальными или имеют небольшой размер, модифицированная (более надежная) z-оценка может быть принята как</a:t>
                </a:r>
                <a:endParaRPr lang="ru-RU" sz="2000" dirty="0"/>
              </a:p>
              <a:p>
                <a:pPr marL="0" indent="0" algn="l" rtl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𝑚𝑜𝑑𝑖𝑓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=0.6745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𝑚𝑒𝑑𝑖𝑎𝑛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𝑀𝐴𝐷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𝑚𝑒𝑑𝑖𝑎𝑛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а также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𝑀𝐴𝐷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- среднее значение и среднее абсолютное отклонение для нормальных данных. </a:t>
                </a:r>
                <a:endParaRPr lang="ru-RU" sz="2000" dirty="0"/>
              </a:p>
              <a:p>
                <a:pPr algn="l" rtl="0">
                  <a:lnSpc>
                    <a:spcPct val="100000"/>
                  </a:lnSpc>
                </a:pPr>
                <a:r>
                  <a:rPr lang="en-US" sz="2000" dirty="0"/>
                  <a:t> </a:t>
                </a:r>
                <a:endParaRPr lang="ru-RU" sz="20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143000"/>
                <a:ext cx="10998200" cy="5033963"/>
              </a:xfrm>
              <a:blipFill>
                <a:blip r:embed="rId2"/>
                <a:stretch>
                  <a:fillRect l="-499" t="-1333" r="-2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73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/>
            <a:r>
              <a:rPr lang="ru-RU" b="1" dirty="0"/>
              <a:t>Неконтролируемый поиск на основе модели</a:t>
            </a:r>
            <a:endParaRPr lang="ru-RU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lvl="0"/>
            <a:r>
              <a:rPr lang="ru-RU" sz="2200" u="sng" dirty="0"/>
              <a:t>Метод основан на создании прогнозной модели и установке порога ошибки прогнозирования (например, MAPE для локальных аномалий).</a:t>
            </a:r>
            <a:endParaRPr lang="ru-RU" sz="2200" dirty="0"/>
          </a:p>
          <a:p>
            <a:pPr lvl="1"/>
            <a:r>
              <a:rPr lang="ru-RU" sz="2200" dirty="0"/>
              <a:t>Порог ошибки здесь можно интерпретировать как уровень уверенности для подтверждения гипотезы о выбросах.</a:t>
            </a:r>
          </a:p>
          <a:p>
            <a:pPr lvl="1"/>
            <a:r>
              <a:rPr lang="ru-RU" sz="2200" dirty="0"/>
              <a:t>Такой подход подходит как для локальных, так и для глобальных аномалий.</a:t>
            </a:r>
          </a:p>
          <a:p>
            <a:pPr lvl="1"/>
            <a:r>
              <a:rPr lang="ru-RU" sz="2200" dirty="0"/>
              <a:t>Для построения модели также могут быть эффективно использованы популярные алгоритмы моделирования временных рядов, такие как скользящее среднее, SARIMA, или любой алгоритм на основе регрессии или машинного обучения и глубокого обучения, например LSTM.</a:t>
            </a:r>
          </a:p>
          <a:p>
            <a:pPr lvl="1"/>
            <a:r>
              <a:rPr lang="ru-RU" sz="2200" dirty="0"/>
              <a:t> </a:t>
            </a:r>
            <a:r>
              <a:rPr lang="ru-RU" sz="2200" i="1" dirty="0"/>
              <a:t>Примечание</a:t>
            </a:r>
            <a:endParaRPr lang="ru-RU" sz="2200" dirty="0"/>
          </a:p>
          <a:p>
            <a:pPr lvl="2"/>
            <a:r>
              <a:rPr lang="ru-RU" sz="2200" dirty="0"/>
              <a:t>Если оценка параметров модели проводится только для «нормальных» данных (без аномалий), а </a:t>
            </a:r>
            <a:r>
              <a:rPr lang="ru-RU" sz="2200" dirty="0" err="1"/>
              <a:t>валидация</a:t>
            </a:r>
            <a:r>
              <a:rPr lang="ru-RU" sz="2200" dirty="0"/>
              <a:t> на данных с аномалиями, то задача может считаться частично контролируемым обучением.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 fontScale="90000"/>
          </a:bodyPr>
          <a:lstStyle/>
          <a:p>
            <a:pPr lvl="0" algn="l" rtl="0"/>
            <a:r>
              <a:rPr lang="ru-RU" b="1" dirty="0"/>
              <a:t>Обнаружение аномалий. </a:t>
            </a:r>
            <a:r>
              <a:rPr lang="ru-RU" altLang="ru-RU" b="1" dirty="0">
                <a:solidFill>
                  <a:srgbClr val="000000"/>
                </a:solidFill>
              </a:rPr>
              <a:t>Методы без учителя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Пример поиска выбросов путем прогнозирования на основе модели.</a:t>
            </a:r>
            <a:endParaRPr lang="ru-RU" altLang="ru-RU" sz="20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75" y="1682305"/>
            <a:ext cx="7826375" cy="483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9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2775" y="365125"/>
            <a:ext cx="10741025" cy="711645"/>
          </a:xfrm>
        </p:spPr>
        <p:txBody>
          <a:bodyPr>
            <a:normAutofit/>
          </a:bodyPr>
          <a:lstStyle/>
          <a:p>
            <a:pPr lvl="0" algn="l" rtl="0"/>
            <a:r>
              <a:rPr lang="ru-RU" sz="3600" b="1" dirty="0"/>
              <a:t>Обнаружение аномалий н</a:t>
            </a:r>
            <a:r>
              <a:rPr lang="en-US" sz="3600" b="1" dirty="0"/>
              <a:t>а </a:t>
            </a:r>
            <a:r>
              <a:rPr lang="en-US" sz="3600" b="1" dirty="0" err="1"/>
              <a:t>основе</a:t>
            </a:r>
            <a:r>
              <a:rPr lang="en-US" sz="3600" b="1" dirty="0"/>
              <a:t> </a:t>
            </a:r>
            <a:r>
              <a:rPr lang="en-US" sz="3600" b="1" dirty="0" err="1"/>
              <a:t>кластеризации</a:t>
            </a:r>
            <a:endParaRPr lang="en-US" sz="3600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algn="l" rtl="0"/>
            <a:r>
              <a:rPr lang="en-US" sz="2000" b="1" dirty="0"/>
              <a:t>Поиск аномалий на основе кластеризации</a:t>
            </a:r>
            <a:endParaRPr lang="en-US" sz="2000" dirty="0"/>
          </a:p>
          <a:p>
            <a:pPr algn="l" rtl="0"/>
            <a:r>
              <a:rPr lang="en-US" sz="2000" u="sng" dirty="0"/>
              <a:t>Метод основан на предположении, что аномалии будут </a:t>
            </a:r>
            <a:r>
              <a:rPr lang="en-US" sz="2000" u="sng" dirty="0" err="1"/>
              <a:t>разбиты</a:t>
            </a:r>
            <a:r>
              <a:rPr lang="en-US" sz="2000" u="sng" dirty="0"/>
              <a:t> </a:t>
            </a:r>
            <a:r>
              <a:rPr lang="ru-RU" sz="2000" u="sng" dirty="0"/>
              <a:t>в</a:t>
            </a:r>
            <a:r>
              <a:rPr lang="en-US" sz="2000" u="sng" dirty="0"/>
              <a:t> отдельные кластеры с относительно небольшим количеством элементов.</a:t>
            </a:r>
            <a:endParaRPr lang="en-US" sz="2000" dirty="0"/>
          </a:p>
          <a:p>
            <a:pPr lvl="1" algn="l" rtl="0"/>
            <a:r>
              <a:rPr lang="en-US" sz="2000" dirty="0"/>
              <a:t>Одна из </a:t>
            </a:r>
            <a:r>
              <a:rPr lang="en-US" sz="2000" dirty="0" err="1"/>
              <a:t>распространенных</a:t>
            </a:r>
            <a:r>
              <a:rPr lang="en-US" sz="2000" dirty="0"/>
              <a:t> </a:t>
            </a:r>
            <a:r>
              <a:rPr lang="ru-RU" sz="2000" dirty="0"/>
              <a:t>проблем</a:t>
            </a:r>
            <a:r>
              <a:rPr lang="en-US" sz="2000" dirty="0"/>
              <a:t> или узких мест для алгоритмов кластеризации для обнаружения аномалий - </a:t>
            </a:r>
            <a:r>
              <a:rPr lang="en-US" sz="2000" dirty="0" err="1"/>
              <a:t>это</a:t>
            </a:r>
            <a:r>
              <a:rPr lang="en-US" sz="2000" dirty="0"/>
              <a:t> </a:t>
            </a:r>
            <a:r>
              <a:rPr lang="ru-RU" sz="2000" dirty="0"/>
              <a:t>задание</a:t>
            </a:r>
            <a:r>
              <a:rPr lang="en-US" sz="2000" dirty="0"/>
              <a:t> количества кластеров, которое требуется большинству алгоритмов кластеризации в качестве входных данных.</a:t>
            </a:r>
            <a:br>
              <a:rPr lang="en-US" sz="2000" dirty="0"/>
            </a:br>
            <a:endParaRPr lang="en-US" sz="2000" dirty="0"/>
          </a:p>
          <a:p>
            <a:pPr lvl="1" algn="l" rtl="0"/>
            <a:r>
              <a:rPr lang="ru-RU" sz="2000" u="sng" dirty="0"/>
              <a:t>От этой проблемы свободны такие м</a:t>
            </a:r>
            <a:r>
              <a:rPr lang="en-US" sz="2000" u="sng" dirty="0" err="1"/>
              <a:t>етод</a:t>
            </a:r>
            <a:r>
              <a:rPr lang="ru-RU" sz="2000" u="sng" dirty="0"/>
              <a:t>ы</a:t>
            </a:r>
            <a:r>
              <a:rPr lang="en-US" sz="2000" u="sng" dirty="0"/>
              <a:t> </a:t>
            </a:r>
            <a:r>
              <a:rPr lang="en-US" sz="2000" u="sng" dirty="0" err="1"/>
              <a:t>кластеризации</a:t>
            </a:r>
            <a:r>
              <a:rPr lang="en-US" sz="2000" u="sng" dirty="0"/>
              <a:t> </a:t>
            </a:r>
            <a:r>
              <a:rPr lang="en-US" sz="2000" u="sng" dirty="0" err="1"/>
              <a:t>как</a:t>
            </a:r>
            <a:r>
              <a:rPr lang="en-US" sz="2000" u="sng" dirty="0"/>
              <a:t> </a:t>
            </a:r>
            <a:r>
              <a:rPr lang="en-US" sz="2000" b="1" u="sng" dirty="0"/>
              <a:t>DBSCAN</a:t>
            </a:r>
            <a:r>
              <a:rPr lang="en-US" sz="2000" u="sng" dirty="0"/>
              <a:t> </a:t>
            </a:r>
            <a:endParaRPr lang="ru-RU" sz="2000" u="sng" dirty="0"/>
          </a:p>
          <a:p>
            <a:pPr lvl="1" algn="l" rtl="0"/>
            <a:r>
              <a:rPr lang="en-US" sz="2000" dirty="0" err="1"/>
              <a:t>Главный</a:t>
            </a:r>
            <a:r>
              <a:rPr lang="en-US" sz="2000" dirty="0"/>
              <a:t> недостаток такой кластеризации: если точки данных аномалии повторяются много раз в разреженном интервале, они могут не отображаться </a:t>
            </a:r>
            <a:r>
              <a:rPr lang="en-US" sz="2000" dirty="0" err="1"/>
              <a:t>как</a:t>
            </a:r>
            <a:r>
              <a:rPr lang="en-US" sz="2000" dirty="0"/>
              <a:t> </a:t>
            </a:r>
            <a:r>
              <a:rPr lang="en-US" sz="2000" dirty="0" err="1"/>
              <a:t>аномалия</a:t>
            </a:r>
            <a:r>
              <a:rPr lang="en-US" sz="2000" dirty="0"/>
              <a:t>.</a:t>
            </a:r>
            <a:endParaRPr lang="ru-RU" sz="2000" dirty="0"/>
          </a:p>
          <a:p>
            <a:pPr lvl="2"/>
            <a:r>
              <a:rPr lang="ru-RU" dirty="0"/>
              <a:t>В</a:t>
            </a:r>
            <a:r>
              <a:rPr lang="en-US" dirty="0"/>
              <a:t>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ru-RU" dirty="0"/>
              <a:t> следует </a:t>
            </a:r>
            <a:r>
              <a:rPr lang="en-US" dirty="0"/>
              <a:t> </a:t>
            </a:r>
            <a:r>
              <a:rPr lang="en-US" dirty="0" err="1"/>
              <a:t>пере</a:t>
            </a:r>
            <a:r>
              <a:rPr lang="ru-RU" dirty="0" err="1"/>
              <a:t>йти</a:t>
            </a:r>
            <a:r>
              <a:rPr lang="en-US" dirty="0"/>
              <a:t> к кластеризации на основе скользящего окна.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975" y="4598248"/>
            <a:ext cx="7637462" cy="19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01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7575" y="374359"/>
            <a:ext cx="10515600" cy="711645"/>
          </a:xfrm>
        </p:spPr>
        <p:txBody>
          <a:bodyPr>
            <a:normAutofit/>
          </a:bodyPr>
          <a:lstStyle/>
          <a:p>
            <a:pPr lvl="0"/>
            <a:r>
              <a:rPr lang="ru-RU" sz="3600" b="1" dirty="0"/>
              <a:t>Обнаружение аномалий н</a:t>
            </a:r>
            <a:r>
              <a:rPr lang="en-US" sz="3600" b="1" dirty="0"/>
              <a:t>а </a:t>
            </a:r>
            <a:r>
              <a:rPr lang="en-US" sz="3600" b="1" dirty="0" err="1"/>
              <a:t>основе</a:t>
            </a:r>
            <a:r>
              <a:rPr lang="en-US" sz="3600" b="1" dirty="0"/>
              <a:t> </a:t>
            </a:r>
            <a:r>
              <a:rPr lang="en-US" sz="3600" b="1" dirty="0" err="1"/>
              <a:t>кластеризации</a:t>
            </a:r>
            <a:endParaRPr lang="en-US" sz="3600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60375" y="1074736"/>
            <a:ext cx="11007725" cy="5630864"/>
          </a:xfrm>
        </p:spPr>
        <p:txBody>
          <a:bodyPr>
            <a:noAutofit/>
          </a:bodyPr>
          <a:lstStyle/>
          <a:p>
            <a:pPr algn="l" rtl="0"/>
            <a:r>
              <a:rPr lang="en-US" sz="2000" dirty="0" err="1"/>
              <a:t>Специфичность</a:t>
            </a:r>
            <a:r>
              <a:rPr lang="en-US" sz="2000" dirty="0"/>
              <a:t> </a:t>
            </a:r>
            <a:r>
              <a:rPr lang="en-US" sz="2000" b="1" dirty="0"/>
              <a:t>DBSCAN в обнаружении аномалий</a:t>
            </a:r>
            <a:r>
              <a:rPr lang="en-US" sz="2000" dirty="0"/>
              <a:t>:</a:t>
            </a:r>
          </a:p>
          <a:p>
            <a:pPr algn="l" rtl="0"/>
            <a:r>
              <a:rPr lang="en-US" sz="2000" dirty="0"/>
              <a:t>Любая точка, имеющая хотя бы минимальное количество точек выборки на заданном расстоянии от нее, образует </a:t>
            </a:r>
            <a:r>
              <a:rPr lang="en-US" sz="2000" dirty="0" err="1"/>
              <a:t>кластер</a:t>
            </a:r>
            <a:r>
              <a:rPr lang="en-US" sz="2000" dirty="0"/>
              <a:t>.</a:t>
            </a:r>
          </a:p>
          <a:p>
            <a:pPr algn="l" rtl="0"/>
            <a:r>
              <a:rPr lang="en-US" sz="2000" dirty="0"/>
              <a:t>Любая точка в пределах максимального кластерного расстояния от центральной точки, </a:t>
            </a:r>
            <a:r>
              <a:rPr lang="ru-RU" sz="2000" dirty="0" err="1"/>
              <a:t>есмли</a:t>
            </a:r>
            <a:r>
              <a:rPr lang="en-US" sz="2000" dirty="0"/>
              <a:t> не </a:t>
            </a:r>
            <a:r>
              <a:rPr lang="en-US" sz="2000" dirty="0" err="1"/>
              <a:t>имеет</a:t>
            </a:r>
            <a:r>
              <a:rPr lang="en-US" sz="2000" dirty="0"/>
              <a:t> </a:t>
            </a:r>
            <a:r>
              <a:rPr lang="en-US" sz="2000" dirty="0" err="1"/>
              <a:t>минимальн</a:t>
            </a:r>
            <a:r>
              <a:rPr lang="ru-RU" sz="2000" dirty="0"/>
              <a:t>ого числа</a:t>
            </a:r>
            <a:r>
              <a:rPr lang="en-US" sz="2000" dirty="0"/>
              <a:t> </a:t>
            </a:r>
            <a:r>
              <a:rPr lang="en-US" sz="2000" dirty="0" err="1"/>
              <a:t>точек</a:t>
            </a:r>
            <a:r>
              <a:rPr lang="en-US" sz="2000" dirty="0"/>
              <a:t> </a:t>
            </a:r>
            <a:r>
              <a:rPr lang="ru-RU" sz="2000" dirty="0"/>
              <a:t>вокруг</a:t>
            </a:r>
            <a:r>
              <a:rPr lang="en-US" sz="2000" dirty="0"/>
              <a:t>, называется пограничной точкой и не формирует свой собственный кластер.</a:t>
            </a:r>
          </a:p>
          <a:p>
            <a:pPr algn="l" rtl="0"/>
            <a:r>
              <a:rPr lang="en-US" sz="2000" dirty="0"/>
              <a:t>Любая точка, которая не является центральной или пограничной, называется точкой шума или выбросом и не назначается ни одному </a:t>
            </a:r>
            <a:r>
              <a:rPr lang="en-US" sz="2000" dirty="0" err="1"/>
              <a:t>кластеру</a:t>
            </a:r>
            <a:r>
              <a:rPr lang="en-US" sz="2000" dirty="0"/>
              <a:t>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" descr="image.png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8" name="AutoShape 2" descr="image.png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2" name="AutoShape 4" descr="image.png"/>
          <p:cNvSpPr>
            <a:spLocks noChangeAspect="1" noChangeArrowheads="1"/>
          </p:cNvSpPr>
          <p:nvPr/>
        </p:nvSpPr>
        <p:spPr bwMode="auto">
          <a:xfrm>
            <a:off x="2136775" y="1836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7" name="AutoShape 2" descr="image.png"/>
          <p:cNvSpPr>
            <a:spLocks noChangeAspect="1" noChangeArrowheads="1"/>
          </p:cNvSpPr>
          <p:nvPr/>
        </p:nvSpPr>
        <p:spPr bwMode="auto">
          <a:xfrm>
            <a:off x="2289175" y="1989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4" name="AutoShape 4" descr="image.png"/>
          <p:cNvSpPr>
            <a:spLocks noChangeAspect="1" noChangeArrowheads="1"/>
          </p:cNvSpPr>
          <p:nvPr/>
        </p:nvSpPr>
        <p:spPr bwMode="auto">
          <a:xfrm>
            <a:off x="2441575" y="2141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4025843"/>
            <a:ext cx="7015162" cy="1786505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596" y="3845384"/>
            <a:ext cx="4350892" cy="273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3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ru-RU" altLang="ru-RU" b="1" dirty="0"/>
              <a:t>Изоляционный лес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5600" y="1143000"/>
            <a:ext cx="11207750" cy="5076825"/>
          </a:xfrm>
        </p:spPr>
        <p:txBody>
          <a:bodyPr>
            <a:noAutofit/>
          </a:bodyPr>
          <a:lstStyle/>
          <a:p>
            <a:pPr lvl="0"/>
            <a:r>
              <a:rPr lang="ru-RU" sz="2000" b="1" dirty="0"/>
              <a:t>Изоляционный лес (</a:t>
            </a:r>
            <a:r>
              <a:rPr lang="ru-RU" sz="2000" dirty="0" err="1"/>
              <a:t>Isolation</a:t>
            </a:r>
            <a:r>
              <a:rPr lang="ru-RU" sz="2000" dirty="0"/>
              <a:t> </a:t>
            </a:r>
            <a:r>
              <a:rPr lang="ru-RU" sz="2000" dirty="0" err="1"/>
              <a:t>Forest</a:t>
            </a:r>
            <a:r>
              <a:rPr lang="ru-RU" sz="2000" dirty="0"/>
              <a:t>) - это неконтролируемый метод создания ансамбля деревьев.</a:t>
            </a:r>
          </a:p>
          <a:p>
            <a:pPr lvl="1"/>
            <a:r>
              <a:rPr lang="ru-RU" sz="2000" dirty="0"/>
              <a:t>В отличие от методов, основанных на деревьях решений с учителем, здесь каждое </a:t>
            </a:r>
            <a:r>
              <a:rPr lang="ru-RU" sz="2000" dirty="0" err="1"/>
              <a:t>расщипление</a:t>
            </a:r>
            <a:r>
              <a:rPr lang="ru-RU" sz="2000" dirty="0"/>
              <a:t> работает случайным образом.</a:t>
            </a:r>
          </a:p>
          <a:p>
            <a:pPr lvl="1"/>
            <a:r>
              <a:rPr lang="ru-RU" sz="2000" dirty="0"/>
              <a:t>В каждом дереве для случайно выбранного сегмента или признаков разбиение выполняется также случайным образом в диапазоне между минимальным и максимальным значениями выбранного признака или сегмента.</a:t>
            </a:r>
          </a:p>
          <a:p>
            <a:pPr lvl="1"/>
            <a:r>
              <a:rPr lang="ru-RU" sz="2000" dirty="0"/>
              <a:t>Выбор аномалии основан на предположении, что нормальная точка требует, чтобы в среднем (по всем деревьям) было идентифицировано больше разбиений, чем для аномальной точки.</a:t>
            </a:r>
          </a:p>
          <a:p>
            <a:pPr lvl="1"/>
            <a:r>
              <a:rPr lang="ru-RU" sz="2000" dirty="0"/>
              <a:t>Таким образом, выбросы встречаются реже, чем обычные наблюдения, и отличаются от них с точки зрения значений (они лежат дальше от обычных наблюдений в пространстве признаков).</a:t>
            </a:r>
          </a:p>
          <a:p>
            <a:pPr lvl="1"/>
            <a:r>
              <a:rPr lang="ru-RU" sz="2000" dirty="0"/>
              <a:t>Поэтому при таком случайном разбиении их следует идентифицировать ближе к корню дерева.</a:t>
            </a:r>
          </a:p>
          <a:p>
            <a:pPr lvl="1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1365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ru-RU" altLang="ru-RU" b="1" dirty="0" err="1"/>
              <a:t>Изоляция</a:t>
            </a:r>
            <a:r>
              <a:rPr lang="ru-RU" altLang="ru-RU" b="1" dirty="0"/>
              <a:t> </a:t>
            </a:r>
            <a:r>
              <a:rPr lang="ru-RU" altLang="ru-RU" b="1" dirty="0" err="1"/>
              <a:t>лес</a:t>
            </a:r>
            <a:endParaRPr lang="ru-RU" alt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5600" y="1143000"/>
            <a:ext cx="10998200" cy="5033963"/>
          </a:xfrm>
        </p:spPr>
        <p:txBody>
          <a:bodyPr>
            <a:norm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изоляционн</a:t>
            </a:r>
            <a:r>
              <a:rPr lang="ru-RU" dirty="0"/>
              <a:t>ого</a:t>
            </a:r>
            <a:r>
              <a:rPr lang="en-US" dirty="0"/>
              <a:t> </a:t>
            </a:r>
            <a:r>
              <a:rPr lang="en-US" dirty="0" err="1"/>
              <a:t>лес</a:t>
            </a:r>
            <a:r>
              <a:rPr lang="ru-RU" dirty="0"/>
              <a:t>а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177" y="1657884"/>
            <a:ext cx="6896661" cy="2411976"/>
          </a:xfrm>
          <a:prstGeom prst="rect">
            <a:avLst/>
          </a:prstGeom>
        </p:spPr>
      </p:pic>
      <p:sp>
        <p:nvSpPr>
          <p:cNvPr id="6" name="AutoShape 2" descr="Anomaly detection using Isolation Forest and Local Outlier Factor | by  Lekha Priya | Medi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 descr="Isolation Forest: learned iForest construction for toy dataset | Download 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060916"/>
            <a:ext cx="4125868" cy="276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04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1298"/>
            <a:ext cx="10515600" cy="777875"/>
          </a:xfrm>
        </p:spPr>
        <p:txBody>
          <a:bodyPr>
            <a:normAutofit/>
          </a:bodyPr>
          <a:lstStyle/>
          <a:p>
            <a:pPr algn="ctr" rtl="0"/>
            <a:r>
              <a:rPr lang="en-US" b="1" dirty="0" err="1"/>
              <a:t>Полу-контролируемые</a:t>
            </a:r>
            <a:r>
              <a:rPr lang="en-US" b="1" dirty="0"/>
              <a:t> методы. </a:t>
            </a:r>
            <a:r>
              <a:rPr lang="ru-RU" altLang="ru-RU" b="1" dirty="0"/>
              <a:t> OSVM</a:t>
            </a:r>
            <a:r>
              <a:rPr lang="en-US" b="1" dirty="0"/>
              <a:t>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867732"/>
            <a:ext cx="11198225" cy="52530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Этот метод основан на идее построения только одного опорного вектора (или одной нелинейной границы решения), который отделяет нормальные данные (помеченные как нормальные) от других.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OSVM требует использования ядра </a:t>
            </a:r>
            <a:r>
              <a:rPr lang="en-US" sz="1800" dirty="0"/>
              <a:t>(kernel trick)</a:t>
            </a:r>
            <a:r>
              <a:rPr lang="ru-RU" sz="1800" dirty="0"/>
              <a:t>, как правило, ядро RBF</a:t>
            </a:r>
            <a:r>
              <a:rPr lang="en-US" sz="1800" dirty="0"/>
              <a:t> -</a:t>
            </a:r>
            <a:r>
              <a:rPr lang="ru-RU" sz="1800" dirty="0"/>
              <a:t> так как необходимо построить сферическую границу вокруг нормальных данных.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Решением проблемы OSVM является гиперплоскость (опорный вектор), которая максимизирует расстояние от размеченных данных до исходной точки (нулевой точки). В этом случае объем этой </a:t>
            </a:r>
            <a:r>
              <a:rPr lang="ru-RU" sz="1800" dirty="0" err="1"/>
              <a:t>гиперсферы</a:t>
            </a:r>
            <a:r>
              <a:rPr lang="ru-RU" sz="1800" dirty="0"/>
              <a:t> сводится к минимуму, чтобы минимизировать эффект включения выбросов в решение.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Метод очень чувствителен к ошибкам в размеченных данных. Фактически метод можно рассматривать как задачу одного класса и остальных.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В OSVM мы неявно предполагаем, что после ядра аномальные данные будут сильно распределены в области, близкой к нулю.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902" y="4188783"/>
            <a:ext cx="4173773" cy="2498301"/>
          </a:xfrm>
          <a:prstGeom prst="rect">
            <a:avLst/>
          </a:prstGeom>
        </p:spPr>
      </p:pic>
      <p:pic>
        <p:nvPicPr>
          <p:cNvPr id="2050" name="Picture 2" descr="Overview of one-class Support Vector Machine (SVM). | Download Scientific 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4385208"/>
            <a:ext cx="3975487" cy="230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39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l" rtl="0"/>
            <a:r>
              <a:rPr lang="en-US" sz="3600" b="1" dirty="0" err="1"/>
              <a:t>Полу-контролируемые</a:t>
            </a:r>
            <a:r>
              <a:rPr lang="en-US" sz="3600" b="1" dirty="0"/>
              <a:t> методы. </a:t>
            </a:r>
            <a:r>
              <a:rPr lang="ru-RU" altLang="ru-RU" sz="3600" b="1" dirty="0"/>
              <a:t> </a:t>
            </a:r>
            <a:r>
              <a:rPr lang="en-US" sz="3600" b="1" dirty="0" err="1"/>
              <a:t>Автоэнкодер</a:t>
            </a:r>
            <a:r>
              <a:rPr lang="en-US" sz="3600" b="1" dirty="0"/>
              <a:t> 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025" y="1143000"/>
            <a:ext cx="11029950" cy="5233988"/>
          </a:xfrm>
        </p:spPr>
        <p:txBody>
          <a:bodyPr>
            <a:normAutofit/>
          </a:bodyPr>
          <a:lstStyle/>
          <a:p>
            <a:pPr lvl="0"/>
            <a:r>
              <a:rPr lang="ru-RU" sz="2000" b="1" dirty="0"/>
              <a:t>Обнаружение аномалий на основе </a:t>
            </a:r>
            <a:r>
              <a:rPr lang="ru-RU" sz="2000" b="1" dirty="0" err="1"/>
              <a:t>автоэнкодера</a:t>
            </a:r>
            <a:endParaRPr lang="ru-RU" sz="2000" dirty="0"/>
          </a:p>
          <a:p>
            <a:pPr lvl="0"/>
            <a:r>
              <a:rPr lang="ru-RU" sz="2000" dirty="0"/>
              <a:t>Ошибка результата реконструкции обученного </a:t>
            </a:r>
            <a:r>
              <a:rPr lang="ru-RU" sz="2000" dirty="0" err="1"/>
              <a:t>автоэнкодера</a:t>
            </a:r>
            <a:r>
              <a:rPr lang="ru-RU" sz="2000" dirty="0"/>
              <a:t> аналогична оценке </a:t>
            </a:r>
            <a:r>
              <a:rPr lang="ru-RU" sz="2000" dirty="0" err="1"/>
              <a:t>аномальности</a:t>
            </a:r>
            <a:r>
              <a:rPr lang="ru-RU" sz="2000" dirty="0"/>
              <a:t> данных.</a:t>
            </a:r>
          </a:p>
          <a:p>
            <a:pPr lvl="0"/>
            <a:r>
              <a:rPr lang="ru-RU" sz="2000" dirty="0"/>
              <a:t>Сеть обучается на данных, большинство из которых считаются нормальными.</a:t>
            </a:r>
          </a:p>
          <a:p>
            <a:pPr lvl="0"/>
            <a:r>
              <a:rPr lang="ru-RU" sz="2000" dirty="0"/>
              <a:t>Метод можно рассматривать как в неконтролируемый, так и в частично контролируемых задачах. </a:t>
            </a:r>
          </a:p>
          <a:p>
            <a:pPr lvl="0"/>
            <a:r>
              <a:rPr lang="ru-RU" sz="2000" dirty="0" err="1"/>
              <a:t>Автоэнкодер</a:t>
            </a:r>
            <a:r>
              <a:rPr lang="ru-RU" sz="2000" dirty="0"/>
              <a:t> состоит из частей кодирования и декодирования.</a:t>
            </a:r>
          </a:p>
          <a:p>
            <a:pPr lvl="0"/>
            <a:r>
              <a:rPr lang="ru-RU" sz="2000" dirty="0"/>
              <a:t>В части кодирования извлекаются основные характеристики, которые представляют шаблоны в данных, а затем каждая выборка восстанавливается в части декодирования. Ошибка восстановления будет минимальной для нормальных образцов.</a:t>
            </a:r>
          </a:p>
          <a:p>
            <a:pPr lvl="0"/>
            <a:r>
              <a:rPr lang="ru-RU" sz="2000" dirty="0"/>
              <a:t>С другой стороны, модель не может восстановить образец, который ведет себя ненормально, что приводит к высокой ошибке восстановления.</a:t>
            </a:r>
          </a:p>
          <a:p>
            <a:pPr lvl="0"/>
            <a:r>
              <a:rPr lang="ru-RU" sz="2000" dirty="0"/>
              <a:t>Таким образом, чем выше ошибка реконструкции образца, тем больше вероятность того, что это аномалия.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30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ctr" rtl="0"/>
            <a:r>
              <a:rPr lang="en-US" sz="3600" b="1" dirty="0" err="1" smtClean="0"/>
              <a:t>Полу-контролируемые</a:t>
            </a:r>
            <a:r>
              <a:rPr lang="en-US" sz="3600" b="1" dirty="0" smtClean="0"/>
              <a:t> </a:t>
            </a:r>
            <a:r>
              <a:rPr lang="en-US" sz="3600" b="1" dirty="0"/>
              <a:t>методы. </a:t>
            </a:r>
            <a:r>
              <a:rPr lang="ru-RU" altLang="ru-RU" sz="3600" b="1" dirty="0"/>
              <a:t> </a:t>
            </a:r>
            <a:r>
              <a:rPr lang="en-US" sz="3600" b="1" dirty="0" err="1"/>
              <a:t>Автоэнкодер</a:t>
            </a:r>
            <a:r>
              <a:rPr lang="en-US" sz="3600" b="1" dirty="0"/>
              <a:t> </a:t>
            </a:r>
            <a:endParaRPr lang="ru-RU" sz="3600" b="1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.png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228600" y="1095375"/>
            <a:ext cx="11029950" cy="523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r>
              <a:rPr lang="en-US" dirty="0"/>
              <a:t>Пример RNN на основе </a:t>
            </a:r>
            <a:r>
              <a:rPr lang="en-US" dirty="0" err="1"/>
              <a:t>автоэнкодер</a:t>
            </a:r>
            <a:r>
              <a:rPr lang="en-US" dirty="0"/>
              <a:t> на основе обнаружения аномалий.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25" y="3189478"/>
            <a:ext cx="5715000" cy="282714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1951039"/>
            <a:ext cx="5543550" cy="312206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28601" y="5169945"/>
            <a:ext cx="590867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000" i="1" dirty="0">
                <a:solidFill>
                  <a:srgbClr val="000000"/>
                </a:solidFill>
              </a:rPr>
              <a:t>Примечание</a:t>
            </a:r>
            <a:r>
              <a:rPr lang="en-US" sz="2000" dirty="0">
                <a:solidFill>
                  <a:srgbClr val="000000"/>
                </a:solidFill>
              </a:rPr>
              <a:t> В задаче обнаружения аномалий </a:t>
            </a:r>
            <a:r>
              <a:rPr lang="en-US" sz="2000" dirty="0" err="1">
                <a:solidFill>
                  <a:srgbClr val="000000"/>
                </a:solidFill>
              </a:rPr>
              <a:t>Автоэнкодер</a:t>
            </a:r>
            <a:r>
              <a:rPr lang="en-US" sz="2000" dirty="0">
                <a:solidFill>
                  <a:srgbClr val="000000"/>
                </a:solidFill>
              </a:rPr>
              <a:t> можно рассматривать как частично контролируемую задачу, если обучение выполняется только на нормальных данных.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5704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0100" y="165100"/>
            <a:ext cx="10515600" cy="777875"/>
          </a:xfrm>
        </p:spPr>
        <p:txBody>
          <a:bodyPr>
            <a:normAutofit/>
          </a:bodyPr>
          <a:lstStyle/>
          <a:p>
            <a:pPr algn="ctr" rtl="0"/>
            <a:r>
              <a:rPr lang="ru-RU" b="1" dirty="0"/>
              <a:t>Методы с учителем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.png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307975" y="866775"/>
            <a:ext cx="11963400" cy="523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l" rtl="0"/>
            <a:r>
              <a:rPr lang="ru-RU" sz="2400" b="1" dirty="0"/>
              <a:t>методы с учителем</a:t>
            </a:r>
            <a:endParaRPr lang="en-US" sz="2400" b="1" dirty="0"/>
          </a:p>
          <a:p>
            <a:pPr lvl="0"/>
            <a:r>
              <a:rPr lang="ru-RU" sz="2400" b="1" dirty="0"/>
              <a:t>нейронная сеть и другое машинное обучение</a:t>
            </a:r>
            <a:endParaRPr lang="ru-RU" sz="2400" dirty="0"/>
          </a:p>
          <a:p>
            <a:pPr lvl="0"/>
            <a:r>
              <a:rPr lang="ru-RU" sz="2400" dirty="0"/>
              <a:t>задача может быть решена двумя способами</a:t>
            </a:r>
          </a:p>
          <a:p>
            <a:pPr lvl="0"/>
            <a:r>
              <a:rPr lang="ru-RU" sz="2400" dirty="0"/>
              <a:t>По отклонению все данные разделены на два класса - нормальные данные и аномальные данные.</a:t>
            </a:r>
          </a:p>
          <a:p>
            <a:pPr lvl="0"/>
            <a:r>
              <a:rPr lang="ru-RU" sz="2400" dirty="0"/>
              <a:t>На основе задачи регрессии - путем оценки ошибки прогноза с использованием контролируемых выборок.</a:t>
            </a:r>
          </a:p>
          <a:p>
            <a:pPr lvl="0"/>
            <a:r>
              <a:rPr lang="ru-RU" sz="2400" i="1" dirty="0"/>
              <a:t>Примечание: В случае, похожем на регрессию, обнаружение аномалии также можно рассматривать как частично контролируемую задачу. Популярные методы обнаружения аномалий на основе контролируемого машинного обучения:</a:t>
            </a:r>
            <a:endParaRPr lang="ru-RU" sz="2400" dirty="0"/>
          </a:p>
          <a:p>
            <a:pPr lvl="1"/>
            <a:r>
              <a:rPr lang="ru-RU" i="1" dirty="0"/>
              <a:t>SVM</a:t>
            </a:r>
            <a:endParaRPr lang="ru-RU" dirty="0"/>
          </a:p>
          <a:p>
            <a:pPr lvl="1"/>
            <a:r>
              <a:rPr lang="ru-RU" i="1" dirty="0"/>
              <a:t>Случайный лес</a:t>
            </a:r>
            <a:endParaRPr lang="ru-RU" dirty="0"/>
          </a:p>
          <a:p>
            <a:pPr lvl="1"/>
            <a:r>
              <a:rPr lang="ru-RU" i="1" dirty="0"/>
              <a:t>k-Ближайшие соседи</a:t>
            </a:r>
            <a:endParaRPr lang="ru-RU" dirty="0"/>
          </a:p>
          <a:p>
            <a:pPr lvl="1"/>
            <a:r>
              <a:rPr lang="ru-RU" i="1" dirty="0"/>
              <a:t>Нейронная сеть.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03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500" y="222250"/>
            <a:ext cx="10934700" cy="815975"/>
          </a:xfrm>
        </p:spPr>
        <p:txBody>
          <a:bodyPr/>
          <a:lstStyle/>
          <a:p>
            <a:pPr algn="ctr"/>
            <a:r>
              <a:rPr lang="ru-RU" b="1" dirty="0" smtClean="0"/>
              <a:t>Вопросы для самоконтроля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9550" y="1038225"/>
            <a:ext cx="11658600" cy="5124449"/>
          </a:xfrm>
        </p:spPr>
        <p:txBody>
          <a:bodyPr/>
          <a:lstStyle/>
          <a:p>
            <a:pPr lvl="0"/>
            <a:r>
              <a:rPr lang="ru-RU" dirty="0"/>
              <a:t>Назовите основные типы аномалий во ВР. Приведите примеры корневых причин, сопутствующих этим аномалиям. Предложите подходы к выявлению таких аномалий. Какие можно использовать метрики для оценки качества таких систем</a:t>
            </a:r>
            <a:r>
              <a:rPr lang="ru-RU" dirty="0" smtClean="0"/>
              <a:t>?</a:t>
            </a:r>
          </a:p>
          <a:p>
            <a:pPr lvl="0"/>
            <a:r>
              <a:rPr lang="ru-RU" dirty="0" smtClean="0"/>
              <a:t>Назовите в каких задачах можно использовать методы с полу-учителем, когда это невозможно. Обоснуйте ответ и уточните в каких случаях предпочтительно. Анализ проведите с точки зрения мониторинга. </a:t>
            </a:r>
          </a:p>
          <a:p>
            <a:pPr lvl="0"/>
            <a:r>
              <a:rPr lang="ru-RU" dirty="0" smtClean="0"/>
              <a:t>Укажите на задачи в которых стоит использовать статистические методы поиска аномалий. Проведите анализ с точки зрения надёжности. </a:t>
            </a:r>
          </a:p>
          <a:p>
            <a:pPr lvl="0"/>
            <a:r>
              <a:rPr lang="ru-RU" dirty="0" smtClean="0"/>
              <a:t>Смоделируйте </a:t>
            </a:r>
            <a:r>
              <a:rPr lang="ru-RU" dirty="0" err="1" smtClean="0"/>
              <a:t>пайплайн</a:t>
            </a:r>
            <a:r>
              <a:rPr lang="ru-RU" dirty="0" smtClean="0"/>
              <a:t> для выбранной задачи с поиском аномалий. Укажите на необходимость предварительной обработки данных при этом. </a:t>
            </a:r>
            <a:r>
              <a:rPr lang="ru-RU" smtClean="0"/>
              <a:t>Обоснуйте ответ. </a:t>
            </a:r>
            <a:endParaRPr lang="ru-RU" dirty="0" smtClean="0"/>
          </a:p>
          <a:p>
            <a:pPr lvl="0"/>
            <a:endParaRPr lang="ru-RU" dirty="0" smtClean="0"/>
          </a:p>
          <a:p>
            <a:pPr lvl="0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241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85F48-3DE1-7DE8-983E-945C7EA5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Полуавтоматические и интерактивные подходы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D79052-F15B-2C65-2F20-C34C1E14E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dirty="0"/>
              <a:t>Active Learning: </a:t>
            </a:r>
            <a:r>
              <a:rPr lang="ru-RU" dirty="0"/>
              <a:t>алгоритм просит разметить "спорные" участки</a:t>
            </a:r>
          </a:p>
          <a:p>
            <a:r>
              <a:rPr lang="en" dirty="0"/>
              <a:t>Weak Supervision (Snorkel): </a:t>
            </a:r>
            <a:r>
              <a:rPr lang="ru-RU" dirty="0"/>
              <a:t>используй правила экспертов как "слабые метки"</a:t>
            </a:r>
          </a:p>
          <a:p>
            <a:r>
              <a:rPr lang="en" dirty="0"/>
              <a:t>Human-in-the-loop: </a:t>
            </a:r>
            <a:r>
              <a:rPr lang="ru-RU" dirty="0"/>
              <a:t>система предлагает кандидатов, эксперт подтверждает</a:t>
            </a:r>
          </a:p>
          <a:p>
            <a:r>
              <a:rPr lang="ru-RU" dirty="0"/>
              <a:t> Особенно эффективно при очень редких аномалиях (0.01%).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08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lvl="0"/>
            <a:r>
              <a:rPr lang="ru-RU" sz="2200" b="1" dirty="0"/>
              <a:t>Причины аномалий в данных временных рядов</a:t>
            </a:r>
            <a:endParaRPr lang="ru-RU" sz="2200" dirty="0"/>
          </a:p>
          <a:p>
            <a:pPr lvl="1">
              <a:lnSpc>
                <a:spcPct val="100000"/>
              </a:lnSpc>
            </a:pPr>
            <a:r>
              <a:rPr lang="ru-RU" sz="2200" dirty="0"/>
              <a:t>Нерегулярные события (которые могут закончится в историческом контексте)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Выявление локальных отклонений;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обнаружение глобальных выбросов;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Обнаружение новизны (возникает как новое поведение в продолжительном и неизвестном контексте), например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точки смены поведения,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Появление новых признаков</a:t>
            </a:r>
          </a:p>
          <a:p>
            <a:pPr lvl="1">
              <a:lnSpc>
                <a:spcPct val="100000"/>
              </a:lnSpc>
            </a:pPr>
            <a:r>
              <a:rPr lang="ru-RU" sz="2200" dirty="0"/>
              <a:t>Точки перегиба, </a:t>
            </a:r>
          </a:p>
          <a:p>
            <a:pPr lvl="2">
              <a:lnSpc>
                <a:spcPct val="100000"/>
              </a:lnSpc>
            </a:pPr>
            <a:r>
              <a:rPr lang="ru-RU" sz="2200" dirty="0"/>
              <a:t>точки значительного влияния;</a:t>
            </a:r>
          </a:p>
          <a:p>
            <a:pPr lvl="1">
              <a:lnSpc>
                <a:spcPct val="100000"/>
              </a:lnSpc>
            </a:pPr>
            <a:endParaRPr lang="ru-RU" sz="22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24" y="2938425"/>
            <a:ext cx="4619876" cy="38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6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AA6FD-0791-3A60-D1D0-CF6D9F4A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81" y="365126"/>
            <a:ext cx="3842951" cy="932333"/>
          </a:xfrm>
        </p:spPr>
        <p:txBody>
          <a:bodyPr>
            <a:normAutofit fontScale="90000"/>
          </a:bodyPr>
          <a:lstStyle/>
          <a:p>
            <a:r>
              <a:rPr lang="en" b="1" dirty="0"/>
              <a:t>Taxonomy of AD metrics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DAA5AE-C478-23FC-E405-D7FC6CFFC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81" y="1493964"/>
            <a:ext cx="4170799" cy="4998909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6A60824-D0B8-F87D-5CA8-8D72ED6BD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178" y="365126"/>
            <a:ext cx="7592541" cy="593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B941A0-0C91-6B75-56E5-30613EBA1A77}"/>
              </a:ext>
            </a:extLst>
          </p:cNvPr>
          <p:cNvSpPr txBox="1"/>
          <p:nvPr/>
        </p:nvSpPr>
        <p:spPr>
          <a:xfrm>
            <a:off x="436418" y="6492874"/>
            <a:ext cx="8306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readmedium.com</a:t>
            </a:r>
            <a:r>
              <a:rPr lang="ru-RU" sz="1200" dirty="0"/>
              <a:t>/a-review-of-anomaly-detection-metrics-with-a-lot-of-related-information-736d88774712</a:t>
            </a:r>
          </a:p>
        </p:txBody>
      </p:sp>
    </p:spTree>
    <p:extLst>
      <p:ext uri="{BB962C8B-B14F-4D97-AF65-F5344CB8AC3E}">
        <p14:creationId xmlns:p14="http://schemas.microsoft.com/office/powerpoint/2010/main" val="324227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algn="l" rtl="0"/>
            <a:r>
              <a:rPr lang="en-US" b="1" dirty="0"/>
              <a:t>Обнаружение аномалий</a:t>
            </a:r>
            <a:r>
              <a:rPr lang="ru-RU" b="1" dirty="0"/>
              <a:t>. </a:t>
            </a:r>
            <a:r>
              <a:rPr lang="en-US" b="1" dirty="0"/>
              <a:t>подходы</a:t>
            </a: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307975" y="1022350"/>
            <a:ext cx="11277889" cy="5470525"/>
          </a:xfrm>
        </p:spPr>
        <p:txBody>
          <a:bodyPr>
            <a:noAutofit/>
          </a:bodyPr>
          <a:lstStyle/>
          <a:p>
            <a:pPr marL="342900" lvl="0" indent="-342900"/>
            <a:r>
              <a:rPr lang="ru-RU" sz="2200" dirty="0"/>
              <a:t>В каждом подходе мы должны ввести некоторую метрику для обнаружения аномалий </a:t>
            </a:r>
            <a:br>
              <a:rPr lang="ru-RU" sz="2200" dirty="0"/>
            </a:br>
            <a:r>
              <a:rPr lang="ru-RU" sz="2200" dirty="0"/>
              <a:t>(в классических статистических термин отклонение). </a:t>
            </a:r>
          </a:p>
          <a:p>
            <a:pPr marL="800100" lvl="1" indent="-342900"/>
            <a:r>
              <a:rPr lang="ru-RU" sz="2200" dirty="0"/>
              <a:t>То есть мы должны формально описать что такое аномалия.</a:t>
            </a:r>
          </a:p>
          <a:p>
            <a:pPr marL="800100" lvl="1" indent="-342900"/>
            <a:r>
              <a:rPr lang="ru-RU" sz="2200" dirty="0"/>
              <a:t>Такой метрикой может быть, например:</a:t>
            </a:r>
          </a:p>
          <a:p>
            <a:pPr marL="1257300" lvl="2" indent="-342900"/>
            <a:r>
              <a:rPr lang="ru-RU" sz="2200" dirty="0"/>
              <a:t>Евклидово расстояние,</a:t>
            </a:r>
          </a:p>
          <a:p>
            <a:pPr marL="1257300" lvl="2" indent="-342900"/>
            <a:r>
              <a:rPr lang="ru-RU" sz="2200" dirty="0"/>
              <a:t>MAPE (средняя абсолютная ошибка в процентах),</a:t>
            </a:r>
          </a:p>
          <a:p>
            <a:pPr marL="1257300" lvl="2" indent="-342900"/>
            <a:r>
              <a:rPr lang="ru-RU" sz="2200" dirty="0"/>
              <a:t>Некоторая метрика статистической информации, такая как энтропия или расхождение </a:t>
            </a:r>
            <a:r>
              <a:rPr lang="ru-RU" sz="2200" dirty="0" err="1"/>
              <a:t>Кульбака-Лейблера</a:t>
            </a:r>
            <a:r>
              <a:rPr lang="ru-RU" sz="2200" dirty="0"/>
              <a:t>.</a:t>
            </a:r>
          </a:p>
          <a:p>
            <a:pPr marL="342900" lvl="0" indent="-342900"/>
            <a:r>
              <a:rPr lang="ru-RU" sz="2200" dirty="0"/>
              <a:t>Во всех случаях предполагаемое отклонение, то есть значение ошибки, пропорционально относительной оценки аномалии.</a:t>
            </a:r>
          </a:p>
          <a:p>
            <a:pPr marL="800100" lvl="1" indent="-342900"/>
            <a:r>
              <a:rPr lang="ru-RU" sz="2200" dirty="0"/>
              <a:t>Если оценка аномалии превышает некоторый установленный порог, это отмечается как аномалия</a:t>
            </a:r>
          </a:p>
          <a:p>
            <a:pPr marL="1257300" lvl="2" indent="-342900">
              <a:lnSpc>
                <a:spcPct val="100000"/>
              </a:lnSpc>
              <a:spcBef>
                <a:spcPts val="600"/>
              </a:spcBef>
            </a:pPr>
            <a:r>
              <a:rPr lang="ru-RU" sz="2200" i="1" dirty="0"/>
              <a:t>Отметим,</a:t>
            </a:r>
            <a:r>
              <a:rPr lang="ru-RU" sz="2200" dirty="0"/>
              <a:t>  что поиск аномалии можно проводить как для полного временного ряда, так и по результатам его </a:t>
            </a:r>
            <a:r>
              <a:rPr lang="ru-RU" sz="2200" b="1" dirty="0"/>
              <a:t>преобразования</a:t>
            </a:r>
            <a:r>
              <a:rPr lang="ru-RU" sz="2200" dirty="0"/>
              <a:t>.</a:t>
            </a:r>
          </a:p>
          <a:p>
            <a:pPr marL="1714500" lvl="3" indent="-342900">
              <a:lnSpc>
                <a:spcPct val="100000"/>
              </a:lnSpc>
              <a:spcBef>
                <a:spcPts val="600"/>
              </a:spcBef>
            </a:pPr>
            <a:r>
              <a:rPr lang="ru-RU" sz="2200" dirty="0"/>
              <a:t>Пример поиска аномалии в остатках декомпозиции.</a:t>
            </a:r>
          </a:p>
          <a:p>
            <a:pPr marL="800100" lvl="1" indent="-342900"/>
            <a:endParaRPr lang="ru-RU" sz="22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719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en-US" b="1" dirty="0"/>
              <a:t>Обнаружение аномалий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1831" y="948583"/>
            <a:ext cx="11263357" cy="5811139"/>
          </a:xfrm>
        </p:spPr>
        <p:txBody>
          <a:bodyPr>
            <a:normAutofit/>
          </a:bodyPr>
          <a:lstStyle/>
          <a:p>
            <a:pPr algn="l" rtl="0"/>
            <a:r>
              <a:rPr lang="en-US" sz="2200" dirty="0"/>
              <a:t>Различают локальные и глобальные аномалии.</a:t>
            </a:r>
          </a:p>
          <a:p>
            <a:pPr algn="l" rtl="0"/>
            <a:r>
              <a:rPr lang="en-US" sz="2200" b="1" dirty="0" err="1"/>
              <a:t>локальная</a:t>
            </a:r>
            <a:r>
              <a:rPr lang="en-US" sz="2200" b="1" dirty="0"/>
              <a:t> </a:t>
            </a:r>
            <a:r>
              <a:rPr lang="en-US" sz="2200" b="1" dirty="0" err="1"/>
              <a:t>аномалия</a:t>
            </a:r>
            <a:r>
              <a:rPr lang="en-US" sz="2200" dirty="0"/>
              <a:t> </a:t>
            </a:r>
            <a:r>
              <a:rPr lang="en-US" sz="2200" dirty="0" err="1"/>
              <a:t>предполагае</a:t>
            </a:r>
            <a:r>
              <a:rPr lang="ru-RU" sz="2200" dirty="0"/>
              <a:t>т</a:t>
            </a:r>
            <a:r>
              <a:rPr lang="en-US" sz="2200" dirty="0"/>
              <a:t>, </a:t>
            </a:r>
            <a:r>
              <a:rPr lang="en-US" sz="2200" dirty="0" err="1"/>
              <a:t>что</a:t>
            </a:r>
            <a:r>
              <a:rPr lang="en-US" sz="2200" dirty="0"/>
              <a:t> </a:t>
            </a:r>
            <a:r>
              <a:rPr lang="en-US" sz="2200" dirty="0" err="1"/>
              <a:t>значени</a:t>
            </a:r>
            <a:r>
              <a:rPr lang="ru-RU" sz="2200" dirty="0"/>
              <a:t>я</a:t>
            </a:r>
            <a:r>
              <a:rPr lang="en-US" sz="2200" dirty="0"/>
              <a:t> </a:t>
            </a:r>
            <a:r>
              <a:rPr lang="en-US" sz="2200" dirty="0" err="1"/>
              <a:t>не</a:t>
            </a:r>
            <a:r>
              <a:rPr lang="en-US" sz="2200" dirty="0"/>
              <a:t> </a:t>
            </a:r>
            <a:r>
              <a:rPr lang="en-US" sz="2200" dirty="0" err="1"/>
              <a:t>превыша</a:t>
            </a:r>
            <a:r>
              <a:rPr lang="ru-RU" sz="2200" dirty="0"/>
              <a:t>ю</a:t>
            </a:r>
            <a:r>
              <a:rPr lang="en-US" sz="2200" dirty="0"/>
              <a:t>т общий диапазон </a:t>
            </a:r>
            <a:r>
              <a:rPr lang="en-US" sz="2200" dirty="0" err="1"/>
              <a:t>значений</a:t>
            </a:r>
            <a:r>
              <a:rPr lang="en-US" sz="2200" dirty="0"/>
              <a:t>.</a:t>
            </a:r>
            <a:r>
              <a:rPr lang="ru-RU" sz="2200" dirty="0"/>
              <a:t> (также называют контекстуальные)</a:t>
            </a:r>
            <a:endParaRPr lang="en-US" sz="2200" dirty="0"/>
          </a:p>
          <a:p>
            <a:pPr algn="l" rtl="0"/>
            <a:r>
              <a:rPr lang="en-US" sz="2200" b="1" dirty="0" err="1"/>
              <a:t>глобальная</a:t>
            </a:r>
            <a:r>
              <a:rPr lang="en-US" sz="2200" b="1" dirty="0"/>
              <a:t> </a:t>
            </a:r>
            <a:r>
              <a:rPr lang="en-US" sz="2200" b="1" dirty="0" err="1"/>
              <a:t>аномалия</a:t>
            </a:r>
            <a:r>
              <a:rPr lang="en-US" sz="2200" dirty="0"/>
              <a:t> </a:t>
            </a:r>
            <a:r>
              <a:rPr lang="en-US" sz="2200" dirty="0" err="1"/>
              <a:t>предполагае</a:t>
            </a:r>
            <a:r>
              <a:rPr lang="ru-RU" sz="2200" dirty="0"/>
              <a:t>т</a:t>
            </a:r>
            <a:r>
              <a:rPr lang="en-US" sz="2200" dirty="0"/>
              <a:t>, </a:t>
            </a:r>
            <a:r>
              <a:rPr lang="en-US" sz="2200" dirty="0" err="1"/>
              <a:t>что</a:t>
            </a:r>
            <a:r>
              <a:rPr lang="en-US" sz="2200" dirty="0"/>
              <a:t> е</a:t>
            </a:r>
            <a:r>
              <a:rPr lang="ru-RU" sz="2200" dirty="0"/>
              <a:t>е</a:t>
            </a:r>
            <a:r>
              <a:rPr lang="en-US" sz="2200" dirty="0"/>
              <a:t> </a:t>
            </a:r>
            <a:r>
              <a:rPr lang="en-US" sz="2200" dirty="0" err="1"/>
              <a:t>значени</a:t>
            </a:r>
            <a:r>
              <a:rPr lang="ru-RU" sz="2200" dirty="0"/>
              <a:t>я</a:t>
            </a:r>
            <a:r>
              <a:rPr lang="en-US" sz="2200" dirty="0"/>
              <a:t> </a:t>
            </a:r>
            <a:r>
              <a:rPr lang="en-US" sz="2200" dirty="0" err="1"/>
              <a:t>значительно</a:t>
            </a:r>
            <a:r>
              <a:rPr lang="en-US" sz="2200" dirty="0"/>
              <a:t> </a:t>
            </a:r>
            <a:r>
              <a:rPr lang="en-US" sz="2200" dirty="0" err="1"/>
              <a:t>превыша</a:t>
            </a:r>
            <a:r>
              <a:rPr lang="ru-RU" sz="2200" dirty="0"/>
              <a:t>ю</a:t>
            </a:r>
            <a:r>
              <a:rPr lang="en-US" sz="2200" dirty="0"/>
              <a:t>т общий диапазон значений.</a:t>
            </a:r>
            <a:endParaRPr lang="ru-RU" sz="2200" dirty="0"/>
          </a:p>
          <a:p>
            <a:pPr algn="l" rtl="0"/>
            <a:r>
              <a:rPr lang="en-US" sz="2200" dirty="0"/>
              <a:t>Пример локальных и глобальных точечных </a:t>
            </a:r>
            <a:r>
              <a:rPr lang="en-US" sz="2200" dirty="0" err="1"/>
              <a:t>аномалий</a:t>
            </a:r>
            <a:r>
              <a:rPr lang="en-US" sz="2200" dirty="0"/>
              <a:t>.</a:t>
            </a:r>
            <a:endParaRPr lang="ru-RU" sz="2200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19" y="3605430"/>
            <a:ext cx="11291531" cy="300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3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/>
          <a:lstStyle/>
          <a:p>
            <a:pPr algn="l" rtl="0"/>
            <a:r>
              <a:rPr lang="ru-RU" b="1" dirty="0"/>
              <a:t>Обнаружение аномалий. </a:t>
            </a:r>
            <a:r>
              <a:rPr lang="en-US" b="1" dirty="0"/>
              <a:t>Пример</a:t>
            </a:r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765175" y="1254570"/>
            <a:ext cx="10741025" cy="5100193"/>
          </a:xfrm>
        </p:spPr>
        <p:txBody>
          <a:bodyPr/>
          <a:lstStyle/>
          <a:p>
            <a:pPr algn="l" rtl="0"/>
            <a:r>
              <a:rPr lang="en-US" dirty="0"/>
              <a:t>Пример внезапного отсутствия сезонности и </a:t>
            </a:r>
            <a:r>
              <a:rPr lang="ru-RU" dirty="0"/>
              <a:t>изменение </a:t>
            </a:r>
            <a:r>
              <a:rPr lang="en-US" dirty="0" err="1"/>
              <a:t>уровн</a:t>
            </a:r>
            <a:r>
              <a:rPr lang="ru-RU" dirty="0"/>
              <a:t>я</a:t>
            </a:r>
            <a:r>
              <a:rPr lang="en-US" dirty="0"/>
              <a:t> аномалия сдвига.</a:t>
            </a:r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784350"/>
            <a:ext cx="6690186" cy="437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0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645"/>
          </a:xfrm>
        </p:spPr>
        <p:txBody>
          <a:bodyPr>
            <a:normAutofit/>
          </a:bodyPr>
          <a:lstStyle/>
          <a:p>
            <a:pPr algn="l" rtl="0"/>
            <a:r>
              <a:rPr lang="ru-RU" b="1" dirty="0"/>
              <a:t>Метод ящика с усами (</a:t>
            </a:r>
            <a:r>
              <a:rPr lang="en-US" b="1" dirty="0" err="1"/>
              <a:t>BoxPlot</a:t>
            </a:r>
            <a:r>
              <a:rPr lang="ru-RU" b="1" dirty="0"/>
              <a:t>)</a:t>
            </a:r>
            <a:endParaRPr lang="en-US" b="1" dirty="0"/>
          </a:p>
        </p:txBody>
      </p:sp>
      <p:sp>
        <p:nvSpPr>
          <p:cNvPr id="5" name="AutoShape 3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725487" y="1022350"/>
            <a:ext cx="10741025" cy="5100193"/>
          </a:xfrm>
        </p:spPr>
        <p:txBody>
          <a:bodyPr>
            <a:noAutofit/>
          </a:bodyPr>
          <a:lstStyle/>
          <a:p>
            <a:pPr lvl="0"/>
            <a:r>
              <a:rPr lang="ru-RU" sz="2000" dirty="0"/>
              <a:t>Усы обычно увеличиваются на расстояние 1,5 * IQR по обе стороны коробки. Следовательно, все точки данных за пределами этих значений 1,5 * IQR помечаются как выбросы.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 err="1"/>
              <a:t>Сравнение</a:t>
            </a:r>
            <a:r>
              <a:rPr lang="en-US" sz="2000" dirty="0"/>
              <a:t> </a:t>
            </a:r>
            <a:r>
              <a:rPr lang="en-US" sz="2000" b="1" dirty="0" err="1"/>
              <a:t>BoxPlot</a:t>
            </a:r>
            <a:r>
              <a:rPr lang="en-US" sz="2000" b="1" dirty="0"/>
              <a:t> </a:t>
            </a:r>
            <a:r>
              <a:rPr lang="en-US" sz="2000" dirty="0"/>
              <a:t>и </a:t>
            </a:r>
            <a:r>
              <a:rPr lang="en-US" sz="2000" dirty="0" err="1"/>
              <a:t>нормального</a:t>
            </a:r>
            <a:r>
              <a:rPr lang="en-US" sz="2000" dirty="0"/>
              <a:t> </a:t>
            </a:r>
            <a:r>
              <a:rPr lang="en-US" sz="2000" dirty="0" err="1"/>
              <a:t>распределения</a:t>
            </a:r>
            <a:endParaRPr lang="en-US" sz="1600" dirty="0"/>
          </a:p>
        </p:txBody>
      </p:sp>
      <p:sp>
        <p:nvSpPr>
          <p:cNvPr id="9" name="AutoShape 2" descr="image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2" name="AutoShape 4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3" name="AutoShape 2" descr="image.pn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5" name="AutoShape 4" descr="image.png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0" name="AutoShape 2" descr="image-3.png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sp>
        <p:nvSpPr>
          <p:cNvPr id="11" name="AutoShape 2" descr="image.png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120" y="2222367"/>
            <a:ext cx="5818618" cy="2909309"/>
          </a:xfrm>
          <a:prstGeom prst="rect">
            <a:avLst/>
          </a:prstGeom>
        </p:spPr>
      </p:pic>
      <p:sp>
        <p:nvSpPr>
          <p:cNvPr id="14" name="AutoShape 4" descr="image.png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96" y="1973088"/>
            <a:ext cx="5201580" cy="370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0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1534</Words>
  <Application>Microsoft Office PowerPoint</Application>
  <PresentationFormat>Широкоэкранный</PresentationFormat>
  <Paragraphs>219</Paragraphs>
  <Slides>35</Slides>
  <Notes>0</Notes>
  <HiddenSlides>6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Тема Office</vt:lpstr>
      <vt:lpstr>Обнаружение Аномалий</vt:lpstr>
      <vt:lpstr>Обнаружение аномалий</vt:lpstr>
      <vt:lpstr>Обнаружение аномалий</vt:lpstr>
      <vt:lpstr>Обнаружение аномалий</vt:lpstr>
      <vt:lpstr>Обнаружение аномалий</vt:lpstr>
      <vt:lpstr>Обнаружение аномалий. Пример</vt:lpstr>
      <vt:lpstr>Обнаружение точек новизны</vt:lpstr>
      <vt:lpstr>Обнаружение аномалий. Замечание</vt:lpstr>
      <vt:lpstr>Обнаружение аномалий. Методы</vt:lpstr>
      <vt:lpstr>Обнаружение аномалий. Подходы</vt:lpstr>
      <vt:lpstr>Метрики поиска аномалий</vt:lpstr>
      <vt:lpstr>Обнаружение аномалий. Методы без учителя</vt:lpstr>
      <vt:lpstr>Обнаружение аномалий. Методы без учителя</vt:lpstr>
      <vt:lpstr>Метод межквартильного размаха (IQR)</vt:lpstr>
      <vt:lpstr>Обнаружение аномалий. Методы без учителя</vt:lpstr>
      <vt:lpstr>Методы без учителя</vt:lpstr>
      <vt:lpstr>Полу-контролируемые методы. Z-оценка</vt:lpstr>
      <vt:lpstr>Неконтролируемый поиск на основе модели</vt:lpstr>
      <vt:lpstr>Обнаружение аномалий. Методы без учителя</vt:lpstr>
      <vt:lpstr>Обнаружение аномалий на основе кластеризации</vt:lpstr>
      <vt:lpstr>Обнаружение аномалий на основе кластеризации</vt:lpstr>
      <vt:lpstr>Обнаружение аномалий. Изоляционный лес</vt:lpstr>
      <vt:lpstr>Обнаружение аномалий. Изоляция лес</vt:lpstr>
      <vt:lpstr>Полу-контролируемые методы.  OSVM </vt:lpstr>
      <vt:lpstr>Полу-контролируемые методы.  Автоэнкодер </vt:lpstr>
      <vt:lpstr>Полу-контролируемые методы.  Автоэнкодер </vt:lpstr>
      <vt:lpstr>Методы с учителем</vt:lpstr>
      <vt:lpstr>Вопросы для самоконтроля</vt:lpstr>
      <vt:lpstr>Полуавтоматические и интерактивные подходы</vt:lpstr>
      <vt:lpstr>Обнаружение аномалий</vt:lpstr>
      <vt:lpstr>Taxonomy of AD metrics</vt:lpstr>
      <vt:lpstr>Обнаружение аномалий. подходы</vt:lpstr>
      <vt:lpstr>Обнаружение аномалий</vt:lpstr>
      <vt:lpstr>Обнаружение аномалий. Пример</vt:lpstr>
      <vt:lpstr>Метод ящика с усами (BoxPlot)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212</cp:revision>
  <dcterms:created xsi:type="dcterms:W3CDTF">2021-11-21T16:45:21Z</dcterms:created>
  <dcterms:modified xsi:type="dcterms:W3CDTF">2025-08-20T13:29:01Z</dcterms:modified>
</cp:coreProperties>
</file>