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4"/>
  </p:notesMasterIdLst>
  <p:sldIdLst>
    <p:sldId id="338" r:id="rId2"/>
    <p:sldId id="387" r:id="rId3"/>
    <p:sldId id="382" r:id="rId4"/>
    <p:sldId id="390" r:id="rId5"/>
    <p:sldId id="393" r:id="rId6"/>
    <p:sldId id="388" r:id="rId7"/>
    <p:sldId id="391" r:id="rId8"/>
    <p:sldId id="392" r:id="rId9"/>
    <p:sldId id="395" r:id="rId10"/>
    <p:sldId id="401" r:id="rId11"/>
    <p:sldId id="447" r:id="rId12"/>
    <p:sldId id="450" r:id="rId13"/>
    <p:sldId id="348" r:id="rId14"/>
    <p:sldId id="394" r:id="rId15"/>
    <p:sldId id="351" r:id="rId16"/>
    <p:sldId id="396" r:id="rId17"/>
    <p:sldId id="350" r:id="rId18"/>
    <p:sldId id="352" r:id="rId19"/>
    <p:sldId id="353" r:id="rId20"/>
    <p:sldId id="409" r:id="rId21"/>
    <p:sldId id="397" r:id="rId22"/>
    <p:sldId id="399" r:id="rId23"/>
    <p:sldId id="449" r:id="rId24"/>
    <p:sldId id="412" r:id="rId25"/>
    <p:sldId id="438" r:id="rId26"/>
    <p:sldId id="411" r:id="rId27"/>
    <p:sldId id="413" r:id="rId28"/>
    <p:sldId id="419" r:id="rId29"/>
    <p:sldId id="440" r:id="rId30"/>
    <p:sldId id="439" r:id="rId31"/>
    <p:sldId id="414" r:id="rId32"/>
    <p:sldId id="427" r:id="rId33"/>
    <p:sldId id="433" r:id="rId34"/>
    <p:sldId id="430" r:id="rId35"/>
    <p:sldId id="431" r:id="rId36"/>
    <p:sldId id="432" r:id="rId37"/>
    <p:sldId id="428" r:id="rId38"/>
    <p:sldId id="434" r:id="rId39"/>
    <p:sldId id="424" r:id="rId40"/>
    <p:sldId id="435" r:id="rId41"/>
    <p:sldId id="426" r:id="rId42"/>
    <p:sldId id="402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 autoAdjust="0"/>
    <p:restoredTop sz="83973" autoAdjust="0"/>
  </p:normalViewPr>
  <p:slideViewPr>
    <p:cSldViewPr snapToGrid="0">
      <p:cViewPr>
        <p:scale>
          <a:sx n="114" d="100"/>
          <a:sy n="114" d="100"/>
        </p:scale>
        <p:origin x="1576" y="-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A96C9A-3213-B245-BC64-7E419D14BD9D}" type="datetimeFigureOut">
              <a:rPr lang="ru-RU" smtClean="0"/>
              <a:t>13.07.2025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A1EE30-E435-D745-B23A-FF31C83176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1195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46646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61470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17016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61788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66878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D18BA-D680-7B96-02F9-861C902A4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46B88F9-A535-B316-A9F8-13B986774D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7998119-CE33-144F-7234-9811AEC1C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b="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657A107-06D5-30F3-A29E-2711A90B0B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29907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156D06-6B42-419D-A61C-F7AD45031849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38281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01351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63774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18589-07B6-8B7C-50EB-9BE2AA949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1B8CE22-3444-6B30-2178-AB78F76320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34F76AA-F72E-9F7F-3CF1-9FC95397CC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r>
              <a:rPr lang="en" sz="9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A forecast “error” is the difference between an observed value and its forecast. Here “error” does not mean a mistake, it means the unpredictable part of an observation. It can be written as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eT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+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h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=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yT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+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h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−^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yT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+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h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T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,</a:t>
            </a:r>
            <a:r>
              <a:rPr lang="en" sz="9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where the training data is given by 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{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y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1,…,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yT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}</a:t>
            </a:r>
            <a:r>
              <a:rPr lang="en" sz="9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 and the test data is given by 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{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yT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+1,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yT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+2,…}</a:t>
            </a:r>
            <a:r>
              <a:rPr lang="en" sz="9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.</a:t>
            </a:r>
          </a:p>
          <a:p>
            <a:pPr algn="l">
              <a:buNone/>
            </a:pPr>
            <a:r>
              <a:rPr lang="en" sz="9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Note that forecast errors are different from residuals in two ways. First, residuals are calculated on the </a:t>
            </a:r>
            <a:r>
              <a:rPr lang="en" sz="900" b="0" i="1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training</a:t>
            </a:r>
            <a:r>
              <a:rPr lang="en" sz="9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 set while forecast errors are calculated on the </a:t>
            </a:r>
            <a:r>
              <a:rPr lang="en" sz="900" b="0" i="1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test</a:t>
            </a:r>
            <a:r>
              <a:rPr lang="en" sz="9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 set. Second, residuals are based on </a:t>
            </a:r>
            <a:r>
              <a:rPr lang="en" sz="900" b="0" i="1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one-step</a:t>
            </a:r>
            <a:r>
              <a:rPr lang="en" sz="9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 forecasts while forecast errors can involve </a:t>
            </a:r>
            <a:r>
              <a:rPr lang="en" sz="900" b="0" i="1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multi-step</a:t>
            </a:r>
            <a:r>
              <a:rPr lang="en" sz="9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 forecasts.</a:t>
            </a:r>
          </a:p>
          <a:p>
            <a:pPr algn="l">
              <a:buNone/>
            </a:pPr>
            <a:r>
              <a:rPr lang="en" sz="9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We can measure forecast accuracy by summarising the forecast errors in different ways.</a:t>
            </a:r>
          </a:p>
          <a:p>
            <a:pPr algn="l"/>
            <a:br>
              <a:rPr lang="en" sz="900" b="0" i="0" dirty="0">
                <a:solidFill>
                  <a:srgbClr val="333333"/>
                </a:solidFill>
                <a:effectLst/>
                <a:latin typeface="Merriweather" pitchFamily="2" charset="0"/>
              </a:rPr>
            </a:br>
            <a:endParaRPr lang="en" sz="900" b="0" i="0" dirty="0">
              <a:solidFill>
                <a:srgbClr val="333333"/>
              </a:solidFill>
              <a:effectLst/>
              <a:latin typeface="Merriweather" pitchFamily="2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EE91898-4BBC-42B5-0F12-4D00C54CB0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61148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🔍 Что такое </a:t>
            </a:r>
            <a:r>
              <a:rPr lang="ru-RU" sz="9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Conformal</a:t>
            </a:r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Prediction</a:t>
            </a:r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Conformal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Prediction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(Конформное прогнозирование) — это метод непараметрической оценки неопределенности , который позволяет строить калиброванные доверительные интервалы для прогнозов, полученных с помощью любой модели машинного обучения.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Особенность этого подхода в том, что он: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предполагает нормальности распределения ошибок 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требует повторного обучения модели 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Работает с любыми моделями (линейными, деревьями решений,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нейросетями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т.д.).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Гарантирует калибровку : например, 95% интервал действительно покроет 95% реальных значений при условии, что данные независимы и одинаково распределены (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i.i.d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.).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Основная идея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Конформное прогнозирование использует перекрестную проверку или разделение на обучающую и калибровочную выборки , чтобы определить, насколько "конформны" новые наблюдения по сравнению с уже известными.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Шаги работы: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Обучите модель на обучающей выборке.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Используйте отдельную часть данных (калибровочную) для вычисления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nonconformity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scores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— меры того, насколько новое значение отличается от предсказанного.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основе этих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неконформностей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постройте доверительный интервал , который будет содержать будущее значение с заданной вероятностью (например, 90%, 95%).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📊 Пример: регрессия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Предположим, у нас есть временной ряд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1​,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2​,...,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. Мы хотим построить прогноз на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шагов вперед с 95% доверительным интервалом.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Этапы конформного прогнозирования: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Разделение данных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Обучающая выборка :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1​,...,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Калибровочная выборка :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+1​,...,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Обучение модели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Обучаем любую модель (например,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LightGBM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ARIMA и др.) на обучающей выборке.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Вычисление </a:t>
            </a:r>
            <a:r>
              <a:rPr lang="ru-RU" sz="9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endParaRPr lang="ru-RU" sz="9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каждого элемента из калибровочной выборки вычисляем ошибку прогноза (например, абсолютную):</a:t>
            </a:r>
          </a:p>
          <a:p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​=∣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^​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​∣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и есть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Нахождение квантили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Вычисляем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qα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— (1−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α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-квантиль всех значений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, где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α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уровень доверия.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Например: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33347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20972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D931E-A559-E5CC-CC4E-400B87F41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7B2FA56-70D8-F030-D5E4-CE3E92B575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A903E08-D920-29C6-FBE8-03126D7CA5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76FA5C5-B974-93D0-7BA2-505334F7B9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73601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B2D1B-903A-8E8F-18C0-4F6E36397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6FA67A7-B988-F52C-6EB8-BE0713DC8B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EF6590F-FCBF-CB3D-5FCD-55B30ED651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MSLE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10F5443-305A-3F75-45CD-A44A01C23D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16786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🔍 Что такое </a:t>
            </a:r>
            <a:r>
              <a:rPr lang="ru-RU" sz="9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Conformal</a:t>
            </a:r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Prediction</a:t>
            </a:r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Conformal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Prediction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(Конформное прогнозирование) — это метод непараметрической оценки неопределенности , который позволяет строить калиброванные доверительные интервалы для прогнозов, полученных с помощью любой модели машинного обучения.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Особенность этого подхода в том, что он: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предполагает нормальности распределения ошибок 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требует повторного обучения модели 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Работает с любыми моделями (линейными, деревьями решений,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нейросетями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т.д.).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Гарантирует калибровку : например, 95% интервал действительно покроет 95% реальных значений при условии, что данные независимы и одинаково распределены (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i.i.d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.).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Основная идея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Конформное прогнозирование использует перекрестную проверку или разделение на обучающую и калибровочную выборки , чтобы определить, насколько "конформны" новые наблюдения по сравнению с уже известными.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Шаги работы: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Обучите модель на обучающей выборке.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Используйте отдельную часть данных (калибровочную) для вычисления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nonconformity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scores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— меры того, насколько новое значение отличается от предсказанного.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основе этих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неконформностей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постройте доверительный интервал , который будет содержать будущее значение с заданной вероятностью (например, 90%, 95%).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📊 Пример: регрессия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Предположим, у нас есть временной ряд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1​,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2​,...,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. Мы хотим построить прогноз на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шагов вперед с 95% доверительным интервалом.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Этапы конформного прогнозирования: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Разделение данных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Обучающая выборка :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1​,...,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Калибровочная выборка :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+1​,...,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Обучение модели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Обучаем любую модель (например,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LightGBM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ARIMA и др.) на обучающей выборке.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Вычисление </a:t>
            </a:r>
            <a:r>
              <a:rPr lang="ru-RU" sz="9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endParaRPr lang="ru-RU" sz="9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каждого элемента из калибровочной выборки вычисляем ошибку прогноза (например, абсолютную):</a:t>
            </a:r>
          </a:p>
          <a:p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​=∣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^​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​∣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и есть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Нахождение квантили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Вычисляем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qα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— (1−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α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-квантиль всех значений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, где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α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уровень доверия.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Например: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22030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🔍 Что такое </a:t>
            </a:r>
            <a:r>
              <a:rPr lang="ru-RU" sz="9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Conformal</a:t>
            </a:r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Prediction</a:t>
            </a:r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Conformal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Prediction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(Конформное прогнозирование) — это метод непараметрической оценки неопределенности , который позволяет строить калиброванные доверительные интервалы для прогнозов, полученных с помощью любой модели машинного обучения.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Особенность этого подхода в том, что он: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предполагает нормальности распределения ошибок 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требует повторного обучения модели 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Работает с любыми моделями (линейными, деревьями решений,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нейросетями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т.д.).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Гарантирует калибровку : например, 95% интервал действительно покроет 95% реальных значений при условии, что данные независимы и одинаково распределены (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i.i.d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.).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Основная идея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Конформное прогнозирование использует перекрестную проверку или разделение на обучающую и калибровочную выборки , чтобы определить, насколько "конформны" новые наблюдения по сравнению с уже известными.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Шаги работы: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Обучите модель на обучающей выборке.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Используйте отдельную часть данных (калибровочную) для вычисления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nonconformity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scores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— меры того, насколько новое значение отличается от предсказанного.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основе этих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неконформностей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постройте доверительный интервал , который будет содержать будущее значение с заданной вероятностью (например, 90%, 95%).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📊 Пример: регрессия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Предположим, у нас есть временной ряд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1​,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2​,...,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. Мы хотим построить прогноз на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шагов вперед с 95% доверительным интервалом.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Этапы конформного прогнозирования: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Разделение данных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Обучающая выборка :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1​,...,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Калибровочная выборка :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+1​,...,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Обучение модели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Обучаем любую модель (например,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LightGBM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ARIMA и др.) на обучающей выборке.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Вычисление </a:t>
            </a:r>
            <a:r>
              <a:rPr lang="ru-RU" sz="9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endParaRPr lang="ru-RU" sz="9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каждого элемента из калибровочной выборки вычисляем ошибку прогноза (например, абсолютную):</a:t>
            </a:r>
          </a:p>
          <a:p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​=∣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^​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​∣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и есть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Нахождение квантили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Вычисляем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qα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— (1−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α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-квантиль всех значений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, где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α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уровень доверия.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Например: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11127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71342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0377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214BE-636D-8A45-BCA6-8B7ED77AA124}" type="datetime1">
              <a:rPr lang="ru-RU" smtClean="0"/>
              <a:t>13.07.2025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012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3A339-F8AE-5C45-BEAE-07EF9DC78B60}" type="datetime1">
              <a:rPr lang="ru-RU" smtClean="0"/>
              <a:t>13.07.2025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126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6FDE4-97E0-CE4A-988C-F30B221290A7}" type="datetime1">
              <a:rPr lang="ru-RU" smtClean="0"/>
              <a:t>13.07.2025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783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ECE8B-8DEC-154E-9F03-047C8DDA20DC}" type="datetime1">
              <a:rPr lang="ru-RU" smtClean="0"/>
              <a:t>13.07.2025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295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816D5-BDB8-B34B-8ACA-ECBDD12E7321}" type="datetime1">
              <a:rPr lang="ru-RU" smtClean="0"/>
              <a:t>13.07.2025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999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589A-5627-764C-AF96-C1E2F9A00A4D}" type="datetime1">
              <a:rPr lang="ru-RU" smtClean="0"/>
              <a:t>13.07.2025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977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EE0D0-1696-6D4F-B917-4AFB24A74E8B}" type="datetime1">
              <a:rPr lang="ru-RU" smtClean="0"/>
              <a:t>13.07.2025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111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8A91E-B09B-2240-9AA3-B1D4BCC6296E}" type="datetime1">
              <a:rPr lang="ru-RU" smtClean="0"/>
              <a:t>13.07.2025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922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9760E-DA8D-6747-B31E-62858C8727B8}" type="datetime1">
              <a:rPr lang="ru-RU" smtClean="0"/>
              <a:t>13.07.2025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940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5274A-4ED4-0146-A3E9-88EF200B5196}" type="datetime1">
              <a:rPr lang="ru-RU" smtClean="0"/>
              <a:t>13.07.2025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516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8DFF1-9FDC-144B-973E-B4B4609709DF}" type="datetime1">
              <a:rPr lang="ru-RU" smtClean="0"/>
              <a:t>13.07.2025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324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1305DF-F750-CC43-967D-51A20925EE94}" type="datetime1">
              <a:rPr lang="ru-RU" smtClean="0"/>
              <a:t>13.07.2025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563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0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9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hyperlink" Target="https://www.lokad.com/ru/&#1074;&#1077;&#1088;&#1086;&#1103;&#1090;&#1085;&#1086;&#1089;&#1090;&#1085;&#1086;&#1077;-&#1087;&#1088;&#1086;&#1075;&#1085;&#1086;&#1079;&#1080;&#1088;&#1086;&#1074;&#1072;&#1085;&#1080;&#1077;-&#1086;&#1087;&#1088;&#1077;&#1076;&#1077;&#1083;&#1077;&#1085;&#1080;&#1077;/" TargetMode="External"/><Relationship Id="rId7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owardsdatascience.com/an-introduction-to-quantile-loss-a-k-a-the-pinball-loss-33cccac378a9/" TargetMode="External"/><Relationship Id="rId5" Type="http://schemas.openxmlformats.org/officeDocument/2006/relationships/image" Target="../media/image61.png"/><Relationship Id="rId4" Type="http://schemas.openxmlformats.org/officeDocument/2006/relationships/hyperlink" Target="https://www.lokad.com/pinball-loss-function-definition/" TargetMode="External"/><Relationship Id="rId9" Type="http://schemas.openxmlformats.org/officeDocument/2006/relationships/image" Target="../media/image6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8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2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E3A209-E86B-43CF-A4CE-1917FCF9C1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7320" y="1224565"/>
            <a:ext cx="9144000" cy="2387600"/>
          </a:xfrm>
        </p:spPr>
        <p:txBody>
          <a:bodyPr>
            <a:noAutofit/>
          </a:bodyPr>
          <a:lstStyle/>
          <a:p>
            <a:r>
              <a:rPr lang="ru-RU" b="1" dirty="0"/>
              <a:t>Статистический подход к анализу </a:t>
            </a:r>
            <a:br>
              <a:rPr lang="ru-RU" b="1" dirty="0"/>
            </a:br>
            <a:r>
              <a:rPr lang="ru-RU" b="1" dirty="0"/>
              <a:t>временных рядов.</a:t>
            </a:r>
            <a:endParaRPr lang="en-US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9A19EF5-ACCD-EF26-C88D-A3ED3DC99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843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B0BEDB-9774-4E17-9A6B-DBCF6A1F5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6070" y="197786"/>
            <a:ext cx="9849485" cy="708799"/>
          </a:xfrm>
        </p:spPr>
        <p:txBody>
          <a:bodyPr>
            <a:normAutofit/>
          </a:bodyPr>
          <a:lstStyle/>
          <a:p>
            <a:r>
              <a:rPr lang="ru-RU" b="1" dirty="0"/>
              <a:t>Модели временных рядов</a:t>
            </a:r>
            <a:endParaRPr 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CDB8E57-5CA8-497C-990E-C304F4FBE7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6104" y="810561"/>
                <a:ext cx="11525249" cy="5545789"/>
              </a:xfrm>
            </p:spPr>
            <p:txBody>
              <a:bodyPr>
                <a:normAutofit/>
              </a:bodyPr>
              <a:lstStyle/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en-US" sz="2400" dirty="0"/>
                  <a:t>Часто  вводится аддитивная модель ВР</a:t>
                </a:r>
              </a:p>
              <a:p>
                <a:pPr marL="0" indent="0"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400" i="0" dirty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altLang="en-US" sz="240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en-US" sz="2400" i="0" dirty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en-US" sz="2400" i="0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m:rPr>
                        <m:sty m:val="p"/>
                      </m:rPr>
                      <a:rPr lang="en-US" altLang="en-US" sz="2400" i="0" dirty="0" smtClean="0">
                        <a:latin typeface="Cambria Math" panose="02040503050406030204" pitchFamily="18" charset="0"/>
                      </a:rPr>
                      <m:t>trend</m:t>
                    </m:r>
                    <m:r>
                      <a:rPr lang="en-US" altLang="en-US" sz="240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en-US" sz="2400" i="0" dirty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en-US" sz="2400" i="0" dirty="0" smtClean="0">
                        <a:latin typeface="Cambria Math" panose="02040503050406030204" pitchFamily="18" charset="0"/>
                      </a:rPr>
                      <m:t>) +</m:t>
                    </m:r>
                    <m:r>
                      <m:rPr>
                        <m:sty m:val="p"/>
                      </m:rPr>
                      <a:rPr lang="en-US" altLang="en-US" sz="2400" i="0" dirty="0" smtClean="0">
                        <a:latin typeface="Cambria Math" panose="02040503050406030204" pitchFamily="18" charset="0"/>
                      </a:rPr>
                      <m:t>seasonal</m:t>
                    </m:r>
                    <m:r>
                      <a:rPr lang="en-US" altLang="en-US" sz="240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en-US" sz="2400" i="0" dirty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en-US" sz="2400" i="0" dirty="0" smtClean="0">
                        <a:latin typeface="Cambria Math" panose="02040503050406030204" pitchFamily="18" charset="0"/>
                      </a:rPr>
                      <m:t>) + </m:t>
                    </m:r>
                    <m:r>
                      <m:rPr>
                        <m:sty m:val="p"/>
                      </m:rPr>
                      <a:rPr lang="en-US" altLang="en-US" sz="2400" i="0" dirty="0" smtClean="0">
                        <a:latin typeface="Cambria Math" panose="02040503050406030204" pitchFamily="18" charset="0"/>
                      </a:rPr>
                      <m:t>noise</m:t>
                    </m:r>
                    <m:r>
                      <a:rPr lang="en-US" altLang="en-US" sz="240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en-US" sz="2400" i="0" dirty="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altLang="en-US" sz="2400" dirty="0"/>
                  <a:t>). </a:t>
                </a: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ts val="600"/>
                  </a:spcBef>
                  <a:spcAft>
                    <a:spcPct val="0"/>
                  </a:spcAft>
                  <a:buNone/>
                </a:pPr>
                <a:r>
                  <a:rPr lang="ru-RU" altLang="en-US" sz="2000" dirty="0"/>
                  <a:t>где</a:t>
                </a:r>
                <a14:m>
                  <m:oMath xmlns:m="http://schemas.openxmlformats.org/officeDocument/2006/math">
                    <m:r>
                      <a:rPr lang="ru-RU" altLang="en-US" sz="20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en-US" sz="2000" i="0" dirty="0" smtClean="0">
                        <a:latin typeface="Cambria Math" panose="02040503050406030204" pitchFamily="18" charset="0"/>
                      </a:rPr>
                      <m:t>trend</m:t>
                    </m:r>
                    <m:d>
                      <m:dPr>
                        <m:ctrlPr>
                          <a:rPr lang="en-US" alt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000" i="0" dirty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</m:oMath>
                </a14:m>
                <a:r>
                  <a:rPr lang="ru-RU" altLang="en-US" sz="2000" dirty="0">
                    <a:latin typeface="Cambria Math" panose="02040503050406030204" pitchFamily="18" charset="0"/>
                  </a:rPr>
                  <a:t> - тренд ВР, </a:t>
                </a:r>
                <a14:m>
                  <m:oMath xmlns:m="http://schemas.openxmlformats.org/officeDocument/2006/math">
                    <m:r>
                      <a:rPr lang="ru-RU" altLang="en-US" sz="20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en-US" sz="2000" i="0" dirty="0" smtClean="0">
                        <a:latin typeface="Cambria Math" panose="02040503050406030204" pitchFamily="18" charset="0"/>
                      </a:rPr>
                      <m:t>seasonal</m:t>
                    </m:r>
                    <m:d>
                      <m:dPr>
                        <m:ctrlPr>
                          <a:rPr lang="en-US" alt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000" i="0" dirty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ru-RU" altLang="en-US" sz="2000" b="0" i="0" dirty="0" smtClean="0">
                        <a:latin typeface="Cambria Math" panose="02040503050406030204" pitchFamily="18" charset="0"/>
                      </a:rPr>
                      <m:t> −сезонность ВР</m:t>
                    </m:r>
                  </m:oMath>
                </a14:m>
                <a:r>
                  <a:rPr lang="ru-RU" altLang="en-US" sz="2000" dirty="0">
                    <a:latin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000" i="0" dirty="0" smtClean="0">
                        <a:latin typeface="Cambria Math" panose="02040503050406030204" pitchFamily="18" charset="0"/>
                      </a:rPr>
                      <m:t>noise</m:t>
                    </m:r>
                    <m:r>
                      <a:rPr lang="en-US" altLang="en-US" sz="200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en-US" sz="2000" i="0" dirty="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altLang="en-US" sz="2000" dirty="0"/>
                  <a:t>)</a:t>
                </a:r>
                <a:r>
                  <a:rPr lang="ru-RU" altLang="en-US" sz="2000" dirty="0"/>
                  <a:t> – остаточная часть ВР</a:t>
                </a:r>
              </a:p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en-US" altLang="en-US" sz="2400" dirty="0"/>
              </a:p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en-US" sz="2400" dirty="0"/>
                  <a:t>Иногда также разделяют тренд на уровень, тренд и цикличность:</a:t>
                </a:r>
              </a:p>
              <a:p>
                <a:pPr marL="0" indent="0"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400" i="0" dirty="0" smtClean="0">
                        <a:latin typeface="Cambria Math" panose="02040503050406030204" pitchFamily="18" charset="0"/>
                      </a:rPr>
                      <m:t>y</m:t>
                    </m:r>
                    <m:d>
                      <m:dPr>
                        <m:ctrlPr>
                          <a:rPr lang="en-US" alt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400" i="0" dirty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altLang="en-US" sz="2400" i="0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 sz="2400" b="0" i="0" dirty="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en-US" sz="2400" b="0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en-US" sz="2400" b="0" i="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en-US" sz="2400" i="0" dirty="0" smtClean="0">
                        <a:latin typeface="Cambria Math" panose="02040503050406030204" pitchFamily="18" charset="0"/>
                      </a:rPr>
                      <m:t>tren</m:t>
                    </m:r>
                    <m:sSup>
                      <m:sSupPr>
                        <m:ctrlPr>
                          <a:rPr lang="en-US" alt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en-US" sz="2400" i="0" dirty="0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p>
                        <m:r>
                          <a:rPr lang="en-US" altLang="en-US" sz="2400" b="0" i="0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400" i="0" dirty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altLang="en-US" sz="2400" b="0" i="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en-US" sz="2400" b="0" i="0" dirty="0" smtClean="0">
                        <a:latin typeface="Cambria Math" panose="02040503050406030204" pitchFamily="18" charset="0"/>
                      </a:rPr>
                      <m:t>cyclic</m:t>
                    </m:r>
                    <m:r>
                      <a:rPr lang="en-US" altLang="en-US" sz="2400" b="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en-US" sz="2400" b="0" i="0" dirty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en-US" sz="2400" b="0" i="0" dirty="0" smtClean="0">
                        <a:latin typeface="Cambria Math" panose="02040503050406030204" pitchFamily="18" charset="0"/>
                      </a:rPr>
                      <m:t>) +</m:t>
                    </m:r>
                    <m:r>
                      <m:rPr>
                        <m:sty m:val="p"/>
                      </m:rPr>
                      <a:rPr lang="en-US" altLang="en-US" sz="2400" i="0" dirty="0" smtClean="0">
                        <a:latin typeface="Cambria Math" panose="02040503050406030204" pitchFamily="18" charset="0"/>
                      </a:rPr>
                      <m:t>seasonal</m:t>
                    </m:r>
                    <m:r>
                      <a:rPr lang="en-US" altLang="en-US" sz="240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en-US" sz="2400" i="0" dirty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en-US" sz="2400" i="0" dirty="0" smtClean="0">
                        <a:latin typeface="Cambria Math" panose="02040503050406030204" pitchFamily="18" charset="0"/>
                      </a:rPr>
                      <m:t>) + </m:t>
                    </m:r>
                    <m:r>
                      <m:rPr>
                        <m:sty m:val="p"/>
                      </m:rPr>
                      <a:rPr lang="en-US" altLang="en-US" sz="2400" i="0" dirty="0" smtClean="0">
                        <a:latin typeface="Cambria Math" panose="02040503050406030204" pitchFamily="18" charset="0"/>
                      </a:rPr>
                      <m:t>noise</m:t>
                    </m:r>
                    <m:r>
                      <a:rPr lang="en-US" altLang="en-US" sz="240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en-US" sz="2400" i="0" dirty="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altLang="en-US" sz="2400" dirty="0"/>
                  <a:t>). </a:t>
                </a:r>
              </a:p>
              <a:p>
                <a:pPr marL="457200" lvl="1" indent="0" algn="just" eaLnBrk="0" fontAlgn="base" hangingPunct="0">
                  <a:lnSpc>
                    <a:spcPct val="100000"/>
                  </a:lnSpc>
                  <a:spcBef>
                    <a:spcPts val="600"/>
                  </a:spcBef>
                  <a:spcAft>
                    <a:spcPct val="0"/>
                  </a:spcAft>
                  <a:buNone/>
                </a:pPr>
                <a:r>
                  <a:rPr lang="ru-RU" altLang="en-US" sz="2000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 sz="2000" i="0" dirty="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en-US" sz="2000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altLang="en-US" sz="2000" dirty="0"/>
                  <a:t>- постоянная составляющая,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000" i="0" dirty="0" smtClean="0">
                        <a:latin typeface="Cambria Math" panose="02040503050406030204" pitchFamily="18" charset="0"/>
                      </a:rPr>
                      <m:t>cyclic</m:t>
                    </m:r>
                    <m:r>
                      <a:rPr lang="en-US" altLang="en-US" sz="200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en-US" sz="2000" i="0" dirty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en-US" sz="2000" i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altLang="en-US" sz="2000" dirty="0"/>
                  <a:t> – цикличность ВР,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000" i="0" dirty="0" smtClean="0">
                        <a:latin typeface="Cambria Math" panose="02040503050406030204" pitchFamily="18" charset="0"/>
                      </a:rPr>
                      <m:t>tren</m:t>
                    </m:r>
                    <m:sSup>
                      <m:sSupPr>
                        <m:ctrlPr>
                          <a:rPr lang="en-US" alt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en-US" sz="2000" i="0" dirty="0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p>
                        <m:r>
                          <a:rPr lang="en-US" altLang="en-US" sz="2000" i="0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000" i="0" dirty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</m:oMath>
                </a14:m>
                <a:r>
                  <a:rPr lang="ru-RU" altLang="en-US" sz="2000" dirty="0"/>
                  <a:t>-остальной тренд</a:t>
                </a:r>
                <a:endParaRPr lang="ru-RU" altLang="en-US" sz="2400" dirty="0"/>
              </a:p>
              <a:p>
                <a:pPr marL="898525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en-US" sz="2000" dirty="0"/>
                  <a:t>напр. если выделяют уровень экономики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 sz="2000" i="0" dirty="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en-US" sz="2000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altLang="en-US" sz="2000" dirty="0"/>
                  <a:t>, </a:t>
                </a:r>
                <a:endParaRPr lang="en-US" altLang="en-US" sz="2000" dirty="0"/>
              </a:p>
              <a:p>
                <a:pPr marL="1241425" indent="-3429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en-US" sz="2000" dirty="0"/>
                  <a:t>цикличность кризисов,</a:t>
                </a:r>
                <a:endParaRPr lang="en-US" altLang="en-US" sz="2000" dirty="0"/>
              </a:p>
              <a:p>
                <a:pPr marL="1241425" indent="-3429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en-US" sz="2000" b="1" dirty="0"/>
                  <a:t>тренд</a:t>
                </a:r>
                <a:r>
                  <a:rPr lang="ru-RU" altLang="en-US" sz="2000" dirty="0"/>
                  <a:t> экономики</a:t>
                </a:r>
                <a:endParaRPr lang="en-US" altLang="en-US" sz="2000" dirty="0"/>
              </a:p>
              <a:p>
                <a:pPr marL="1241425" indent="-3429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en-US" sz="2000" b="1" dirty="0"/>
                  <a:t>сезонные факторы ( год, неделя и </a:t>
                </a:r>
                <a:r>
                  <a:rPr lang="ru-RU" altLang="en-US" sz="2000" b="1" dirty="0" err="1"/>
                  <a:t>тд</a:t>
                </a:r>
                <a:r>
                  <a:rPr lang="ru-RU" altLang="en-US" sz="2000" b="1" dirty="0"/>
                  <a:t>)</a:t>
                </a:r>
              </a:p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ru-RU" altLang="en-US" sz="2000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CDB8E57-5CA8-497C-990E-C304F4FBE7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6104" y="810561"/>
                <a:ext cx="11525249" cy="5545789"/>
              </a:xfrm>
              <a:blipFill>
                <a:blip r:embed="rId2"/>
                <a:stretch>
                  <a:fillRect l="-770" t="-6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07EF2B8-3D80-AB22-FA4B-F0655B9EA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</a:t>
            </a:fld>
            <a:endParaRPr lang="en-US"/>
          </a:p>
        </p:txBody>
      </p:sp>
      <p:sp>
        <p:nvSpPr>
          <p:cNvPr id="5" name="Rectangle 231">
            <a:extLst>
              <a:ext uri="{FF2B5EF4-FFF2-40B4-BE49-F238E27FC236}">
                <a16:creationId xmlns:a16="http://schemas.microsoft.com/office/drawing/2014/main" id="{57F50B8E-A23A-4154-9A0C-994DE115A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7756" y="4477386"/>
            <a:ext cx="52071" cy="1079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 sz="1351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6C52228-8C94-4CF2-AD63-BA9617333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23999" y="124999"/>
            <a:ext cx="18473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1400">
                <a:latin typeface="Arial" panose="020B0604020202020204" pitchFamily="34" charset="0"/>
                <a:ea typeface="Times New Roman" panose="02020603050405020304" pitchFamily="18" charset="0"/>
              </a:rPr>
            </a:b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ECA1DAD-475E-4D0B-A20A-17535DDD41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23999" y="43935"/>
            <a:ext cx="65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6712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795C2-7E07-1469-9870-10731979E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F3757B-A658-84DA-AF87-09AF2C0BB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636" y="197786"/>
            <a:ext cx="9477263" cy="880808"/>
          </a:xfrm>
        </p:spPr>
        <p:txBody>
          <a:bodyPr>
            <a:noAutofit/>
          </a:bodyPr>
          <a:lstStyle/>
          <a:p>
            <a:pPr algn="ctr"/>
            <a:r>
              <a:rPr lang="ru-RU" sz="4000" b="1" dirty="0"/>
              <a:t>Особенности модели временных рядов</a:t>
            </a:r>
            <a:endParaRPr lang="en-US" sz="4000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BAE69D-36D8-D04E-E425-5890F7443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037" y="870413"/>
            <a:ext cx="11386458" cy="5460318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ru-RU" sz="2100" dirty="0"/>
              <a:t>Как правило тренд и сезонность объяснить частично можно (это структура ВР)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1700" dirty="0"/>
              <a:t>можно разложить ВР на тренд и  сезонность известного типа. То что останется – мы считаем шумом (случайные колебания).</a:t>
            </a: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ru-RU" sz="2100" dirty="0"/>
              <a:t>Шум создает неопределенность или смещение в результатах предсказаний</a:t>
            </a: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ru-RU" sz="2100" dirty="0"/>
              <a:t>Данные с шумом можно описать статистически (ввести статистические гипотезы о данных)</a:t>
            </a: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ru-RU" sz="2100" dirty="0"/>
              <a:t>При статистическом анализе ВР введем стат. Характеристики ВР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46DBD4B-2A5F-824E-0852-1F4588667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3</a:t>
            </a:fld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9E2F553-27F1-A9E4-3E80-186B4C2D8B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23999" y="124999"/>
            <a:ext cx="18473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1400">
                <a:latin typeface="Arial" panose="020B0604020202020204" pitchFamily="34" charset="0"/>
                <a:ea typeface="Times New Roman" panose="02020603050405020304" pitchFamily="18" charset="0"/>
              </a:rPr>
            </a:b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A0299A3-CABC-57D4-2339-DB1A2A6F0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23999" y="43935"/>
            <a:ext cx="65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Arial" panose="020B0604020202020204" pitchFamily="34" charset="0"/>
            </a:endParaRPr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FBF2AC38-DF2F-3DB7-8C04-C58B060D8E3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" name="AutoShape 8">
            <a:extLst>
              <a:ext uri="{FF2B5EF4-FFF2-40B4-BE49-F238E27FC236}">
                <a16:creationId xmlns:a16="http://schemas.microsoft.com/office/drawing/2014/main" id="{4B08EDCE-CC97-1B6E-4FFB-70989411087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/>
          </a:p>
        </p:txBody>
      </p:sp>
      <p:pic>
        <p:nvPicPr>
          <p:cNvPr id="9" name="Picture 10" descr="fisher-ld generator network">
            <a:extLst>
              <a:ext uri="{FF2B5EF4-FFF2-40B4-BE49-F238E27FC236}">
                <a16:creationId xmlns:a16="http://schemas.microsoft.com/office/drawing/2014/main" id="{094FD0F3-3C45-1831-7A8D-5AD1DF9523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1268"/>
          <a:stretch>
            <a:fillRect/>
          </a:stretch>
        </p:blipFill>
        <p:spPr bwMode="auto">
          <a:xfrm>
            <a:off x="7010547" y="3340005"/>
            <a:ext cx="3690915" cy="2072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CAD22B5-69D6-B86B-8A88-593EC56D043C}"/>
              </a:ext>
            </a:extLst>
          </p:cNvPr>
          <p:cNvSpPr txBox="1"/>
          <p:nvPr/>
        </p:nvSpPr>
        <p:spPr>
          <a:xfrm>
            <a:off x="6400800" y="6452732"/>
            <a:ext cx="45775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www.mdpi.com</a:t>
            </a:r>
            <a:r>
              <a:rPr lang="ru-RU" sz="1200" dirty="0"/>
              <a:t>/2571-9394/5/4/37</a:t>
            </a:r>
          </a:p>
        </p:txBody>
      </p:sp>
      <p:pic>
        <p:nvPicPr>
          <p:cNvPr id="2052" name="Picture 4" descr="Forecasting 05 00037 g004">
            <a:extLst>
              <a:ext uri="{FF2B5EF4-FFF2-40B4-BE49-F238E27FC236}">
                <a16:creationId xmlns:a16="http://schemas.microsoft.com/office/drawing/2014/main" id="{BA41271C-0AFA-C211-2BE4-34C7CC0477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28" t="-1725" r="-6328" b="4206"/>
          <a:stretch>
            <a:fillRect/>
          </a:stretch>
        </p:blipFill>
        <p:spPr bwMode="auto">
          <a:xfrm>
            <a:off x="7403218" y="3443143"/>
            <a:ext cx="4486067" cy="2168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6869C0B-7131-A294-EB92-B57B16945595}"/>
              </a:ext>
            </a:extLst>
          </p:cNvPr>
          <p:cNvSpPr txBox="1"/>
          <p:nvPr/>
        </p:nvSpPr>
        <p:spPr>
          <a:xfrm>
            <a:off x="60579" y="5090821"/>
            <a:ext cx="688635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2"/>
            <a:r>
              <a:rPr lang="ru-RU" sz="2100" b="1" dirty="0"/>
              <a:t>Остаточная часть может содержать информацию, необъясненную моделью!</a:t>
            </a:r>
            <a:endParaRPr lang="ru-RU" sz="2100" dirty="0"/>
          </a:p>
        </p:txBody>
      </p:sp>
      <p:pic>
        <p:nvPicPr>
          <p:cNvPr id="2050" name="Picture 2" descr="Forecasting 05 00037 g002">
            <a:extLst>
              <a:ext uri="{FF2B5EF4-FFF2-40B4-BE49-F238E27FC236}">
                <a16:creationId xmlns:a16="http://schemas.microsoft.com/office/drawing/2014/main" id="{8A8EFD81-5807-BED2-93C4-70EFE43831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02" r="37620" b="4330"/>
          <a:stretch>
            <a:fillRect/>
          </a:stretch>
        </p:blipFill>
        <p:spPr bwMode="auto">
          <a:xfrm>
            <a:off x="6793471" y="3146214"/>
            <a:ext cx="4834467" cy="3350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DF10E1-0017-BDF5-41D6-ECD9FB8B0037}"/>
              </a:ext>
            </a:extLst>
          </p:cNvPr>
          <p:cNvSpPr txBox="1"/>
          <p:nvPr/>
        </p:nvSpPr>
        <p:spPr>
          <a:xfrm>
            <a:off x="241270" y="2838406"/>
            <a:ext cx="6859122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Пример 1</a:t>
            </a:r>
            <a:br>
              <a:rPr lang="ru-RU" b="1" dirty="0"/>
            </a:br>
            <a:r>
              <a:rPr lang="ru-RU" b="1" dirty="0"/>
              <a:t>Прогнозирование спроса в баре:</a:t>
            </a:r>
            <a:endParaRPr lang="ru-RU" dirty="0"/>
          </a:p>
          <a:p>
            <a:r>
              <a:rPr lang="ru-RU" b="1" dirty="0"/>
              <a:t>Структура:</a:t>
            </a:r>
            <a:endParaRPr lang="ru-RU" dirty="0"/>
          </a:p>
          <a:p>
            <a:pPr lvl="1"/>
            <a:r>
              <a:rPr lang="ru-RU" dirty="0"/>
              <a:t>Повышенные продажи по пятницам (</a:t>
            </a:r>
            <a:r>
              <a:rPr lang="ru-RU" dirty="0" err="1"/>
              <a:t>holiday</a:t>
            </a:r>
            <a:r>
              <a:rPr lang="en-US" dirty="0"/>
              <a:t>s effect)</a:t>
            </a:r>
            <a:r>
              <a:rPr lang="ru-RU" dirty="0"/>
              <a:t>.</a:t>
            </a:r>
          </a:p>
          <a:p>
            <a:pPr lvl="1"/>
            <a:r>
              <a:rPr lang="ru-RU" dirty="0"/>
              <a:t>Рост выручки летом (сезонность).</a:t>
            </a:r>
          </a:p>
          <a:p>
            <a:pPr lvl="1"/>
            <a:r>
              <a:rPr lang="ru-RU" dirty="0"/>
              <a:t>Влияние футбольных матчей (календарные эффекты).</a:t>
            </a:r>
          </a:p>
          <a:p>
            <a:r>
              <a:rPr lang="ru-RU" b="1" dirty="0"/>
              <a:t>Шум:</a:t>
            </a:r>
            <a:endParaRPr lang="ru-RU" dirty="0"/>
          </a:p>
          <a:p>
            <a:pPr lvl="1"/>
            <a:r>
              <a:rPr lang="ru-RU" dirty="0"/>
              <a:t>Изменение числа посетителей по пятницам (или другим дням)</a:t>
            </a:r>
          </a:p>
          <a:p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4BD40F-2444-22EE-0F3C-A35F292D5B5A}"/>
              </a:ext>
            </a:extLst>
          </p:cNvPr>
          <p:cNvSpPr txBox="1"/>
          <p:nvPr/>
        </p:nvSpPr>
        <p:spPr>
          <a:xfrm>
            <a:off x="6793470" y="2725644"/>
            <a:ext cx="47070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Пример 2 </a:t>
            </a:r>
            <a:r>
              <a:rPr lang="en" dirty="0"/>
              <a:t>Electricity Transformer Temperature</a:t>
            </a:r>
            <a:endParaRPr lang="ru-R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D35081-F0C8-5927-0982-2E8D3316FBF4}"/>
              </a:ext>
            </a:extLst>
          </p:cNvPr>
          <p:cNvSpPr txBox="1"/>
          <p:nvPr/>
        </p:nvSpPr>
        <p:spPr>
          <a:xfrm>
            <a:off x="142389" y="5787944"/>
            <a:ext cx="6858000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  <a:buNone/>
            </a:pPr>
            <a:r>
              <a:rPr lang="ru-RU" b="1" i="0" dirty="0">
                <a:solidFill>
                  <a:srgbClr val="404040"/>
                </a:solidFill>
                <a:effectLst/>
                <a:latin typeface="quote-cjk-patch"/>
              </a:rPr>
              <a:t>Вопрос аудитории:</a:t>
            </a:r>
            <a:br>
              <a:rPr lang="ru-RU" b="0" i="0" dirty="0">
                <a:solidFill>
                  <a:srgbClr val="404040"/>
                </a:solidFill>
                <a:effectLst/>
                <a:latin typeface="quote-cjk-patch"/>
              </a:rPr>
            </a:br>
            <a:r>
              <a:rPr lang="ru-RU" b="0" i="1" dirty="0">
                <a:solidFill>
                  <a:srgbClr val="404040"/>
                </a:solidFill>
                <a:effectLst/>
                <a:latin typeface="quote-cjk-patch"/>
              </a:rPr>
              <a:t>"Можно ли полностью устранить шум? Что произойдет, если игнорировать его при планировании запасов?"</a:t>
            </a:r>
            <a:endParaRPr lang="ru-RU" b="0" i="0" dirty="0">
              <a:solidFill>
                <a:srgbClr val="404040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537850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3E599-491E-9D0B-A873-0682219DE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3CE594-68EE-E093-BE0F-46EF13444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857" y="204181"/>
            <a:ext cx="9081887" cy="701675"/>
          </a:xfrm>
        </p:spPr>
        <p:txBody>
          <a:bodyPr>
            <a:normAutofit/>
          </a:bodyPr>
          <a:lstStyle/>
          <a:p>
            <a:r>
              <a:rPr lang="ru-RU" dirty="0"/>
              <a:t>Белый Гауссов шум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C90446D-96A9-C6F8-8B18-B82CB93585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31353" y="853161"/>
                <a:ext cx="11644829" cy="2859523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000" dirty="0"/>
                  <a:t>В идеале остаточная часть не содержит информации, равномерно распределена и все ее значения независимы друг от друга (</a:t>
                </a:r>
                <a:r>
                  <a:rPr lang="en-US" sz="2000" dirty="0"/>
                  <a:t>identical independent distribution - </a:t>
                </a:r>
                <a:r>
                  <a:rPr lang="ru-RU" sz="2000" dirty="0" err="1"/>
                  <a:t>i.i.d</a:t>
                </a:r>
                <a:r>
                  <a:rPr lang="ru-RU" sz="2000" dirty="0"/>
                  <a:t>) – такая остаточная часть называется Белый Гауссов Шум</a:t>
                </a:r>
                <a:r>
                  <a:rPr lang="en-US" sz="2000" dirty="0"/>
                  <a:t> (White Gaussian Noises)</a:t>
                </a:r>
                <a:r>
                  <a:rPr lang="ru-RU" sz="2000" dirty="0"/>
                  <a:t>. 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000" dirty="0"/>
                  <a:t>Обратите внимание, что WGN имеет так называемое нормальное распределение с нулевым средним.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𝑤𝑔𝑛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𝑠𝑡𝑑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𝑤𝑔𝑛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</m:t>
                          </m:r>
                          <m:rad>
                            <m:radPr>
                              <m:degHide m:val="on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𝑤𝑔𝑛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𝑠𝑡𝑑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𝑤𝑔𝑛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000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000" dirty="0"/>
                  <a:t>где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𝑤𝑔𝑛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распределние</a:t>
                </a:r>
                <a:r>
                  <a:rPr lang="en-US" sz="2000" dirty="0"/>
                  <a:t>.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C90446D-96A9-C6F8-8B18-B82CB93585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1353" y="853161"/>
                <a:ext cx="11644829" cy="2859523"/>
              </a:xfrm>
              <a:blipFill>
                <a:blip r:embed="rId2"/>
                <a:stretch>
                  <a:fillRect l="-65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069AA6E-94FF-7413-7F65-A38504D68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4</a:t>
            </a:fld>
            <a:endParaRPr lang="en-US"/>
          </a:p>
        </p:txBody>
      </p:sp>
      <p:pic>
        <p:nvPicPr>
          <p:cNvPr id="11268" name="Picture 4" descr="image.png">
            <a:extLst>
              <a:ext uri="{FF2B5EF4-FFF2-40B4-BE49-F238E27FC236}">
                <a16:creationId xmlns:a16="http://schemas.microsoft.com/office/drawing/2014/main" id="{C419EEAC-D406-406E-6A2C-FC0E312934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7987" y="4182627"/>
            <a:ext cx="2877379" cy="2103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E3E8B28-40F1-2361-FCA5-36112D783949}"/>
              </a:ext>
            </a:extLst>
          </p:cNvPr>
          <p:cNvSpPr/>
          <p:nvPr/>
        </p:nvSpPr>
        <p:spPr>
          <a:xfrm>
            <a:off x="1035586" y="3712684"/>
            <a:ext cx="1106093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Пример </a:t>
            </a:r>
            <a:r>
              <a:rPr lang="ru-RU" sz="2000" dirty="0" err="1"/>
              <a:t>wgn</a:t>
            </a:r>
            <a:r>
              <a:rPr lang="ru-RU" sz="2000" dirty="0"/>
              <a:t> - это когда вы выключаете антенну с телевизора и увидеть так называемый «снег» </a:t>
            </a:r>
          </a:p>
        </p:txBody>
      </p:sp>
      <p:pic>
        <p:nvPicPr>
          <p:cNvPr id="11270" name="Picture 6" descr="image.png">
            <a:extLst>
              <a:ext uri="{FF2B5EF4-FFF2-40B4-BE49-F238E27FC236}">
                <a16:creationId xmlns:a16="http://schemas.microsoft.com/office/drawing/2014/main" id="{FBD4E4E1-2D94-2347-F1CB-D2A3194235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634" y="4147264"/>
            <a:ext cx="6047009" cy="2424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797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17BA2-14D3-0EBD-7F01-4E0E161D0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83E797-F1C9-9C7F-FF67-4AB807548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857" y="204181"/>
            <a:ext cx="9081887" cy="701675"/>
          </a:xfrm>
        </p:spPr>
        <p:txBody>
          <a:bodyPr>
            <a:normAutofit/>
          </a:bodyPr>
          <a:lstStyle/>
          <a:p>
            <a:r>
              <a:rPr lang="ru-RU" dirty="0"/>
              <a:t>Статистические </a:t>
            </a:r>
            <a:r>
              <a:rPr lang="ru-RU" dirty="0" err="1"/>
              <a:t>сво</a:t>
            </a:r>
            <a:r>
              <a:rPr lang="ru-RU" dirty="0"/>
              <a:t>	</a:t>
            </a:r>
            <a:r>
              <a:rPr lang="ru-RU" dirty="0" err="1"/>
              <a:t>йства</a:t>
            </a:r>
            <a:r>
              <a:rPr lang="ru-RU" dirty="0"/>
              <a:t> ВР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0C2C294-7A96-5E70-2A21-B81587DAE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585" y="875278"/>
            <a:ext cx="11644829" cy="5982722"/>
          </a:xfrm>
        </p:spPr>
        <p:txBody>
          <a:bodyPr>
            <a:noAutofit/>
          </a:bodyPr>
          <a:lstStyle/>
          <a:p>
            <a:r>
              <a:rPr lang="en-US" sz="2200" dirty="0" err="1"/>
              <a:t>Е</a:t>
            </a:r>
            <a:r>
              <a:rPr lang="ru-RU" sz="2200" dirty="0" err="1"/>
              <a:t>сли</a:t>
            </a:r>
            <a:r>
              <a:rPr lang="ru-RU" sz="2200" dirty="0"/>
              <a:t> временной ряд не является белым гауссовым шумом и не нарушает принципов оцифровки ВР, то каждый его отсчет зависим от предыдущих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200" dirty="0"/>
              <a:t>Введем для такого ряда статистические свойства: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2200" b="1" dirty="0"/>
              <a:t>Автокорреляция (АКФ) </a:t>
            </a:r>
            <a:r>
              <a:rPr lang="ru-RU" sz="2200" dirty="0"/>
              <a:t>– зависимость каждого значения ВР от его предыдущих значений (бывает полная и частичная АКФ). 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2200" b="1" dirty="0"/>
              <a:t>Стационарность</a:t>
            </a:r>
            <a:r>
              <a:rPr lang="ru-RU" sz="2200" dirty="0"/>
              <a:t> – свойства сохранности основных статистических значений независимо от момента взятия выборки ВР (сильная и слабая стационарность</a:t>
            </a:r>
            <a:r>
              <a:rPr lang="ru-RU" dirty="0"/>
              <a:t>)</a:t>
            </a:r>
            <a:endParaRPr lang="ru-RU" sz="12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dirty="0"/>
              <a:t>Могут быть и другие статистические показатели, например: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ru-RU" b="1" dirty="0"/>
              <a:t>Гомоскедастичность</a:t>
            </a:r>
            <a:r>
              <a:rPr lang="ru-RU" dirty="0"/>
              <a:t> – свойство ВР сохранять дисперсию во времени. </a:t>
            </a:r>
            <a:r>
              <a:rPr lang="ru-RU" b="1" dirty="0" err="1"/>
              <a:t>Гетероскедастичность</a:t>
            </a:r>
            <a:r>
              <a:rPr lang="ru-RU" dirty="0"/>
              <a:t> (</a:t>
            </a:r>
            <a:r>
              <a:rPr lang="en" dirty="0"/>
              <a:t>Heteroskedasticity)</a:t>
            </a:r>
            <a:r>
              <a:rPr lang="ru-RU" dirty="0"/>
              <a:t> – волатильность ВР 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ru-RU" b="1" dirty="0"/>
              <a:t>Окрашенность шума </a:t>
            </a:r>
            <a:r>
              <a:rPr lang="ru-RU" dirty="0"/>
              <a:t>– наличие в шуме автокорреляционных свойств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ru-RU" b="1" dirty="0"/>
              <a:t>Долговременная связанность </a:t>
            </a:r>
            <a:r>
              <a:rPr lang="ru-RU" dirty="0"/>
              <a:t>(показатель Херста) – долговременная зависимость  ВР от своих лагов (напр. Тренд)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ru-RU" b="1" dirty="0"/>
              <a:t>Нелинейность ВР</a:t>
            </a:r>
            <a:r>
              <a:rPr lang="ru-RU" dirty="0"/>
              <a:t> – компоненты связаны сложными зависимостями (напр. Модуляция)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ru-RU" b="1" dirty="0"/>
              <a:t>Структурные разрывы </a:t>
            </a:r>
            <a:r>
              <a:rPr lang="ru-RU" dirty="0"/>
              <a:t>(ряд с новизной или точками перегиба)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313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8AA7BF-8316-D890-B7B7-600FCCA16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895" y="150379"/>
            <a:ext cx="10968210" cy="703511"/>
          </a:xfrm>
        </p:spPr>
        <p:txBody>
          <a:bodyPr/>
          <a:lstStyle/>
          <a:p>
            <a:pPr algn="ctr"/>
            <a:r>
              <a:rPr lang="en-US" dirty="0" err="1"/>
              <a:t>Авто</a:t>
            </a:r>
            <a:r>
              <a:rPr lang="ru-RU" dirty="0"/>
              <a:t>корреляция ВР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93D9483-0912-FC98-5071-FB3F2E1816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81906" y="835163"/>
                <a:ext cx="9098068" cy="5108327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200" dirty="0"/>
                  <a:t>Получим численную оценку степени влияния значения 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" sz="2200" dirty="0"/>
                  <a:t>​ </a:t>
                </a:r>
                <a:r>
                  <a:rPr lang="ru-RU" sz="2200" dirty="0"/>
                  <a:t>на значение 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  <m:r>
                      <a:rPr lang="ru-RU" sz="2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l-GR" sz="2200" dirty="0"/>
                  <a:t>​</a:t>
                </a:r>
                <a:r>
                  <a:rPr lang="ru-RU" sz="2200" dirty="0"/>
                  <a:t> (оценки корреляции) в виде коэффициента корреляции Пирсона для ВР с самим собой со сдвигом на </a:t>
                </a:r>
                <a:r>
                  <a:rPr lang="el-GR" sz="2200" i="1" dirty="0"/>
                  <a:t>τ</a:t>
                </a:r>
                <a:r>
                  <a:rPr lang="ru-RU" sz="2200" i="1" dirty="0"/>
                  <a:t> – автокорреляцию ВР (АКФ)</a:t>
                </a:r>
                <a:r>
                  <a:rPr lang="el-GR" sz="2200" dirty="0"/>
                  <a:t>. </a:t>
                </a:r>
                <a:endParaRPr lang="ru-RU" sz="2200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93D9483-0912-FC98-5071-FB3F2E1816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1906" y="835163"/>
                <a:ext cx="9098068" cy="5108327"/>
              </a:xfrm>
              <a:blipFill>
                <a:blip r:embed="rId3"/>
                <a:stretch>
                  <a:fillRect l="-837" t="-7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E9BF6D1-54CF-35BD-E4B5-79CA80A49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6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6A7C23-B4C9-1379-DEDE-66289A5EDAC3}"/>
                  </a:ext>
                </a:extLst>
              </p:cNvPr>
              <p:cNvSpPr txBox="1"/>
              <p:nvPr/>
            </p:nvSpPr>
            <p:spPr>
              <a:xfrm>
                <a:off x="1181026" y="2218404"/>
                <a:ext cx="6097836" cy="9255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𝑐𝑜𝑟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nary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𝑒𝑣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)(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ru-RU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ru-RU" sz="24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𝑒𝑣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𝑣𝑎𝑟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ru-RU" sz="24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6A7C23-B4C9-1379-DEDE-66289A5EDA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1026" y="2218404"/>
                <a:ext cx="6097836" cy="925574"/>
              </a:xfrm>
              <a:prstGeom prst="rect">
                <a:avLst/>
              </a:prstGeom>
              <a:blipFill>
                <a:blip r:embed="rId4"/>
                <a:stretch>
                  <a:fillRect t="-59459" b="-5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363DC12-0338-EE14-31B0-8390E944A4C0}"/>
                  </a:ext>
                </a:extLst>
              </p:cNvPr>
              <p:cNvSpPr txBox="1"/>
              <p:nvPr/>
            </p:nvSpPr>
            <p:spPr>
              <a:xfrm>
                <a:off x="281906" y="3240547"/>
                <a:ext cx="8959469" cy="17209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1800" dirty="0"/>
                  <a:t>Где среднее значений (или ожидаемое значение),</a:t>
                </a:r>
                <a:r>
                  <a:rPr lang="ru-RU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𝑒𝑣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en-US" sz="1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sz="18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ru-RU" sz="1800" i="1" dirty="0">
                        <a:latin typeface="Cambria Math" panose="02040503050406030204" pitchFamily="18" charset="0"/>
                      </a:rPr>
                      <m:t> теор. формула 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𝑒𝑣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 =</m:t>
                    </m:r>
                    <m:nary>
                      <m:naryPr>
                        <m:chr m:val="∑"/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)</m:t>
                        </m:r>
                        <m:sSub>
                          <m:sSubPr>
                            <m:ctrlPr>
                              <a:rPr lang="en-US" sz="1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sz="1800" dirty="0"/>
              </a:p>
              <a:p>
                <a:r>
                  <a:rPr lang="ru-RU" sz="1800" dirty="0"/>
                  <a:t>где y - выборки размера N,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180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ru-RU" sz="1800" dirty="0">
                        <a:latin typeface="Cambria Math" panose="02040503050406030204" pitchFamily="18" charset="0"/>
                      </a:rPr>
                      <m:t>распределение значений величины</m:t>
                    </m:r>
                  </m:oMath>
                </a14:m>
                <a:r>
                  <a:rPr lang="ru-RU" sz="1800" dirty="0"/>
                  <a:t> </a:t>
                </a:r>
                <a:br>
                  <a:rPr lang="ru-RU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𝑣𝑎𝑟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p>
                          <m:sSupPr>
                            <m:ctrlPr>
                              <a:rPr lang="en-US" i="1" dirty="0" err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 dirty="0" err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err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 dirty="0" err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  <m:t>𝑒𝑣</m:t>
                                </m:r>
                              </m:e>
                            </m:d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i="1" dirty="0">
                        <a:latin typeface="Cambria Math" panose="02040503050406030204" pitchFamily="18" charset="0"/>
                      </a:rPr>
                      <m:t>;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𝑠𝑡𝑑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=</m:t>
                    </m:r>
                    <m:rad>
                      <m:radPr>
                        <m:degHide m:val="on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𝑣𝑎𝑟</m:t>
                        </m:r>
                      </m:e>
                    </m:rad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ru-RU" dirty="0"/>
                  <a:t>где </a:t>
                </a:r>
                <a:r>
                  <a:rPr lang="ru-RU" dirty="0" err="1"/>
                  <a:t>var</a:t>
                </a:r>
                <a:r>
                  <a:rPr lang="ru-RU" dirty="0"/>
                  <a:t> - дисперсия; </a:t>
                </a:r>
                <a:r>
                  <a:rPr lang="ru-RU" dirty="0" err="1"/>
                  <a:t>std</a:t>
                </a:r>
                <a:r>
                  <a:rPr lang="ru-RU" dirty="0"/>
                  <a:t> - стандартное отклонение</a:t>
                </a:r>
                <a:endParaRPr lang="en-US" dirty="0"/>
              </a:p>
              <a:p>
                <a:endParaRPr lang="ru-RU" sz="18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363DC12-0338-EE14-31B0-8390E944A4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06" y="3240547"/>
                <a:ext cx="8959469" cy="1720920"/>
              </a:xfrm>
              <a:prstGeom prst="rect">
                <a:avLst/>
              </a:prstGeom>
              <a:blipFill>
                <a:blip r:embed="rId5"/>
                <a:stretch>
                  <a:fillRect l="-3541" t="-22059" b="-1691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EAE15FCB-CB7C-BA1A-51AD-54785DA7748B}"/>
              </a:ext>
            </a:extLst>
          </p:cNvPr>
          <p:cNvSpPr txBox="1"/>
          <p:nvPr/>
        </p:nvSpPr>
        <p:spPr>
          <a:xfrm>
            <a:off x="298402" y="4930470"/>
            <a:ext cx="53911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323232"/>
                </a:solidFill>
                <a:effectLst/>
                <a:latin typeface="__YSText_10659f"/>
              </a:rPr>
              <a:t>Например, если мы хотим оценить степень влияния сегодняшней температуры на завтрашнюю, то посчитаем коэффициент корреляции исходного ряда и его</a:t>
            </a:r>
            <a:r>
              <a:rPr lang="en-US" b="0" i="0" dirty="0">
                <a:solidFill>
                  <a:srgbClr val="323232"/>
                </a:solidFill>
                <a:effectLst/>
                <a:latin typeface="__YSText_10659f"/>
              </a:rPr>
              <a:t> </a:t>
            </a:r>
            <a:r>
              <a:rPr lang="en-US" b="0" i="0" dirty="0" err="1">
                <a:solidFill>
                  <a:srgbClr val="323232"/>
                </a:solidFill>
                <a:effectLst/>
                <a:latin typeface="__YSText_10659f"/>
              </a:rPr>
              <a:t>же</a:t>
            </a:r>
            <a:r>
              <a:rPr lang="ru-RU" b="0" i="0" dirty="0">
                <a:solidFill>
                  <a:srgbClr val="323232"/>
                </a:solidFill>
                <a:effectLst/>
                <a:latin typeface="__YSText_10659f"/>
              </a:rPr>
              <a:t>, сдвинутым на 1 день.</a:t>
            </a:r>
            <a:endParaRPr lang="ru-RU" dirty="0"/>
          </a:p>
        </p:txBody>
      </p:sp>
      <p:pic>
        <p:nvPicPr>
          <p:cNvPr id="1026" name="Picture 2" descr="2.6.1 Взаимная и автокорреляционные функции сигнала">
            <a:extLst>
              <a:ext uri="{FF2B5EF4-FFF2-40B4-BE49-F238E27FC236}">
                <a16:creationId xmlns:a16="http://schemas.microsoft.com/office/drawing/2014/main" id="{54264BB7-C97E-AA39-943C-3D1F85AC62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9974" y="502134"/>
            <a:ext cx="2530059" cy="4027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ACF of monthly Australian antidiabetic drug sales.">
            <a:extLst>
              <a:ext uri="{FF2B5EF4-FFF2-40B4-BE49-F238E27FC236}">
                <a16:creationId xmlns:a16="http://schemas.microsoft.com/office/drawing/2014/main" id="{A05E2094-6729-56A7-F169-31F127E0FF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9600" y="4625950"/>
            <a:ext cx="6367450" cy="1909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86B5F1B-9791-B173-52B5-AF455F6A693C}"/>
              </a:ext>
            </a:extLst>
          </p:cNvPr>
          <p:cNvSpPr txBox="1"/>
          <p:nvPr/>
        </p:nvSpPr>
        <p:spPr>
          <a:xfrm>
            <a:off x="298402" y="6351908"/>
            <a:ext cx="6115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otexts.com</a:t>
            </a:r>
            <a:r>
              <a:rPr lang="ru-RU" dirty="0"/>
              <a:t>/fpp3/</a:t>
            </a:r>
            <a:r>
              <a:rPr lang="ru-RU" dirty="0" err="1"/>
              <a:t>acf.html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21770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3ED5BB-127A-7415-8A44-D4E77DF70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776" y="200518"/>
            <a:ext cx="10847024" cy="725545"/>
          </a:xfrm>
        </p:spPr>
        <p:txBody>
          <a:bodyPr/>
          <a:lstStyle/>
          <a:p>
            <a:pPr algn="ctr"/>
            <a:r>
              <a:rPr lang="ru-RU" dirty="0"/>
              <a:t>З</a:t>
            </a:r>
            <a:r>
              <a:rPr lang="en-US" dirty="0" err="1"/>
              <a:t>амеч</a:t>
            </a:r>
            <a:r>
              <a:rPr lang="ru-RU" dirty="0" err="1"/>
              <a:t>ания</a:t>
            </a:r>
            <a:r>
              <a:rPr lang="ru-RU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3E3889A-0244-8314-4FF6-4AEB15AC90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5166" y="773426"/>
                <a:ext cx="11655846" cy="5086293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𝑐𝑜𝑟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l-GR" sz="2400" dirty="0"/>
                  <a:t>&gt;0 – </a:t>
                </a:r>
                <a:r>
                  <a:rPr lang="ru-RU" sz="2400" dirty="0"/>
                  <a:t>положительная корреляция, то есть чем </a:t>
                </a:r>
                <a:r>
                  <a:rPr lang="ru-RU" sz="2400" i="1" dirty="0"/>
                  <a:t>больше</a:t>
                </a:r>
                <a:r>
                  <a:rPr lang="ru-RU" sz="2400" dirty="0"/>
                  <a:t> было значение вчера, тем оно будет </a:t>
                </a:r>
                <a:r>
                  <a:rPr lang="ru-RU" sz="2400" i="1" dirty="0"/>
                  <a:t>больше</a:t>
                </a:r>
                <a:r>
                  <a:rPr lang="ru-RU" sz="2400" dirty="0"/>
                  <a:t> сегодня;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𝑐𝑜𝑟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l-GR" sz="2400" dirty="0"/>
                  <a:t>​&lt;0 – </a:t>
                </a:r>
                <a:r>
                  <a:rPr lang="ru-RU" sz="2400" dirty="0"/>
                  <a:t>отрицательная корреляция, то есть чем </a:t>
                </a:r>
                <a:r>
                  <a:rPr lang="ru-RU" sz="2400" i="1" dirty="0"/>
                  <a:t>больше</a:t>
                </a:r>
                <a:r>
                  <a:rPr lang="ru-RU" sz="2400" dirty="0"/>
                  <a:t> было значение вчера, тем оно будет </a:t>
                </a:r>
                <a:r>
                  <a:rPr lang="ru-RU" sz="2400" i="1" dirty="0"/>
                  <a:t>меньше</a:t>
                </a:r>
                <a:r>
                  <a:rPr lang="ru-RU" sz="2400" dirty="0"/>
                  <a:t> сегодня;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" sz="2400" dirty="0"/>
                      <m:t>∣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𝑐𝑜𝑟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m:rPr>
                        <m:nor/>
                      </m:rPr>
                      <a:rPr lang="el-GR" sz="2400" dirty="0"/>
                      <m:t>​∣⩽1;</m:t>
                    </m:r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𝑐𝑜𝑟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l-GR" sz="2400" dirty="0"/>
                  <a:t>=1 </a:t>
                </a:r>
                <a:r>
                  <a:rPr lang="ru-RU" sz="2400" dirty="0"/>
                  <a:t>означает строгую линейную зависимость.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" sz="2400" dirty="0"/>
                      <m:t>∣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𝑐𝑜𝑟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l-GR" sz="2400" dirty="0"/>
                      <m:t>​∣⩽</m:t>
                    </m:r>
                    <m:r>
                      <m:rPr>
                        <m:nor/>
                      </m:rPr>
                      <a:rPr lang="ru-RU" sz="2400" b="0" i="0" dirty="0" smtClean="0"/>
                      <m:t>0.05 (0.01) может колебаться из за шума</m:t>
                    </m:r>
                  </m:oMath>
                </a14:m>
                <a:endParaRPr lang="ru-RU" sz="2400" b="0" dirty="0"/>
              </a:p>
              <a:p>
                <a:r>
                  <a:rPr lang="ru-RU" sz="2400" dirty="0"/>
                  <a:t>Значимые корреляции проверяются отельными</a:t>
                </a:r>
                <a:br>
                  <a:rPr lang="ru-RU" sz="2400" dirty="0"/>
                </a:br>
                <a:r>
                  <a:rPr lang="ru-RU" sz="2400" dirty="0"/>
                  <a:t> стат. тестами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3E3889A-0244-8314-4FF6-4AEB15AC90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5166" y="773426"/>
                <a:ext cx="11655846" cy="5086293"/>
              </a:xfrm>
              <a:blipFill>
                <a:blip r:embed="rId2"/>
                <a:stretch>
                  <a:fillRect l="-653" t="-1244" r="-97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0DB019B-3104-A600-AEB2-42CB0E2A7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7</a:t>
            </a:fld>
            <a:endParaRPr lang="en-US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61474F1-1290-7EF6-E2E4-2A58FE82A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084" y="4898985"/>
            <a:ext cx="4982760" cy="1454427"/>
          </a:xfrm>
          <a:prstGeom prst="rect">
            <a:avLst/>
          </a:prstGeom>
        </p:spPr>
      </p:pic>
      <p:pic>
        <p:nvPicPr>
          <p:cNvPr id="1029" name="Picture 5">
            <a:extLst>
              <a:ext uri="{FF2B5EF4-FFF2-40B4-BE49-F238E27FC236}">
                <a16:creationId xmlns:a16="http://schemas.microsoft.com/office/drawing/2014/main" id="{7E8AF36A-0838-C3AB-9A29-306D244FB4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1205" y="2679878"/>
            <a:ext cx="4655171" cy="3179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8999D0E-571B-F326-BDB2-26FF2D54EFBE}"/>
              </a:ext>
            </a:extLst>
          </p:cNvPr>
          <p:cNvSpPr txBox="1"/>
          <p:nvPr/>
        </p:nvSpPr>
        <p:spPr>
          <a:xfrm>
            <a:off x="6136434" y="5707081"/>
            <a:ext cx="5740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Четыре различных набора данных, коэффициент корреляции на которых равен 0.81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2B4922-0E0E-77D6-DC87-7ED5B07D70E3}"/>
              </a:ext>
            </a:extLst>
          </p:cNvPr>
          <p:cNvSpPr txBox="1"/>
          <p:nvPr/>
        </p:nvSpPr>
        <p:spPr>
          <a:xfrm>
            <a:off x="478090" y="6247588"/>
            <a:ext cx="51353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education.yandex.ru</a:t>
            </a:r>
            <a:r>
              <a:rPr lang="ru-RU" sz="1200" dirty="0"/>
              <a:t>/</a:t>
            </a:r>
            <a:r>
              <a:rPr lang="ru-RU" sz="1200" dirty="0" err="1"/>
              <a:t>handbook</a:t>
            </a:r>
            <a:r>
              <a:rPr lang="ru-RU" sz="1200" dirty="0"/>
              <a:t>/</a:t>
            </a:r>
            <a:r>
              <a:rPr lang="ru-RU" sz="1200" dirty="0" err="1"/>
              <a:t>ml</a:t>
            </a:r>
            <a:r>
              <a:rPr lang="ru-RU" sz="1200" dirty="0"/>
              <a:t>/</a:t>
            </a:r>
            <a:r>
              <a:rPr lang="ru-RU" sz="1200" dirty="0" err="1"/>
              <a:t>article</a:t>
            </a:r>
            <a:r>
              <a:rPr lang="ru-RU" sz="1200" dirty="0"/>
              <a:t>/</a:t>
            </a:r>
            <a:r>
              <a:rPr lang="ru-RU" sz="1200" dirty="0" err="1"/>
              <a:t>analitika-vremennyh-ryadov</a:t>
            </a:r>
            <a:endParaRPr lang="ru-RU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1EC631-2FAB-3BE2-13B0-4F9C3AF0E2A7}"/>
              </a:ext>
            </a:extLst>
          </p:cNvPr>
          <p:cNvSpPr txBox="1"/>
          <p:nvPr/>
        </p:nvSpPr>
        <p:spPr>
          <a:xfrm>
            <a:off x="5759374" y="6280875"/>
            <a:ext cx="62520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</a:t>
            </a:r>
            <a:r>
              <a:rPr lang="ru-RU" sz="1200" dirty="0"/>
              <a:t>://</a:t>
            </a:r>
            <a:r>
              <a:rPr lang="ru-RU" sz="1200" dirty="0" err="1"/>
              <a:t>www.machinelearning.ru</a:t>
            </a:r>
            <a:r>
              <a:rPr lang="ru-RU" sz="1200" dirty="0"/>
              <a:t>/</a:t>
            </a:r>
            <a:r>
              <a:rPr lang="ru-RU" sz="1200" dirty="0" err="1"/>
              <a:t>wiki</a:t>
            </a:r>
            <a:r>
              <a:rPr lang="ru-RU" sz="1200" dirty="0"/>
              <a:t>/</a:t>
            </a:r>
            <a:r>
              <a:rPr lang="ru-RU" sz="1200" dirty="0" err="1"/>
              <a:t>index.php?title</a:t>
            </a:r>
            <a:r>
              <a:rPr lang="ru-RU" sz="1200" dirty="0"/>
              <a:t>= </a:t>
            </a:r>
            <a:r>
              <a:rPr lang="ru-RU" sz="1200" dirty="0" err="1"/>
              <a:t>Коэффициент_корреляции_Пирсона</a:t>
            </a:r>
            <a:endParaRPr lang="ru-RU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DF8012A-2CB8-72E3-3F96-4D182E87DB07}"/>
                  </a:ext>
                </a:extLst>
              </p:cNvPr>
              <p:cNvSpPr txBox="1"/>
              <p:nvPr/>
            </p:nvSpPr>
            <p:spPr>
              <a:xfrm>
                <a:off x="839769" y="4201000"/>
                <a:ext cx="609783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𝑐𝑜𝑟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l-GR" sz="1800" dirty="0"/>
                  <a:t>=0 – </a:t>
                </a:r>
                <a:r>
                  <a:rPr lang="ru-RU" sz="1800" dirty="0"/>
                  <a:t>отсутствие автокорреляции, при этом значения могут быть зависимыми;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DF8012A-2CB8-72E3-3F96-4D182E87DB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769" y="4201000"/>
                <a:ext cx="6097836" cy="646331"/>
              </a:xfrm>
              <a:prstGeom prst="rect">
                <a:avLst/>
              </a:prstGeom>
              <a:blipFill>
                <a:blip r:embed="rId5"/>
                <a:stretch>
                  <a:fillRect l="-1040" t="-3846" b="-1346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995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808D33-ED14-B6CA-1D53-1B9E7F3C7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154" y="251842"/>
            <a:ext cx="11023294" cy="1067067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Пример дорожно-транспортных происшествий за 14 лет с дискретностью 1 месяц,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0EB80A-8708-FE17-1283-675B44B1F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60" y="1290544"/>
            <a:ext cx="6409987" cy="5567456"/>
          </a:xfrm>
        </p:spPr>
        <p:txBody>
          <a:bodyPr>
            <a:normAutofit/>
          </a:bodyPr>
          <a:lstStyle/>
          <a:p>
            <a:r>
              <a:rPr lang="ru-RU" sz="2000" dirty="0"/>
              <a:t>Видна годовая сезонность.</a:t>
            </a:r>
          </a:p>
          <a:p>
            <a:r>
              <a:rPr lang="ru-RU" sz="2000" dirty="0"/>
              <a:t>На графике АКФ видны максимуму на 12 лагах</a:t>
            </a:r>
          </a:p>
          <a:p>
            <a:r>
              <a:rPr lang="en" sz="2000" i="1" dirty="0"/>
              <a:t>r</a:t>
            </a:r>
            <a:r>
              <a:rPr lang="en" sz="2000" baseline="-25000" dirty="0"/>
              <a:t>12</a:t>
            </a:r>
            <a:r>
              <a:rPr lang="en" sz="2000" dirty="0"/>
              <a:t>​ </a:t>
            </a:r>
            <a:r>
              <a:rPr lang="ru-RU" sz="2000" dirty="0"/>
              <a:t>является локальным максимумом, что означает высокую положительную корреляцию значения ряда за текущий месяц с аналогичным значением год назад. </a:t>
            </a:r>
          </a:p>
          <a:p>
            <a:r>
              <a:rPr lang="ru-RU" sz="2200" dirty="0"/>
              <a:t>Закрашенная область визуализирует границу незначимой автокорреляции, то есть тех значений автокорреляции, для которых не выявлена статистически значимое отличие от 0 (иначе говоря, доверительный интервал пересекает 0).</a:t>
            </a:r>
          </a:p>
          <a:p>
            <a:r>
              <a:rPr lang="ru-RU" sz="2200" dirty="0"/>
              <a:t>Значимые лаги: 1, 2, 6, 12, 24 – именно эти лаги связаны и на них имеет смысл строить прогноз (0 лаг не считается!)</a:t>
            </a:r>
            <a:endParaRPr lang="ru-RU" sz="13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5077126-4ACD-5BB7-D444-3F25CEA34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8</a:t>
            </a:fld>
            <a:endParaRPr lang="en-US"/>
          </a:p>
        </p:txBody>
      </p:sp>
      <p:pic>
        <p:nvPicPr>
          <p:cNvPr id="2050" name="Picture 2" descr="ex">
            <a:extLst>
              <a:ext uri="{FF2B5EF4-FFF2-40B4-BE49-F238E27FC236}">
                <a16:creationId xmlns:a16="http://schemas.microsoft.com/office/drawing/2014/main" id="{E80B7204-5939-A61A-3D66-4CB8D9AE8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9200" y="1230123"/>
            <a:ext cx="5562294" cy="2374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ex">
            <a:extLst>
              <a:ext uri="{FF2B5EF4-FFF2-40B4-BE49-F238E27FC236}">
                <a16:creationId xmlns:a16="http://schemas.microsoft.com/office/drawing/2014/main" id="{7F87FE3F-E8B0-649D-36C2-1720B14307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8122" y="4049782"/>
            <a:ext cx="5420299" cy="240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FE1161-304E-9255-4C0B-8F9D8EADCD32}"/>
              </a:ext>
            </a:extLst>
          </p:cNvPr>
          <p:cNvSpPr txBox="1"/>
          <p:nvPr/>
        </p:nvSpPr>
        <p:spPr>
          <a:xfrm>
            <a:off x="3581401" y="6452782"/>
            <a:ext cx="84967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 err="1"/>
              <a:t>https</a:t>
            </a:r>
            <a:r>
              <a:rPr lang="ru-RU" sz="1600" dirty="0"/>
              <a:t>://</a:t>
            </a:r>
            <a:r>
              <a:rPr lang="ru-RU" sz="1600" dirty="0" err="1"/>
              <a:t>education.yandex.ru</a:t>
            </a:r>
            <a:r>
              <a:rPr lang="ru-RU" sz="1600" dirty="0"/>
              <a:t>/</a:t>
            </a:r>
            <a:r>
              <a:rPr lang="ru-RU" sz="1600" dirty="0" err="1"/>
              <a:t>handbook</a:t>
            </a:r>
            <a:r>
              <a:rPr lang="ru-RU" sz="1600" dirty="0"/>
              <a:t>/</a:t>
            </a:r>
            <a:r>
              <a:rPr lang="ru-RU" sz="1600" dirty="0" err="1"/>
              <a:t>ml</a:t>
            </a:r>
            <a:r>
              <a:rPr lang="ru-RU" sz="1600" dirty="0"/>
              <a:t>/</a:t>
            </a:r>
            <a:r>
              <a:rPr lang="ru-RU" sz="1600" dirty="0" err="1"/>
              <a:t>article</a:t>
            </a:r>
            <a:r>
              <a:rPr lang="ru-RU" sz="1600" dirty="0"/>
              <a:t>/</a:t>
            </a:r>
            <a:r>
              <a:rPr lang="ru-RU" sz="1600" dirty="0" err="1"/>
              <a:t>analitika-vremennyh-ryadov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357885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44C83-235B-4AAE-B0A4-C9FB77FCA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A33933-0FF6-28B2-7970-86106396A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4120"/>
            <a:ext cx="10515600" cy="782357"/>
          </a:xfrm>
        </p:spPr>
        <p:txBody>
          <a:bodyPr/>
          <a:lstStyle/>
          <a:p>
            <a:pPr algn="ctr"/>
            <a:r>
              <a:rPr lang="ru-RU" b="1" dirty="0"/>
              <a:t>Корреляция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E6DD14-17BE-1876-BA26-EDBFF92FB7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926" y="1010958"/>
            <a:ext cx="11293973" cy="57105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dirty="0"/>
              <a:t>Пример ACF. Синяя линия показывает уверенность  согласно тексту Бокса-</a:t>
            </a:r>
            <a:r>
              <a:rPr lang="ru-RU" sz="2200" dirty="0" err="1"/>
              <a:t>Льюнга</a:t>
            </a:r>
            <a:r>
              <a:rPr lang="ru-RU" sz="2200" dirty="0"/>
              <a:t> по уровню </a:t>
            </a:r>
            <a:r>
              <a:rPr lang="en-US" sz="2200" dirty="0"/>
              <a:t>p</a:t>
            </a:r>
            <a:r>
              <a:rPr lang="ru-RU" sz="2200" dirty="0"/>
              <a:t>-</a:t>
            </a:r>
            <a:r>
              <a:rPr lang="en-US" sz="2200" dirty="0"/>
              <a:t>value</a:t>
            </a:r>
            <a:r>
              <a:rPr lang="ru-RU" sz="2200" dirty="0"/>
              <a:t> 0,05(корреляции ниже – случайные).</a:t>
            </a:r>
          </a:p>
          <a:p>
            <a:pPr marL="0" indent="0">
              <a:buNone/>
            </a:pPr>
            <a:r>
              <a:rPr lang="ru-RU" sz="2200" dirty="0"/>
              <a:t>ВР не имеет тренда и сезонности, каждое следующее значение связано с 3мя предыдущими</a:t>
            </a:r>
            <a:endParaRPr lang="en-US" sz="22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896886C-6E73-E8AD-E5D2-2AF8B4037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9</a:t>
            </a:fld>
            <a:endParaRPr lang="en-US"/>
          </a:p>
        </p:txBody>
      </p:sp>
      <p:pic>
        <p:nvPicPr>
          <p:cNvPr id="6146" name="Picture 2" descr="image.png">
            <a:extLst>
              <a:ext uri="{FF2B5EF4-FFF2-40B4-BE49-F238E27FC236}">
                <a16:creationId xmlns:a16="http://schemas.microsoft.com/office/drawing/2014/main" id="{363BC3FD-33D8-EDAB-9F86-38F046F0EF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594109"/>
            <a:ext cx="10515599" cy="31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D22872-326F-18EB-8E85-45286CF14BA9}"/>
              </a:ext>
            </a:extLst>
          </p:cNvPr>
          <p:cNvSpPr txBox="1"/>
          <p:nvPr/>
        </p:nvSpPr>
        <p:spPr>
          <a:xfrm>
            <a:off x="6604000" y="602376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library.altspu.ru</a:t>
            </a:r>
            <a:r>
              <a:rPr lang="ru-RU" dirty="0"/>
              <a:t>/</a:t>
            </a:r>
            <a:r>
              <a:rPr lang="ru-RU" dirty="0" err="1"/>
              <a:t>dc</a:t>
            </a:r>
            <a:r>
              <a:rPr lang="ru-RU" dirty="0"/>
              <a:t>/</a:t>
            </a:r>
            <a:r>
              <a:rPr lang="ru-RU" dirty="0" err="1"/>
              <a:t>pdf</a:t>
            </a:r>
            <a:r>
              <a:rPr lang="ru-RU" dirty="0"/>
              <a:t>/</a:t>
            </a:r>
            <a:r>
              <a:rPr lang="ru-RU" dirty="0" err="1"/>
              <a:t>kizbikenov.pdf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9557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383EC4-8F67-20B6-5BB9-4FD4C80D2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655" y="136525"/>
            <a:ext cx="11035145" cy="909493"/>
          </a:xfrm>
        </p:spPr>
        <p:txBody>
          <a:bodyPr/>
          <a:lstStyle/>
          <a:p>
            <a:pPr algn="ctr"/>
            <a:r>
              <a:rPr lang="ru-RU" dirty="0"/>
              <a:t>Замечания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8746E5-8498-3604-B42B-E7AF22FB2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878" y="861218"/>
            <a:ext cx="11631468" cy="4993482"/>
          </a:xfrm>
        </p:spPr>
        <p:txBody>
          <a:bodyPr>
            <a:normAutofit/>
          </a:bodyPr>
          <a:lstStyle/>
          <a:p>
            <a:r>
              <a:rPr lang="ru-RU" sz="2200" b="1" dirty="0"/>
              <a:t>ВР имеет тренд –&gt; </a:t>
            </a:r>
            <a:r>
              <a:rPr lang="ru-RU" sz="2200" dirty="0"/>
              <a:t>АКФ для небольших лагов, как правило, большие и положительные, поскольку наблюдения, близкие по времени, также близки по значению. </a:t>
            </a:r>
          </a:p>
          <a:p>
            <a:pPr lvl="1"/>
            <a:r>
              <a:rPr lang="ru-RU" sz="2200" dirty="0"/>
              <a:t>Таким образом, </a:t>
            </a:r>
            <a:r>
              <a:rPr lang="en" sz="2200" dirty="0"/>
              <a:t>ACF </a:t>
            </a:r>
            <a:r>
              <a:rPr lang="ru-RU" sz="2200" dirty="0"/>
              <a:t>трендового временного ряда, как правило, имеет положительные значения, которые медленно уменьшаются по мере увеличения лагов.</a:t>
            </a:r>
          </a:p>
          <a:p>
            <a:r>
              <a:rPr lang="ru-RU" sz="2200" b="1" dirty="0"/>
              <a:t>Если данные сезонные</a:t>
            </a:r>
            <a:r>
              <a:rPr lang="ru-RU" sz="2200" dirty="0"/>
              <a:t>, автокорреляции будут больше для сезонных лагов (кратных сезонному периоду), чем для других лагов.</a:t>
            </a:r>
          </a:p>
          <a:p>
            <a:r>
              <a:rPr lang="ru-RU" sz="2200" b="1" dirty="0"/>
              <a:t>Данные являются как трендовыми, так и сезонными</a:t>
            </a:r>
            <a:r>
              <a:rPr lang="ru-RU" sz="2200" dirty="0"/>
              <a:t>, будет иметь место комбинация этих эффектов</a:t>
            </a:r>
            <a:r>
              <a:rPr lang="en-US" sz="2200" dirty="0"/>
              <a:t> (</a:t>
            </a:r>
            <a:r>
              <a:rPr lang="en-US" sz="2200" dirty="0" err="1"/>
              <a:t>см</a:t>
            </a:r>
            <a:r>
              <a:rPr lang="ru-RU" sz="2200" dirty="0"/>
              <a:t>. ниже).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10439D6-FBAC-9105-9726-C0D57B538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10</a:t>
            </a:fld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FAE7FECC-00BF-3EB6-BCFE-927426B084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978" y="3946948"/>
            <a:ext cx="4112343" cy="2591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886AD531-2C9B-BB91-4CEE-1902E77A9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6836" y="3960387"/>
            <a:ext cx="4304291" cy="2712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29B540-6FFC-6740-2DA4-DE2C2AF66693}"/>
              </a:ext>
            </a:extLst>
          </p:cNvPr>
          <p:cNvSpPr txBox="1"/>
          <p:nvPr/>
        </p:nvSpPr>
        <p:spPr>
          <a:xfrm>
            <a:off x="2597727" y="6488668"/>
            <a:ext cx="6137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otexts.com</a:t>
            </a:r>
            <a:r>
              <a:rPr lang="ru-RU" dirty="0"/>
              <a:t>/</a:t>
            </a:r>
            <a:r>
              <a:rPr lang="ru-RU" dirty="0" err="1"/>
              <a:t>fpppy</a:t>
            </a:r>
            <a:r>
              <a:rPr lang="ru-RU" dirty="0"/>
              <a:t>/</a:t>
            </a:r>
            <a:r>
              <a:rPr lang="ru-RU" dirty="0" err="1"/>
              <a:t>nbs</a:t>
            </a:r>
            <a:r>
              <a:rPr lang="ru-RU" dirty="0"/>
              <a:t>/02-graphics.html</a:t>
            </a:r>
          </a:p>
        </p:txBody>
      </p:sp>
    </p:spTree>
    <p:extLst>
      <p:ext uri="{BB962C8B-B14F-4D97-AF65-F5344CB8AC3E}">
        <p14:creationId xmlns:p14="http://schemas.microsoft.com/office/powerpoint/2010/main" val="1917184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321867-E96A-0A79-4583-D97552637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317501"/>
            <a:ext cx="11480800" cy="723900"/>
          </a:xfrm>
        </p:spPr>
        <p:txBody>
          <a:bodyPr>
            <a:normAutofit/>
          </a:bodyPr>
          <a:lstStyle/>
          <a:p>
            <a:r>
              <a:rPr lang="ru-RU" dirty="0"/>
              <a:t>Частичная автокорреляция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619FC89-5133-BB8B-A9FF-1295B4C4D4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2900" y="1041402"/>
                <a:ext cx="11480800" cy="5135562"/>
              </a:xfrm>
            </p:spPr>
            <p:txBody>
              <a:bodyPr>
                <a:normAutofit/>
              </a:bodyPr>
              <a:lstStyle/>
              <a:p>
                <a:r>
                  <a:rPr lang="ru-RU" sz="2100" dirty="0"/>
                  <a:t>Фактически АКФ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𝑐𝑜𝑟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100" dirty="0"/>
                  <a:t> показывает связанность ВР  и всех сдвинутых его копий до значения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ru-RU" sz="2100" dirty="0"/>
                  <a:t>. </a:t>
                </a:r>
              </a:p>
              <a:p>
                <a:pPr lvl="1"/>
                <a:r>
                  <a:rPr lang="ru-RU" sz="2100" dirty="0"/>
                  <a:t>Иногда это мешает понять связанность конкретно с лагом</a:t>
                </a:r>
                <a:r>
                  <a:rPr lang="en-US" sz="2100" dirty="0"/>
                  <a:t>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ru-RU" sz="2100" dirty="0"/>
                  <a:t>. Для компенсации этого используют </a:t>
                </a:r>
                <a:r>
                  <a:rPr lang="ru-RU" sz="2100" b="1" dirty="0"/>
                  <a:t>Частичную АКФ (ЧАКФ,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ru-RU" sz="2100" dirty="0"/>
                      <m:t>PACF</m:t>
                    </m:r>
                    <m:r>
                      <m:rPr>
                        <m:nor/>
                      </m:rPr>
                      <a:rPr lang="ru-RU" sz="2100" dirty="0"/>
                      <m:t>):</m:t>
                    </m:r>
                  </m:oMath>
                </a14:m>
                <a:endParaRPr lang="en-US" sz="21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>
                          <a:latin typeface="Cambria Math" panose="02040503050406030204" pitchFamily="18" charset="0"/>
                        </a:rPr>
                        <m:t>𝑃𝐴𝐶𝐹</m:t>
                      </m:r>
                      <m:d>
                        <m:d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21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𝑐𝑜𝑟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100" i="1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en-US" sz="21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100" i="1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en-US" sz="21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en-US" sz="2100" dirty="0"/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ru-RU" sz="2100" dirty="0"/>
                      <m:t>где</m:t>
                    </m:r>
                    <m:r>
                      <m:rPr>
                        <m:nor/>
                      </m:rPr>
                      <a:rPr lang="en-US" sz="2100" dirty="0"/>
                      <m:t> </m:t>
                    </m:r>
                    <m:sSubSup>
                      <m:sSubSup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m:rPr>
                        <m:nor/>
                      </m:rPr>
                      <a:rPr lang="en-US" sz="2100" dirty="0"/>
                      <m:t> -</m:t>
                    </m:r>
                    <m:r>
                      <m:rPr>
                        <m:nor/>
                      </m:rPr>
                      <a:rPr lang="ru-RU" sz="2100" dirty="0"/>
                      <m:t> значение, предсказанное как результат линейной регрессии </m:t>
                    </m:r>
                    <m:r>
                      <m:rPr>
                        <m:nor/>
                      </m:rPr>
                      <a:rPr lang="en-US" sz="2100" dirty="0"/>
                      <m:t> </m:t>
                    </m:r>
                    <m:r>
                      <m:rPr>
                        <m:nor/>
                      </m:rPr>
                      <a:rPr lang="ru-RU" sz="2100" dirty="0"/>
                      <m:t>по лагам 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21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2100" dirty="0"/>
                      <m:t> 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21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21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sz="2100" dirty="0"/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ru-RU" sz="2100" dirty="0"/>
                      <m:t>Частичная корреляция снимает (</m:t>
                    </m:r>
                    <m:r>
                      <m:rPr>
                        <m:nor/>
                      </m:rPr>
                      <a:rPr lang="ru-RU" sz="2100" dirty="0" err="1"/>
                      <m:t>устр</m:t>
                    </m:r>
                    <m:r>
                      <m:rPr>
                        <m:nor/>
                      </m:rPr>
                      <a:rPr lang="ru-RU" sz="2100" b="0" i="0" dirty="0" smtClean="0"/>
                      <m:t>о</m:t>
                    </m:r>
                    <m:r>
                      <m:rPr>
                        <m:nor/>
                      </m:rPr>
                      <a:rPr lang="ru-RU" sz="2100" dirty="0" err="1"/>
                      <m:t>няте</m:t>
                    </m:r>
                    <m:r>
                      <m:rPr>
                        <m:nor/>
                      </m:rPr>
                      <a:rPr lang="ru-RU" sz="2100" dirty="0"/>
                      <m:t>) линейную зависимость от промежуточных лагов</m:t>
                    </m:r>
                  </m:oMath>
                </a14:m>
                <a:endParaRPr lang="en-US" sz="2100" dirty="0"/>
              </a:p>
              <a:p>
                <a:pPr marL="457200" lvl="1" indent="0">
                  <a:buNone/>
                </a:pPr>
                <a:r>
                  <a:rPr lang="ru-RU" sz="2100" dirty="0"/>
                  <a:t>Например, если мы регрессируем переменную </a:t>
                </a:r>
                <a:r>
                  <a:rPr lang="ru-RU" sz="2100" dirty="0" err="1"/>
                  <a:t>Y</a:t>
                </a:r>
                <a:r>
                  <a:rPr lang="ru-RU" sz="2100" dirty="0"/>
                  <a:t> по переменным X1, X2 и X3, частичная корреляция между </a:t>
                </a:r>
                <a:r>
                  <a:rPr lang="ru-RU" sz="2100" dirty="0" err="1"/>
                  <a:t>Y</a:t>
                </a:r>
                <a:r>
                  <a:rPr lang="ru-RU" sz="2100" dirty="0"/>
                  <a:t> и X3 - это степень корреляции между </a:t>
                </a:r>
                <a:r>
                  <a:rPr lang="ru-RU" sz="2100" dirty="0" err="1"/>
                  <a:t>Y</a:t>
                </a:r>
                <a:r>
                  <a:rPr lang="ru-RU" sz="2100" dirty="0"/>
                  <a:t> и X3, которая не объясняется их общими корреляциями с X1 и X2. </a:t>
                </a:r>
                <a:endParaRPr lang="en-US" sz="2100" dirty="0"/>
              </a:p>
              <a:p>
                <a:pPr marL="457200" lvl="1" indent="0">
                  <a:buNone/>
                </a:pPr>
                <a:r>
                  <a:rPr lang="ru-RU" b="1" dirty="0"/>
                  <a:t>	</a:t>
                </a:r>
                <a:endParaRPr lang="ru-RU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619FC89-5133-BB8B-A9FF-1295B4C4D4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2900" y="1041402"/>
                <a:ext cx="11480800" cy="5135562"/>
              </a:xfrm>
              <a:blipFill>
                <a:blip r:embed="rId3"/>
                <a:stretch>
                  <a:fillRect l="-442" t="-14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B60B919-B531-0487-B565-BBFBD78DE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11</a:t>
            </a:fld>
            <a:endParaRPr lang="en-US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A70EA36A-6C6A-569D-0A4F-2A8F1F86D25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z</a:t>
            </a:r>
            <a:endParaRPr lang="ru-RU" dirty="0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5E3123F7-B5BC-000D-9F1B-D13A79BF0E0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F34EC4F-1B05-05D3-3E1D-CF9CAB6A5F7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0000"/>
          <a:stretch>
            <a:fillRect/>
          </a:stretch>
        </p:blipFill>
        <p:spPr>
          <a:xfrm>
            <a:off x="696423" y="4365012"/>
            <a:ext cx="4535358" cy="175755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268194A-4251-58E0-17CF-7ED2E36299E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60" t="47448" r="-3360" b="2552"/>
          <a:stretch>
            <a:fillRect/>
          </a:stretch>
        </p:blipFill>
        <p:spPr>
          <a:xfrm>
            <a:off x="6342921" y="4285595"/>
            <a:ext cx="4535358" cy="17575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B843FAA-D681-989C-D7DB-7844E3AC3F6C}"/>
              </a:ext>
            </a:extLst>
          </p:cNvPr>
          <p:cNvSpPr txBox="1"/>
          <p:nvPr/>
        </p:nvSpPr>
        <p:spPr>
          <a:xfrm>
            <a:off x="5419493" y="6059206"/>
            <a:ext cx="3878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</a:t>
            </a:r>
            <a:r>
              <a:rPr lang="en-US" dirty="0" err="1"/>
              <a:t>а</a:t>
            </a:r>
            <a:r>
              <a:rPr lang="ru-RU" dirty="0"/>
              <a:t> ЧАКФ видны сезонные колебания </a:t>
            </a:r>
          </a:p>
        </p:txBody>
      </p:sp>
    </p:spTree>
    <p:extLst>
      <p:ext uri="{BB962C8B-B14F-4D97-AF65-F5344CB8AC3E}">
        <p14:creationId xmlns:p14="http://schemas.microsoft.com/office/powerpoint/2010/main" val="4076568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AFBC2-18F6-B6F1-089D-7DA695D3C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78F64A-909A-8502-663F-7CEF36850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317501"/>
            <a:ext cx="11480800" cy="723900"/>
          </a:xfrm>
        </p:spPr>
        <p:txBody>
          <a:bodyPr>
            <a:normAutofit/>
          </a:bodyPr>
          <a:lstStyle/>
          <a:p>
            <a:r>
              <a:rPr lang="ru-RU" dirty="0"/>
              <a:t>Частичная автокорреляция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89A096-BA9C-B641-5BB5-6DD59D4EC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041402"/>
            <a:ext cx="11480800" cy="5135562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ru-RU" b="1" dirty="0"/>
              <a:t>	пример: В индустрии: </a:t>
            </a:r>
            <a:r>
              <a:rPr lang="ru-RU" dirty="0"/>
              <a:t>отделение сигнала поломки оборудования по вибрации от регулярных вибраций</a:t>
            </a:r>
          </a:p>
          <a:p>
            <a:pPr marL="457200" lvl="1" indent="0">
              <a:buNone/>
            </a:pPr>
            <a:r>
              <a:rPr lang="ru-RU" b="1" dirty="0"/>
              <a:t>в гидрологии </a:t>
            </a:r>
            <a:r>
              <a:rPr lang="en" dirty="0"/>
              <a:t>PACF </a:t>
            </a:r>
            <a:r>
              <a:rPr lang="ru-RU" dirty="0"/>
              <a:t>отделяет влияние непосредственных предшествующих наблюдений от сезонных эффектов</a:t>
            </a:r>
          </a:p>
          <a:p>
            <a:pPr marL="457200" lvl="1" indent="0">
              <a:buNone/>
            </a:pPr>
            <a:r>
              <a:rPr lang="ru-RU" b="1" dirty="0"/>
              <a:t>		в машинном обучении: </a:t>
            </a:r>
            <a:r>
              <a:rPr lang="ru-RU" dirty="0"/>
              <a:t>формирование признаков только из нужных лагов без избыточности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DF9A2F-EC74-30BC-44D8-4BFE998E4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403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47D957-91ED-4DFD-BF38-CD0297336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4120"/>
            <a:ext cx="10515600" cy="782357"/>
          </a:xfrm>
        </p:spPr>
        <p:txBody>
          <a:bodyPr/>
          <a:lstStyle/>
          <a:p>
            <a:pPr algn="ctr"/>
            <a:r>
              <a:rPr lang="ru-RU" b="1" dirty="0"/>
              <a:t>Анализ стационарности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718F5E-C23C-4099-A406-E529666DEA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072" y="1006477"/>
            <a:ext cx="11222182" cy="58174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/>
              <a:t>Нестационарный ряд </a:t>
            </a:r>
            <a:r>
              <a:rPr lang="ru-RU" sz="2400" dirty="0"/>
              <a:t>- временной ряд считается нестационарным, если некоторые из его статистических свойств меняются с течением времени. </a:t>
            </a:r>
          </a:p>
          <a:p>
            <a:pPr marL="0" indent="0">
              <a:buNone/>
            </a:pPr>
            <a:r>
              <a:rPr lang="ru-RU" sz="2400" dirty="0"/>
              <a:t>Другими словами, ВР имеет переменную среднего времени, дисперсию или другие статистические характеристики.</a:t>
            </a:r>
            <a:endParaRPr lang="en-US" sz="3200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AE4B016-46C5-1BFB-262D-5EBB825C0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13</a:t>
            </a:fld>
            <a:endParaRPr lang="en-US"/>
          </a:p>
        </p:txBody>
      </p:sp>
      <p:pic>
        <p:nvPicPr>
          <p:cNvPr id="7170" name="Picture 2" descr="image.png">
            <a:extLst>
              <a:ext uri="{FF2B5EF4-FFF2-40B4-BE49-F238E27FC236}">
                <a16:creationId xmlns:a16="http://schemas.microsoft.com/office/drawing/2014/main" id="{0FBAF8A5-46C7-4F6E-B148-B2008975F9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135"/>
          <a:stretch/>
        </p:blipFill>
        <p:spPr bwMode="auto">
          <a:xfrm>
            <a:off x="2366105" y="2938311"/>
            <a:ext cx="6992302" cy="3132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2" descr="Stationarity in time series analysis | by Shay Palachy | Towards Data  Science"/>
          <p:cNvSpPr>
            <a:spLocks noChangeAspect="1" noChangeArrowheads="1"/>
          </p:cNvSpPr>
          <p:nvPr/>
        </p:nvSpPr>
        <p:spPr bwMode="auto">
          <a:xfrm>
            <a:off x="-1368425" y="-144462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1351"/>
          </a:p>
        </p:txBody>
      </p:sp>
    </p:spTree>
    <p:extLst>
      <p:ext uri="{BB962C8B-B14F-4D97-AF65-F5344CB8AC3E}">
        <p14:creationId xmlns:p14="http://schemas.microsoft.com/office/powerpoint/2010/main" val="1644174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30CA84-E3AD-B7BB-82C3-9F98F663E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624" y="365125"/>
            <a:ext cx="10946176" cy="604359"/>
          </a:xfrm>
        </p:spPr>
        <p:txBody>
          <a:bodyPr>
            <a:normAutofit fontScale="90000"/>
          </a:bodyPr>
          <a:lstStyle/>
          <a:p>
            <a:r>
              <a:rPr lang="ru-RU" dirty="0"/>
              <a:t>Стационарность ВР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8EA5FD-8A38-5591-1AF1-A2953088A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624" y="946446"/>
            <a:ext cx="11673540" cy="4965108"/>
          </a:xfrm>
        </p:spPr>
        <p:txBody>
          <a:bodyPr>
            <a:normAutofit/>
          </a:bodyPr>
          <a:lstStyle/>
          <a:p>
            <a:r>
              <a:rPr lang="ru-RU" sz="2200" b="1" dirty="0"/>
              <a:t>В узком смысле, </a:t>
            </a:r>
            <a:r>
              <a:rPr lang="ru-RU" sz="2200" dirty="0"/>
              <a:t>при сдвиге в любой момент времени ВР на одном и </a:t>
            </a:r>
            <a:r>
              <a:rPr lang="ru-RU" sz="2200" dirty="0" err="1"/>
              <a:t>томже</a:t>
            </a:r>
            <a:r>
              <a:rPr lang="ru-RU" sz="2200" dirty="0"/>
              <a:t> размер. Выборки имеет одно и тоже распределение </a:t>
            </a:r>
          </a:p>
          <a:p>
            <a:pPr lvl="1"/>
            <a:r>
              <a:rPr lang="ru-RU" sz="2200" dirty="0"/>
              <a:t>если для любых  </a:t>
            </a:r>
            <a:r>
              <a:rPr lang="en" sz="2200" dirty="0"/>
              <a:t>t</a:t>
            </a:r>
            <a:r>
              <a:rPr lang="en" sz="2200" baseline="-25000" dirty="0"/>
              <a:t>1</a:t>
            </a:r>
            <a:r>
              <a:rPr lang="en" sz="2200" dirty="0"/>
              <a:t>,...,</a:t>
            </a:r>
            <a:r>
              <a:rPr lang="en" sz="2200" dirty="0" err="1"/>
              <a:t>t</a:t>
            </a:r>
            <a:r>
              <a:rPr lang="en" sz="2200" baseline="-25000" dirty="0" err="1"/>
              <a:t>n</a:t>
            </a:r>
            <a:r>
              <a:rPr lang="en" sz="2200" dirty="0"/>
              <a:t>,</a:t>
            </a:r>
            <a:r>
              <a:rPr lang="ru-RU" sz="2200" dirty="0"/>
              <a:t> и </a:t>
            </a:r>
            <a:r>
              <a:rPr lang="el-GR" sz="2200" dirty="0"/>
              <a:t>τ </a:t>
            </a:r>
            <a:r>
              <a:rPr lang="ru-RU" sz="2200" dirty="0"/>
              <a:t>вектор (</a:t>
            </a:r>
            <a:r>
              <a:rPr lang="en" sz="2200" dirty="0"/>
              <a:t>y</a:t>
            </a:r>
            <a:r>
              <a:rPr lang="en" sz="2200" baseline="-25000" dirty="0"/>
              <a:t>t1+</a:t>
            </a:r>
            <a:r>
              <a:rPr lang="el-GR" sz="2200" baseline="-25000" dirty="0"/>
              <a:t>τ</a:t>
            </a:r>
            <a:r>
              <a:rPr lang="el-GR" sz="2200" dirty="0"/>
              <a:t>,...,</a:t>
            </a:r>
            <a:r>
              <a:rPr lang="en" sz="2200" dirty="0" err="1"/>
              <a:t>y</a:t>
            </a:r>
            <a:r>
              <a:rPr lang="en" sz="2200" baseline="-25000" dirty="0" err="1"/>
              <a:t>tn</a:t>
            </a:r>
            <a:r>
              <a:rPr lang="en" sz="2200" baseline="-25000" dirty="0"/>
              <a:t>+</a:t>
            </a:r>
            <a:r>
              <a:rPr lang="el-GR" sz="2200" baseline="-25000" dirty="0"/>
              <a:t>τ</a:t>
            </a:r>
            <a:r>
              <a:rPr lang="el-GR" sz="2200" dirty="0"/>
              <a:t>)</a:t>
            </a:r>
            <a:r>
              <a:rPr lang="ru-RU" sz="2200" dirty="0"/>
              <a:t> совпадает по распределению с (</a:t>
            </a:r>
            <a:r>
              <a:rPr lang="en" sz="2200" dirty="0"/>
              <a:t>y</a:t>
            </a:r>
            <a:r>
              <a:rPr lang="en" sz="2200" baseline="-25000" dirty="0"/>
              <a:t>t1</a:t>
            </a:r>
            <a:r>
              <a:rPr lang="en" sz="2200" dirty="0"/>
              <a:t>,...,</a:t>
            </a:r>
            <a:r>
              <a:rPr lang="en" sz="2200" dirty="0" err="1"/>
              <a:t>y</a:t>
            </a:r>
            <a:r>
              <a:rPr lang="en" sz="2200" baseline="-25000" dirty="0" err="1"/>
              <a:t>tn</a:t>
            </a:r>
            <a:r>
              <a:rPr lang="ru-RU" sz="2200" dirty="0"/>
              <a:t>)</a:t>
            </a:r>
          </a:p>
          <a:p>
            <a:r>
              <a:rPr lang="ru-RU" sz="2200" b="1" dirty="0"/>
              <a:t>В широком смысле: </a:t>
            </a:r>
            <a:r>
              <a:rPr lang="ru-RU" sz="2200" dirty="0"/>
              <a:t>если статистические свойства ВР не меняются с течением времени. </a:t>
            </a:r>
            <a:endParaRPr lang="en-US" sz="2200" dirty="0"/>
          </a:p>
          <a:p>
            <a:r>
              <a:rPr lang="ru-RU" sz="2200" dirty="0"/>
              <a:t>Другими словами, </a:t>
            </a:r>
            <a:r>
              <a:rPr lang="en-US" sz="2200" dirty="0" err="1"/>
              <a:t>ряд</a:t>
            </a:r>
            <a:r>
              <a:rPr lang="ru-RU" sz="2200" dirty="0"/>
              <a:t> имеет постоянное среднее значение и дисперсию, а ковариация зависит только от разницы индексов лагов. </a:t>
            </a:r>
          </a:p>
          <a:p>
            <a:pPr lvl="1"/>
            <a:r>
              <a:rPr lang="ru-RU" sz="2200" dirty="0"/>
              <a:t>указанные статистические характеристики не должны быть бесконечными.</a:t>
            </a:r>
          </a:p>
          <a:p>
            <a:pPr lvl="1"/>
            <a:r>
              <a:rPr lang="en" sz="1800" dirty="0"/>
              <a:t>E</a:t>
            </a:r>
            <a:r>
              <a:rPr lang="en" sz="1800" i="1" dirty="0"/>
              <a:t>y</a:t>
            </a:r>
            <a:r>
              <a:rPr lang="en" sz="1800" i="1" baseline="-25000" dirty="0"/>
              <a:t>t</a:t>
            </a:r>
            <a:r>
              <a:rPr lang="en" sz="1800" baseline="30000" dirty="0"/>
              <a:t>2</a:t>
            </a:r>
            <a:r>
              <a:rPr lang="en" sz="1800" dirty="0"/>
              <a:t>​&lt;+∞ </a:t>
            </a:r>
            <a:r>
              <a:rPr lang="ru-RU" sz="1800" dirty="0"/>
              <a:t>для любого </a:t>
            </a:r>
            <a:r>
              <a:rPr lang="en" sz="1800" i="1" dirty="0"/>
              <a:t>t</a:t>
            </a:r>
            <a:r>
              <a:rPr lang="en" sz="1800" dirty="0"/>
              <a:t>.</a:t>
            </a:r>
            <a:r>
              <a:rPr lang="ru-RU" sz="1800" dirty="0"/>
              <a:t> </a:t>
            </a:r>
            <a:r>
              <a:rPr lang="en" sz="1800" dirty="0" err="1"/>
              <a:t>E</a:t>
            </a:r>
            <a:r>
              <a:rPr lang="en" sz="1800" i="1" dirty="0" err="1"/>
              <a:t>y</a:t>
            </a:r>
            <a:r>
              <a:rPr lang="en" sz="1800" i="1" baseline="-25000" dirty="0" err="1"/>
              <a:t>t</a:t>
            </a:r>
            <a:r>
              <a:rPr lang="ru-RU" sz="1800" i="1" baseline="30000" dirty="0"/>
              <a:t> </a:t>
            </a:r>
            <a:r>
              <a:rPr lang="ru-RU" sz="1800" dirty="0"/>
              <a:t>не зависит от </a:t>
            </a:r>
            <a:r>
              <a:rPr lang="en" sz="1800" i="1" dirty="0"/>
              <a:t>t</a:t>
            </a:r>
            <a:r>
              <a:rPr lang="en" sz="1800" dirty="0"/>
              <a:t>, </a:t>
            </a:r>
            <a:r>
              <a:rPr lang="ru-RU" sz="1800" dirty="0"/>
              <a:t>то есть в среднем значение временного ряда постоянно. </a:t>
            </a:r>
            <a:r>
              <a:rPr lang="en" sz="1800" dirty="0"/>
              <a:t>C</a:t>
            </a:r>
            <a:r>
              <a:rPr lang="ru-RU" sz="1800" dirty="0" err="1"/>
              <a:t>ov</a:t>
            </a:r>
            <a:r>
              <a:rPr lang="en-US" sz="1800" dirty="0"/>
              <a:t>(t)=</a:t>
            </a:r>
            <a:r>
              <a:rPr lang="en-US" sz="1800" dirty="0" err="1"/>
              <a:t>Cov</a:t>
            </a:r>
            <a:r>
              <a:rPr lang="en-US" sz="1800" dirty="0"/>
              <a:t>(</a:t>
            </a:r>
            <a:r>
              <a:rPr lang="en-US" sz="1800" dirty="0" err="1"/>
              <a:t>t+tau</a:t>
            </a:r>
            <a:r>
              <a:rPr lang="en-US" sz="1800" dirty="0"/>
              <a:t>)</a:t>
            </a:r>
            <a:r>
              <a:rPr lang="ru-RU" sz="1800" dirty="0"/>
              <a:t> , то есть значение автокорреляции зависит только от длины отрезка времени между двумя значениями</a:t>
            </a:r>
            <a:endParaRPr lang="en-US" sz="18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829CDCF-CA89-B716-5BCC-F64969F31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14</a:t>
            </a:fld>
            <a:endParaRPr lang="en-US"/>
          </a:p>
        </p:txBody>
      </p:sp>
      <p:pic>
        <p:nvPicPr>
          <p:cNvPr id="5" name="Picture 2" descr="image.png">
            <a:extLst>
              <a:ext uri="{FF2B5EF4-FFF2-40B4-BE49-F238E27FC236}">
                <a16:creationId xmlns:a16="http://schemas.microsoft.com/office/drawing/2014/main" id="{348A59E2-301A-DD23-5BAD-1E073DDA6E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15" b="56037"/>
          <a:stretch>
            <a:fillRect/>
          </a:stretch>
        </p:blipFill>
        <p:spPr bwMode="auto">
          <a:xfrm>
            <a:off x="4655127" y="4134452"/>
            <a:ext cx="6975222" cy="2477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52008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A8996F-4EBF-4A42-B1B0-6C20D2DFE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889935"/>
          </a:xfrm>
        </p:spPr>
        <p:txBody>
          <a:bodyPr/>
          <a:lstStyle/>
          <a:p>
            <a:pPr algn="ctr"/>
            <a:r>
              <a:rPr lang="ru-RU" b="1" dirty="0"/>
              <a:t>Анализ </a:t>
            </a:r>
            <a:r>
              <a:rPr lang="ru-RU" b="1" dirty="0" err="1"/>
              <a:t>нестационарности</a:t>
            </a:r>
            <a:endParaRPr lang="en-US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E5F075-BD33-4A64-9615-916178391B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254" y="1060024"/>
            <a:ext cx="11952107" cy="460375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sz="2000" dirty="0"/>
              <a:t>Если ВР имеет тренд, выраженную сезонность или переменную дисперсию (</a:t>
            </a:r>
            <a:r>
              <a:rPr lang="ru-RU" sz="2000" dirty="0" err="1"/>
              <a:t>гетеросекдостичность</a:t>
            </a:r>
            <a:r>
              <a:rPr lang="ru-RU" sz="2000" dirty="0"/>
              <a:t>), то ВР </a:t>
            </a:r>
            <a:r>
              <a:rPr lang="ru-RU" sz="2000" dirty="0" err="1"/>
              <a:t>нестационарен</a:t>
            </a:r>
            <a:endParaRPr lang="en-US" sz="2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5DF02A9-1A1F-AE07-E202-839063BE9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15</a:t>
            </a:fld>
            <a:endParaRPr lang="en-US"/>
          </a:p>
        </p:txBody>
      </p:sp>
      <p:pic>
        <p:nvPicPr>
          <p:cNvPr id="10242" name="Picture 2" descr="image.png">
            <a:extLst>
              <a:ext uri="{FF2B5EF4-FFF2-40B4-BE49-F238E27FC236}">
                <a16:creationId xmlns:a16="http://schemas.microsoft.com/office/drawing/2014/main" id="{DD8C898C-2BC4-4CDA-A79D-0C28B3CBB9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6930" y="1427559"/>
            <a:ext cx="7632415" cy="5021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20B24B-03C1-7306-AE22-AAC0C9E9B8D4}"/>
              </a:ext>
            </a:extLst>
          </p:cNvPr>
          <p:cNvSpPr txBox="1"/>
          <p:nvPr/>
        </p:nvSpPr>
        <p:spPr>
          <a:xfrm>
            <a:off x="1607127" y="6356350"/>
            <a:ext cx="87422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education.yandex.ru</a:t>
            </a:r>
            <a:r>
              <a:rPr lang="ru-RU" dirty="0"/>
              <a:t>/</a:t>
            </a:r>
            <a:r>
              <a:rPr lang="ru-RU" dirty="0" err="1"/>
              <a:t>handbook</a:t>
            </a:r>
            <a:r>
              <a:rPr lang="ru-RU" dirty="0"/>
              <a:t>/</a:t>
            </a:r>
            <a:r>
              <a:rPr lang="ru-RU" dirty="0" err="1"/>
              <a:t>ml</a:t>
            </a:r>
            <a:r>
              <a:rPr lang="ru-RU" dirty="0"/>
              <a:t>/</a:t>
            </a:r>
            <a:r>
              <a:rPr lang="ru-RU" dirty="0" err="1"/>
              <a:t>article</a:t>
            </a:r>
            <a:r>
              <a:rPr lang="ru-RU" dirty="0"/>
              <a:t>/</a:t>
            </a:r>
            <a:r>
              <a:rPr lang="ru-RU" dirty="0" err="1"/>
              <a:t>analitika-vremennyh-ryadov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109384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C7A29-C3A0-7522-0DAC-32BF46F93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F2E7AB-E7E7-215B-AFB5-C6656CE07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624" y="365125"/>
            <a:ext cx="10946176" cy="604359"/>
          </a:xfrm>
        </p:spPr>
        <p:txBody>
          <a:bodyPr>
            <a:normAutofit fontScale="90000"/>
          </a:bodyPr>
          <a:lstStyle/>
          <a:p>
            <a:r>
              <a:rPr lang="ru-RU" dirty="0"/>
              <a:t>Стационарность ВР. Замечания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84A7FB-FF48-C141-958F-6FB372C03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236" y="868764"/>
            <a:ext cx="11665527" cy="4965108"/>
          </a:xfrm>
        </p:spPr>
        <p:txBody>
          <a:bodyPr>
            <a:normAutofit/>
          </a:bodyPr>
          <a:lstStyle/>
          <a:p>
            <a:r>
              <a:rPr lang="en-US" sz="2200" dirty="0" err="1"/>
              <a:t>Если</a:t>
            </a:r>
            <a:r>
              <a:rPr lang="ru-RU" sz="2200" dirty="0"/>
              <a:t> ряд регулярный он может не быть </a:t>
            </a:r>
            <a:r>
              <a:rPr lang="ru-RU" sz="2200" dirty="0" err="1"/>
              <a:t>стационарым</a:t>
            </a:r>
            <a:r>
              <a:rPr lang="ru-RU" sz="2200" dirty="0"/>
              <a:t> (но не наоборот)</a:t>
            </a:r>
          </a:p>
          <a:p>
            <a:r>
              <a:rPr lang="ru-RU" sz="2200" dirty="0"/>
              <a:t>Временной ряд в ряде случаев сводится к стационарному простыми преобразованиями</a:t>
            </a:r>
          </a:p>
          <a:p>
            <a:r>
              <a:rPr lang="ru-RU" sz="2200" dirty="0"/>
              <a:t>Не все методы предсказания ВР требуют сведения ВР к стационарному, но основные требуют </a:t>
            </a:r>
          </a:p>
          <a:p>
            <a:endParaRPr lang="ru-RU" sz="22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F4CC8B1-1A3E-A562-1797-A6262E4AE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16</a:t>
            </a:fld>
            <a:endParaRPr lang="en-US"/>
          </a:p>
        </p:txBody>
      </p:sp>
      <p:pic>
        <p:nvPicPr>
          <p:cNvPr id="3074" name="Picture 2" descr="stationary">
            <a:extLst>
              <a:ext uri="{FF2B5EF4-FFF2-40B4-BE49-F238E27FC236}">
                <a16:creationId xmlns:a16="http://schemas.microsoft.com/office/drawing/2014/main" id="{CC32CBF0-6BD1-B7CD-8361-92A51F4C35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7042" y="2105075"/>
            <a:ext cx="6227116" cy="4471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F1B7D9-7F27-C0BA-1A6B-FDC96CEC9608}"/>
              </a:ext>
            </a:extLst>
          </p:cNvPr>
          <p:cNvSpPr txBox="1"/>
          <p:nvPr/>
        </p:nvSpPr>
        <p:spPr>
          <a:xfrm>
            <a:off x="410813" y="3013364"/>
            <a:ext cx="5569526" cy="2655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5"/>
              </a:lnSpc>
              <a:spcBef>
                <a:spcPts val="1800"/>
              </a:spcBef>
              <a:spcAft>
                <a:spcPts val="600"/>
              </a:spcAft>
            </a:pPr>
            <a:r>
              <a:rPr lang="ru-RU" sz="2400" b="0" i="0" dirty="0">
                <a:solidFill>
                  <a:srgbClr val="323232"/>
                </a:solidFill>
                <a:effectLst/>
              </a:rPr>
              <a:t>Примеры</a:t>
            </a:r>
          </a:p>
          <a:p>
            <a:pPr algn="l">
              <a:lnSpc>
                <a:spcPts val="1755"/>
              </a:lnSpc>
              <a:spcBef>
                <a:spcPts val="18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323232"/>
                </a:solidFill>
                <a:effectLst/>
              </a:rPr>
              <a:t>ряды а, </a:t>
            </a:r>
            <a:r>
              <a:rPr lang="en" sz="2400" b="0" i="0" dirty="0">
                <a:solidFill>
                  <a:srgbClr val="323232"/>
                </a:solidFill>
                <a:effectLst/>
              </a:rPr>
              <a:t>c, d, e, f, </a:t>
            </a:r>
            <a:r>
              <a:rPr lang="en" sz="2400" b="0" i="0" dirty="0" err="1">
                <a:solidFill>
                  <a:srgbClr val="323232"/>
                </a:solidFill>
                <a:effectLst/>
              </a:rPr>
              <a:t>i</a:t>
            </a:r>
            <a:r>
              <a:rPr lang="en" sz="2400" b="0" i="0" dirty="0">
                <a:solidFill>
                  <a:srgbClr val="323232"/>
                </a:solidFill>
                <a:effectLst/>
              </a:rPr>
              <a:t> </a:t>
            </a:r>
            <a:r>
              <a:rPr lang="ru-RU" sz="2400" b="0" i="0" dirty="0">
                <a:solidFill>
                  <a:srgbClr val="323232"/>
                </a:solidFill>
                <a:effectLst/>
              </a:rPr>
              <a:t>не стационарны, поскольку они имеют тренд;</a:t>
            </a:r>
          </a:p>
          <a:p>
            <a:pPr algn="l">
              <a:lnSpc>
                <a:spcPts val="1755"/>
              </a:lnSpc>
              <a:spcBef>
                <a:spcPts val="18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323232"/>
                </a:solidFill>
                <a:effectLst/>
              </a:rPr>
              <a:t>ряд </a:t>
            </a:r>
            <a:r>
              <a:rPr lang="en" sz="2400" b="0" i="0" dirty="0">
                <a:solidFill>
                  <a:srgbClr val="323232"/>
                </a:solidFill>
                <a:effectLst/>
              </a:rPr>
              <a:t>b </a:t>
            </a:r>
            <a:r>
              <a:rPr lang="ru-RU" sz="2400" b="0" i="0" dirty="0">
                <a:solidFill>
                  <a:srgbClr val="323232"/>
                </a:solidFill>
                <a:effectLst/>
              </a:rPr>
              <a:t>скорее всего стационарный, имеется выброс;</a:t>
            </a:r>
          </a:p>
          <a:p>
            <a:pPr algn="l">
              <a:lnSpc>
                <a:spcPts val="1755"/>
              </a:lnSpc>
              <a:spcBef>
                <a:spcPts val="18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323232"/>
                </a:solidFill>
                <a:effectLst/>
              </a:rPr>
              <a:t>ряды </a:t>
            </a:r>
            <a:r>
              <a:rPr lang="en" sz="2400" b="0" i="0" dirty="0">
                <a:solidFill>
                  <a:srgbClr val="323232"/>
                </a:solidFill>
                <a:effectLst/>
              </a:rPr>
              <a:t>d, g, h, </a:t>
            </a:r>
            <a:r>
              <a:rPr lang="en" sz="2400" b="0" i="0" dirty="0" err="1">
                <a:solidFill>
                  <a:srgbClr val="323232"/>
                </a:solidFill>
                <a:effectLst/>
              </a:rPr>
              <a:t>i</a:t>
            </a:r>
            <a:r>
              <a:rPr lang="en" sz="2400" b="0" i="0" dirty="0">
                <a:solidFill>
                  <a:srgbClr val="323232"/>
                </a:solidFill>
                <a:effectLst/>
              </a:rPr>
              <a:t> </a:t>
            </a:r>
            <a:r>
              <a:rPr lang="ru-RU" sz="2400" b="0" i="0" dirty="0">
                <a:solidFill>
                  <a:srgbClr val="323232"/>
                </a:solidFill>
                <a:effectLst/>
              </a:rPr>
              <a:t>не стационарны, потому что имеют сезонность.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BFB870-F0D3-4BE0-3CEC-865570E80239}"/>
              </a:ext>
            </a:extLst>
          </p:cNvPr>
          <p:cNvSpPr txBox="1"/>
          <p:nvPr/>
        </p:nvSpPr>
        <p:spPr>
          <a:xfrm>
            <a:off x="263236" y="6492875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/>
              <a:t>https</a:t>
            </a:r>
            <a:r>
              <a:rPr lang="ru-RU" sz="1400" dirty="0"/>
              <a:t>://</a:t>
            </a:r>
            <a:r>
              <a:rPr lang="ru-RU" sz="1400" dirty="0" err="1"/>
              <a:t>education.yandex.ru</a:t>
            </a:r>
            <a:r>
              <a:rPr lang="ru-RU" sz="1400" dirty="0"/>
              <a:t>/</a:t>
            </a:r>
            <a:r>
              <a:rPr lang="ru-RU" sz="1400" dirty="0" err="1"/>
              <a:t>handbook</a:t>
            </a:r>
            <a:r>
              <a:rPr lang="ru-RU" sz="1400" dirty="0"/>
              <a:t>/</a:t>
            </a:r>
            <a:r>
              <a:rPr lang="ru-RU" sz="1400" dirty="0" err="1"/>
              <a:t>ml</a:t>
            </a:r>
            <a:r>
              <a:rPr lang="ru-RU" sz="1400" dirty="0"/>
              <a:t>/</a:t>
            </a:r>
            <a:r>
              <a:rPr lang="ru-RU" sz="1400" dirty="0" err="1"/>
              <a:t>article</a:t>
            </a:r>
            <a:r>
              <a:rPr lang="ru-RU" sz="1400" dirty="0"/>
              <a:t>/</a:t>
            </a:r>
            <a:r>
              <a:rPr lang="ru-RU" sz="1400" dirty="0" err="1"/>
              <a:t>analitika-vremennyh-ryadov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295918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A8996F-4EBF-4A42-B1B0-6C20D2DFE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889935"/>
          </a:xfrm>
        </p:spPr>
        <p:txBody>
          <a:bodyPr/>
          <a:lstStyle/>
          <a:p>
            <a:pPr algn="ctr"/>
            <a:r>
              <a:rPr lang="ru-RU" b="1" dirty="0"/>
              <a:t>Анализ стационарности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E5F075-BD33-4A64-9615-916178391B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1242922"/>
            <a:ext cx="9614647" cy="254187"/>
          </a:xfrm>
        </p:spPr>
        <p:txBody>
          <a:bodyPr>
            <a:normAutofit fontScale="85000" lnSpcReduction="20000"/>
          </a:bodyPr>
          <a:lstStyle/>
          <a:p>
            <a:r>
              <a:rPr lang="ru-RU" sz="1600" dirty="0"/>
              <a:t>Пример нестационарности линии тренда</a:t>
            </a:r>
            <a:endParaRPr lang="en-US" sz="16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EE1B8AB-F6A2-B209-F59C-484D26A94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17</a:t>
            </a:fld>
            <a:endParaRPr lang="en-US"/>
          </a:p>
        </p:txBody>
      </p:sp>
      <p:pic>
        <p:nvPicPr>
          <p:cNvPr id="9218" name="Picture 2" descr="image.png">
            <a:extLst>
              <a:ext uri="{FF2B5EF4-FFF2-40B4-BE49-F238E27FC236}">
                <a16:creationId xmlns:a16="http://schemas.microsoft.com/office/drawing/2014/main" id="{052CE546-38C8-4545-9CE9-3131E75606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5395" y="1414418"/>
            <a:ext cx="4705351" cy="2533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Объект 2">
            <a:extLst>
              <a:ext uri="{FF2B5EF4-FFF2-40B4-BE49-F238E27FC236}">
                <a16:creationId xmlns:a16="http://schemas.microsoft.com/office/drawing/2014/main" id="{45038227-696C-41D4-9A08-38060580E5A9}"/>
              </a:ext>
            </a:extLst>
          </p:cNvPr>
          <p:cNvSpPr txBox="1">
            <a:spLocks/>
          </p:cNvSpPr>
          <p:nvPr/>
        </p:nvSpPr>
        <p:spPr>
          <a:xfrm>
            <a:off x="5086672" y="1242922"/>
            <a:ext cx="5790557" cy="29872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Пример сезонной нестационарности (в смысле дисперсии)</a:t>
            </a:r>
            <a:endParaRPr lang="en-US" sz="1600" dirty="0"/>
          </a:p>
        </p:txBody>
      </p:sp>
      <p:pic>
        <p:nvPicPr>
          <p:cNvPr id="9220" name="Picture 4" descr="image.png">
            <a:extLst>
              <a:ext uri="{FF2B5EF4-FFF2-40B4-BE49-F238E27FC236}">
                <a16:creationId xmlns:a16="http://schemas.microsoft.com/office/drawing/2014/main" id="{128D129D-DCD4-4354-8157-9D2680DA5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3646" y="1605040"/>
            <a:ext cx="3876675" cy="212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Объект 2">
            <a:extLst>
              <a:ext uri="{FF2B5EF4-FFF2-40B4-BE49-F238E27FC236}">
                <a16:creationId xmlns:a16="http://schemas.microsoft.com/office/drawing/2014/main" id="{7226A53E-F261-4312-BAF5-E1890408B123}"/>
              </a:ext>
            </a:extLst>
          </p:cNvPr>
          <p:cNvSpPr txBox="1">
            <a:spLocks/>
          </p:cNvSpPr>
          <p:nvPr/>
        </p:nvSpPr>
        <p:spPr>
          <a:xfrm>
            <a:off x="1524000" y="3820835"/>
            <a:ext cx="9480176" cy="415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Пример сезонной нестационарности (в смысле периода сезонности)</a:t>
            </a:r>
            <a:endParaRPr lang="en-US" sz="2000" dirty="0"/>
          </a:p>
        </p:txBody>
      </p:sp>
      <p:pic>
        <p:nvPicPr>
          <p:cNvPr id="9222" name="Picture 6" descr="image.png">
            <a:extLst>
              <a:ext uri="{FF2B5EF4-FFF2-40B4-BE49-F238E27FC236}">
                <a16:creationId xmlns:a16="http://schemas.microsoft.com/office/drawing/2014/main" id="{C99BD1AB-58BB-4B8A-925E-27D840368B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1791" y="4281209"/>
            <a:ext cx="5391151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9520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F537B0-7966-4E39-93FF-9C938D867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857" y="204181"/>
            <a:ext cx="9081887" cy="701675"/>
          </a:xfrm>
        </p:spPr>
        <p:txBody>
          <a:bodyPr>
            <a:normAutofit/>
          </a:bodyPr>
          <a:lstStyle/>
          <a:p>
            <a:r>
              <a:rPr lang="ru-RU" dirty="0"/>
              <a:t>Белый Гауссов шум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D042F3-0F09-4E1C-8D08-588BCFBDD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545" y="905855"/>
            <a:ext cx="11693237" cy="2348974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dirty="0"/>
              <a:t>Одним из наиболее важных случаев стационарного ВР является стационарность шума.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dirty="0"/>
              <a:t>Шум стационарности с независимыми выборками во времени (с автокорреляцией 0) называется шумом белого гаусса (WGN).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dirty="0"/>
              <a:t>Таким образом, WGN - это ряд с </a:t>
            </a:r>
            <a:br>
              <a:rPr lang="ru-RU" dirty="0"/>
            </a:br>
            <a:r>
              <a:rPr lang="ru-RU" dirty="0"/>
              <a:t>𝑒𝑣 = 0; 𝑣𝑎𝑟 &lt;∞; 𝑐𝑜𝑣 (𝑛) = 𝑠𝑡𝑑⋅𝛿 (𝑘 − 𝑛), </a:t>
            </a:r>
            <a:br>
              <a:rPr lang="ru-RU" dirty="0"/>
            </a:br>
            <a:r>
              <a:rPr lang="ru-RU" dirty="0"/>
              <a:t>где 𝛿 (𝑘 − 𝑛) = 1, если 𝑘 = 𝑛, и 0 в остальных случаях.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dirty="0"/>
              <a:t>АКФ БГШ будет иметь некоторые ненулевые случайные значения – это эффект ограниченной выборки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69C633B-7933-0002-AE7E-DFCCA196E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18</a:t>
            </a:fld>
            <a:endParaRPr lang="en-US"/>
          </a:p>
        </p:txBody>
      </p:sp>
      <p:pic>
        <p:nvPicPr>
          <p:cNvPr id="11268" name="Picture 4" descr="image.png">
            <a:extLst>
              <a:ext uri="{FF2B5EF4-FFF2-40B4-BE49-F238E27FC236}">
                <a16:creationId xmlns:a16="http://schemas.microsoft.com/office/drawing/2014/main" id="{421DC3E5-7CB6-4B47-B931-566FF314F9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2797" y="4104844"/>
            <a:ext cx="2887437" cy="2111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A7E8075-377F-4827-AB95-E074F6D4F7F7}"/>
              </a:ext>
            </a:extLst>
          </p:cNvPr>
          <p:cNvSpPr/>
          <p:nvPr/>
        </p:nvSpPr>
        <p:spPr>
          <a:xfrm>
            <a:off x="1790701" y="3603172"/>
            <a:ext cx="85997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Пример</a:t>
            </a:r>
            <a:r>
              <a:rPr lang="ru-RU" sz="1600" dirty="0"/>
              <a:t> </a:t>
            </a:r>
            <a:r>
              <a:rPr lang="ru-RU" sz="1600" dirty="0" err="1"/>
              <a:t>wgn</a:t>
            </a:r>
            <a:r>
              <a:rPr lang="ru-RU" sz="1600" dirty="0"/>
              <a:t> - это когда вы выключаете антенну с телевизора и увидеть так называемый «снег» </a:t>
            </a:r>
          </a:p>
        </p:txBody>
      </p:sp>
      <p:pic>
        <p:nvPicPr>
          <p:cNvPr id="11270" name="Picture 6" descr="image.png">
            <a:extLst>
              <a:ext uri="{FF2B5EF4-FFF2-40B4-BE49-F238E27FC236}">
                <a16:creationId xmlns:a16="http://schemas.microsoft.com/office/drawing/2014/main" id="{8635D9C6-FAAA-48AF-B36E-41034DB9A0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000" y="4170025"/>
            <a:ext cx="5264746" cy="2111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FDA6652-22B8-97B5-C1CF-515D1A7E07A0}"/>
              </a:ext>
            </a:extLst>
          </p:cNvPr>
          <p:cNvSpPr txBox="1"/>
          <p:nvPr/>
        </p:nvSpPr>
        <p:spPr>
          <a:xfrm>
            <a:off x="1705857" y="3117262"/>
            <a:ext cx="9397573" cy="402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20000"/>
              </a:lnSpc>
            </a:pPr>
            <a:r>
              <a:rPr lang="ru-RU" dirty="0"/>
              <a:t>Обратите внимание, что дисперсия также может быть названа мощностью шума.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94955585-ABAB-C413-AECE-CABA2C5077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5180" y="3972504"/>
            <a:ext cx="3726820" cy="2348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06070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7D6645-D83B-4FCE-A2EB-4C47F1622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496" y="384102"/>
            <a:ext cx="9013371" cy="885002"/>
          </a:xfrm>
        </p:spPr>
        <p:txBody>
          <a:bodyPr>
            <a:noAutofit/>
          </a:bodyPr>
          <a:lstStyle/>
          <a:p>
            <a:pPr algn="ctr"/>
            <a:r>
              <a:rPr lang="ru-RU" sz="3600" b="1" dirty="0"/>
              <a:t>Преобразования нестационарных </a:t>
            </a:r>
            <a:br>
              <a:rPr lang="en-US" sz="3600" b="1" dirty="0"/>
            </a:br>
            <a:r>
              <a:rPr lang="ru-RU" sz="3600" b="1" dirty="0"/>
              <a:t>временных рядов</a:t>
            </a:r>
            <a:endParaRPr lang="en-US" sz="3600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C5E1D3-FBD7-4B7D-96DC-57F6A3BF3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381141"/>
            <a:ext cx="11671300" cy="5340334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ru-RU" dirty="0"/>
              <a:t>На самом деле почти все временные ряды нестационарны (в той или иной степени). </a:t>
            </a:r>
          </a:p>
          <a:p>
            <a:pPr lvl="1">
              <a:lnSpc>
                <a:spcPct val="110000"/>
              </a:lnSpc>
            </a:pPr>
            <a:r>
              <a:rPr lang="ru-RU" dirty="0"/>
              <a:t>Однако, в зависимости от требований к точности в некоторых случаях мы можем сделать допущение, что ВР является стационарным для нашей задачи если он удовлетворяет каким либо нашим условиям.</a:t>
            </a:r>
          </a:p>
          <a:p>
            <a:pPr lvl="1">
              <a:lnSpc>
                <a:spcPct val="110000"/>
              </a:lnSpc>
            </a:pPr>
            <a:r>
              <a:rPr lang="ru-RU" dirty="0"/>
              <a:t>Нестационарные ВР могут содержать ложные корреляции (тренда, сезонность, аномалии)</a:t>
            </a:r>
          </a:p>
          <a:p>
            <a:pPr>
              <a:lnSpc>
                <a:spcPct val="110000"/>
              </a:lnSpc>
            </a:pPr>
            <a:endParaRPr lang="ru-RU" dirty="0"/>
          </a:p>
          <a:p>
            <a:pPr>
              <a:lnSpc>
                <a:spcPct val="110000"/>
              </a:lnSpc>
            </a:pPr>
            <a:r>
              <a:rPr lang="ru-RU" dirty="0"/>
              <a:t>Ряд можно проверить на стационарность визуально (напр. Резкий спад АКФ)</a:t>
            </a:r>
          </a:p>
          <a:p>
            <a:pPr>
              <a:lnSpc>
                <a:spcPct val="110000"/>
              </a:lnSpc>
            </a:pPr>
            <a:r>
              <a:rPr lang="ru-RU" dirty="0"/>
              <a:t>Ряд можно проверить строго на </a:t>
            </a:r>
            <a:r>
              <a:rPr lang="ru-RU" dirty="0" err="1"/>
              <a:t>станционарность</a:t>
            </a:r>
            <a:r>
              <a:rPr lang="ru-RU" dirty="0"/>
              <a:t> с помощью различных статистических критериев. Наиболее популярны следующие критерии:</a:t>
            </a:r>
          </a:p>
          <a:p>
            <a:pPr lvl="1">
              <a:lnSpc>
                <a:spcPct val="110000"/>
              </a:lnSpc>
            </a:pPr>
            <a:r>
              <a:rPr lang="ru-RU" dirty="0"/>
              <a:t>критерий </a:t>
            </a:r>
            <a:r>
              <a:rPr lang="en" dirty="0"/>
              <a:t>KPSS (Kwiatkowski–Phillips–Schmidt–Shin): </a:t>
            </a:r>
            <a:r>
              <a:rPr lang="ru-RU" dirty="0"/>
              <a:t>если </a:t>
            </a:r>
            <a:r>
              <a:rPr lang="en" dirty="0"/>
              <a:t>p-value ⩽0.05, </a:t>
            </a:r>
            <a:r>
              <a:rPr lang="ru-RU" dirty="0"/>
              <a:t>то отвергаем стационарность;</a:t>
            </a:r>
          </a:p>
          <a:p>
            <a:pPr lvl="1">
              <a:lnSpc>
                <a:spcPct val="110000"/>
              </a:lnSpc>
            </a:pPr>
            <a:r>
              <a:rPr lang="ru-RU" dirty="0"/>
              <a:t>критерий Дики-Фуллера: если </a:t>
            </a:r>
            <a:r>
              <a:rPr lang="en" dirty="0"/>
              <a:t>p-value ⩽0.05, </a:t>
            </a:r>
            <a:r>
              <a:rPr lang="ru-RU" dirty="0"/>
              <a:t>то отвергаем </a:t>
            </a:r>
            <a:r>
              <a:rPr lang="ru-RU" b="1" dirty="0" err="1"/>
              <a:t>НЕ</a:t>
            </a:r>
            <a:r>
              <a:rPr lang="ru-RU" dirty="0" err="1"/>
              <a:t>стационарность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492D756-4C63-429B-9DFF-16F0D57FD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2872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7D6645-D83B-4FCE-A2EB-4C47F1622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496" y="384102"/>
            <a:ext cx="9013371" cy="885002"/>
          </a:xfrm>
        </p:spPr>
        <p:txBody>
          <a:bodyPr>
            <a:noAutofit/>
          </a:bodyPr>
          <a:lstStyle/>
          <a:p>
            <a:pPr algn="ctr"/>
            <a:r>
              <a:rPr lang="ru-RU" sz="3600" b="1" dirty="0"/>
              <a:t>Преобразования нестационарных </a:t>
            </a:r>
            <a:br>
              <a:rPr lang="en-US" sz="3600" b="1" dirty="0"/>
            </a:br>
            <a:r>
              <a:rPr lang="ru-RU" sz="3600" b="1" dirty="0"/>
              <a:t>временных рядов</a:t>
            </a:r>
            <a:endParaRPr lang="en-US" sz="3600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C5E1D3-FBD7-4B7D-96DC-57F6A3BF3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740" y="1563703"/>
            <a:ext cx="7148245" cy="4975209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ru-RU" sz="2200" dirty="0"/>
              <a:t>Можно ввести несколько градаций </a:t>
            </a:r>
            <a:r>
              <a:rPr lang="ru-RU" sz="2200" dirty="0" err="1"/>
              <a:t>нестационарности</a:t>
            </a:r>
            <a:r>
              <a:rPr lang="ru-RU" sz="2200" dirty="0"/>
              <a:t> ВР: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ru-RU" sz="2200" dirty="0"/>
              <a:t>Сильная стационарность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ru-RU" sz="2200" dirty="0"/>
              <a:t>Слабая стационарность (2 порядка)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200" dirty="0"/>
              <a:t>DS-</a:t>
            </a:r>
            <a:r>
              <a:rPr lang="ru-RU" sz="2200" dirty="0"/>
              <a:t>ряд разностно-стационарный ВР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200" dirty="0"/>
              <a:t>TS-</a:t>
            </a:r>
            <a:r>
              <a:rPr lang="ru-RU" sz="2200" dirty="0"/>
              <a:t>ряд</a:t>
            </a:r>
            <a:r>
              <a:rPr lang="en-US" sz="2200" dirty="0"/>
              <a:t> – </a:t>
            </a:r>
            <a:r>
              <a:rPr lang="ru-RU" sz="2200" dirty="0"/>
              <a:t>сводится к стационарному путем удаления тренда и\или сезонности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ru-RU" sz="2200" dirty="0" err="1"/>
              <a:t>Гетеросекдостичный</a:t>
            </a:r>
            <a:r>
              <a:rPr lang="ru-RU" sz="2200" dirty="0"/>
              <a:t> ВР – может сводится к стационарному путем логарифмирования</a:t>
            </a:r>
            <a:r>
              <a:rPr lang="en-US" sz="2200" dirty="0"/>
              <a:t> </a:t>
            </a:r>
            <a:r>
              <a:rPr lang="ru-RU" sz="2200" dirty="0"/>
              <a:t>(степенного преобразования)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ru-RU" sz="2200" dirty="0"/>
              <a:t>Регулярный ВР – нестационарный ВР, имеющий явные паттерны поведения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ru-RU" sz="2200" dirty="0" err="1"/>
              <a:t>Неформализуемый</a:t>
            </a:r>
            <a:r>
              <a:rPr lang="ru-RU" sz="2200" dirty="0"/>
              <a:t> ВР – паттерны поведения не явны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492D756-4C63-429B-9DFF-16F0D57FD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20</a:t>
            </a:fld>
            <a:endParaRPr lang="en-US"/>
          </a:p>
        </p:txBody>
      </p:sp>
      <p:cxnSp>
        <p:nvCxnSpPr>
          <p:cNvPr id="6" name="Прямая со стрелкой 5"/>
          <p:cNvCxnSpPr/>
          <p:nvPr/>
        </p:nvCxnSpPr>
        <p:spPr>
          <a:xfrm>
            <a:off x="268941" y="1552175"/>
            <a:ext cx="30736" cy="47410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2" descr="https://miro.medium.com/v2/resize:fit:875/1*aRHZEc1hxOXYLHDnBVaKdA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70715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C9BAA-6E94-D4B8-B3C8-2821CABDC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8ABA1A-E0BD-E207-CE58-719070338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346" y="131535"/>
            <a:ext cx="11346872" cy="662781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/>
              <a:t>Преобразования нестационарных ВР</a:t>
            </a:r>
            <a:endParaRPr lang="en-US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64205F-EC7C-FCE6-C3F5-3989C7225E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1782" y="794316"/>
                <a:ext cx="7640900" cy="5784284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ru-RU" sz="2200" dirty="0"/>
                  <a:t>Можно ввести модель ВР стационарную по отношению к тренду или сезонности </a:t>
                </a:r>
                <a:r>
                  <a:rPr lang="en-US" sz="2200" dirty="0"/>
                  <a:t>(TS </a:t>
                </a:r>
                <a:r>
                  <a:rPr lang="ru-RU" sz="2200" dirty="0"/>
                  <a:t>модель</a:t>
                </a:r>
                <a:r>
                  <a:rPr lang="en-US" sz="2200" dirty="0"/>
                  <a:t>)</a:t>
                </a:r>
                <a:r>
                  <a:rPr lang="ru-RU" sz="2200" dirty="0"/>
                  <a:t>. То есть: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000" dirty="0">
                        <a:latin typeface="Cambria Math" panose="02040503050406030204" pitchFamily="18" charset="0"/>
                      </a:rPr>
                      <m:t>y</m:t>
                    </m:r>
                    <m:d>
                      <m:dPr>
                        <m:ctrlPr>
                          <a:rPr lang="en-US" alt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000" dirty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altLang="en-US" sz="2000" dirty="0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sty m:val="p"/>
                      </m:rPr>
                      <a:rPr lang="en-US" altLang="en-US" sz="2000" dirty="0">
                        <a:latin typeface="Cambria Math" panose="02040503050406030204" pitchFamily="18" charset="0"/>
                      </a:rPr>
                      <m:t>trend</m:t>
                    </m:r>
                    <m:d>
                      <m:dPr>
                        <m:ctrlPr>
                          <a:rPr lang="en-US" alt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000" dirty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altLang="en-US" sz="2000" dirty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en-US" sz="2000" dirty="0">
                        <a:latin typeface="Cambria Math" panose="02040503050406030204" pitchFamily="18" charset="0"/>
                      </a:rPr>
                      <m:t>seasonal</m:t>
                    </m:r>
                    <m:d>
                      <m:dPr>
                        <m:ctrlPr>
                          <a:rPr lang="en-US" alt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000" dirty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altLang="en-US" sz="2000" b="0" i="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en-US" sz="2000" b="0" i="0" dirty="0" smtClean="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altLang="en-US" sz="2000" dirty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en-US" sz="2000" dirty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altLang="en-US" sz="2000" dirty="0"/>
                  <a:t>)</a:t>
                </a:r>
                <a:endParaRPr lang="ru-RU" altLang="en-US" sz="2000" dirty="0"/>
              </a:p>
              <a:p>
                <a:pPr marL="319088" indent="0">
                  <a:buNone/>
                </a:pPr>
                <a:r>
                  <a:rPr lang="ru-RU" sz="2200" dirty="0"/>
                  <a:t>где</a:t>
                </a:r>
                <a:r>
                  <a:rPr lang="en-US" altLang="en-US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400" dirty="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altLang="en-US" sz="2400" dirty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en-US" sz="2400" dirty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altLang="en-US" sz="2400" dirty="0"/>
                  <a:t>) – </a:t>
                </a:r>
                <a:r>
                  <a:rPr lang="ru-RU" altLang="en-US" sz="2400" dirty="0"/>
                  <a:t>стационарная часть ВР. </a:t>
                </a:r>
              </a:p>
              <a:p>
                <a:pPr marL="319088" indent="0">
                  <a:buNone/>
                </a:pPr>
                <a:r>
                  <a:rPr lang="ru-RU" altLang="en-US" sz="2400" dirty="0"/>
                  <a:t>Тогда можно убрать тренд и стационарность их вычитанием. </a:t>
                </a:r>
              </a:p>
              <a:p>
                <a:pPr marL="0" indent="0">
                  <a:buNone/>
                </a:pPr>
                <a:r>
                  <a:rPr lang="ru-RU" altLang="en-US" sz="2400" dirty="0"/>
                  <a:t>Или преобразованиями типа </a:t>
                </a:r>
                <a:r>
                  <a:rPr lang="en-US" altLang="en-US" sz="2400" dirty="0"/>
                  <a:t>(DS </a:t>
                </a:r>
                <a:r>
                  <a:rPr lang="ru-RU" altLang="en-US" sz="2400" dirty="0"/>
                  <a:t>модель):</a:t>
                </a:r>
                <a:endParaRPr lang="ru-RU" sz="2200" dirty="0"/>
              </a:p>
              <a:p>
                <a:r>
                  <a:rPr lang="ru-RU" sz="2200" dirty="0"/>
                  <a:t>Дифференцирование ряда (для снятие тренда) </a:t>
                </a:r>
              </a:p>
              <a:p>
                <a:pPr marL="0" indent="0" algn="ctr">
                  <a:buNone/>
                </a:pPr>
                <a:r>
                  <a:rPr lang="ru-RU" sz="2200" dirty="0"/>
                  <a:t> </a:t>
                </a:r>
                <a:r>
                  <a:rPr lang="en" sz="2200" dirty="0" err="1"/>
                  <a:t>y</a:t>
                </a:r>
                <a:r>
                  <a:rPr lang="en" sz="2200" baseline="-25000" dirty="0" err="1"/>
                  <a:t>t</a:t>
                </a:r>
                <a:r>
                  <a:rPr lang="en" sz="2200" dirty="0"/>
                  <a:t>′=y</a:t>
                </a:r>
                <a:r>
                  <a:rPr lang="en" sz="2200" baseline="-25000" dirty="0"/>
                  <a:t>t</a:t>
                </a:r>
                <a:r>
                  <a:rPr lang="en" sz="2200" dirty="0"/>
                  <a:t>−y</a:t>
                </a:r>
                <a:r>
                  <a:rPr lang="en" sz="2200" baseline="-25000" dirty="0"/>
                  <a:t>t−1</a:t>
                </a:r>
                <a:r>
                  <a:rPr lang="en" sz="2200" dirty="0"/>
                  <a:t>. </a:t>
                </a:r>
                <a:endParaRPr lang="ru-RU" sz="2200" dirty="0"/>
              </a:p>
              <a:p>
                <a:pPr marL="0" indent="0">
                  <a:buNone/>
                </a:pPr>
                <a:endParaRPr lang="ru-RU" sz="2200" dirty="0"/>
              </a:p>
              <a:p>
                <a:r>
                  <a:rPr lang="ru-RU" sz="2200" dirty="0"/>
                  <a:t>Сезонное дифференцирование (снятие сезонности)</a:t>
                </a:r>
              </a:p>
              <a:p>
                <a:pPr marL="0" indent="0" algn="ctr">
                  <a:buNone/>
                </a:pPr>
                <a:r>
                  <a:rPr lang="ru-RU" sz="2200" dirty="0"/>
                  <a:t> 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  <m:sSub>
                      <m:sSubPr>
                        <m:ctrlPr>
                          <a:rPr lang="en-US" sz="2400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err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" sz="2200" dirty="0"/>
                  <a:t>=</a:t>
                </a:r>
                <a:r>
                  <a:rPr lang="en" sz="2200" i="1" dirty="0" err="1"/>
                  <a:t>y</a:t>
                </a:r>
                <a:r>
                  <a:rPr lang="en" sz="2200" i="1" baseline="-25000" dirty="0" err="1"/>
                  <a:t>t</a:t>
                </a:r>
                <a:r>
                  <a:rPr lang="en" sz="2200" dirty="0"/>
                  <a:t>​−</a:t>
                </a:r>
                <a:r>
                  <a:rPr lang="en" sz="2200" i="1" dirty="0" err="1"/>
                  <a:t>y</a:t>
                </a:r>
                <a:r>
                  <a:rPr lang="en" sz="2200" i="1" baseline="-25000" dirty="0" err="1"/>
                  <a:t>t</a:t>
                </a:r>
                <a:r>
                  <a:rPr lang="en" sz="2200" baseline="-25000" dirty="0"/>
                  <a:t>−</a:t>
                </a:r>
                <a:r>
                  <a:rPr lang="en" sz="2200" i="1" baseline="-25000" dirty="0"/>
                  <a:t>s</a:t>
                </a:r>
                <a:r>
                  <a:rPr lang="en" sz="2200" baseline="-25000" dirty="0"/>
                  <a:t>​</a:t>
                </a:r>
                <a:r>
                  <a:rPr lang="en" sz="2200" dirty="0"/>
                  <a:t>, </a:t>
                </a:r>
                <a:br>
                  <a:rPr lang="ru-RU" sz="2200" dirty="0"/>
                </a:br>
                <a:endParaRPr lang="ru-RU" sz="2200" dirty="0"/>
              </a:p>
              <a:p>
                <a:pPr marL="0" indent="0" algn="ctr">
                  <a:buNone/>
                </a:pPr>
                <a:r>
                  <a:rPr lang="en" sz="2200" i="1" dirty="0"/>
                  <a:t>s</a:t>
                </a:r>
                <a:r>
                  <a:rPr lang="en" sz="2200" dirty="0"/>
                  <a:t> – </a:t>
                </a:r>
                <a:r>
                  <a:rPr lang="ru-RU" sz="2200" dirty="0"/>
                  <a:t>длина сезона.</a:t>
                </a:r>
              </a:p>
              <a:p>
                <a:pPr marL="0" indent="0">
                  <a:buNone/>
                </a:pPr>
                <a:endParaRPr lang="ru-RU" sz="2200" dirty="0"/>
              </a:p>
              <a:p>
                <a:r>
                  <a:rPr lang="ru-RU" sz="2200" dirty="0"/>
                  <a:t>Преобразования можно применять несколько раз. </a:t>
                </a:r>
              </a:p>
              <a:p>
                <a:r>
                  <a:rPr lang="ru-RU" sz="2200" dirty="0"/>
                  <a:t>Обычно сначала применяют сезонное дифференцирование.</a:t>
                </a:r>
                <a:br>
                  <a:rPr lang="ru-RU" sz="2200" dirty="0"/>
                </a:br>
                <a:endParaRPr lang="en-US" sz="22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64205F-EC7C-FCE6-C3F5-3989C7225E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1782" y="794316"/>
                <a:ext cx="7640900" cy="5784284"/>
              </a:xfrm>
              <a:blipFill>
                <a:blip r:embed="rId2"/>
                <a:stretch>
                  <a:fillRect l="-995" t="-197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3D23F6C-7410-4C33-A167-CD4C43941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21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3743E2-8C7A-261B-FAA7-DD4F1D0B815C}"/>
              </a:ext>
            </a:extLst>
          </p:cNvPr>
          <p:cNvSpPr txBox="1"/>
          <p:nvPr/>
        </p:nvSpPr>
        <p:spPr>
          <a:xfrm>
            <a:off x="2885208" y="6352143"/>
            <a:ext cx="807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education.yandex.ru</a:t>
            </a:r>
            <a:r>
              <a:rPr lang="ru-RU" dirty="0"/>
              <a:t>/</a:t>
            </a:r>
            <a:r>
              <a:rPr lang="ru-RU" dirty="0" err="1"/>
              <a:t>handbook</a:t>
            </a:r>
            <a:r>
              <a:rPr lang="ru-RU" dirty="0"/>
              <a:t>/</a:t>
            </a:r>
            <a:r>
              <a:rPr lang="ru-RU" dirty="0" err="1"/>
              <a:t>ml</a:t>
            </a:r>
            <a:r>
              <a:rPr lang="ru-RU" dirty="0"/>
              <a:t>/</a:t>
            </a:r>
            <a:r>
              <a:rPr lang="ru-RU" dirty="0" err="1"/>
              <a:t>article</a:t>
            </a:r>
            <a:r>
              <a:rPr lang="ru-RU" dirty="0"/>
              <a:t>/</a:t>
            </a:r>
            <a:r>
              <a:rPr lang="ru-RU" dirty="0" err="1"/>
              <a:t>analitika-vremennyh-ryadov</a:t>
            </a:r>
            <a:endParaRPr lang="ru-RU" dirty="0"/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287B935A-7DEC-7B26-64EF-E7C9757251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7" b="68104"/>
          <a:stretch>
            <a:fillRect/>
          </a:stretch>
        </p:blipFill>
        <p:spPr bwMode="auto">
          <a:xfrm>
            <a:off x="7925297" y="626007"/>
            <a:ext cx="3737753" cy="1955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image.png">
            <a:extLst>
              <a:ext uri="{FF2B5EF4-FFF2-40B4-BE49-F238E27FC236}">
                <a16:creationId xmlns:a16="http://schemas.microsoft.com/office/drawing/2014/main" id="{842AE8AE-5091-CA10-4BC3-9F9B9EA49D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71" t="37973" r="3671" b="33202"/>
          <a:stretch>
            <a:fillRect/>
          </a:stretch>
        </p:blipFill>
        <p:spPr bwMode="auto">
          <a:xfrm>
            <a:off x="7808033" y="2581322"/>
            <a:ext cx="3855017" cy="1955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image.png">
            <a:extLst>
              <a:ext uri="{FF2B5EF4-FFF2-40B4-BE49-F238E27FC236}">
                <a16:creationId xmlns:a16="http://schemas.microsoft.com/office/drawing/2014/main" id="{3ADD4940-D8B5-C15B-5B54-B156C06B54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" t="71872" r="-9"/>
          <a:stretch>
            <a:fillRect/>
          </a:stretch>
        </p:blipFill>
        <p:spPr bwMode="auto">
          <a:xfrm>
            <a:off x="8007938" y="4536637"/>
            <a:ext cx="3855017" cy="1908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002EFE9-3A0B-19DC-D6A7-BF85FFBFA7F3}"/>
                  </a:ext>
                </a:extLst>
              </p:cNvPr>
              <p:cNvSpPr txBox="1"/>
              <p:nvPr/>
            </p:nvSpPr>
            <p:spPr>
              <a:xfrm>
                <a:off x="8242588" y="3890470"/>
                <a:ext cx="114040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dirty="0" smtClean="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  <m:sSub>
                        <m:sSubPr>
                          <m:ctrlPr>
                            <a:rPr lang="en-US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err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 dirty="0" err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002EFE9-3A0B-19DC-D6A7-BF85FFBFA7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2588" y="3890470"/>
                <a:ext cx="1140402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174579F-E142-AA3B-ECFA-68DF44DC0FFB}"/>
                  </a:ext>
                </a:extLst>
              </p:cNvPr>
              <p:cNvSpPr txBox="1"/>
              <p:nvPr/>
            </p:nvSpPr>
            <p:spPr>
              <a:xfrm>
                <a:off x="7925297" y="5796042"/>
                <a:ext cx="19834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dirty="0" smtClean="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800" dirty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sz="1800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dirty="0" err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800" i="1" dirty="0" err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174579F-E142-AA3B-ECFA-68DF44DC0F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5297" y="5796042"/>
                <a:ext cx="1983429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22433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F65B6-B96E-1E76-3705-2650BC1F7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2E32E8-5EA8-F99F-F926-A6D3A2CE7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609" y="0"/>
            <a:ext cx="10515600" cy="1325563"/>
          </a:xfrm>
        </p:spPr>
        <p:txBody>
          <a:bodyPr/>
          <a:lstStyle/>
          <a:p>
            <a:r>
              <a:rPr lang="ru-RU" b="1" dirty="0" err="1"/>
              <a:t>Гетероскедастичность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5A25868-226B-96F2-D5CF-B4C1B7318A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7907" y="995709"/>
                <a:ext cx="11346872" cy="4351339"/>
              </a:xfrm>
            </p:spPr>
            <p:txBody>
              <a:bodyPr/>
              <a:lstStyle/>
              <a:p>
                <a:pPr marL="179384" lvl="1" indent="-179384"/>
                <a:r>
                  <a:rPr lang="ru-RU" dirty="0"/>
                  <a:t>Можно избавиться при помощи Бокса-Кокса или например как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5A25868-226B-96F2-D5CF-B4C1B7318A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7907" y="995709"/>
                <a:ext cx="11346872" cy="4351339"/>
              </a:xfrm>
              <a:blipFill>
                <a:blip r:embed="rId2"/>
                <a:stretch>
                  <a:fillRect l="-67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714AA5B-B022-4081-70C1-DDB7650EE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22</a:t>
            </a:fld>
            <a:endParaRPr lang="en-US"/>
          </a:p>
        </p:txBody>
      </p:sp>
      <p:pic>
        <p:nvPicPr>
          <p:cNvPr id="1026" name="Picture 2" descr="Временные ряды - презентация онлайн">
            <a:extLst>
              <a:ext uri="{FF2B5EF4-FFF2-40B4-BE49-F238E27FC236}">
                <a16:creationId xmlns:a16="http://schemas.microsoft.com/office/drawing/2014/main" id="{81306493-953A-D497-DA2E-508EFC8F09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20"/>
          <a:stretch/>
        </p:blipFill>
        <p:spPr bwMode="auto">
          <a:xfrm>
            <a:off x="303375" y="2846121"/>
            <a:ext cx="6573280" cy="3785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Box-Cox Transformation.. The real-world data is not always… | by Ronak  Chhatbar | Medium">
            <a:extLst>
              <a:ext uri="{FF2B5EF4-FFF2-40B4-BE49-F238E27FC236}">
                <a16:creationId xmlns:a16="http://schemas.microsoft.com/office/drawing/2014/main" id="{4946CB98-F55D-FFFC-BFD3-D30D3C07C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6385" y="1565234"/>
            <a:ext cx="2744047" cy="1309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219D55-A210-A6C7-AE41-0EE7928EE31F}"/>
              </a:ext>
            </a:extLst>
          </p:cNvPr>
          <p:cNvSpPr txBox="1"/>
          <p:nvPr/>
        </p:nvSpPr>
        <p:spPr>
          <a:xfrm>
            <a:off x="121262" y="1645793"/>
            <a:ext cx="42013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Логарифмические преобразования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Полиномиальные преобразования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Преобразования Бокса-Кокса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Комбинации с другими темами</a:t>
            </a:r>
            <a:endParaRPr lang="en-US" dirty="0"/>
          </a:p>
        </p:txBody>
      </p:sp>
      <p:pic>
        <p:nvPicPr>
          <p:cNvPr id="8" name="Picture 2" descr="ex">
            <a:extLst>
              <a:ext uri="{FF2B5EF4-FFF2-40B4-BE49-F238E27FC236}">
                <a16:creationId xmlns:a16="http://schemas.microsoft.com/office/drawing/2014/main" id="{E67ADA8F-567B-E771-9B76-21F75C70ED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4569" y="1672024"/>
            <a:ext cx="4636846" cy="5049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57BB38-5F7F-B029-5AE5-AB1AB1AF5BC9}"/>
              </a:ext>
            </a:extLst>
          </p:cNvPr>
          <p:cNvSpPr txBox="1"/>
          <p:nvPr/>
        </p:nvSpPr>
        <p:spPr>
          <a:xfrm>
            <a:off x="7288357" y="3531107"/>
            <a:ext cx="9724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dirty="0"/>
              <a:t>y’=ln(</a:t>
            </a:r>
            <a:r>
              <a:rPr lang="en-US" dirty="0"/>
              <a:t>y)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6041D3B-127A-326E-7788-364AC2699EF5}"/>
                  </a:ext>
                </a:extLst>
              </p:cNvPr>
              <p:cNvSpPr txBox="1"/>
              <p:nvPr/>
            </p:nvSpPr>
            <p:spPr>
              <a:xfrm>
                <a:off x="7774565" y="5185976"/>
                <a:ext cx="23474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" dirty="0"/>
                  <a:t>y’’=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" dirty="0"/>
                  <a:t>ln(</a:t>
                </a:r>
                <a:r>
                  <a:rPr lang="en-US" dirty="0"/>
                  <a:t>y)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6041D3B-127A-326E-7788-364AC2699E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4565" y="5185976"/>
                <a:ext cx="2347480" cy="369332"/>
              </a:xfrm>
              <a:prstGeom prst="rect">
                <a:avLst/>
              </a:prstGeom>
              <a:blipFill>
                <a:blip r:embed="rId6"/>
                <a:stretch>
                  <a:fillRect l="-2162" t="-6667" b="-23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98042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8394F-BA08-44E1-8D36-C22272A35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675" y="365125"/>
            <a:ext cx="10906125" cy="911225"/>
          </a:xfrm>
        </p:spPr>
        <p:txBody>
          <a:bodyPr>
            <a:normAutofit/>
          </a:bodyPr>
          <a:lstStyle/>
          <a:p>
            <a:r>
              <a:rPr lang="ru-RU" dirty="0"/>
              <a:t>Частичная автокорреляция (</a:t>
            </a:r>
            <a:r>
              <a:rPr lang="en-US" dirty="0"/>
              <a:t>PACF</a:t>
            </a:r>
            <a:r>
              <a:rPr lang="ru-RU" dirty="0"/>
              <a:t>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2970183-3CAB-4906-AF11-E3A7AA743C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5262" y="1424247"/>
                <a:ext cx="11410950" cy="5239544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ru-RU" sz="2000" dirty="0"/>
                  <a:t>Один из методов проверки стационарности  - с помощью так называемой функции частичной автокорреляции (PACF):</a:t>
                </a: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𝑃𝐴𝐶𝐹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undOvr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)⋅(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𝑠𝑡𝑑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)⋅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𝑠𝑡𝑑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𝑃𝐴𝐶𝑉𝐹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𝑠𝑡𝑑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)⋅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𝑠𝑡𝑑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2970183-3CAB-4906-AF11-E3A7AA743C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5262" y="1424247"/>
                <a:ext cx="11410950" cy="5239544"/>
              </a:xfrm>
              <a:blipFill>
                <a:blip r:embed="rId2"/>
                <a:stretch>
                  <a:fillRect l="-481" t="-69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image.png">
            <a:extLst>
              <a:ext uri="{FF2B5EF4-FFF2-40B4-BE49-F238E27FC236}">
                <a16:creationId xmlns:a16="http://schemas.microsoft.com/office/drawing/2014/main" id="{931DF2C0-0D96-47D2-A63D-F973A6BD12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746" y="4122544"/>
            <a:ext cx="4489207" cy="2289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1F6E61DB-11A5-4888-8BE9-1CECFE8D28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9296" y="4065301"/>
            <a:ext cx="4248149" cy="2044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C9DFF9A-CEB1-4CCF-B2F3-B5C4E3C3AD56}"/>
              </a:ext>
            </a:extLst>
          </p:cNvPr>
          <p:cNvSpPr/>
          <p:nvPr/>
        </p:nvSpPr>
        <p:spPr>
          <a:xfrm>
            <a:off x="898021" y="3880635"/>
            <a:ext cx="3570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Пример стационарной серии </a:t>
            </a:r>
            <a:r>
              <a:rPr lang="en-US" dirty="0"/>
              <a:t>PACF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FA90A3C-D06B-4C27-A15E-900F19156DA3}"/>
              </a:ext>
            </a:extLst>
          </p:cNvPr>
          <p:cNvSpPr/>
          <p:nvPr/>
        </p:nvSpPr>
        <p:spPr>
          <a:xfrm>
            <a:off x="7070221" y="3695969"/>
            <a:ext cx="38115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Пример нестационарного ряда </a:t>
            </a:r>
            <a:r>
              <a:rPr lang="en-US" dirty="0"/>
              <a:t>PACF</a:t>
            </a:r>
          </a:p>
        </p:txBody>
      </p:sp>
    </p:spTree>
    <p:extLst>
      <p:ext uri="{BB962C8B-B14F-4D97-AF65-F5344CB8AC3E}">
        <p14:creationId xmlns:p14="http://schemas.microsoft.com/office/powerpoint/2010/main" val="1917817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6BE4D-D647-5D38-F396-4B40B501D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77E1D3-BF41-2282-67E2-E30D42BFA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57" y="102885"/>
            <a:ext cx="11092543" cy="656153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Остатки и метрики модели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87C5010-63F7-CB9C-F30D-144136F665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1257" y="729452"/>
                <a:ext cx="11513051" cy="5850534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100" dirty="0"/>
                  <a:t>Можно спрогнозировать</a:t>
                </a:r>
                <a:r>
                  <a:rPr lang="en-US" sz="2100" dirty="0"/>
                  <a:t> </a:t>
                </a:r>
                <a:r>
                  <a:rPr lang="ru-RU" sz="2100" dirty="0"/>
                  <a:t>значения ВР, используя все предыдущие наблюдения.</a:t>
                </a:r>
                <a:r>
                  <a:rPr lang="en-US" sz="2100" dirty="0"/>
                  <a:t> </a:t>
                </a:r>
                <a:endParaRPr lang="ru-RU" sz="21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100" dirty="0"/>
                  <a:t>Е</a:t>
                </a:r>
                <a:r>
                  <a:rPr lang="ru-RU" sz="2100" dirty="0" err="1"/>
                  <a:t>сли</a:t>
                </a:r>
                <a:r>
                  <a:rPr lang="ru-RU" sz="2100" dirty="0"/>
                  <a:t> наблюдения содержат необъясненные составляющие (шум), и их число ограничено, то результат прогноза не является истинным. </a:t>
                </a:r>
                <a:endParaRPr lang="en-US" sz="21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100" dirty="0"/>
                  <a:t>Остаток от предсказания модели на каждом шаге можно оценить как: </a:t>
                </a:r>
                <a:endParaRPr lang="ru-RU" sz="210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ru-RU" sz="2100" i="1" dirty="0" smtClean="0">
                        <a:latin typeface="Cambria Math" panose="02040503050406030204" pitchFamily="18" charset="0"/>
                      </a:rPr>
                      <m:t>е</m:t>
                    </m:r>
                    <m:r>
                      <a:rPr lang="ru-RU" sz="21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1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ru-RU" sz="21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ru-RU" sz="2100" i="1" dirty="0">
                        <a:latin typeface="Cambria Math" panose="02040503050406030204" pitchFamily="18" charset="0"/>
                      </a:rPr>
                      <m:t>​=</m:t>
                    </m:r>
                    <m:r>
                      <a:rPr lang="en-US" sz="21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ru-RU" sz="21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1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ru-RU" sz="21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ru-RU" sz="2100" i="1" dirty="0">
                        <a:latin typeface="Cambria Math" panose="02040503050406030204" pitchFamily="18" charset="0"/>
                      </a:rPr>
                      <m:t>​−</m:t>
                    </m:r>
                    <m:acc>
                      <m:accPr>
                        <m:chr m:val="̂"/>
                        <m:ctrlPr>
                          <a:rPr lang="en-US" sz="2100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1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21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1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1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100" dirty="0"/>
                  <a:t>​  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100" dirty="0"/>
                  <a:t>Ошибку работы модели на всем горизонте предсказаний</a:t>
                </a:r>
                <a:r>
                  <a:rPr lang="en-US" sz="2100" dirty="0"/>
                  <a:t> </a:t>
                </a:r>
                <a14:m>
                  <m:oMath xmlns:m="http://schemas.openxmlformats.org/officeDocument/2006/math">
                    <m:r>
                      <a:rPr lang="en-US" sz="2100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ru-RU" sz="2100" dirty="0"/>
                  <a:t>  можно оценить как функционал от остатков модели</a:t>
                </a:r>
                <a:r>
                  <a:rPr lang="en-US" sz="2100" dirty="0"/>
                  <a:t> - </a:t>
                </a:r>
                <a:r>
                  <a:rPr lang="ru-RU" sz="2100" b="1" dirty="0"/>
                  <a:t>метрика прогноза</a:t>
                </a:r>
                <a:endParaRPr lang="ru-RU" sz="2100" dirty="0"/>
              </a:p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b="0" i="1" dirty="0" smtClean="0">
                          <a:latin typeface="Cambria Math" panose="02040503050406030204" pitchFamily="18" charset="0"/>
                        </a:rPr>
                        <m:t>𝑚𝑒𝑡𝑟𝑖𝑐</m:t>
                      </m:r>
                      <m:r>
                        <a:rPr lang="en-US" sz="21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  <m:e>
                          <m:r>
                            <a:rPr lang="en-US" sz="21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1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100" i="1" dirty="0">
                                  <a:latin typeface="Cambria Math" panose="02040503050406030204" pitchFamily="18" charset="0"/>
                                </a:rPr>
                                <m:t>е(</m:t>
                              </m:r>
                              <m:r>
                                <a:rPr lang="en-US" sz="21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ru-RU" sz="2100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nary>
                      <m:r>
                        <a:rPr lang="en-US" sz="2100" b="0" i="0" dirty="0" smtClean="0">
                          <a:latin typeface="Cambria Math" panose="02040503050406030204" pitchFamily="18" charset="0"/>
                        </a:rPr>
                        <m:t>. </m:t>
                      </m:r>
                    </m:oMath>
                  </m:oMathPara>
                </a14:m>
                <a:endParaRPr lang="ru-RU" sz="2100" b="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1800" i="1" dirty="0"/>
                  <a:t>Выбор метрики определяет, как модель оптимизирует прогноз. </a:t>
                </a:r>
                <a:endParaRPr lang="en-US" sz="1800" i="1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1800" i="1" dirty="0"/>
                  <a:t>Неправильная метрика = риск неверного решения.</a:t>
                </a:r>
                <a:endParaRPr lang="ru-RU" sz="2000" i="1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1800" i="1" dirty="0"/>
                  <a:t>Задача: Предсказать количество пациентов в отделении скорой помощи.</a:t>
                </a:r>
                <a:endParaRPr lang="ru-RU" sz="18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1800" dirty="0"/>
                  <a:t>Модель </a:t>
                </a:r>
                <a:r>
                  <a:rPr lang="en" sz="1800" dirty="0"/>
                  <a:t>A: MAE = </a:t>
                </a:r>
                <a:r>
                  <a:rPr lang="ru-RU" sz="1800" dirty="0"/>
                  <a:t>4</a:t>
                </a:r>
                <a:r>
                  <a:rPr lang="en" sz="1800" dirty="0"/>
                  <a:t> </a:t>
                </a:r>
                <a:r>
                  <a:rPr lang="ru-RU" sz="1800" dirty="0"/>
                  <a:t>пациентов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1800" dirty="0"/>
                  <a:t>Модель </a:t>
                </a:r>
                <a:r>
                  <a:rPr lang="en" sz="1800" dirty="0"/>
                  <a:t>B: MAE = </a:t>
                </a:r>
                <a:r>
                  <a:rPr lang="ru-RU" sz="1800" dirty="0"/>
                  <a:t>3</a:t>
                </a:r>
                <a:r>
                  <a:rPr lang="en" sz="1800" dirty="0"/>
                  <a:t> </a:t>
                </a:r>
                <a:r>
                  <a:rPr lang="ru-RU" sz="1800" dirty="0"/>
                  <a:t>пациента, но в 10% случаев ошибка &gt; 10 пациентов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1800" dirty="0"/>
                  <a:t>Если перегрузка приводит к отказам в помощи → важнее избегать катастрофических ошибок (выбираем модель В</a:t>
                </a:r>
                <a:r>
                  <a:rPr lang="en" sz="1800" dirty="0"/>
                  <a:t>).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" sz="1800" dirty="0"/>
                  <a:t>MAE </a:t>
                </a:r>
                <a:r>
                  <a:rPr lang="ru-RU" sz="1800" dirty="0"/>
                  <a:t>не показывает риск экстремальных событий.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1800" b="1" dirty="0"/>
                  <a:t>Решение:</a:t>
                </a:r>
                <a:r>
                  <a:rPr lang="ru-RU" sz="1800" dirty="0"/>
                  <a:t> Добавляем метрики на максимум ошибки (например, </a:t>
                </a:r>
                <a:r>
                  <a:rPr lang="en" sz="1800" dirty="0"/>
                  <a:t>Worst-case Error).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87C5010-63F7-CB9C-F30D-144136F665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1257" y="729452"/>
                <a:ext cx="11513051" cy="5850534"/>
              </a:xfrm>
              <a:blipFill>
                <a:blip r:embed="rId3"/>
                <a:stretch>
                  <a:fillRect l="-636" t="-730" r="-4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D9E1D40-11B9-B9C3-FE0E-3DD694985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24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5EF28C-A98B-A6AE-9DEE-2F9E5FE143CD}"/>
              </a:ext>
            </a:extLst>
          </p:cNvPr>
          <p:cNvSpPr txBox="1"/>
          <p:nvPr/>
        </p:nvSpPr>
        <p:spPr>
          <a:xfrm>
            <a:off x="126499" y="6523567"/>
            <a:ext cx="1139833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dirty="0" err="1"/>
              <a:t>https</a:t>
            </a:r>
            <a:r>
              <a:rPr lang="ru-RU" sz="1500" dirty="0"/>
              <a:t>://</a:t>
            </a:r>
            <a:r>
              <a:rPr lang="ru-RU" sz="1500" dirty="0" err="1"/>
              <a:t>apxml.com</a:t>
            </a:r>
            <a:r>
              <a:rPr lang="ru-RU" sz="1500" dirty="0"/>
              <a:t>/</a:t>
            </a:r>
            <a:r>
              <a:rPr lang="ru-RU" sz="1500" dirty="0" err="1"/>
              <a:t>courses</a:t>
            </a:r>
            <a:r>
              <a:rPr lang="ru-RU" sz="1500" dirty="0"/>
              <a:t>/</a:t>
            </a:r>
            <a:r>
              <a:rPr lang="ru-RU" sz="1500" dirty="0" err="1"/>
              <a:t>time-series-analysis-forecasting</a:t>
            </a:r>
            <a:r>
              <a:rPr lang="ru-RU" sz="1500" dirty="0"/>
              <a:t>/chapter-6-model-evaluation-selection/</a:t>
            </a:r>
            <a:r>
              <a:rPr lang="ru-RU" sz="1500" dirty="0" err="1"/>
              <a:t>evaluation-metrics-mae-mse-rmse</a:t>
            </a:r>
            <a:endParaRPr lang="ru-RU" sz="15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D18F84-76DE-6B24-3A90-DDA824A24A4B}"/>
              </a:ext>
            </a:extLst>
          </p:cNvPr>
          <p:cNvSpPr txBox="1"/>
          <p:nvPr/>
        </p:nvSpPr>
        <p:spPr>
          <a:xfrm>
            <a:off x="3330743" y="6347855"/>
            <a:ext cx="609797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dirty="0" err="1"/>
              <a:t>https</a:t>
            </a:r>
            <a:r>
              <a:rPr lang="ru-RU" sz="1500" dirty="0"/>
              <a:t>://</a:t>
            </a:r>
            <a:r>
              <a:rPr lang="ru-RU" sz="1500" dirty="0" err="1"/>
              <a:t>arxiv.org</a:t>
            </a:r>
            <a:r>
              <a:rPr lang="ru-RU" sz="1500" dirty="0"/>
              <a:t>/</a:t>
            </a:r>
            <a:r>
              <a:rPr lang="ru-RU" sz="1500" dirty="0" err="1"/>
              <a:t>pdf</a:t>
            </a:r>
            <a:r>
              <a:rPr lang="ru-RU" sz="1500" dirty="0"/>
              <a:t>/2211.02989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A853A3-E146-7BC4-408E-A62E24EACAEA}"/>
              </a:ext>
            </a:extLst>
          </p:cNvPr>
          <p:cNvSpPr txBox="1"/>
          <p:nvPr/>
        </p:nvSpPr>
        <p:spPr>
          <a:xfrm>
            <a:off x="126499" y="6350000"/>
            <a:ext cx="391066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dirty="0" err="1"/>
              <a:t>https</a:t>
            </a:r>
            <a:r>
              <a:rPr lang="ru-RU" sz="1500" dirty="0"/>
              <a:t>://</a:t>
            </a:r>
            <a:r>
              <a:rPr lang="ru-RU" sz="1500" dirty="0" err="1"/>
              <a:t>otexts.com</a:t>
            </a:r>
            <a:r>
              <a:rPr lang="ru-RU" sz="1500" dirty="0"/>
              <a:t>/fpp2/</a:t>
            </a:r>
            <a:r>
              <a:rPr lang="ru-RU" sz="1500" dirty="0" err="1"/>
              <a:t>accuracy.html</a:t>
            </a:r>
            <a:endParaRPr lang="ru-RU" sz="15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6079789" y="6341047"/>
            <a:ext cx="471956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https://dl.leima.is/time-series/timeseries-metrics.forecasting/</a:t>
            </a:r>
          </a:p>
        </p:txBody>
      </p:sp>
    </p:spTree>
    <p:extLst>
      <p:ext uri="{BB962C8B-B14F-4D97-AF65-F5344CB8AC3E}">
        <p14:creationId xmlns:p14="http://schemas.microsoft.com/office/powerpoint/2010/main" val="26113453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0896" y="365125"/>
            <a:ext cx="11042904" cy="585851"/>
          </a:xfrm>
        </p:spPr>
        <p:txBody>
          <a:bodyPr>
            <a:normAutofit fontScale="90000"/>
          </a:bodyPr>
          <a:lstStyle/>
          <a:p>
            <a:r>
              <a:rPr lang="ru-RU" dirty="0"/>
              <a:t>Типы метрик во временных рядах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Таблица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6244280"/>
                  </p:ext>
                </p:extLst>
              </p:nvPr>
            </p:nvGraphicFramePr>
            <p:xfrm>
              <a:off x="117258" y="946513"/>
              <a:ext cx="11652504" cy="5592399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1851391">
                      <a:extLst>
                        <a:ext uri="{9D8B030D-6E8A-4147-A177-3AD203B41FA5}">
                          <a16:colId xmlns:a16="http://schemas.microsoft.com/office/drawing/2014/main" val="1179540234"/>
                        </a:ext>
                      </a:extLst>
                    </a:gridCol>
                    <a:gridCol w="2706893">
                      <a:extLst>
                        <a:ext uri="{9D8B030D-6E8A-4147-A177-3AD203B41FA5}">
                          <a16:colId xmlns:a16="http://schemas.microsoft.com/office/drawing/2014/main" val="1726485903"/>
                        </a:ext>
                      </a:extLst>
                    </a:gridCol>
                    <a:gridCol w="2753958">
                      <a:extLst>
                        <a:ext uri="{9D8B030D-6E8A-4147-A177-3AD203B41FA5}">
                          <a16:colId xmlns:a16="http://schemas.microsoft.com/office/drawing/2014/main" val="347437075"/>
                        </a:ext>
                      </a:extLst>
                    </a:gridCol>
                    <a:gridCol w="1487103">
                      <a:extLst>
                        <a:ext uri="{9D8B030D-6E8A-4147-A177-3AD203B41FA5}">
                          <a16:colId xmlns:a16="http://schemas.microsoft.com/office/drawing/2014/main" val="4165201017"/>
                        </a:ext>
                      </a:extLst>
                    </a:gridCol>
                    <a:gridCol w="2853159">
                      <a:extLst>
                        <a:ext uri="{9D8B030D-6E8A-4147-A177-3AD203B41FA5}">
                          <a16:colId xmlns:a16="http://schemas.microsoft.com/office/drawing/2014/main" val="479462170"/>
                        </a:ext>
                      </a:extLst>
                    </a:gridCol>
                  </a:tblGrid>
                  <a:tr h="36021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Тип прогноза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Оценка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Цель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Метрики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Особенности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384900001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Точечный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Наилучшая оценка модели (часто средняя, мода и </a:t>
                          </a:r>
                          <a:r>
                            <a:rPr lang="ru-RU" sz="2000" kern="100" dirty="0" err="1">
                              <a:effectLst/>
                            </a:rPr>
                            <a:t>тд</a:t>
                          </a:r>
                          <a:r>
                            <a:rPr lang="ru-RU" sz="2000" kern="100" dirty="0">
                              <a:effectLst/>
                            </a:rPr>
                            <a:t>)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Определить наиболее ожидаемое значение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>
                              <a:effectLst/>
                            </a:rPr>
                            <a:t>MAE, RMSE, MAPE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 err="1">
                              <a:effectLst/>
                            </a:rPr>
                            <a:t>неучитывает</a:t>
                          </a:r>
                          <a:r>
                            <a:rPr lang="ru-RU" sz="2000" kern="100" dirty="0">
                              <a:effectLst/>
                            </a:rPr>
                            <a:t> особенности разброса оценки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3906028580"/>
                      </a:ext>
                    </a:extLst>
                  </a:tr>
                  <a:tr h="123039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Дисперсия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СКО и неопределенность прогноза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800" kern="1200" dirty="0">
                              <a:effectLst/>
                            </a:rPr>
                            <a:t>Оценить разброс и надежность прогноза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R2,</a:t>
                          </a:r>
                          <a:r>
                            <a:rPr lang="en-US" sz="2000" kern="100" baseline="0" dirty="0">
                              <a:effectLst/>
                            </a:rPr>
                            <a:t> 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Используется в дополнение</a:t>
                          </a:r>
                          <a:r>
                            <a:rPr lang="ru-RU" sz="2000" kern="100" baseline="0" dirty="0">
                              <a:effectLst/>
                            </a:rPr>
                            <a:t> к остальным 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167853513"/>
                      </a:ext>
                    </a:extLst>
                  </a:tr>
                  <a:tr h="123039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Интервальный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 диапазон с заданным покрытием </a:t>
                          </a:r>
                          <a14:m>
                            <m:oMath xmlns:m="http://schemas.openxmlformats.org/officeDocument/2006/math">
                              <m:r>
                                <a:rPr lang="ru-RU" sz="2000" kern="100">
                                  <a:effectLst/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ru-RU" sz="20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sz="20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𝑙𝑜𝑤</m:t>
                                  </m:r>
                                </m:sub>
                              </m:sSub>
                              <m:r>
                                <a:rPr lang="ru-RU" sz="2000" kern="100">
                                  <a:effectLst/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ru-RU" sz="20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sz="20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h𝑖𝑔h</m:t>
                                  </m:r>
                                </m:sub>
                              </m:sSub>
                              <m:r>
                                <a:rPr lang="ru-RU" sz="2000" kern="100">
                                  <a:effectLst/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oMath>
                          </a14:m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Определить ширину и покрытие интервалов 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Coverage, Mean Width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Легко интерпретировать, но не покрывает выбросы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2624244439"/>
                      </a:ext>
                    </a:extLst>
                  </a:tr>
                  <a:tr h="92549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Квантильный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Предсказать конкретный квантиль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20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sz="20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sub>
                              </m:sSub>
                            </m:oMath>
                          </a14:m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точность определения квантилей 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Pinball Loss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Анализ хвостов, не покрывает интервалы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3660764479"/>
                      </a:ext>
                    </a:extLst>
                  </a:tr>
                  <a:tr h="62059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Вероятностный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полное распределение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ru-RU" sz="20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20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p>
                                  <m:r>
                                    <a:rPr lang="ru-RU" sz="20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ru-RU" sz="2000" kern="100"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ru-RU" sz="2000" kern="100">
                                  <a:effectLst/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ru-RU" sz="2000" kern="100"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качество всего прогнозного распределения 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Log Score, CRPS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Сложная реализация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23810454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Таблица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6244280"/>
                  </p:ext>
                </p:extLst>
              </p:nvPr>
            </p:nvGraphicFramePr>
            <p:xfrm>
              <a:off x="117258" y="946513"/>
              <a:ext cx="11652504" cy="5592399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1851391">
                      <a:extLst>
                        <a:ext uri="{9D8B030D-6E8A-4147-A177-3AD203B41FA5}">
                          <a16:colId xmlns:a16="http://schemas.microsoft.com/office/drawing/2014/main" val="1179540234"/>
                        </a:ext>
                      </a:extLst>
                    </a:gridCol>
                    <a:gridCol w="2706893">
                      <a:extLst>
                        <a:ext uri="{9D8B030D-6E8A-4147-A177-3AD203B41FA5}">
                          <a16:colId xmlns:a16="http://schemas.microsoft.com/office/drawing/2014/main" val="1726485903"/>
                        </a:ext>
                      </a:extLst>
                    </a:gridCol>
                    <a:gridCol w="2753958">
                      <a:extLst>
                        <a:ext uri="{9D8B030D-6E8A-4147-A177-3AD203B41FA5}">
                          <a16:colId xmlns:a16="http://schemas.microsoft.com/office/drawing/2014/main" val="347437075"/>
                        </a:ext>
                      </a:extLst>
                    </a:gridCol>
                    <a:gridCol w="1487103">
                      <a:extLst>
                        <a:ext uri="{9D8B030D-6E8A-4147-A177-3AD203B41FA5}">
                          <a16:colId xmlns:a16="http://schemas.microsoft.com/office/drawing/2014/main" val="4165201017"/>
                        </a:ext>
                      </a:extLst>
                    </a:gridCol>
                    <a:gridCol w="2853159">
                      <a:extLst>
                        <a:ext uri="{9D8B030D-6E8A-4147-A177-3AD203B41FA5}">
                          <a16:colId xmlns:a16="http://schemas.microsoft.com/office/drawing/2014/main" val="479462170"/>
                        </a:ext>
                      </a:extLst>
                    </a:gridCol>
                  </a:tblGrid>
                  <a:tr h="36021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Тип прогноза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Оценка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Цель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 smtClean="0">
                              <a:effectLst/>
                            </a:rPr>
                            <a:t>Метрики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Особенности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3849000017"/>
                      </a:ext>
                    </a:extLst>
                  </a:tr>
                  <a:tr h="92294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 smtClean="0">
                              <a:effectLst/>
                            </a:rPr>
                            <a:t>Точечный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Наилучшая оценка модели (часто средняя, мода и </a:t>
                          </a:r>
                          <a:r>
                            <a:rPr lang="ru-RU" sz="2000" kern="100" dirty="0" err="1">
                              <a:effectLst/>
                            </a:rPr>
                            <a:t>тд</a:t>
                          </a:r>
                          <a:r>
                            <a:rPr lang="ru-RU" sz="2000" kern="100" dirty="0">
                              <a:effectLst/>
                            </a:rPr>
                            <a:t>)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Определить наиболее ожидаемое значение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>
                              <a:effectLst/>
                            </a:rPr>
                            <a:t>MAE, RMSE, MAPE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 err="1" smtClean="0">
                              <a:effectLst/>
                            </a:rPr>
                            <a:t>неучитывает</a:t>
                          </a:r>
                          <a:r>
                            <a:rPr lang="ru-RU" sz="2000" kern="100" dirty="0" smtClean="0">
                              <a:effectLst/>
                            </a:rPr>
                            <a:t> </a:t>
                          </a:r>
                          <a:r>
                            <a:rPr lang="ru-RU" sz="2000" kern="100" dirty="0">
                              <a:effectLst/>
                            </a:rPr>
                            <a:t>особенности разброса оценки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3906028580"/>
                      </a:ext>
                    </a:extLst>
                  </a:tr>
                  <a:tr h="123039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 smtClean="0">
                              <a:effectLst/>
                            </a:rPr>
                            <a:t>Дисперсия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СКО и </a:t>
                          </a:r>
                          <a:r>
                            <a:rPr lang="ru-RU" sz="2000" kern="100" dirty="0" smtClean="0">
                              <a:effectLst/>
                            </a:rPr>
                            <a:t>неопределенность прогноза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800" kern="1200" dirty="0" smtClean="0">
                              <a:effectLst/>
                            </a:rPr>
                            <a:t>Оценить разброс и надежность прогноза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 smtClean="0">
                              <a:effectLst/>
                            </a:rPr>
                            <a:t>R2,</a:t>
                          </a:r>
                          <a:r>
                            <a:rPr lang="en-US" sz="2000" kern="100" baseline="0" dirty="0" smtClean="0">
                              <a:effectLst/>
                            </a:rPr>
                            <a:t> 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 smtClean="0">
                              <a:effectLst/>
                            </a:rPr>
                            <a:t>Используется в дополнение</a:t>
                          </a:r>
                          <a:r>
                            <a:rPr lang="ru-RU" sz="2000" kern="100" baseline="0" dirty="0" smtClean="0">
                              <a:effectLst/>
                            </a:rPr>
                            <a:t> к остальным 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167853513"/>
                      </a:ext>
                    </a:extLst>
                  </a:tr>
                  <a:tr h="123039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Интервальный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8545" marR="8545" marT="8545" marB="0" anchor="ctr">
                        <a:blipFill>
                          <a:blip r:embed="rId3"/>
                          <a:stretch>
                            <a:fillRect l="-68694" t="-207921" r="-262613" b="-1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Определить ширину и покрытие интервалов 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Coverage, Mean Width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Легко интерпретировать, но не покрывает выбросы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2624244439"/>
                      </a:ext>
                    </a:extLst>
                  </a:tr>
                  <a:tr h="92549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Квантильный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8545" marR="8545" marT="8545" marB="0" anchor="ctr">
                        <a:blipFill>
                          <a:blip r:embed="rId3"/>
                          <a:stretch>
                            <a:fillRect l="-68694" t="-411921" r="-262613" b="-1172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точность определения квантилей 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Pinball Loss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Анализ хвостов, не покрывает интервалы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3660764479"/>
                      </a:ext>
                    </a:extLst>
                  </a:tr>
                  <a:tr h="92294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Вероятностный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8545" marR="8545" marT="8545" marB="0" anchor="ctr">
                        <a:blipFill>
                          <a:blip r:embed="rId3"/>
                          <a:stretch>
                            <a:fillRect l="-68694" t="-508553" r="-262613" b="-164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качество всего прогнозного распределения 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Log Score, CRPS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Сложная реализация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238104547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405337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5DE966-D6B4-DE62-38D1-BB83A3D1A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10" y="196077"/>
            <a:ext cx="10973790" cy="644278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Точечные абсолютные ошибки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D62B209-107C-7236-EFA3-803460B717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6222" y="778882"/>
                <a:ext cx="5459855" cy="5061937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" sz="2400" i="1" dirty="0" smtClean="0"/>
                      <m:t>MAE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ru-RU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  <m:r>
                              <a:rPr lang="ru-RU" sz="2400" i="1" dirty="0">
                                <a:latin typeface="Cambria Math" panose="02040503050406030204" pitchFamily="18" charset="0"/>
                              </a:rPr>
                              <m:t>​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e>
                        </m:d>
                      </m:e>
                    </m:nary>
                  </m:oMath>
                </a14:m>
                <a:r>
                  <a:rPr lang="en" sz="2300" dirty="0"/>
                  <a:t> </a:t>
                </a:r>
                <a:endParaRPr lang="ru-RU" sz="2300" i="1" dirty="0"/>
              </a:p>
              <a:p>
                <a:pPr marL="0" indent="0">
                  <a:buNone/>
                </a:pPr>
                <a:r>
                  <a:rPr lang="ru-RU" sz="2300" b="1" i="1" dirty="0"/>
                  <a:t>Плюсы:</a:t>
                </a:r>
              </a:p>
              <a:p>
                <a:r>
                  <a:rPr lang="ru-RU" sz="2300" dirty="0"/>
                  <a:t>Лего интерпретировать (и ML</a:t>
                </a:r>
                <a:r>
                  <a:rPr lang="en-US" sz="2300" dirty="0"/>
                  <a:t> </a:t>
                </a:r>
                <a:r>
                  <a:rPr lang="ru-RU" sz="2300" dirty="0"/>
                  <a:t>и в домене)</a:t>
                </a:r>
              </a:p>
              <a:p>
                <a:r>
                  <a:rPr lang="ru-RU" sz="2300" dirty="0"/>
                  <a:t>Менее чувствителен к выбросам</a:t>
                </a:r>
              </a:p>
              <a:p>
                <a:r>
                  <a:rPr lang="ru-RU" sz="2300" dirty="0"/>
                  <a:t>Значение в единицах измерения</a:t>
                </a:r>
              </a:p>
              <a:p>
                <a:r>
                  <a:rPr lang="ru-RU" sz="2300" dirty="0"/>
                  <a:t>Оценка смещения предсказания</a:t>
                </a:r>
              </a:p>
              <a:p>
                <a:pPr marL="0" indent="0">
                  <a:buNone/>
                </a:pPr>
                <a:r>
                  <a:rPr lang="ru-RU" sz="2300" b="1" i="1" dirty="0"/>
                  <a:t>Минусы:</a:t>
                </a:r>
              </a:p>
              <a:p>
                <a:r>
                  <a:rPr lang="ru-RU" sz="2300" dirty="0"/>
                  <a:t>Одинаковый вес любым ошибкам, </a:t>
                </a:r>
                <a:br>
                  <a:rPr lang="ru-RU" sz="2300" dirty="0"/>
                </a:br>
                <a:r>
                  <a:rPr lang="ru-RU" sz="2300" dirty="0"/>
                  <a:t>крупные ошибки, выбросы иногда дороже мелких</a:t>
                </a:r>
              </a:p>
              <a:p>
                <a:r>
                  <a:rPr lang="ru-RU" sz="2300" dirty="0"/>
                  <a:t>Не дифференцируема в 0</a:t>
                </a:r>
              </a:p>
              <a:p>
                <a:pPr marL="0" indent="0">
                  <a:buNone/>
                </a:pPr>
                <a:r>
                  <a:rPr lang="ru-RU" sz="2300" b="1" dirty="0"/>
                  <a:t>Применение:</a:t>
                </a:r>
                <a:r>
                  <a:rPr lang="ru-RU" sz="2300" dirty="0"/>
                  <a:t> Задачи, где все ошибки одинаково важны </a:t>
                </a:r>
                <a:endParaRPr lang="ru-RU" sz="2300" i="1" dirty="0"/>
              </a:p>
              <a:p>
                <a:endParaRPr lang="ru-RU" i="1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D62B209-107C-7236-EFA3-803460B717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6222" y="778882"/>
                <a:ext cx="5459855" cy="5061937"/>
              </a:xfrm>
              <a:blipFill>
                <a:blip r:embed="rId3"/>
                <a:stretch>
                  <a:fillRect l="-13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D2B547B-6046-CB83-8CC3-94933B474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34A136EE-3C9A-E9F8-9D5A-A94BC44CBCB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86077" y="955614"/>
                <a:ext cx="6008914" cy="506193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100" i="1" dirty="0" smtClean="0"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nor/>
                      </m:rPr>
                      <a:rPr lang="en-US" sz="2100" b="0" i="1" dirty="0" smtClean="0">
                        <a:latin typeface="Cambria Math" panose="02040503050406030204" pitchFamily="18" charset="0"/>
                      </a:rPr>
                      <m:t>MSE</m:t>
                    </m:r>
                    <m:r>
                      <m:rPr>
                        <m:nor/>
                      </m:rPr>
                      <a:rPr lang="en" sz="2100" dirty="0" smtClean="0"/>
                      <m:t>=</m:t>
                    </m:r>
                    <m:f>
                      <m:fPr>
                        <m:ctrlPr>
                          <a:rPr lang="en" sz="21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1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100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US" sz="2100" b="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nary>
                          <m:naryPr>
                            <m:chr m:val="∑"/>
                            <m:ctrlPr>
                              <a:rPr lang="en-US" sz="2100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1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100" i="1" dirty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1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  <m:sup>
                            <m:r>
                              <a:rPr lang="en-US" sz="21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2100" i="1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100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21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1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d>
                                      <m:dPr>
                                        <m:ctrlPr>
                                          <a:rPr lang="ru-RU" sz="21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100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  <m:r>
                                      <a:rPr lang="ru-RU" sz="2100" i="1" dirty="0">
                                        <a:latin typeface="Cambria Math" panose="02040503050406030204" pitchFamily="18" charset="0"/>
                                      </a:rPr>
                                      <m:t>​</m:t>
                                    </m:r>
                                    <m:r>
                                      <a:rPr lang="en-US" sz="2100" i="1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US" sz="21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100" i="1" dirty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en-US" sz="21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100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en-US" sz="21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rad>
                    <m:r>
                      <m:rPr>
                        <m:nor/>
                      </m:rPr>
                      <a:rPr lang="en-US" sz="2100" b="0" i="0" dirty="0" smtClean="0"/>
                      <m:t>  </m:t>
                    </m:r>
                  </m:oMath>
                </a14:m>
                <a:r>
                  <a:rPr lang="en" sz="2100" dirty="0"/>
                  <a:t> </a:t>
                </a:r>
                <a:endParaRPr lang="ru-RU" sz="2100" dirty="0"/>
              </a:p>
              <a:p>
                <a:pPr marL="0" indent="0">
                  <a:buNone/>
                </a:pPr>
                <a:r>
                  <a:rPr lang="ru-RU" sz="2100" b="1" i="1" dirty="0"/>
                  <a:t>Плюсы:</a:t>
                </a:r>
              </a:p>
              <a:p>
                <a:r>
                  <a:rPr lang="ru-RU" sz="2100" dirty="0"/>
                  <a:t>За большие ошибки больший штраф</a:t>
                </a:r>
              </a:p>
              <a:p>
                <a:r>
                  <a:rPr lang="ru-RU" sz="2100" dirty="0"/>
                  <a:t>Оценка дисперсии предсказаний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ru-RU" sz="2100" b="1" i="1" dirty="0"/>
                  <a:t>Минусы:</a:t>
                </a:r>
              </a:p>
              <a:p>
                <a:r>
                  <a:rPr lang="ru-RU" sz="2100" dirty="0"/>
                  <a:t>Сложнее интерпретировать в предметной области</a:t>
                </a:r>
              </a:p>
              <a:p>
                <a:r>
                  <a:rPr lang="ru-RU" sz="2100" dirty="0"/>
                  <a:t>Чувствительность к выбросам</a:t>
                </a:r>
              </a:p>
              <a:p>
                <a:pPr marL="0" indent="0">
                  <a:buNone/>
                </a:pPr>
                <a:r>
                  <a:rPr lang="ru-RU" sz="2100" b="1" dirty="0"/>
                  <a:t>Применение:</a:t>
                </a:r>
                <a:r>
                  <a:rPr lang="ru-RU" sz="2100" dirty="0"/>
                  <a:t> Задачи, где разброс ошибок критически важен</a:t>
                </a:r>
                <a:endParaRPr lang="ru-RU" sz="2100" i="1" dirty="0"/>
              </a:p>
              <a:p>
                <a:endParaRPr lang="ru-RU" i="1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34A136EE-3C9A-E9F8-9D5A-A94BC44CBC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6077" y="955614"/>
                <a:ext cx="6008914" cy="5061937"/>
              </a:xfrm>
              <a:prstGeom prst="rect">
                <a:avLst/>
              </a:prstGeom>
              <a:blipFill>
                <a:blip r:embed="rId4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ямоугольник 6"/>
          <p:cNvSpPr/>
          <p:nvPr/>
        </p:nvSpPr>
        <p:spPr>
          <a:xfrm>
            <a:off x="3352800" y="6423624"/>
            <a:ext cx="815019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https://towardsdatascience.com/an-overview-of-forecasting-performance-metrics-ef548dad0134/</a:t>
            </a:r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5690795" y="955614"/>
            <a:ext cx="0" cy="54007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38562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69E32-AFFB-624E-12E5-9A6B2A04C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C4AAED-7759-603C-1920-D8D4E7089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10" y="109408"/>
            <a:ext cx="10973790" cy="644278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Точечные относительные ошибки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43C449D-D68B-64B7-B076-716F7EB328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5478" y="845016"/>
                <a:ext cx="4874578" cy="5511334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" sz="2200" i="1" dirty="0" smtClean="0"/>
                        <m:t>MA</m:t>
                      </m:r>
                      <m:r>
                        <m:rPr>
                          <m:nor/>
                        </m:rPr>
                        <a:rPr lang="en-US" sz="2200" b="0" i="1" dirty="0" smtClean="0"/>
                        <m:t>P</m:t>
                      </m:r>
                      <m:r>
                        <m:rPr>
                          <m:nor/>
                        </m:rPr>
                        <a:rPr lang="en" sz="2200" i="1" dirty="0" smtClean="0"/>
                        <m:t>E</m:t>
                      </m:r>
                      <m:r>
                        <m:rPr>
                          <m:nor/>
                        </m:rPr>
                        <a:rPr lang="en" sz="2200" dirty="0" smtClean="0"/>
                        <m:t>=</m:t>
                      </m:r>
                      <m:f>
                        <m:fPr>
                          <m:ctrlPr>
                            <a:rPr lang="en" sz="2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  <m:e>
                          <m:f>
                            <m:fPr>
                              <m:ctrlP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ru-RU" sz="2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ru-RU" sz="2200" i="1" dirty="0">
                                      <a:latin typeface="Cambria Math" panose="02040503050406030204" pitchFamily="18" charset="0"/>
                                    </a:rPr>
                                    <m:t>​</m:t>
                                  </m:r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ru-RU" sz="2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sz="2300" b="1" i="1" dirty="0"/>
                  <a:t>Плюсы:</a:t>
                </a:r>
              </a:p>
              <a:p>
                <a:r>
                  <a:rPr lang="ru-RU" sz="2300" i="1" dirty="0"/>
                  <a:t>Не зависит от масштаба</a:t>
                </a:r>
              </a:p>
              <a:p>
                <a:r>
                  <a:rPr lang="ru-RU" sz="2300" i="1" dirty="0"/>
                  <a:t>Интуитивно понятна в предметной области</a:t>
                </a:r>
              </a:p>
              <a:p>
                <a:pPr marL="0" indent="0">
                  <a:buNone/>
                </a:pPr>
                <a:r>
                  <a:rPr lang="ru-RU" sz="2300" b="1" i="1" dirty="0"/>
                  <a:t>Минусы:</a:t>
                </a:r>
              </a:p>
              <a:p>
                <a:r>
                  <a:rPr lang="ru-RU" sz="2300" i="1" dirty="0"/>
                  <a:t>Деление на 0</a:t>
                </a:r>
              </a:p>
              <a:p>
                <a:r>
                  <a:rPr lang="ru-RU" sz="2300" i="1" dirty="0"/>
                  <a:t>Не симметрично (за прогнозы выше значения  - штрафует сильнее)</a:t>
                </a:r>
                <a:endParaRPr lang="en-US" sz="2300" i="1" dirty="0"/>
              </a:p>
              <a:p>
                <a:pPr lvl="1"/>
                <a:r>
                  <a:rPr lang="ru-RU" sz="2000" dirty="0"/>
                  <a:t>Если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ru-RU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ru-RU" sz="2000" i="1" dirty="0">
                        <a:latin typeface="Cambria Math" panose="02040503050406030204" pitchFamily="18" charset="0"/>
                      </a:rPr>
                      <m:t>​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&gt;</m:t>
                    </m:r>
                    <m:acc>
                      <m:accPr>
                        <m:chr m:val="̂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ru-RU" sz="2000" dirty="0"/>
                  <a:t> </a:t>
                </a:r>
                <a:r>
                  <a:rPr lang="en-US" sz="2000" dirty="0"/>
                  <a:t>MAPE</a:t>
                </a:r>
                <a:r>
                  <a:rPr lang="ru-RU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ru-RU" sz="2000" i="1" dirty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ru-RU" sz="2000" dirty="0"/>
                  <a:t> </a:t>
                </a:r>
                <a:endParaRPr lang="en-US" sz="2000" dirty="0"/>
              </a:p>
              <a:p>
                <a:pPr lvl="1"/>
                <a:r>
                  <a:rPr lang="ru-RU" sz="2000" dirty="0"/>
                  <a:t>Если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ru-RU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ru-RU" sz="2000" i="1" dirty="0">
                        <a:latin typeface="Cambria Math" panose="02040503050406030204" pitchFamily="18" charset="0"/>
                      </a:rPr>
                      <m:t>​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&lt;</m:t>
                    </m:r>
                    <m:acc>
                      <m:accPr>
                        <m:chr m:val="̂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ru-RU" sz="2000" dirty="0"/>
                  <a:t> </a:t>
                </a:r>
                <a:r>
                  <a:rPr lang="en-US" sz="2000" dirty="0"/>
                  <a:t>MAPE</a:t>
                </a:r>
                <a:r>
                  <a:rPr lang="ru-RU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ru-RU" sz="2000" b="0" i="0" dirty="0">
                    <a:latin typeface="+mj-lt"/>
                  </a:rPr>
                  <a:t>значения могут </a:t>
                </a:r>
                <a:r>
                  <a:rPr lang="ru-RU" sz="2000" dirty="0">
                    <a:latin typeface="+mj-lt"/>
                  </a:rPr>
                  <a:t>быть занижены</a:t>
                </a:r>
                <a:endParaRPr lang="en-US" sz="2000" dirty="0">
                  <a:latin typeface="+mj-lt"/>
                </a:endParaRPr>
              </a:p>
              <a:p>
                <a:pPr lvl="2"/>
                <a:r>
                  <a:rPr lang="fr-FR" sz="1900" i="1" dirty="0"/>
                  <a:t>y</a:t>
                </a:r>
                <a:r>
                  <a:rPr lang="fr-FR" sz="1900" dirty="0"/>
                  <a:t>​=150,</a:t>
                </a:r>
                <a:r>
                  <a:rPr lang="fr-FR" sz="1900" i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9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9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fr-FR" sz="1900" dirty="0"/>
                  <a:t>​​=100⇒MAPE=33%</a:t>
                </a:r>
              </a:p>
              <a:p>
                <a:pPr lvl="2"/>
                <a:r>
                  <a:rPr lang="fr-FR" sz="1900" i="1" dirty="0"/>
                  <a:t>yt</a:t>
                </a:r>
                <a:r>
                  <a:rPr lang="fr-FR" sz="1900" dirty="0"/>
                  <a:t>​=100,</a:t>
                </a:r>
                <a:r>
                  <a:rPr lang="fr-FR" sz="1900" i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7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7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fr-FR" sz="1900" dirty="0"/>
                  <a:t>​=150⇒MAPE=50%</a:t>
                </a:r>
                <a:endParaRPr lang="ru-RU" sz="1900" dirty="0">
                  <a:latin typeface="+mj-lt"/>
                </a:endParaRPr>
              </a:p>
              <a:p>
                <a:pPr marL="0" indent="0">
                  <a:buNone/>
                </a:pPr>
                <a:r>
                  <a:rPr lang="ru-RU" sz="2300" b="1" dirty="0"/>
                  <a:t>Применение:</a:t>
                </a:r>
                <a:r>
                  <a:rPr lang="ru-RU" sz="2300" dirty="0"/>
                  <a:t>  сравнение ошибок для разных ВР (в %)</a:t>
                </a:r>
                <a:endParaRPr lang="ru-RU" i="1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43C449D-D68B-64B7-B076-716F7EB328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5478" y="845016"/>
                <a:ext cx="4874578" cy="5511334"/>
              </a:xfrm>
              <a:blipFill>
                <a:blip r:embed="rId3"/>
                <a:stretch>
                  <a:fillRect l="-1500" r="-3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3091FF6-0930-F217-7283-79B287AC8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F36D5F59-98C7-DA5F-CF10-55D98AB8D1E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085481" y="880358"/>
                <a:ext cx="6966966" cy="554402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20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d>
                                        <m:dPr>
                                          <m:ctrlPr>
                                            <a:rPr lang="ru-RU" sz="2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20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  <m:r>
                                        <a:rPr lang="ru-RU" sz="2200" i="1" dirty="0">
                                          <a:latin typeface="Cambria Math" panose="02040503050406030204" pitchFamily="18" charset="0"/>
                                        </a:rPr>
                                        <m:t>​</m:t>
                                      </m:r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200" i="1" dirty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  <m:d>
                                        <m:dPr>
                                          <m:ctrlPr>
                                            <a:rPr lang="en-US" sz="2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20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d>
                                        <m:dPr>
                                          <m:ctrlPr>
                                            <a:rPr lang="ru-RU" sz="2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20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  <m:r>
                                        <a:rPr lang="ru-RU" sz="2200" i="1" dirty="0">
                                          <a:latin typeface="Cambria Math" panose="02040503050406030204" pitchFamily="18" charset="0"/>
                                        </a:rPr>
                                        <m:t>​</m:t>
                                      </m:r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200" b="0" i="1" dirty="0" smtClean="0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𝑎𝑑𝑗</m:t>
                          </m:r>
                        </m:sub>
                        <m:sup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sSup>
                            <m:sSupPr>
                              <m:ctrlP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num>
                        <m:den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– </a:t>
                </a:r>
                <a:r>
                  <a:rPr lang="ru-RU" sz="2400" dirty="0"/>
                  <a:t>число параметров модели</a:t>
                </a:r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𝐸𝑦</m:t>
                    </m:r>
                  </m:oMath>
                </a14:m>
                <a:r>
                  <a:rPr lang="en-US" sz="2400" dirty="0"/>
                  <a:t> – </a:t>
                </a:r>
                <a:r>
                  <a:rPr lang="ru-RU" sz="2400" dirty="0"/>
                  <a:t>среднее значение</a:t>
                </a:r>
              </a:p>
              <a:p>
                <a:pPr marL="0" indent="0">
                  <a:buNone/>
                </a:pPr>
                <a:r>
                  <a:rPr lang="ru-RU" sz="2300" b="1" i="1" dirty="0"/>
                  <a:t>Плюсы:</a:t>
                </a:r>
              </a:p>
              <a:p>
                <a:r>
                  <a:rPr lang="ru-RU" sz="2300" i="1" dirty="0"/>
                  <a:t>объясняет дисперсию модели</a:t>
                </a:r>
              </a:p>
              <a:p>
                <a:r>
                  <a:rPr lang="ru-RU" sz="2300" i="1" dirty="0"/>
                  <a:t>Можно представить как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3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𝑏𝑎𝑠𝑙𝑖𝑛𝑒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𝑆𝐸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𝑚𝑜𝑑𝑒𝑙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𝑀𝑆𝐸</m:t>
                        </m:r>
                      </m:num>
                      <m:den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𝑏𝑎𝑠𝑙𝑖𝑛𝑒</m:t>
                        </m:r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𝑀𝑆𝐸</m:t>
                        </m:r>
                      </m:den>
                    </m:f>
                  </m:oMath>
                </a14:m>
                <a:r>
                  <a:rPr lang="en-US" sz="2300" i="1" dirty="0"/>
                  <a:t> - </a:t>
                </a:r>
                <a:r>
                  <a:rPr lang="ru-RU" sz="2300" i="1" dirty="0"/>
                  <a:t>сравнивает модель со средним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ru-RU" sz="2300" b="1" i="1" dirty="0"/>
                  <a:t>Минусы:</a:t>
                </a:r>
              </a:p>
              <a:p>
                <a:r>
                  <a:rPr lang="ru-RU" sz="2300" i="1" dirty="0"/>
                  <a:t>Сравниваются модели на одном наборе </a:t>
                </a:r>
                <a:r>
                  <a:rPr lang="ru-RU" sz="2300" i="1" dirty="0" err="1"/>
                  <a:t>датасетов</a:t>
                </a:r>
                <a:endParaRPr lang="ru-RU" sz="2300" i="1" dirty="0"/>
              </a:p>
              <a:p>
                <a:r>
                  <a:rPr lang="ru-RU" sz="2300" i="1" dirty="0"/>
                  <a:t> чувствительна к выбросам</a:t>
                </a:r>
              </a:p>
              <a:p>
                <a:r>
                  <a:rPr lang="ru-RU" sz="2300" i="1" dirty="0"/>
                  <a:t>Не </a:t>
                </a:r>
                <a:r>
                  <a:rPr lang="ru-RU" sz="2300" i="1" dirty="0" err="1"/>
                  <a:t>чувствтиельна</a:t>
                </a:r>
                <a:r>
                  <a:rPr lang="ru-RU" sz="2300" i="1" dirty="0"/>
                  <a:t> к смещениям (может завышать прогноз)</a:t>
                </a:r>
              </a:p>
              <a:p>
                <a:r>
                  <a:rPr lang="ru-RU" sz="2300" i="1" dirty="0"/>
                  <a:t>Бессмысленно для цикличных данных (колебания около среднего)</a:t>
                </a:r>
              </a:p>
              <a:p>
                <a:pPr marL="0" indent="0">
                  <a:buNone/>
                </a:pPr>
                <a:r>
                  <a:rPr lang="ru-RU" sz="2300" b="1" dirty="0"/>
                  <a:t>Применение:</a:t>
                </a:r>
                <a:r>
                  <a:rPr lang="ru-RU" sz="2300" dirty="0"/>
                  <a:t>  оценка необходимости усложнения моделей, не подходит для оценок предсказаний</a:t>
                </a:r>
                <a:endParaRPr lang="ru-RU" i="1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F36D5F59-98C7-DA5F-CF10-55D98AB8D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5481" y="880358"/>
                <a:ext cx="6966966" cy="5544023"/>
              </a:xfrm>
              <a:prstGeom prst="rect">
                <a:avLst/>
              </a:prstGeom>
              <a:blipFill>
                <a:blip r:embed="rId4"/>
                <a:stretch>
                  <a:fillRect l="-105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ямоугольник 6"/>
          <p:cNvSpPr/>
          <p:nvPr/>
        </p:nvSpPr>
        <p:spPr>
          <a:xfrm>
            <a:off x="4252454" y="6293017"/>
            <a:ext cx="770173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https://medium.com/@sahin.samia/understanding-r-squared-in-regression-analysis-2d8246a63dbb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210903" y="6519446"/>
            <a:ext cx="413299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/>
              <a:t>https://robjhyndman.com/papers/foresight.pdf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210903" y="6301526"/>
            <a:ext cx="393864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/>
              <a:t>https://robjhyndman.com/hyndsight/smape/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5680710" y="6533654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https://www.numberanalytics.com/blog/interpreting-r-squared-regression-model</a:t>
            </a:r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5085481" y="957431"/>
            <a:ext cx="0" cy="53355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71021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ECBE6-C98F-34F8-85FA-4E3E156A2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E894CF-7B83-8D4C-DEF3-4EC9F893E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10" y="222622"/>
            <a:ext cx="10973790" cy="644278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Альтернативные точечные ошибки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3A328BF-940E-C916-4DE1-EC9DF63BD9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58918" y="737046"/>
                <a:ext cx="5008969" cy="2600298"/>
              </a:xfrm>
            </p:spPr>
            <p:txBody>
              <a:bodyPr>
                <a:normAutofit fontScale="92500"/>
              </a:bodyPr>
              <a:lstStyle/>
              <a:p>
                <a:pPr marL="0" indent="0" algn="ctr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2600" dirty="0"/>
                  <a:t>SMAPE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2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6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ru-RU" sz="26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ru-RU" sz="2600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ru-RU" sz="26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US" sz="26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  <m:r>
                          <a:rPr lang="en-US" sz="26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6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  <m:e>
                        <m:f>
                          <m:fPr>
                            <m:ctrlPr>
                              <a:rPr lang="ru-RU" sz="26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|"/>
                                <m:ctrlPr>
                                  <a:rPr lang="ru-RU" sz="26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u-RU" sz="26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d>
                                  <m:dPr>
                                    <m:ctrlPr>
                                      <a:rPr lang="ru-RU" sz="2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6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e>
                                </m:d>
                                <m:r>
                                  <a:rPr lang="ru-RU" sz="26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ru-RU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ru-RU" sz="2600" b="1" i="1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ru-RU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e>
                            </m:d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ru-RU" sz="26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u-RU" sz="26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d>
                                  <m:dPr>
                                    <m:ctrlPr>
                                      <a:rPr lang="ru-RU" sz="2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6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e>
                                </m:d>
                              </m:e>
                            </m:d>
                            <m:r>
                              <a:rPr lang="ru-RU" sz="2600"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ru-RU" sz="2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ru-RU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ru-RU" sz="2600" b="1" i="1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ru-RU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e>
                            </m:d>
                          </m:den>
                        </m:f>
                      </m:e>
                    </m:nary>
                  </m:oMath>
                </a14:m>
                <a:endParaRPr lang="ru-RU" sz="26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600" dirty="0"/>
                  <a:t>Значения ограничены от 0 до 200%</a:t>
                </a:r>
                <a:endParaRPr lang="en-US" sz="26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600" b="1" i="1" dirty="0"/>
                  <a:t>асимметрия </a:t>
                </a:r>
                <a:r>
                  <a:rPr lang="en-US" sz="1700" i="1" dirty="0"/>
                  <a:t>A</a:t>
                </a:r>
                <a:r>
                  <a:rPr lang="en-US" sz="1700" i="1" baseline="-25000" dirty="0"/>
                  <a:t>t</a:t>
                </a:r>
                <a:r>
                  <a:rPr lang="en-US" sz="1700" dirty="0"/>
                  <a:t> = 1</a:t>
                </a:r>
                <a:r>
                  <a:rPr lang="ru-RU" sz="1700" dirty="0"/>
                  <a:t>00</a:t>
                </a:r>
                <a:r>
                  <a:rPr lang="en-US" sz="1700" dirty="0"/>
                  <a:t>  </a:t>
                </a:r>
                <a:r>
                  <a:rPr lang="en-US" sz="1700" i="1" dirty="0"/>
                  <a:t>F</a:t>
                </a:r>
                <a:r>
                  <a:rPr lang="en-US" sz="1700" i="1" baseline="-25000" dirty="0"/>
                  <a:t>t</a:t>
                </a:r>
                <a:r>
                  <a:rPr lang="en-US" sz="1700" dirty="0"/>
                  <a:t> = 11</a:t>
                </a:r>
                <a:r>
                  <a:rPr lang="ru-RU" sz="1700" dirty="0"/>
                  <a:t>0</a:t>
                </a:r>
                <a:r>
                  <a:rPr lang="en-US" sz="1700" dirty="0"/>
                  <a:t> </a:t>
                </a:r>
                <a:r>
                  <a:rPr lang="ru-RU" sz="1700" dirty="0"/>
                  <a:t> </a:t>
                </a:r>
                <a:r>
                  <a:rPr lang="en-US" sz="2100" dirty="0"/>
                  <a:t>SMAPE= 4.76%</a:t>
                </a:r>
                <a:r>
                  <a:rPr lang="ru-RU" sz="2100" dirty="0"/>
                  <a:t> </a:t>
                </a:r>
                <a:r>
                  <a:rPr lang="en-US" sz="2100" i="1" dirty="0"/>
                  <a:t>A</a:t>
                </a:r>
                <a:r>
                  <a:rPr lang="en-US" sz="2100" i="1" baseline="-25000" dirty="0"/>
                  <a:t>t</a:t>
                </a:r>
                <a:r>
                  <a:rPr lang="en-US" sz="2100" dirty="0"/>
                  <a:t> = </a:t>
                </a:r>
                <a:r>
                  <a:rPr lang="ru-RU" sz="2100" dirty="0"/>
                  <a:t>100 </a:t>
                </a:r>
                <a:r>
                  <a:rPr lang="en-US" sz="2100" dirty="0"/>
                  <a:t> </a:t>
                </a:r>
                <a:r>
                  <a:rPr lang="en-US" sz="2100" i="1" dirty="0"/>
                  <a:t>F</a:t>
                </a:r>
                <a:r>
                  <a:rPr lang="en-US" sz="2100" i="1" baseline="-25000" dirty="0"/>
                  <a:t>t</a:t>
                </a:r>
                <a:r>
                  <a:rPr lang="en-US" sz="2100" dirty="0"/>
                  <a:t> = 9</a:t>
                </a:r>
                <a:r>
                  <a:rPr lang="ru-RU" sz="2100" dirty="0"/>
                  <a:t>0</a:t>
                </a:r>
                <a:r>
                  <a:rPr lang="en-US" sz="2100" dirty="0"/>
                  <a:t> SMAPE = 5.26%.</a:t>
                </a:r>
                <a:endParaRPr lang="ru-RU" sz="2100" b="1" i="1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600" i="1" dirty="0"/>
                  <a:t>Возможно деление на 0</a:t>
                </a:r>
              </a:p>
              <a:p>
                <a:endParaRPr lang="ru-RU" i="1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3A328BF-940E-C916-4DE1-EC9DF63BD9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58918" y="737046"/>
                <a:ext cx="5008969" cy="2600298"/>
              </a:xfrm>
              <a:blipFill>
                <a:blip r:embed="rId3"/>
                <a:stretch>
                  <a:fillRect l="-1946" r="-2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6F98A8C-F7C2-2B93-2D9B-DA2ED901E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28</a:t>
            </a:fld>
            <a:endParaRPr lang="en-US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C7AFC9B3-F745-F057-1292-20E1B701763D}"/>
              </a:ext>
            </a:extLst>
          </p:cNvPr>
          <p:cNvSpPr txBox="1">
            <a:spLocks/>
          </p:cNvSpPr>
          <p:nvPr/>
        </p:nvSpPr>
        <p:spPr>
          <a:xfrm>
            <a:off x="6096000" y="1009404"/>
            <a:ext cx="5308271" cy="50619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2300" i="1" dirty="0"/>
          </a:p>
          <a:p>
            <a:endParaRPr lang="ru-RU" i="1" dirty="0"/>
          </a:p>
          <a:p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227130" y="6431096"/>
            <a:ext cx="4639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https://robjhyndman.com/papers/foresight.pdf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Объект 2">
                <a:extLst>
                  <a:ext uri="{FF2B5EF4-FFF2-40B4-BE49-F238E27FC236}">
                    <a16:creationId xmlns:a16="http://schemas.microsoft.com/office/drawing/2014/main" id="{33A328BF-940E-C916-4DE1-EC9DF63BD93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374615" y="4289095"/>
                <a:ext cx="4215049" cy="144996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850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1−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pHide m:val="on"/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d>
                                      <m:dPr>
                                        <m:ctrlPr>
                                          <a:rPr lang="ru-RU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  <m:r>
                                      <a:rPr lang="ru-RU" sz="2000" i="1" dirty="0">
                                        <a:latin typeface="Cambria Math" panose="02040503050406030204" pitchFamily="18" charset="0"/>
                                      </a:rPr>
                                      <m:t>​</m:t>
                                    </m:r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d>
                                      <m:dPr>
                                        <m:ctrlPr>
                                          <a:rPr lang="ru-RU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  <m:r>
                                      <a:rPr lang="ru-RU" sz="2000" i="1" dirty="0">
                                        <a:latin typeface="Cambria Math" panose="02040503050406030204" pitchFamily="18" charset="0"/>
                                      </a:rPr>
                                      <m:t>​</m:t>
                                    </m:r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sz="20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𝑁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𝑡𝑟𝑎𝑖𝑛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∑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den>
                    </m:f>
                  </m:oMath>
                </a14:m>
                <a:endParaRPr lang="ru-RU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ru-RU" sz="2000" b="1" i="1" dirty="0"/>
                  <a:t>Сравнение дисперсий на тесте и </a:t>
                </a:r>
                <a:r>
                  <a:rPr lang="ru-RU" sz="2000" b="1" i="1" dirty="0" err="1"/>
                  <a:t>трейне</a:t>
                </a:r>
                <a:endParaRPr lang="ru-RU" sz="2000" i="1" dirty="0"/>
              </a:p>
              <a:p>
                <a:r>
                  <a:rPr lang="en" sz="2000" dirty="0"/>
                  <a:t>Q² &lt;&lt; R² →</a:t>
                </a:r>
                <a:r>
                  <a:rPr lang="en-US" sz="2000" dirty="0"/>
                  <a:t>overfitting</a:t>
                </a:r>
                <a:endParaRPr lang="ru-RU" sz="2000" dirty="0"/>
              </a:p>
            </p:txBody>
          </p:sp>
        </mc:Choice>
        <mc:Fallback xmlns="">
          <p:sp>
            <p:nvSpPr>
              <p:cNvPr id="7" name="Объект 2">
                <a:extLst>
                  <a:ext uri="{FF2B5EF4-FFF2-40B4-BE49-F238E27FC236}">
                    <a16:creationId xmlns:a16="http://schemas.microsoft.com/office/drawing/2014/main" id="{33A328BF-940E-C916-4DE1-EC9DF63BD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4615" y="4289095"/>
                <a:ext cx="4215049" cy="1449967"/>
              </a:xfrm>
              <a:prstGeom prst="rect">
                <a:avLst/>
              </a:prstGeom>
              <a:blipFill>
                <a:blip r:embed="rId4"/>
                <a:stretch>
                  <a:fillRect l="-1013" b="-54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2">
                <a:extLst>
                  <a:ext uri="{FF2B5EF4-FFF2-40B4-BE49-F238E27FC236}">
                    <a16:creationId xmlns:a16="http://schemas.microsoft.com/office/drawing/2014/main" id="{33A328BF-940E-C916-4DE1-EC9DF63BD93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61245" y="3314253"/>
                <a:ext cx="4711633" cy="63232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∗=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sz="200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err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000" i="1" dirty="0" err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err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000" i="1" dirty="0" err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sz="2000" dirty="0"/>
                  <a:t> - </a:t>
                </a:r>
                <a:r>
                  <a:rPr lang="ru-RU" sz="2000" dirty="0"/>
                  <a:t>эталонное предсказание (напр. </a:t>
                </a:r>
                <a:r>
                  <a:rPr lang="ru-RU" sz="2000" dirty="0" err="1"/>
                  <a:t>бейзлайн</a:t>
                </a:r>
                <a:r>
                  <a:rPr lang="ru-RU" sz="2000" dirty="0"/>
                  <a:t> или </a:t>
                </a:r>
                <a:r>
                  <a:rPr lang="ru-RU" sz="2000" dirty="0" err="1"/>
                  <a:t>тренйн</a:t>
                </a:r>
                <a:r>
                  <a:rPr lang="ru-RU" sz="2000" dirty="0"/>
                  <a:t>)</a:t>
                </a:r>
              </a:p>
            </p:txBody>
          </p:sp>
        </mc:Choice>
        <mc:Fallback xmlns="">
          <p:sp>
            <p:nvSpPr>
              <p:cNvPr id="8" name="Объект 2">
                <a:extLst>
                  <a:ext uri="{FF2B5EF4-FFF2-40B4-BE49-F238E27FC236}">
                    <a16:creationId xmlns:a16="http://schemas.microsoft.com/office/drawing/2014/main" id="{33A328BF-940E-C916-4DE1-EC9DF63BD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1245" y="3314253"/>
                <a:ext cx="4711633" cy="632320"/>
              </a:xfrm>
              <a:prstGeom prst="rect">
                <a:avLst/>
              </a:prstGeom>
              <a:blipFill>
                <a:blip r:embed="rId5"/>
                <a:stretch>
                  <a:fillRect l="-1294" t="-14563" b="-1068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Объект 2">
            <a:extLst>
              <a:ext uri="{FF2B5EF4-FFF2-40B4-BE49-F238E27FC236}">
                <a16:creationId xmlns:a16="http://schemas.microsoft.com/office/drawing/2014/main" id="{33A328BF-940E-C916-4DE1-EC9DF63BD93D}"/>
              </a:ext>
            </a:extLst>
          </p:cNvPr>
          <p:cNvSpPr txBox="1">
            <a:spLocks/>
          </p:cNvSpPr>
          <p:nvPr/>
        </p:nvSpPr>
        <p:spPr>
          <a:xfrm>
            <a:off x="156301" y="1810301"/>
            <a:ext cx="6830256" cy="43411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/>
              <a:t>Mean Absolute Scaled Error (MASE) </a:t>
            </a:r>
            <a:r>
              <a:rPr lang="ru-RU" sz="2000" b="1" dirty="0"/>
              <a:t>и сезонная </a:t>
            </a:r>
            <a:r>
              <a:rPr lang="en-US" sz="2000" b="1" dirty="0"/>
              <a:t>MASE</a:t>
            </a:r>
            <a:r>
              <a:rPr lang="ru-RU" sz="2000" b="1" dirty="0"/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/>
              <a:t>Плюсы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Предсказуемое значение около 0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Сравнима на разных наборах данных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Применима для интервальных и вероятностных прогнозов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Лишена </a:t>
            </a:r>
            <a:r>
              <a:rPr lang="en-US" sz="2000" dirty="0"/>
              <a:t> </a:t>
            </a:r>
            <a:r>
              <a:rPr lang="ru-RU" sz="2000" dirty="0"/>
              <a:t>части недостатков </a:t>
            </a:r>
            <a:r>
              <a:rPr lang="en-US" sz="2000" dirty="0"/>
              <a:t>RMSE, MAPE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/>
              <a:t>Минусы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Сложности предметной интерпретируемости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Не работает если оценки уровня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/>
              <a:t>Применение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800" dirty="0"/>
              <a:t>Сравнение с наивным прогнозом, ранжирование моделей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/>
              <a:t>MASE&lt;1 – </a:t>
            </a:r>
            <a:r>
              <a:rPr lang="ru-RU" sz="1800" dirty="0"/>
              <a:t>модель лучше наивной,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1800" dirty="0"/>
              <a:t>MASE = 0.7 означает, что модель ошибается на 30% меньше, чем простейший прогноз 'завтра = сегодня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000" b="1" dirty="0"/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7374615" y="4289095"/>
            <a:ext cx="38442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7560009" y="3314253"/>
            <a:ext cx="38442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Объект 2">
                <a:extLst>
                  <a:ext uri="{FF2B5EF4-FFF2-40B4-BE49-F238E27FC236}">
                    <a16:creationId xmlns:a16="http://schemas.microsoft.com/office/drawing/2014/main" id="{33A328BF-940E-C916-4DE1-EC9DF63BD93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30533" y="5750676"/>
                <a:ext cx="4273738" cy="89949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ru-RU" sz="2000" dirty="0"/>
                  <a:t>другие варианты, напр.</a:t>
                </a:r>
                <a:br>
                  <a:rPr lang="ru-RU" sz="2000" dirty="0"/>
                </a:br>
                <a:r>
                  <a:rPr lang="ru-RU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𝑅𝑀𝑆𝑆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ru-RU" sz="20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𝒉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∑</m:t>
                        </m:r>
                        <m:sSup>
                          <m:sSup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ru-RU" sz="20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u-RU" sz="20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d>
                                  <m:dPr>
                                    <m:ctrlPr>
                                      <a:rPr lang="ru-RU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e>
                                </m:d>
                                <m:r>
                                  <a:rPr lang="ru-RU" sz="20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ru-RU" sz="2000" b="1" i="1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f>
                          <m:f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𝒉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𝒔</m:t>
                            </m:r>
                          </m:den>
                        </m:f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∑</m:t>
                        </m:r>
                        <m:sSup>
                          <m:sSup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ru-RU" sz="20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u-RU" sz="20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d>
                                  <m:dPr>
                                    <m:ctrlPr>
                                      <a:rPr lang="ru-RU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e>
                                </m:d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d>
                                  <m:dPr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endParaRPr lang="ru-RU" sz="2000" dirty="0"/>
              </a:p>
            </p:txBody>
          </p:sp>
        </mc:Choice>
        <mc:Fallback xmlns="">
          <p:sp>
            <p:nvSpPr>
              <p:cNvPr id="19" name="Объект 2">
                <a:extLst>
                  <a:ext uri="{FF2B5EF4-FFF2-40B4-BE49-F238E27FC236}">
                    <a16:creationId xmlns:a16="http://schemas.microsoft.com/office/drawing/2014/main" id="{33A328BF-940E-C916-4DE1-EC9DF63BD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0533" y="5750676"/>
                <a:ext cx="4273738" cy="899490"/>
              </a:xfrm>
              <a:prstGeom prst="rect">
                <a:avLst/>
              </a:prstGeom>
              <a:blipFill>
                <a:blip r:embed="rId6"/>
                <a:stretch>
                  <a:fillRect l="-1569" t="-94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Прямоугольник 12"/>
              <p:cNvSpPr/>
              <p:nvPr/>
            </p:nvSpPr>
            <p:spPr>
              <a:xfrm>
                <a:off x="156301" y="862047"/>
                <a:ext cx="3916457" cy="9399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smtClean="0">
                          <a:latin typeface="Cambria Math" panose="02040503050406030204" pitchFamily="18" charset="0"/>
                        </a:rPr>
                        <m:t>MASE</m:t>
                      </m:r>
                      <m:r>
                        <a:rPr lang="en-US" sz="200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∑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ru-RU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d>
                                <m:dPr>
                                  <m:ctrlPr>
                                    <a:rPr lang="ru-RU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e>
                              </m:d>
                              <m:r>
                                <a:rPr lang="ru-RU" sz="20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sz="2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f>
                            <m:f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den>
                          </m:f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∑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ru-RU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d>
                                <m:dPr>
                                  <m:ctrlPr>
                                    <a:rPr lang="ru-RU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e>
                              </m:d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13" name="Прямоугольник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301" y="862047"/>
                <a:ext cx="3916457" cy="93993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Прямоугольник 21"/>
              <p:cNvSpPr/>
              <p:nvPr/>
            </p:nvSpPr>
            <p:spPr>
              <a:xfrm>
                <a:off x="4084159" y="1054599"/>
                <a:ext cx="2902398" cy="6809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MASE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sz="20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𝒉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∑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ru-RU" sz="20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sz="20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  <m:d>
                              <m:dPr>
                                <m:ctrlPr>
                                  <a:rPr lang="ru-RU" sz="20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e>
                            </m:d>
                            <m:r>
                              <a:rPr lang="ru-RU" sz="20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ru-RU" sz="20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e>
                        </m:d>
                      </m:num>
                      <m:den>
                        <m:f>
                          <m:f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𝒉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𝒔</m:t>
                            </m:r>
                          </m:den>
                        </m:f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∑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ru-RU" sz="20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sz="20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  <m:d>
                              <m:dPr>
                                <m:ctrlPr>
                                  <a:rPr lang="ru-RU" sz="20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e>
                            </m:d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𝒔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den>
                    </m:f>
                  </m:oMath>
                </a14:m>
                <a:endParaRPr lang="ru-RU" sz="2000" dirty="0"/>
              </a:p>
            </p:txBody>
          </p:sp>
        </mc:Choice>
        <mc:Fallback xmlns="">
          <p:sp>
            <p:nvSpPr>
              <p:cNvPr id="22" name="Прямоугольник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4159" y="1054599"/>
                <a:ext cx="2902398" cy="68095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Прямая соединительная линия 22"/>
          <p:cNvCxnSpPr/>
          <p:nvPr/>
        </p:nvCxnSpPr>
        <p:spPr>
          <a:xfrm>
            <a:off x="7429131" y="5736634"/>
            <a:ext cx="38442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Прямоугольник 14"/>
          <p:cNvSpPr/>
          <p:nvPr/>
        </p:nvSpPr>
        <p:spPr>
          <a:xfrm>
            <a:off x="7381608" y="6501155"/>
            <a:ext cx="38372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https://otexts.com/fpp3/accuracy.html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Прямоугольник 15"/>
              <p:cNvSpPr/>
              <p:nvPr/>
            </p:nvSpPr>
            <p:spPr>
              <a:xfrm>
                <a:off x="8954559" y="3743639"/>
                <a:ext cx="2724400" cy="5257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ru-RU" dirty="0"/>
                  <a:t>По сути: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mtClean="0">
                        <a:latin typeface="Cambria Math" panose="02040503050406030204" pitchFamily="18" charset="0"/>
                      </a:rPr>
                      <m:t>MASE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𝑴𝑨</m:t>
                        </m:r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𝑬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𝒎𝒐𝒅𝒆𝒍</m:t>
                            </m:r>
                          </m:sub>
                        </m:sSub>
                      </m:num>
                      <m:den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𝑴𝑨</m:t>
                        </m:r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𝑬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𝒏𝒂𝒊𝒗𝒆</m:t>
                            </m:r>
                          </m:sub>
                        </m:sSub>
                      </m:den>
                    </m:f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16" name="Прямоугольник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4559" y="3743639"/>
                <a:ext cx="2724400" cy="525785"/>
              </a:xfrm>
              <a:prstGeom prst="rect">
                <a:avLst/>
              </a:prstGeom>
              <a:blipFill>
                <a:blip r:embed="rId9"/>
                <a:stretch>
                  <a:fillRect l="-2013" b="-116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Прямая соединительная линия 10"/>
          <p:cNvCxnSpPr/>
          <p:nvPr/>
        </p:nvCxnSpPr>
        <p:spPr>
          <a:xfrm>
            <a:off x="6986557" y="1009404"/>
            <a:ext cx="0" cy="53469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05565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5153" y="279064"/>
            <a:ext cx="11138647" cy="430941"/>
          </a:xfrm>
        </p:spPr>
        <p:txBody>
          <a:bodyPr>
            <a:normAutofit fontScale="90000"/>
          </a:bodyPr>
          <a:lstStyle/>
          <a:p>
            <a:r>
              <a:rPr lang="ru-RU" dirty="0"/>
              <a:t>Таблица некоторых точечных метрик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567727"/>
              </p:ext>
            </p:extLst>
          </p:nvPr>
        </p:nvGraphicFramePr>
        <p:xfrm>
          <a:off x="215153" y="805254"/>
          <a:ext cx="11596742" cy="593440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86747">
                  <a:extLst>
                    <a:ext uri="{9D8B030D-6E8A-4147-A177-3AD203B41FA5}">
                      <a16:colId xmlns:a16="http://schemas.microsoft.com/office/drawing/2014/main" val="1439355750"/>
                    </a:ext>
                  </a:extLst>
                </a:gridCol>
                <a:gridCol w="2396509">
                  <a:extLst>
                    <a:ext uri="{9D8B030D-6E8A-4147-A177-3AD203B41FA5}">
                      <a16:colId xmlns:a16="http://schemas.microsoft.com/office/drawing/2014/main" val="2310902935"/>
                    </a:ext>
                  </a:extLst>
                </a:gridCol>
                <a:gridCol w="3070850">
                  <a:extLst>
                    <a:ext uri="{9D8B030D-6E8A-4147-A177-3AD203B41FA5}">
                      <a16:colId xmlns:a16="http://schemas.microsoft.com/office/drawing/2014/main" val="2239289574"/>
                    </a:ext>
                  </a:extLst>
                </a:gridCol>
                <a:gridCol w="5142636">
                  <a:extLst>
                    <a:ext uri="{9D8B030D-6E8A-4147-A177-3AD203B41FA5}">
                      <a16:colId xmlns:a16="http://schemas.microsoft.com/office/drawing/2014/main" val="2324475927"/>
                    </a:ext>
                  </a:extLst>
                </a:gridCol>
              </a:tblGrid>
              <a:tr h="311971"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Метрика</a:t>
                      </a:r>
                      <a:endParaRPr lang="ru-RU" sz="1800" b="1" i="0" u="none" strike="noStrike" dirty="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Плюсы</a:t>
                      </a:r>
                      <a:endParaRPr lang="ru-RU" sz="1800" b="1" i="0" u="none" strike="noStrike" dirty="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>
                          <a:effectLst/>
                        </a:rPr>
                        <a:t>Минусы</a:t>
                      </a:r>
                      <a:endParaRPr lang="ru-RU" sz="1800" b="1" i="0" u="none" strike="noStrike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>
                          <a:effectLst/>
                        </a:rPr>
                        <a:t>Применимость в временных рядах</a:t>
                      </a:r>
                      <a:endParaRPr lang="ru-RU" sz="1800" b="1" i="0" u="none" strike="noStrike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1656263163"/>
                  </a:ext>
                </a:extLst>
              </a:tr>
              <a:tr h="47416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RMSE, MSE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Учитывает большие ошибки, дифференцируема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strike="noStrike" dirty="0">
                          <a:effectLst/>
                        </a:rPr>
                        <a:t>Чувствительна к выбросам, нестационарным или зашумленным данным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Полезна, если важны большие отклонения, но нежелательна при наличии аномалий </a:t>
                      </a: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3163357294"/>
                  </a:ext>
                </a:extLst>
              </a:tr>
              <a:tr h="51977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MAE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Робастна к выбросам, простая интерпретация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Не дифференцируема в нуле, штраф ошибок </a:t>
                      </a:r>
                      <a:r>
                        <a:rPr lang="ru-RU" sz="1800" u="none" strike="noStrike" dirty="0" err="1">
                          <a:effectLst/>
                        </a:rPr>
                        <a:t>одинаов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>
                          <a:effectLst/>
                        </a:rPr>
                        <a:t>Хороша для интерпретируемости, устойчива к аномалиям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35307316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MAPE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Интерпретируема в %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Не определена при нулевых значениях, асимметрична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Полезна для сравнения моделей, но не подходит для рядов с нулями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174164839"/>
                  </a:ext>
                </a:extLst>
              </a:tr>
              <a:tr h="64826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sMAPE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Симметрична, работает при нулях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Может давать завышенные оценки при малых значениях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Альтернатива MAPE, но тоже не идеальна для рядов с нулями или экстремальными значениями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27834898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R²</a:t>
                      </a:r>
                      <a:endParaRPr lang="ru-RU" sz="18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доля объяснённой дисперсии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Может быть </a:t>
                      </a:r>
                      <a:r>
                        <a:rPr lang="en-US" sz="1800" u="none" strike="noStrike" dirty="0">
                          <a:effectLst/>
                        </a:rPr>
                        <a:t>&lt;0</a:t>
                      </a:r>
                      <a:r>
                        <a:rPr lang="ru-RU" sz="1800" u="none" strike="noStrike" dirty="0">
                          <a:effectLst/>
                        </a:rPr>
                        <a:t>, чувствительна к переобучению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для сравнения моделей, но требует осторожности в нелинейных и нестационарных рядах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794667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MedAE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>
                          <a:effectLst/>
                        </a:rPr>
                        <a:t>Очень робастна к выбросам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 сложнее оптимизировать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Подходит для данных с тяжёлыми хвостами и аномалиями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11952213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MASE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сравнивает с базовой моделью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Требует выбора базовой модели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Одна из лучших для временных рядов, устойчива к масштабу и сезонности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1172109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MSLE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Уменьшает влияние больших ошибок, 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Не работает с отрицательными значениями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strike="noStrike" dirty="0">
                          <a:effectLst/>
                        </a:rPr>
                        <a:t>для прогнозирования с мультипликативными трендами и для данных с экспонентой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2302298193"/>
                  </a:ext>
                </a:extLst>
              </a:tr>
              <a:tr h="39129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WAPE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>
                          <a:effectLst/>
                        </a:rPr>
                        <a:t>Учитывает масштаб данных, устойчива к выбросам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Не нормирована на количество наблюдений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Хороша для бизнес-аналитики, где важны относительные ошибки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1926210227"/>
                  </a:ext>
                </a:extLst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348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5153" y="129034"/>
            <a:ext cx="11138647" cy="430941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Экзотические метрики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30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Таблица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66063460"/>
                  </p:ext>
                </p:extLst>
              </p:nvPr>
            </p:nvGraphicFramePr>
            <p:xfrm>
              <a:off x="100853" y="559975"/>
              <a:ext cx="11605372" cy="6087205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2308972">
                      <a:extLst>
                        <a:ext uri="{9D8B030D-6E8A-4147-A177-3AD203B41FA5}">
                          <a16:colId xmlns:a16="http://schemas.microsoft.com/office/drawing/2014/main" val="4037062250"/>
                        </a:ext>
                      </a:extLst>
                    </a:gridCol>
                    <a:gridCol w="4057650">
                      <a:extLst>
                        <a:ext uri="{9D8B030D-6E8A-4147-A177-3AD203B41FA5}">
                          <a16:colId xmlns:a16="http://schemas.microsoft.com/office/drawing/2014/main" val="1927459579"/>
                        </a:ext>
                      </a:extLst>
                    </a:gridCol>
                    <a:gridCol w="2924175">
                      <a:extLst>
                        <a:ext uri="{9D8B030D-6E8A-4147-A177-3AD203B41FA5}">
                          <a16:colId xmlns:a16="http://schemas.microsoft.com/office/drawing/2014/main" val="3347622711"/>
                        </a:ext>
                      </a:extLst>
                    </a:gridCol>
                    <a:gridCol w="2314575">
                      <a:extLst>
                        <a:ext uri="{9D8B030D-6E8A-4147-A177-3AD203B41FA5}">
                          <a16:colId xmlns:a16="http://schemas.microsoft.com/office/drawing/2014/main" val="2399441415"/>
                        </a:ext>
                      </a:extLst>
                    </a:gridCol>
                  </a:tblGrid>
                  <a:tr h="308881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Метрика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Пример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>
                              <a:effectLst/>
                            </a:rPr>
                            <a:t>Когда использовать?</a:t>
                          </a:r>
                          <a:endParaRPr lang="ru-RU" sz="1800" b="1" i="0" u="none" strike="noStrike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>
                              <a:effectLst/>
                            </a:rPr>
                            <a:t>Ограничения</a:t>
                          </a:r>
                          <a:endParaRPr lang="ru-RU" sz="1800" b="1" i="0" u="none" strike="noStrike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extLst>
                      <a:ext uri="{0D108BD9-81ED-4DB2-BD59-A6C34878D82A}">
                        <a16:rowId xmlns:a16="http://schemas.microsoft.com/office/drawing/2014/main" val="2664501438"/>
                      </a:ext>
                    </a:extLst>
                  </a:tr>
                  <a:tr h="0"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800" u="none" strike="noStrike" dirty="0">
                              <a:effectLst/>
                            </a:rPr>
                            <a:t>MedAE</a:t>
                          </a:r>
                          <a:endParaRPr lang="ru-RU" sz="1800" u="none" strike="noStrike" dirty="0">
                            <a:effectLst/>
                          </a:endParaRPr>
                        </a:p>
                        <a:p>
                          <a:pPr marL="0" marR="0" lvl="1" indent="0" algn="l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𝑚𝑒𝑑</m:t>
                                </m:r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)…,</m:t>
                                </m:r>
                                <m:r>
                                  <a:rPr lang="en-US" dirty="0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d>
                                  <m:dPr>
                                    <m:ctrlPr>
                                      <a:rPr lang="ru-RU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</m:d>
                                <m:r>
                                  <a:rPr lang="ru-RU" dirty="0"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 </a:t>
                          </a:r>
                          <a:endParaRPr lang="en-US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Пример: Прогнозирование цен на нефть, где возможны резкие скачки из-за геополитических событий.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В данных с тяжёлыми хвостами распределения или аномалиями.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>
                              <a:effectLst/>
                            </a:rPr>
                            <a:t>Не подходит для задач, где большие ошибки критичны (например, риск-менеджмент).</a:t>
                          </a:r>
                          <a:endParaRPr lang="ru-RU" sz="1800" b="0" i="0" u="none" strike="noStrike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extLst>
                      <a:ext uri="{0D108BD9-81ED-4DB2-BD59-A6C34878D82A}">
                        <a16:rowId xmlns:a16="http://schemas.microsoft.com/office/drawing/2014/main" val="1654695193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800" u="none" strike="noStrike" dirty="0">
                              <a:effectLst/>
                            </a:rPr>
                            <a:t> Задача: Устойчиво оценить типичную ошибку, игнорируя редкие экстремальные выбросы.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Когда важна робастность, а не средняя ошибка.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2366194"/>
                      </a:ext>
                    </a:extLst>
                  </a:tr>
                  <a:tr h="920106"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800" u="none" strike="noStrike" dirty="0">
                              <a:effectLst/>
                            </a:rPr>
                            <a:t>WAPE</a:t>
                          </a:r>
                        </a:p>
                        <a:p>
                          <a:pPr algn="l" fontAlgn="ctr"/>
                          <a:endParaRPr lang="en-US" sz="1800" u="none" strike="noStrike" dirty="0">
                            <a:effectLst/>
                          </a:endParaRPr>
                        </a:p>
                        <a:p>
                          <a:pPr algn="l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f>
                                      <m:fPr>
                                        <m:ctrlPr>
                                          <a:rPr lang="e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den>
                                    </m:f>
                                    <m:nary>
                                      <m:naryPr>
                                        <m:chr m:val="∑"/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b>
                                      <m:sup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sup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dirty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ru-RU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dirty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e>
                                            </m:d>
                                            <m:r>
                                              <a:rPr lang="ru-RU" dirty="0">
                                                <a:latin typeface="Cambria Math" panose="02040503050406030204" pitchFamily="18" charset="0"/>
                                              </a:rPr>
                                              <m:t>​</m:t>
                                            </m:r>
                                            <m:r>
                                              <a:rPr lang="en-US" dirty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US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dirty="0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</m:acc>
                                            <m:d>
                                              <m:dPr>
                                                <m:ctrlPr>
                                                  <a:rPr lang="en-US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dirty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</m:nary>
                                  </m:num>
                                  <m:den>
                                    <m:f>
                                      <m:fPr>
                                        <m:ctrlPr>
                                          <a:rPr lang="e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den>
                                    </m:f>
                                    <m:nary>
                                      <m:naryPr>
                                        <m:chr m:val="∑"/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b>
                                      <m:sup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sup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dirty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ru-RU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dirty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e>
                                            </m:d>
                                            <m:r>
                                              <a:rPr lang="ru-RU" dirty="0">
                                                <a:latin typeface="Cambria Math" panose="02040503050406030204" pitchFamily="18" charset="0"/>
                                              </a:rPr>
                                              <m:t>​</m:t>
                                            </m:r>
                                          </m:e>
                                        </m:d>
                                      </m:e>
                                    </m:nary>
                                  </m:den>
                                </m:f>
                              </m:oMath>
                            </m:oMathPara>
                          </a14:m>
                          <a:endParaRPr lang="en-US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Пример: Прогнозирование выручки компании с резкими изменениями масштаба (например, </a:t>
                          </a:r>
                          <a:r>
                            <a:rPr lang="ru-RU" sz="1800" u="none" strike="noStrike" dirty="0" err="1">
                              <a:effectLst/>
                            </a:rPr>
                            <a:t>стартап</a:t>
                          </a:r>
                          <a:r>
                            <a:rPr lang="ru-RU" sz="1800" u="none" strike="noStrike" dirty="0">
                              <a:effectLst/>
                            </a:rPr>
                            <a:t> в период роста).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Для рядов с нестабильным масштабом (например, быстрорастущие продажи).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Может маскировать локальные ошибки, если ряд неравномерный.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extLst>
                      <a:ext uri="{0D108BD9-81ED-4DB2-BD59-A6C34878D82A}">
                        <a16:rowId xmlns:a16="http://schemas.microsoft.com/office/drawing/2014/main" val="2949914155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800" u="none" strike="noStrike" dirty="0">
                              <a:effectLst/>
                            </a:rPr>
                            <a:t> Задача: Оценить ошибку относительно общего объёма данных, а не по точкам.</a:t>
                          </a:r>
                        </a:p>
                        <a:p>
                          <a:pPr algn="l" fontAlgn="ctr"/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В бизнес-аналитике, где ошибка должна быть в % от общего оборота.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9912873"/>
                      </a:ext>
                    </a:extLst>
                  </a:tr>
                  <a:tr h="920106"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800" u="none" strike="noStrike" dirty="0">
                              <a:effectLst/>
                            </a:rPr>
                            <a:t>MSLE</a:t>
                          </a:r>
                        </a:p>
                        <a:p>
                          <a:pPr algn="l" fontAlgn="ctr"/>
                          <a:endParaRPr lang="en-US" sz="1800" u="none" strike="noStrike" dirty="0">
                            <a:effectLst/>
                          </a:endParaRPr>
                        </a:p>
                        <a:p>
                          <a:pPr algn="l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  <m:sup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dirty="0" smtClean="0">
                                                <a:latin typeface="Cambria Math" panose="02040503050406030204" pitchFamily="18" charset="0"/>
                                              </a:rPr>
                                              <m:t>log</m:t>
                                            </m:r>
                                            <m:r>
                                              <a:rPr lang="en-US" dirty="0" smtClean="0">
                                                <a:latin typeface="Cambria Math" panose="02040503050406030204" pitchFamily="18" charset="0"/>
                                              </a:rPr>
                                              <m:t>⁡(</m:t>
                                            </m:r>
                                            <m:r>
                                              <a:rPr lang="en-US" dirty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ru-RU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dirty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e>
                                            </m:d>
                                            <m:r>
                                              <a:rPr lang="ru-RU" dirty="0">
                                                <a:latin typeface="Cambria Math" panose="02040503050406030204" pitchFamily="18" charset="0"/>
                                              </a:rPr>
                                              <m:t>​</m:t>
                                            </m:r>
                                            <m:r>
                                              <a:rPr lang="en-US" dirty="0" smtClean="0">
                                                <a:latin typeface="Cambria Math" panose="02040503050406030204" pitchFamily="18" charset="0"/>
                                              </a:rPr>
                                              <m:t>+1)</m:t>
                                            </m:r>
                                            <m:r>
                                              <a:rPr lang="en-US" dirty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dirty="0" smtClean="0">
                                                <a:latin typeface="Cambria Math" panose="02040503050406030204" pitchFamily="18" charset="0"/>
                                              </a:rPr>
                                              <m:t>log</m:t>
                                            </m:r>
                                            <m:r>
                                              <a:rPr lang="en-US" dirty="0" smtClean="0">
                                                <a:latin typeface="Cambria Math" panose="02040503050406030204" pitchFamily="18" charset="0"/>
                                              </a:rPr>
                                              <m:t>⁡(</m:t>
                                            </m:r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US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dirty="0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</m:acc>
                                            <m:d>
                                              <m:dPr>
                                                <m:ctrlPr>
                                                  <a:rPr lang="en-US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dirty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e>
                                            </m:d>
                                            <m:r>
                                              <a:rPr lang="en-US" dirty="0" smtClean="0">
                                                <a:latin typeface="Cambria Math" panose="02040503050406030204" pitchFamily="18" charset="0"/>
                                              </a:rPr>
                                              <m:t>+1)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oMath>
                            </m:oMathPara>
                          </a14:m>
                          <a:endParaRPr lang="en-US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Пример: Прогнозирование количества пользователей мобильного приложения (экспоненциальный рост).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>
                              <a:effectLst/>
                            </a:rPr>
                            <a:t>– Для мультипликативных трендов или данных с экспоненциальной динамикой.</a:t>
                          </a:r>
                          <a:endParaRPr lang="ru-RU" sz="1800" b="0" i="0" u="none" strike="noStrike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Не работает с отрицательными значениями и нулями (нужна коррекция: </a:t>
                          </a:r>
                          <a:r>
                            <a:rPr lang="ru-RU" sz="1800" u="none" strike="noStrike" dirty="0" err="1">
                              <a:effectLst/>
                            </a:rPr>
                            <a:t>log</a:t>
                          </a:r>
                          <a:r>
                            <a:rPr lang="ru-RU" sz="1800" u="none" strike="noStrike" dirty="0">
                              <a:effectLst/>
                            </a:rPr>
                            <a:t>⁡(</a:t>
                          </a:r>
                          <a:r>
                            <a:rPr lang="ru-RU" sz="1800" u="none" strike="noStrike" dirty="0" err="1">
                              <a:effectLst/>
                            </a:rPr>
                            <a:t>yi</a:t>
                          </a:r>
                          <a:r>
                            <a:rPr lang="ru-RU" sz="1800" u="none" strike="noStrike" dirty="0">
                              <a:effectLst/>
                            </a:rPr>
                            <a:t>+ϵ))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extLst>
                      <a:ext uri="{0D108BD9-81ED-4DB2-BD59-A6C34878D82A}">
                        <a16:rowId xmlns:a16="http://schemas.microsoft.com/office/drawing/2014/main" val="962892815"/>
                      </a:ext>
                    </a:extLst>
                  </a:tr>
                  <a:tr h="920106"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800" u="none" strike="noStrike" dirty="0">
                              <a:effectLst/>
                            </a:rPr>
                            <a:t> Задача: Штрафовать ошибки на малых значениях сильнее, чем на больших (логарифмическая шкала).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Когда переоценка на 100 пользователей при </a:t>
                          </a:r>
                          <a:r>
                            <a:rPr lang="ru-RU" sz="1800" u="none" strike="noStrike" dirty="0" err="1">
                              <a:effectLst/>
                            </a:rPr>
                            <a:t>yi</a:t>
                          </a:r>
                          <a:r>
                            <a:rPr lang="ru-RU" sz="1800" u="none" strike="noStrike" dirty="0">
                              <a:effectLst/>
                            </a:rPr>
                            <a:t>=10 хуже, чем при </a:t>
                          </a:r>
                          <a:r>
                            <a:rPr lang="ru-RU" sz="1800" u="none" strike="noStrike" dirty="0" err="1">
                              <a:effectLst/>
                            </a:rPr>
                            <a:t>yi</a:t>
                          </a:r>
                          <a:r>
                            <a:rPr lang="ru-RU" sz="1800" u="none" strike="noStrike" dirty="0">
                              <a:effectLst/>
                            </a:rPr>
                            <a:t>=10</a:t>
                          </a:r>
                          <a:r>
                            <a:rPr lang="en-US" sz="1800" u="none" strike="noStrike" dirty="0">
                              <a:effectLst/>
                            </a:rPr>
                            <a:t>00</a:t>
                          </a:r>
                          <a:r>
                            <a:rPr lang="ru-RU" sz="1800" u="none" strike="noStrike" dirty="0">
                              <a:effectLst/>
                            </a:rPr>
                            <a:t>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94182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Таблица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66063460"/>
                  </p:ext>
                </p:extLst>
              </p:nvPr>
            </p:nvGraphicFramePr>
            <p:xfrm>
              <a:off x="100853" y="559975"/>
              <a:ext cx="11605372" cy="6087205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2308972">
                      <a:extLst>
                        <a:ext uri="{9D8B030D-6E8A-4147-A177-3AD203B41FA5}">
                          <a16:colId xmlns:a16="http://schemas.microsoft.com/office/drawing/2014/main" val="4037062250"/>
                        </a:ext>
                      </a:extLst>
                    </a:gridCol>
                    <a:gridCol w="4057650">
                      <a:extLst>
                        <a:ext uri="{9D8B030D-6E8A-4147-A177-3AD203B41FA5}">
                          <a16:colId xmlns:a16="http://schemas.microsoft.com/office/drawing/2014/main" val="1927459579"/>
                        </a:ext>
                      </a:extLst>
                    </a:gridCol>
                    <a:gridCol w="2924175">
                      <a:extLst>
                        <a:ext uri="{9D8B030D-6E8A-4147-A177-3AD203B41FA5}">
                          <a16:colId xmlns:a16="http://schemas.microsoft.com/office/drawing/2014/main" val="3347622711"/>
                        </a:ext>
                      </a:extLst>
                    </a:gridCol>
                    <a:gridCol w="2314575">
                      <a:extLst>
                        <a:ext uri="{9D8B030D-6E8A-4147-A177-3AD203B41FA5}">
                          <a16:colId xmlns:a16="http://schemas.microsoft.com/office/drawing/2014/main" val="2399441415"/>
                        </a:ext>
                      </a:extLst>
                    </a:gridCol>
                  </a:tblGrid>
                  <a:tr h="308881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 smtClean="0">
                              <a:effectLst/>
                            </a:rPr>
                            <a:t>Метрика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 smtClean="0">
                              <a:effectLst/>
                            </a:rPr>
                            <a:t>Пример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>
                              <a:effectLst/>
                            </a:rPr>
                            <a:t>Когда использовать?</a:t>
                          </a:r>
                          <a:endParaRPr lang="ru-RU" sz="1800" b="1" i="0" u="none" strike="noStrike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>
                              <a:effectLst/>
                            </a:rPr>
                            <a:t>Ограничения</a:t>
                          </a:r>
                          <a:endParaRPr lang="ru-RU" sz="1800" b="1" i="0" u="none" strike="noStrike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extLst>
                      <a:ext uri="{0D108BD9-81ED-4DB2-BD59-A6C34878D82A}">
                        <a16:rowId xmlns:a16="http://schemas.microsoft.com/office/drawing/2014/main" val="2664501438"/>
                      </a:ext>
                    </a:extLst>
                  </a:tr>
                  <a:tr h="825894">
                    <a:tc rowSpan="2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26407" marR="2934" marT="2934" marB="0" anchor="ctr">
                        <a:blipFill>
                          <a:blip r:embed="rId2"/>
                          <a:stretch>
                            <a:fillRect l="-264" t="-21771" r="-403166" b="-2774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Пример: Прогнозирование цен на нефть, где возможны резкие скачки из-за геополитических событий.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В данных с тяжёлыми хвостами распределения или аномалиями.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>
                              <a:effectLst/>
                            </a:rPr>
                            <a:t>Не подходит для задач, где большие ошибки критичны (например, риск-менеджмент).</a:t>
                          </a:r>
                          <a:endParaRPr lang="ru-RU" sz="1800" b="0" i="0" u="none" strike="noStrike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extLst>
                      <a:ext uri="{0D108BD9-81ED-4DB2-BD59-A6C34878D82A}">
                        <a16:rowId xmlns:a16="http://schemas.microsoft.com/office/drawing/2014/main" val="1654695193"/>
                      </a:ext>
                    </a:extLst>
                  </a:tr>
                  <a:tr h="825894"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800" u="none" strike="noStrike" dirty="0">
                              <a:effectLst/>
                            </a:rPr>
                            <a:t> </a:t>
                          </a:r>
                          <a:r>
                            <a:rPr lang="ru-RU" sz="1800" u="none" strike="noStrike" dirty="0" smtClean="0">
                              <a:effectLst/>
                            </a:rPr>
                            <a:t>Задача: Устойчиво оценить типичную ошибку, игнорируя редкие экстремальные выбросы.</a:t>
                          </a:r>
                          <a:endParaRPr lang="ru-RU" sz="1800" b="1" i="0" u="none" strike="noStrike" dirty="0" smtClean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Когда важна робастность, а не средняя ошибка.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2366194"/>
                      </a:ext>
                    </a:extLst>
                  </a:tr>
                  <a:tr h="1100214">
                    <a:tc rowSpan="2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26407" marR="2934" marT="2934" marB="0" anchor="ctr">
                        <a:blipFill>
                          <a:blip r:embed="rId2"/>
                          <a:stretch>
                            <a:fillRect l="-264" t="-104101" r="-403166" b="-1372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Пример: Прогнозирование выручки компании с резкими изменениями масштаба (например, </a:t>
                          </a:r>
                          <a:r>
                            <a:rPr lang="ru-RU" sz="1800" u="none" strike="noStrike" dirty="0" err="1">
                              <a:effectLst/>
                            </a:rPr>
                            <a:t>стартап</a:t>
                          </a:r>
                          <a:r>
                            <a:rPr lang="ru-RU" sz="1800" u="none" strike="noStrike" dirty="0">
                              <a:effectLst/>
                            </a:rPr>
                            <a:t> в период роста).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Для рядов с нестабильным масштабом (например, быстрорастущие продажи).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Может маскировать локальные ошибки, если ряд неравномерный.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extLst>
                      <a:ext uri="{0D108BD9-81ED-4DB2-BD59-A6C34878D82A}">
                        <a16:rowId xmlns:a16="http://schemas.microsoft.com/office/drawing/2014/main" val="2949914155"/>
                      </a:ext>
                    </a:extLst>
                  </a:tr>
                  <a:tr h="825894"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800" u="none" strike="noStrike" dirty="0">
                              <a:effectLst/>
                            </a:rPr>
                            <a:t> </a:t>
                          </a:r>
                          <a:r>
                            <a:rPr lang="ru-RU" sz="1800" u="none" strike="noStrike" dirty="0" smtClean="0">
                              <a:effectLst/>
                            </a:rPr>
                            <a:t>Задача: Оценить ошибку относительно общего объёма данных, а не по точкам.</a:t>
                          </a:r>
                        </a:p>
                        <a:p>
                          <a:pPr algn="l" fontAlgn="ctr"/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В бизнес-аналитике, где ошибка должна быть в % от общего оборота.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9912873"/>
                      </a:ext>
                    </a:extLst>
                  </a:tr>
                  <a:tr h="1100214">
                    <a:tc rowSpan="2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26407" marR="2934" marT="2934" marB="0" anchor="ctr">
                        <a:blipFill>
                          <a:blip r:embed="rId2"/>
                          <a:stretch>
                            <a:fillRect l="-264" t="-179224" r="-403166" b="-204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Пример: Прогнозирование количества пользователей мобильного приложения (экспоненциальный рост).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>
                              <a:effectLst/>
                            </a:rPr>
                            <a:t>– Для мультипликативных трендов или данных с экспоненциальной динамикой.</a:t>
                          </a:r>
                          <a:endParaRPr lang="ru-RU" sz="1800" b="0" i="0" u="none" strike="noStrike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Не работает с отрицательными значениями и нулями (нужна коррекция: </a:t>
                          </a:r>
                          <a:r>
                            <a:rPr lang="ru-RU" sz="1800" u="none" strike="noStrike" dirty="0" err="1">
                              <a:effectLst/>
                            </a:rPr>
                            <a:t>log</a:t>
                          </a:r>
                          <a:r>
                            <a:rPr lang="ru-RU" sz="1800" u="none" strike="noStrike" dirty="0">
                              <a:effectLst/>
                            </a:rPr>
                            <a:t>⁡(</a:t>
                          </a:r>
                          <a:r>
                            <a:rPr lang="ru-RU" sz="1800" u="none" strike="noStrike" dirty="0" err="1" smtClean="0">
                              <a:effectLst/>
                            </a:rPr>
                            <a:t>yi</a:t>
                          </a:r>
                          <a:r>
                            <a:rPr lang="ru-RU" sz="1800" u="none" strike="noStrike" dirty="0" smtClean="0">
                              <a:effectLst/>
                            </a:rPr>
                            <a:t>+ϵ))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extLst>
                      <a:ext uri="{0D108BD9-81ED-4DB2-BD59-A6C34878D82A}">
                        <a16:rowId xmlns:a16="http://schemas.microsoft.com/office/drawing/2014/main" val="962892815"/>
                      </a:ext>
                    </a:extLst>
                  </a:tr>
                  <a:tr h="1100214"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800" u="none" strike="noStrike" dirty="0">
                              <a:effectLst/>
                            </a:rPr>
                            <a:t> </a:t>
                          </a:r>
                          <a:r>
                            <a:rPr lang="ru-RU" sz="1800" u="none" strike="noStrike" dirty="0" smtClean="0">
                              <a:effectLst/>
                            </a:rPr>
                            <a:t>Задача: Штрафовать ошибки на малых значениях сильнее, чем на больших (логарифмическая шкала).</a:t>
                          </a:r>
                          <a:endParaRPr lang="ru-RU" sz="1800" b="1" i="0" u="none" strike="noStrike" dirty="0" smtClean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Когда переоценка на 100 пользователей при </a:t>
                          </a:r>
                          <a:r>
                            <a:rPr lang="ru-RU" sz="1800" u="none" strike="noStrike" dirty="0" err="1" smtClean="0">
                              <a:effectLst/>
                            </a:rPr>
                            <a:t>yi</a:t>
                          </a:r>
                          <a:r>
                            <a:rPr lang="ru-RU" sz="1800" u="none" strike="noStrike" dirty="0" smtClean="0">
                              <a:effectLst/>
                            </a:rPr>
                            <a:t>=10</a:t>
                          </a:r>
                          <a:r>
                            <a:rPr lang="ru-RU" sz="1800" u="none" strike="noStrike" dirty="0">
                              <a:effectLst/>
                            </a:rPr>
                            <a:t> хуже, чем при </a:t>
                          </a:r>
                          <a:r>
                            <a:rPr lang="ru-RU" sz="1800" u="none" strike="noStrike" dirty="0" err="1" smtClean="0">
                              <a:effectLst/>
                            </a:rPr>
                            <a:t>yi</a:t>
                          </a:r>
                          <a:r>
                            <a:rPr lang="ru-RU" sz="1800" u="none" strike="noStrike" dirty="0" smtClean="0">
                              <a:effectLst/>
                            </a:rPr>
                            <a:t>=10</a:t>
                          </a:r>
                          <a:r>
                            <a:rPr lang="en-US" sz="1800" u="none" strike="noStrike" dirty="0" smtClean="0">
                              <a:effectLst/>
                            </a:rPr>
                            <a:t>00</a:t>
                          </a:r>
                          <a:r>
                            <a:rPr lang="ru-RU" sz="1800" u="none" strike="noStrike" dirty="0" smtClean="0">
                              <a:effectLst/>
                            </a:rPr>
                            <a:t>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941829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342005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54691" y="278297"/>
            <a:ext cx="10780059" cy="448236"/>
          </a:xfrm>
        </p:spPr>
        <p:txBody>
          <a:bodyPr>
            <a:normAutofit fontScale="90000"/>
          </a:bodyPr>
          <a:lstStyle/>
          <a:p>
            <a:r>
              <a:rPr lang="ru-RU" dirty="0"/>
              <a:t>Оценка качества </a:t>
            </a:r>
            <a:r>
              <a:rPr lang="ru-RU" dirty="0" err="1"/>
              <a:t>пресдказания</a:t>
            </a:r>
            <a:r>
              <a:rPr lang="ru-RU" dirty="0"/>
              <a:t> ВР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2741" y="726533"/>
            <a:ext cx="11719859" cy="5325315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100" dirty="0">
                <a:solidFill>
                  <a:srgbClr val="000000"/>
                </a:solidFill>
              </a:rPr>
              <a:t>робастностью — насколько ошибка устойчива при небольшом изменении — насколько она подскакивает/падает и насколько, в целом, отражает состояние бизнеса;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100" dirty="0">
                <a:solidFill>
                  <a:srgbClr val="000000"/>
                </a:solidFill>
              </a:rPr>
              <a:t>обобщенностью — насколько сильно происходит усреднение ошибки — сможем ли мы составить по средней абсолютной ошибке представление о том, что происходит позиционно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100" dirty="0">
                <a:solidFill>
                  <a:srgbClr val="000000"/>
                </a:solidFill>
              </a:rPr>
              <a:t>симметричностью — насколько наша ошибка для разных знаков является</a:t>
            </a:r>
            <a:r>
              <a:rPr lang="en-US" altLang="ru-RU" sz="2100" dirty="0">
                <a:solidFill>
                  <a:srgbClr val="000000"/>
                </a:solidFill>
              </a:rPr>
              <a:t> </a:t>
            </a:r>
            <a:r>
              <a:rPr lang="ru-RU" altLang="ru-RU" sz="2100" dirty="0" err="1">
                <a:solidFill>
                  <a:srgbClr val="000000"/>
                </a:solidFill>
              </a:rPr>
              <a:t>значначимой</a:t>
            </a:r>
            <a:endParaRPr lang="ru-RU" altLang="ru-RU" sz="2100" dirty="0">
              <a:solidFill>
                <a:srgbClr val="000000"/>
              </a:solidFill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1400" dirty="0"/>
              <a:t>                                         </a:t>
            </a:r>
            <a:r>
              <a:rPr lang="ru-RU" altLang="ru-RU" sz="2100" dirty="0"/>
              <a:t>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 </a:t>
            </a:r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0" y="-170549"/>
            <a:ext cx="65" cy="3410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Свойства традиционных методов оценки качества прогнозирования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62"/>
          <a:stretch/>
        </p:blipFill>
        <p:spPr bwMode="auto">
          <a:xfrm>
            <a:off x="192741" y="2395534"/>
            <a:ext cx="8741709" cy="2126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Прямоугольник 17"/>
          <p:cNvSpPr/>
          <p:nvPr/>
        </p:nvSpPr>
        <p:spPr>
          <a:xfrm>
            <a:off x="268941" y="6480731"/>
            <a:ext cx="98574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https://reshape.ru/articles/tpost/e9s086ofm1-kak-otsenit-kachestvo-prognozirovaniya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7035800" y="4482187"/>
            <a:ext cx="529907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ru-RU" i="1" dirty="0"/>
              <a:t>Интерпретируемость</a:t>
            </a:r>
            <a:r>
              <a:rPr lang="ru-RU" dirty="0"/>
              <a:t> → MAE, MAPE, WAPE</a:t>
            </a:r>
          </a:p>
          <a:p>
            <a:pPr lvl="1"/>
            <a:r>
              <a:rPr lang="ru-RU" i="1" dirty="0"/>
              <a:t>Устойчивость</a:t>
            </a:r>
            <a:r>
              <a:rPr lang="ru-RU" dirty="0"/>
              <a:t> → </a:t>
            </a:r>
            <a:r>
              <a:rPr lang="ru-RU" dirty="0" err="1"/>
              <a:t>MedAE</a:t>
            </a:r>
            <a:r>
              <a:rPr lang="ru-RU" dirty="0"/>
              <a:t>, MASE</a:t>
            </a:r>
          </a:p>
          <a:p>
            <a:pPr lvl="1"/>
            <a:r>
              <a:rPr lang="ru-RU" i="1" dirty="0" err="1"/>
              <a:t>неопределнность</a:t>
            </a:r>
            <a:r>
              <a:rPr lang="ru-RU" i="1" dirty="0"/>
              <a:t> моделей</a:t>
            </a:r>
            <a:r>
              <a:rPr lang="ru-RU" dirty="0"/>
              <a:t> → RMSE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92741" y="5545165"/>
            <a:ext cx="119325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2C2C36"/>
                </a:solidFill>
                <a:latin typeface="system-ui"/>
              </a:rPr>
              <a:t>В реальных задачах рекомендуется использовать </a:t>
            </a:r>
            <a:r>
              <a:rPr lang="ru-RU" dirty="0">
                <a:solidFill>
                  <a:srgbClr val="111827"/>
                </a:solidFill>
                <a:latin typeface="system-ui"/>
              </a:rPr>
              <a:t>несколько метрик </a:t>
            </a:r>
            <a:r>
              <a:rPr lang="ru-RU" dirty="0">
                <a:solidFill>
                  <a:srgbClr val="2C2C36"/>
                </a:solidFill>
                <a:latin typeface="system-ui"/>
              </a:rPr>
              <a:t>одновременно (например, MAE + R² + MASE), чтобы получить более полное представление о качестве прогноза.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87008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0896" y="365125"/>
            <a:ext cx="11042904" cy="585851"/>
          </a:xfrm>
        </p:spPr>
        <p:txBody>
          <a:bodyPr>
            <a:normAutofit fontScale="90000"/>
          </a:bodyPr>
          <a:lstStyle/>
          <a:p>
            <a:r>
              <a:rPr lang="ru-RU" dirty="0"/>
              <a:t>Необходимость вероятностных оценок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32</a:t>
            </a:fld>
            <a:endParaRPr lang="en-US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92024" y="950976"/>
            <a:ext cx="11814048" cy="57528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2200" b="1" dirty="0"/>
              <a:t>Интервал предсказаний – это Диапазон значений, в котором с заданной вероятностью (уровнем доверия) ожидается будущее наблюдение.</a:t>
            </a:r>
          </a:p>
          <a:p>
            <a:pPr marL="457200" lvl="1" indent="0">
              <a:buNone/>
            </a:pPr>
            <a:r>
              <a:rPr lang="ru-RU" sz="1800" dirty="0"/>
              <a:t>Прогноз продаж на январь: </a:t>
            </a:r>
            <a:r>
              <a:rPr lang="ru-RU" sz="1800" b="1" dirty="0"/>
              <a:t>1000 ± 100 единиц (95% PI)</a:t>
            </a:r>
            <a:r>
              <a:rPr lang="ru-RU" sz="1800" dirty="0"/>
              <a:t>→ продажи с вероятностью 95% будут между </a:t>
            </a:r>
            <a:r>
              <a:rPr lang="ru-RU" sz="1800" b="1" dirty="0"/>
              <a:t>900</a:t>
            </a:r>
            <a:r>
              <a:rPr lang="ru-RU" sz="1800" dirty="0"/>
              <a:t> и </a:t>
            </a:r>
            <a:r>
              <a:rPr lang="ru-RU" sz="1800" b="1" dirty="0"/>
              <a:t>1100</a:t>
            </a:r>
            <a:r>
              <a:rPr lang="ru-RU" sz="1800" dirty="0"/>
              <a:t>.</a:t>
            </a:r>
          </a:p>
          <a:p>
            <a:pPr marL="0" indent="0">
              <a:buNone/>
            </a:pPr>
            <a:r>
              <a:rPr lang="ru-RU" sz="2200" b="1" dirty="0"/>
              <a:t>1. </a:t>
            </a:r>
            <a:r>
              <a:rPr lang="ru-RU" sz="2200" dirty="0"/>
              <a:t>Интервальный прогноз спроса на электричество:</a:t>
            </a:r>
          </a:p>
          <a:p>
            <a:r>
              <a:rPr lang="ru-RU" sz="2200" dirty="0"/>
              <a:t>Ожидаемый 99% доверительный интервал модели: [100 МВт, 150 МВт] Реальное значение через день: 160 МВт → коллапс сети</a:t>
            </a:r>
          </a:p>
          <a:p>
            <a:pPr marL="0" indent="0">
              <a:buNone/>
            </a:pPr>
            <a:r>
              <a:rPr lang="ru-RU" sz="2200" dirty="0"/>
              <a:t> </a:t>
            </a:r>
            <a:r>
              <a:rPr lang="ru-RU" sz="2200" i="1" dirty="0"/>
              <a:t>Как предсказать экстремальный риск (</a:t>
            </a:r>
            <a:r>
              <a:rPr lang="ru-RU" sz="2200" i="1" dirty="0" err="1"/>
              <a:t>пин-болл</a:t>
            </a:r>
            <a:r>
              <a:rPr lang="ru-RU" sz="2200" i="1" dirty="0"/>
              <a:t> </a:t>
            </a:r>
            <a:r>
              <a:rPr lang="ru-RU" sz="2200" i="1" dirty="0" err="1"/>
              <a:t>лосс</a:t>
            </a:r>
            <a:r>
              <a:rPr lang="ru-RU" sz="2200" i="1" dirty="0"/>
              <a:t>), насколько надежны такие интервалы?</a:t>
            </a:r>
          </a:p>
          <a:p>
            <a:r>
              <a:rPr lang="ru-RU" sz="2200" b="0" i="0" dirty="0">
                <a:effectLst/>
              </a:rPr>
              <a:t>Оценка не только точечных прогнозов, но и интервалов позволяет выявить аномалии</a:t>
            </a:r>
          </a:p>
          <a:p>
            <a:pPr marL="0" indent="0">
              <a:buNone/>
            </a:pPr>
            <a:r>
              <a:rPr lang="ru-RU" sz="2200" b="1" dirty="0"/>
              <a:t>2. </a:t>
            </a:r>
            <a:r>
              <a:rPr lang="ru-RU" sz="2200" dirty="0"/>
              <a:t>Прогнозы температуры от 5 моделей, прогнозирующих распределение (ECMWF, GFS, ...).</a:t>
            </a:r>
          </a:p>
          <a:p>
            <a:r>
              <a:rPr lang="ru-RU" sz="2200" dirty="0"/>
              <a:t>Каждая Ансамбли моделей давали разные распределения. Как выбрать лучшую? (с наименьшим разбросом результатов) -</a:t>
            </a:r>
            <a:r>
              <a:rPr lang="en-US" sz="2200" dirty="0"/>
              <a:t>&gt; </a:t>
            </a:r>
            <a:r>
              <a:rPr lang="ru-RU" sz="2200" dirty="0"/>
              <a:t>Сравниваем распределения с эталонным</a:t>
            </a:r>
            <a:r>
              <a:rPr lang="en-US" sz="2200" dirty="0"/>
              <a:t> </a:t>
            </a:r>
            <a:r>
              <a:rPr lang="en-US" sz="2200" b="1" dirty="0"/>
              <a:t>(CRPS)</a:t>
            </a:r>
            <a:endParaRPr lang="ru-RU" sz="2200" b="1" dirty="0"/>
          </a:p>
          <a:p>
            <a:pPr marL="0" indent="0">
              <a:buNone/>
            </a:pPr>
            <a:r>
              <a:rPr lang="ru-RU" sz="2200" b="1" i="0" dirty="0">
                <a:effectLst/>
              </a:rPr>
              <a:t>3.</a:t>
            </a:r>
            <a:r>
              <a:rPr lang="ru-RU" sz="2200" b="1" dirty="0"/>
              <a:t> </a:t>
            </a:r>
            <a:r>
              <a:rPr lang="ru-RU" sz="2200" dirty="0"/>
              <a:t>Еженедельные продажи товара (сеть магазинов) планировались по среднему ± 20%, как оценить достаточность интервала</a:t>
            </a:r>
          </a:p>
          <a:p>
            <a:r>
              <a:rPr lang="ru-RU" sz="2200" b="0" i="0" dirty="0">
                <a:effectLst/>
              </a:rPr>
              <a:t>Метод оценки покрытия интервала дает 80% -</a:t>
            </a:r>
            <a:r>
              <a:rPr lang="en-US" sz="2200" b="0" i="0" dirty="0">
                <a:effectLst/>
              </a:rPr>
              <a:t>&gt; </a:t>
            </a:r>
            <a:r>
              <a:rPr lang="ru-RU" sz="2200" b="0" i="0" dirty="0">
                <a:effectLst/>
              </a:rPr>
              <a:t>если больше 75%, считаем достаточным. </a:t>
            </a:r>
            <a:r>
              <a:rPr lang="ru-RU" sz="2200" dirty="0"/>
              <a:t>Интервал можно снижать.</a:t>
            </a:r>
            <a:endParaRPr lang="ru-RU" sz="2200" b="0" i="0" dirty="0">
              <a:effectLst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5404104" y="6538912"/>
            <a:ext cx="48703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https://otexts.com/fpp3/prediction-intervals.html</a:t>
            </a:r>
          </a:p>
        </p:txBody>
      </p:sp>
    </p:spTree>
    <p:extLst>
      <p:ext uri="{BB962C8B-B14F-4D97-AF65-F5344CB8AC3E}">
        <p14:creationId xmlns:p14="http://schemas.microsoft.com/office/powerpoint/2010/main" val="33059429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0896" y="365125"/>
            <a:ext cx="11042904" cy="585851"/>
          </a:xfrm>
        </p:spPr>
        <p:txBody>
          <a:bodyPr>
            <a:normAutofit fontScale="90000"/>
          </a:bodyPr>
          <a:lstStyle/>
          <a:p>
            <a:r>
              <a:rPr lang="ru-RU" dirty="0"/>
              <a:t>Необходимость вероятностных оценок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33</a:t>
            </a:fld>
            <a:endParaRPr lang="en-US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92024" y="950976"/>
            <a:ext cx="11814048" cy="397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200" b="1" dirty="0"/>
              <a:t> </a:t>
            </a:r>
            <a:endParaRPr lang="ru-RU" sz="2200" b="0" i="0" dirty="0">
              <a:effectLst/>
            </a:endParaRPr>
          </a:p>
        </p:txBody>
      </p:sp>
      <p:pic>
        <p:nvPicPr>
          <p:cNvPr id="5122" name="Picture 2" descr="Five simulated future sample paths of the Google closing stock price based on a naïve method with bootstrapped residuals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470" y="850392"/>
            <a:ext cx="4460874" cy="275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Forecasts of the Google closing stock price based on a naïve method with bootstrapped residuals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2434" y="3753865"/>
            <a:ext cx="4642510" cy="2867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Объект 4"/>
              <p:cNvSpPr txBox="1">
                <a:spLocks/>
              </p:cNvSpPr>
              <p:nvPr/>
            </p:nvSpPr>
            <p:spPr>
              <a:xfrm>
                <a:off x="192024" y="950976"/>
                <a:ext cx="7290410" cy="2929007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ru-RU" sz="2200" b="1" dirty="0"/>
                  <a:t>Вероятностные оценки  </a:t>
                </a:r>
                <a:r>
                  <a:rPr lang="ru-RU" sz="2200" dirty="0"/>
                  <a:t>показывают, какие значения может принимать будущее наблюдение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dirty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ru-RU" sz="2200" dirty="0"/>
                  <a:t> с заданными вероятностями. Это позволяет оценить неопределенность прогноза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ru-RU" sz="2200" b="1" dirty="0"/>
                  <a:t>Точечный прогноз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2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e>
                      <m:sup>
                        <m:r>
                          <a:rPr lang="ru-RU" sz="2200" i="1" dirty="0" smtClean="0"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</m:sSup>
                    <m:r>
                      <a:rPr lang="ru-RU" sz="2200" i="1" dirty="0">
                        <a:latin typeface="Cambria Math" panose="02040503050406030204" pitchFamily="18" charset="0"/>
                      </a:rPr>
                      <m:t>​ </m:t>
                    </m:r>
                  </m:oMath>
                </a14:m>
                <a:r>
                  <a:rPr lang="ru-RU" sz="2200" dirty="0"/>
                  <a:t>— это среднее значение прогнозного распределения. То есть, это наше "лучшее" предположение о том, каким будет значение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dirty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ru-RU" sz="2200" dirty="0"/>
                  <a:t>, но оно не учитывает степень неопределенности.</a:t>
                </a:r>
              </a:p>
            </p:txBody>
          </p:sp>
        </mc:Choice>
        <mc:Fallback xmlns="">
          <p:sp>
            <p:nvSpPr>
              <p:cNvPr id="7" name="Объект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24" y="950976"/>
                <a:ext cx="7290410" cy="2929007"/>
              </a:xfrm>
              <a:prstGeom prst="rect">
                <a:avLst/>
              </a:prstGeom>
              <a:blipFill>
                <a:blip r:embed="rId4"/>
                <a:stretch>
                  <a:fillRect l="-1088" t="-1458" r="-1255" b="-3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92300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0896" y="365125"/>
            <a:ext cx="11042904" cy="585851"/>
          </a:xfrm>
        </p:spPr>
        <p:txBody>
          <a:bodyPr>
            <a:normAutofit fontScale="90000"/>
          </a:bodyPr>
          <a:lstStyle/>
          <a:p>
            <a:r>
              <a:rPr lang="ru-RU" dirty="0"/>
              <a:t>Необходимость вероятностных оценок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34</a:t>
            </a:fld>
            <a:endParaRPr lang="en-US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92024" y="950976"/>
            <a:ext cx="11814048" cy="397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200" b="1" dirty="0"/>
              <a:t> </a:t>
            </a:r>
            <a:endParaRPr lang="ru-RU" sz="2200" b="0" i="0" dirty="0">
              <a:effectLst/>
            </a:endParaRPr>
          </a:p>
        </p:txBody>
      </p:sp>
      <p:pic>
        <p:nvPicPr>
          <p:cNvPr id="5122" name="Picture 2" descr="Five simulated future sample paths of the Google closing stock price based on a naïve method with bootstrapped residuals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470" y="850392"/>
            <a:ext cx="4460874" cy="275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Forecasts of the Google closing stock price based on a naïve method with bootstrapped residuals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2434" y="3753865"/>
            <a:ext cx="4642510" cy="2867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Объект 4"/>
              <p:cNvSpPr txBox="1">
                <a:spLocks/>
              </p:cNvSpPr>
              <p:nvPr/>
            </p:nvSpPr>
            <p:spPr>
              <a:xfrm>
                <a:off x="192024" y="950976"/>
                <a:ext cx="6986016" cy="3848939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ru-RU" sz="2200" b="1" dirty="0"/>
                  <a:t>Доверительный интервал </a:t>
                </a:r>
                <a:r>
                  <a:rPr lang="ru-RU" sz="2200" dirty="0"/>
                  <a:t>дает диапазон значений, внутри которого с заданной вероятностью окажется реальное значение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dirty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ru-RU" sz="2200" dirty="0"/>
                  <a:t> . Например, 95%-й доверительный интервал означает, что с вероятностью 95% фактическое значение попадет внутрь этого интервала.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ru-RU" sz="2200" dirty="0"/>
                  <a:t>Для нормального распределения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±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dirty="0"/>
                  <a:t>​,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ru-RU" sz="2200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ru-RU" sz="2200" dirty="0"/>
                  <a:t> - оценка стандартного </a:t>
                </a:r>
                <a:r>
                  <a:rPr lang="ru-RU" sz="2200" dirty="0" err="1"/>
                  <a:t>распределния</a:t>
                </a:r>
                <a:r>
                  <a:rPr lang="ru-RU" sz="2200" dirty="0"/>
                  <a:t>, </a:t>
                </a:r>
                <a:br>
                  <a:rPr lang="ru-RU" sz="220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ru-RU" sz="2200" i="1" dirty="0" smtClean="0">
                        <a:latin typeface="Cambria Math" panose="02040503050406030204" pitchFamily="18" charset="0"/>
                      </a:rPr>
                      <m:t>с−</m:t>
                    </m:r>
                  </m:oMath>
                </a14:m>
                <a:r>
                  <a:rPr lang="ru-RU" sz="2200" dirty="0"/>
                  <a:t> коэффициент, зависящий от уровня доверия (например, 1.96 для 95%)</a:t>
                </a:r>
              </a:p>
            </p:txBody>
          </p:sp>
        </mc:Choice>
        <mc:Fallback xmlns="">
          <p:sp>
            <p:nvSpPr>
              <p:cNvPr id="7" name="Объект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24" y="950976"/>
                <a:ext cx="6986016" cy="3848939"/>
              </a:xfrm>
              <a:prstGeom prst="rect">
                <a:avLst/>
              </a:prstGeom>
              <a:blipFill>
                <a:blip r:embed="rId4"/>
                <a:stretch>
                  <a:fillRect l="-1134" t="-1109" b="-221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32213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7472" y="192025"/>
            <a:ext cx="11006328" cy="603504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Наивная оценка СКО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35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/>
              <p:cNvSpPr/>
              <p:nvPr/>
            </p:nvSpPr>
            <p:spPr>
              <a:xfrm>
                <a:off x="246888" y="771519"/>
                <a:ext cx="11759184" cy="41052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2200" b="1" dirty="0"/>
                  <a:t>Доверительный интервал </a:t>
                </a:r>
                <a:r>
                  <a:rPr lang="ru-RU" sz="2200" dirty="0"/>
                  <a:t>дает диапазон значений, внутри которого с заданной вероятностью окажется реальное значение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dirty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ru-RU" sz="2200" dirty="0"/>
                  <a:t> . </a:t>
                </a:r>
              </a:p>
              <a:p>
                <a:pPr lvl="1"/>
                <a:r>
                  <a:rPr lang="ru-RU" sz="2200" dirty="0"/>
                  <a:t>Например, 95%-й доверительный интервал означает, что с вероятностью 95% фактическое значение попадет внутрь этого интервала. </a:t>
                </a:r>
              </a:p>
              <a:p>
                <a:r>
                  <a:rPr lang="ru-RU" sz="2200" dirty="0"/>
                  <a:t>Для нормального распределения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b="1" i="1" dirty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2200" i="1" dirty="0">
                        <a:latin typeface="Cambria Math" panose="02040503050406030204" pitchFamily="18" charset="0"/>
                      </a:rPr>
                      <m:t>±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sz="2200" dirty="0"/>
                  <a:t>​,</a:t>
                </a:r>
              </a:p>
              <a:p>
                <a:pPr lvl="1"/>
                <a:r>
                  <a:rPr lang="ru-RU" sz="2200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ru-RU" sz="2200" dirty="0"/>
                  <a:t> - оценка стандартного </a:t>
                </a:r>
                <a:r>
                  <a:rPr lang="ru-RU" sz="2200" dirty="0" err="1"/>
                  <a:t>распределния</a:t>
                </a:r>
                <a:r>
                  <a:rPr lang="ru-RU" sz="2200" dirty="0"/>
                  <a:t>, </a:t>
                </a:r>
                <a:br>
                  <a:rPr lang="ru-RU" sz="220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ru-RU" sz="2200" i="1" dirty="0">
                        <a:latin typeface="Cambria Math" panose="02040503050406030204" pitchFamily="18" charset="0"/>
                      </a:rPr>
                      <m:t>с−</m:t>
                    </m:r>
                  </m:oMath>
                </a14:m>
                <a:r>
                  <a:rPr lang="ru-RU" sz="2200" dirty="0"/>
                  <a:t> коэффициент, зависящий от уровня доверия (например, 1.96 для 95%)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200" dirty="0"/>
                  <a:t>Одношаговый прогноз </a:t>
                </a:r>
                <a:r>
                  <a:rPr lang="en-US" sz="2200" dirty="0"/>
                  <a:t>(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200" dirty="0"/>
                  <a:t>)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acc>
                    <m:r>
                      <a:rPr lang="ru-RU" sz="2200" i="1" dirty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sz="22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200" i="1" dirty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sz="2200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en-US" sz="22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</m:e>
                    </m:rad>
                  </m:oMath>
                </a14:m>
                <a:endParaRPr lang="en-US" sz="22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200" i="1" dirty="0"/>
                  <a:t>T</a:t>
                </a:r>
                <a:r>
                  <a:rPr lang="ru-RU" sz="2200" dirty="0"/>
                  <a:t> — количество наблюдений, </a:t>
                </a:r>
                <a:r>
                  <a:rPr lang="ru-RU" sz="2200" i="1" dirty="0"/>
                  <a:t>K</a:t>
                </a:r>
                <a:r>
                  <a:rPr lang="ru-RU" sz="2200" dirty="0"/>
                  <a:t> — число оцененных параметров модели, </a:t>
                </a:r>
                <a:r>
                  <a:rPr lang="ru-RU" sz="2200" i="1" dirty="0"/>
                  <a:t>M</a:t>
                </a:r>
                <a:r>
                  <a:rPr lang="ru-RU" sz="2200" dirty="0"/>
                  <a:t> — число пропущенных значений в ошибках,</a:t>
                </a:r>
                <a14:m>
                  <m:oMath xmlns:m="http://schemas.openxmlformats.org/officeDocument/2006/math">
                    <m:r>
                      <a:rPr lang="ru-RU" sz="2200" dirty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2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ru-RU" sz="2200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ru-RU" sz="2200" dirty="0"/>
                  <a:t>​ — остатки модели.</a:t>
                </a: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88" y="771519"/>
                <a:ext cx="11759184" cy="4105291"/>
              </a:xfrm>
              <a:prstGeom prst="rect">
                <a:avLst/>
              </a:prstGeom>
              <a:blipFill>
                <a:blip r:embed="rId2"/>
                <a:stretch>
                  <a:fillRect l="-674" t="-104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Прямоугольник 7"/>
          <p:cNvSpPr/>
          <p:nvPr/>
        </p:nvSpPr>
        <p:spPr>
          <a:xfrm>
            <a:off x="347472" y="6356350"/>
            <a:ext cx="48703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https://otexts.com/fpp2/prediction-intervals.html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Прямоугольник 8"/>
              <p:cNvSpPr/>
              <p:nvPr/>
            </p:nvSpPr>
            <p:spPr>
              <a:xfrm>
                <a:off x="1691640" y="4790778"/>
                <a:ext cx="10177272" cy="15310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dirty="0">
                    <a:solidFill>
                      <a:srgbClr val="2C2C36"/>
                    </a:solidFill>
                    <a:latin typeface="system-ui"/>
                  </a:rPr>
                  <a:t>Предположим, последнее значение ряда равно 758.88, а стандартное отклонение остатков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acc>
                  </m:oMath>
                </a14:m>
                <a:r>
                  <a:rPr lang="ru-RU" dirty="0">
                    <a:solidFill>
                      <a:srgbClr val="2C2C36"/>
                    </a:solidFill>
                    <a:latin typeface="KaTeX_Main"/>
                  </a:rPr>
                  <a:t>=11.19</a:t>
                </a:r>
                <a:r>
                  <a:rPr lang="ru-RU" dirty="0">
                    <a:solidFill>
                      <a:srgbClr val="2C2C36"/>
                    </a:solidFill>
                    <a:latin typeface="system-ui"/>
                  </a:rPr>
                  <a:t> . Тогда 95%-й доверительный интервал для следующего значения будет:</a:t>
                </a:r>
              </a:p>
              <a:p>
                <a:r>
                  <a:rPr lang="ru-RU" dirty="0">
                    <a:solidFill>
                      <a:srgbClr val="2C2C36"/>
                    </a:solidFill>
                    <a:latin typeface="KaTeX_Main"/>
                  </a:rPr>
                  <a:t>758.88±1.96⋅11.19=[736.9,780.8].</a:t>
                </a:r>
                <a:endParaRPr lang="ru-RU" dirty="0">
                  <a:solidFill>
                    <a:srgbClr val="2C2C36"/>
                  </a:solidFill>
                  <a:latin typeface="system-ui"/>
                </a:endParaRPr>
              </a:p>
              <a:p>
                <a:r>
                  <a:rPr lang="ru-RU" dirty="0">
                    <a:solidFill>
                      <a:srgbClr val="2C2C36"/>
                    </a:solidFill>
                    <a:latin typeface="system-ui"/>
                  </a:rPr>
                  <a:t>Аналогично, 80%-й интервал:</a:t>
                </a:r>
              </a:p>
              <a:p>
                <a:r>
                  <a:rPr lang="ru-RU" dirty="0">
                    <a:solidFill>
                      <a:srgbClr val="2C2C36"/>
                    </a:solidFill>
                    <a:latin typeface="KaTeX_Main"/>
                  </a:rPr>
                  <a:t>758.88±1.28⋅11.19=[744.5,773.2].</a:t>
                </a:r>
                <a:endParaRPr lang="ru-RU" b="0" i="0" dirty="0">
                  <a:solidFill>
                    <a:srgbClr val="2C2C36"/>
                  </a:solidFill>
                  <a:effectLst/>
                  <a:latin typeface="system-ui"/>
                </a:endParaRPr>
              </a:p>
            </p:txBody>
          </p:sp>
        </mc:Choice>
        <mc:Fallback xmlns="">
          <p:sp>
            <p:nvSpPr>
              <p:cNvPr id="9" name="Прямоугольник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640" y="4790778"/>
                <a:ext cx="10177272" cy="1531060"/>
              </a:xfrm>
              <a:prstGeom prst="rect">
                <a:avLst/>
              </a:prstGeom>
              <a:blipFill>
                <a:blip r:embed="rId3"/>
                <a:stretch>
                  <a:fillRect l="-539" t="-2390" b="-19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12187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7472" y="192025"/>
            <a:ext cx="11006328" cy="603504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Наивная оценка СКО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881356"/>
            <a:ext cx="11759184" cy="25877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b="1" dirty="0"/>
              <a:t>Многошаговые прогнозы</a:t>
            </a:r>
          </a:p>
          <a:p>
            <a:r>
              <a:rPr lang="ru-RU" sz="2200" dirty="0"/>
              <a:t>С увеличением горизонта прогнозирования </a:t>
            </a:r>
            <a:r>
              <a:rPr lang="ru-RU" sz="2200" i="1" dirty="0"/>
              <a:t>h</a:t>
            </a:r>
            <a:r>
              <a:rPr lang="ru-RU" sz="2200" dirty="0"/>
              <a:t> , неопределенность возрастает, и доверительные интервалы становятся шире.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36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Таблица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11859318"/>
                  </p:ext>
                </p:extLst>
              </p:nvPr>
            </p:nvGraphicFramePr>
            <p:xfrm>
              <a:off x="758952" y="1967877"/>
              <a:ext cx="7934960" cy="1861377"/>
            </p:xfrm>
            <a:graphic>
              <a:graphicData uri="http://schemas.openxmlformats.org/drawingml/2006/table">
                <a:tbl>
                  <a:tblPr/>
                  <a:tblGrid>
                    <a:gridCol w="7934960">
                      <a:extLst>
                        <a:ext uri="{9D8B030D-6E8A-4147-A177-3AD203B41FA5}">
                          <a16:colId xmlns:a16="http://schemas.microsoft.com/office/drawing/2014/main" val="3179399683"/>
                        </a:ext>
                      </a:extLst>
                    </a:gridCol>
                  </a:tblGrid>
                  <a:tr h="19050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Метод</a:t>
                          </a:r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</a:t>
                          </a:r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оценки</a:t>
                          </a:r>
                          <a:r>
                            <a:rPr lang="ru-RU" sz="1800" b="0" i="0" u="none" strike="noStrike" baseline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с</a:t>
                          </a:r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тандартного отклонения на</a:t>
                          </a:r>
                          <a:r>
                            <a:rPr lang="ru-RU" sz="1800" b="0" i="0" u="none" strike="noStrike" baseline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шаге </a:t>
                          </a:r>
                          <a:r>
                            <a:rPr lang="ru-RU" sz="1800" i="1" dirty="0"/>
                            <a:t>h</a:t>
                          </a:r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ru-RU" sz="1800" b="0" i="1" u="none" strike="noStrike" dirty="0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800" b="0" i="1" u="none" strike="noStrike" dirty="0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800" b="0" i="0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ru-RU" sz="1800" b="0" i="0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oMath>
                          </a14:m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52241197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Среднее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0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ru-RU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̂"/>
                                  <m:ctrlP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  <m:r>
                                <a:rPr lang="en-US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1 + 1/</m:t>
                                  </m:r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rad>
                            </m:oMath>
                          </a14:m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6266796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Наивный</a:t>
                          </a:r>
                          <a14:m>
                            <m:oMath xmlns:m="http://schemas.openxmlformats.org/officeDocument/2006/math">
                              <m:r>
                                <a:rPr lang="ru-RU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̂"/>
                                  <m:ctrlP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  <m:r>
                                <a:rPr lang="en-US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rad>
                            </m:oMath>
                          </a14:m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24232478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Сезонный наивный</a:t>
                          </a:r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, 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  <m:r>
                                <a:rPr lang="en-US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rad>
                            </m:oMath>
                          </a14:m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, </a:t>
                          </a:r>
                          <a:b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где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oMath>
                          </a14:m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—  период сезона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8428549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Дрейф,</a:t>
                          </a:r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  <m:r>
                                <a:rPr lang="en-US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(1+</m:t>
                                  </m:r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/(</m:t>
                                  </m:r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−1)) </m:t>
                                  </m:r>
                                </m:e>
                              </m:rad>
                            </m:oMath>
                          </a14:m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741613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Таблица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11859318"/>
                  </p:ext>
                </p:extLst>
              </p:nvPr>
            </p:nvGraphicFramePr>
            <p:xfrm>
              <a:off x="758952" y="1967877"/>
              <a:ext cx="7934960" cy="1861377"/>
            </p:xfrm>
            <a:graphic>
              <a:graphicData uri="http://schemas.openxmlformats.org/drawingml/2006/table">
                <a:tbl>
                  <a:tblPr/>
                  <a:tblGrid>
                    <a:gridCol w="7934960">
                      <a:extLst>
                        <a:ext uri="{9D8B030D-6E8A-4147-A177-3AD203B41FA5}">
                          <a16:colId xmlns:a16="http://schemas.microsoft.com/office/drawing/2014/main" val="3179399683"/>
                        </a:ext>
                      </a:extLst>
                    </a:gridCol>
                  </a:tblGrid>
                  <a:tr h="283845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23404" b="-6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2241197"/>
                      </a:ext>
                    </a:extLst>
                  </a:tr>
                  <a:tr h="341694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103571" b="-40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266796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219231" b="-33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4232478"/>
                      </a:ext>
                    </a:extLst>
                  </a:tr>
                  <a:tr h="581724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172917" b="-812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8428549"/>
                      </a:ext>
                    </a:extLst>
                  </a:tr>
                  <a:tr h="341694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467857" b="-392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16136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Прямоугольник 5"/>
          <p:cNvSpPr/>
          <p:nvPr/>
        </p:nvSpPr>
        <p:spPr>
          <a:xfrm>
            <a:off x="194056" y="4025296"/>
            <a:ext cx="80619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2C2C36"/>
                </a:solidFill>
                <a:latin typeface="system-ui"/>
              </a:rPr>
              <a:t>Эти формулы работают при условии, </a:t>
            </a:r>
            <a:br>
              <a:rPr lang="ru-RU" dirty="0">
                <a:solidFill>
                  <a:srgbClr val="2C2C36"/>
                </a:solidFill>
                <a:latin typeface="system-ui"/>
              </a:rPr>
            </a:br>
            <a:r>
              <a:rPr lang="ru-RU" dirty="0">
                <a:solidFill>
                  <a:srgbClr val="2C2C36"/>
                </a:solidFill>
                <a:latin typeface="system-ui"/>
              </a:rPr>
              <a:t>что остатки </a:t>
            </a:r>
            <a:r>
              <a:rPr lang="ru-RU" dirty="0" err="1">
                <a:solidFill>
                  <a:srgbClr val="2C2C36"/>
                </a:solidFill>
                <a:latin typeface="system-ui"/>
              </a:rPr>
              <a:t>некоррелированы</a:t>
            </a:r>
            <a:r>
              <a:rPr lang="ru-RU" dirty="0">
                <a:solidFill>
                  <a:srgbClr val="2C2C36"/>
                </a:solidFill>
                <a:latin typeface="system-ui"/>
              </a:rPr>
              <a:t>.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347472" y="6381739"/>
            <a:ext cx="48174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https://otexts.com/fpp3/prediction-intervals.htm</a:t>
            </a:r>
          </a:p>
        </p:txBody>
      </p:sp>
      <p:pic>
        <p:nvPicPr>
          <p:cNvPr id="9218" name="Picture 2" descr="80% and 95% prediction intervals for the Google closing stock price based on a naïve method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9592" y="2380346"/>
            <a:ext cx="6381942" cy="3509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/>
          <p:cNvSpPr/>
          <p:nvPr/>
        </p:nvSpPr>
        <p:spPr>
          <a:xfrm>
            <a:off x="125338" y="4800702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C2C36"/>
                </a:solidFill>
                <a:latin typeface="system-ui"/>
              </a:rPr>
              <a:t>Если фактические значения часто выходят за пределы доверительного интервала — модель недооценивает неопределенность.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C2C36"/>
                </a:solidFill>
                <a:latin typeface="system-ui"/>
              </a:rPr>
              <a:t>Если интервалы слишком широкие — возможно, модель слишком консервативна.</a:t>
            </a:r>
            <a:endParaRPr lang="ru-RU" b="0" i="0" dirty="0">
              <a:solidFill>
                <a:srgbClr val="2C2C36"/>
              </a:solidFill>
              <a:effectLst/>
              <a:latin typeface="system-ui"/>
            </a:endParaRPr>
          </a:p>
        </p:txBody>
      </p:sp>
    </p:spTree>
    <p:extLst>
      <p:ext uri="{BB962C8B-B14F-4D97-AF65-F5344CB8AC3E}">
        <p14:creationId xmlns:p14="http://schemas.microsoft.com/office/powerpoint/2010/main" val="12032147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0896" y="365125"/>
            <a:ext cx="11042904" cy="585851"/>
          </a:xfrm>
        </p:spPr>
        <p:txBody>
          <a:bodyPr>
            <a:normAutofit fontScale="90000"/>
          </a:bodyPr>
          <a:lstStyle/>
          <a:p>
            <a:r>
              <a:rPr lang="ru-RU" dirty="0"/>
              <a:t>Необходимость вероятностных оценок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37</a:t>
            </a:fld>
            <a:endParaRPr lang="en-US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92024" y="950976"/>
            <a:ext cx="11814048" cy="397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200" b="1" dirty="0"/>
              <a:t> </a:t>
            </a:r>
            <a:endParaRPr lang="ru-RU" sz="2200" b="0" i="0" dirty="0">
              <a:effectLst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10896" y="1001038"/>
            <a:ext cx="7354709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rgbClr val="2C2C36"/>
                </a:solidFill>
              </a:rPr>
              <a:t>Иногда предположение о нормальности остатков неверно. В таких случаях можно использовать </a:t>
            </a:r>
            <a:r>
              <a:rPr lang="ru-RU" sz="2000" dirty="0">
                <a:solidFill>
                  <a:srgbClr val="111827"/>
                </a:solidFill>
              </a:rPr>
              <a:t>методы</a:t>
            </a:r>
          </a:p>
          <a:p>
            <a:r>
              <a:rPr lang="ru-RU" sz="2000" dirty="0">
                <a:solidFill>
                  <a:srgbClr val="111827"/>
                </a:solidFill>
              </a:rPr>
              <a:t> </a:t>
            </a:r>
            <a:r>
              <a:rPr lang="ru-RU" sz="2000" dirty="0" err="1">
                <a:solidFill>
                  <a:srgbClr val="111827"/>
                </a:solidFill>
              </a:rPr>
              <a:t>бутстрепа</a:t>
            </a:r>
            <a:r>
              <a:rPr lang="ru-RU" sz="2000" dirty="0">
                <a:solidFill>
                  <a:srgbClr val="111827"/>
                </a:solidFill>
              </a:rPr>
              <a:t> </a:t>
            </a:r>
            <a:r>
              <a:rPr lang="ru-RU" sz="2000" dirty="0">
                <a:solidFill>
                  <a:srgbClr val="2C2C36"/>
                </a:solidFill>
              </a:rPr>
              <a:t>— имитационный метод, основанный на повторной выборке из исторических остатков</a:t>
            </a:r>
          </a:p>
          <a:p>
            <a:r>
              <a:rPr lang="ru-RU" sz="2000" dirty="0" err="1">
                <a:solidFill>
                  <a:srgbClr val="2C2C36"/>
                </a:solidFill>
              </a:rPr>
              <a:t>Комфорное</a:t>
            </a:r>
            <a:r>
              <a:rPr lang="ru-RU" sz="2000" dirty="0">
                <a:solidFill>
                  <a:srgbClr val="2C2C36"/>
                </a:solidFill>
              </a:rPr>
              <a:t> </a:t>
            </a:r>
            <a:r>
              <a:rPr lang="ru-RU" sz="2000" dirty="0" err="1">
                <a:solidFill>
                  <a:srgbClr val="2C2C36"/>
                </a:solidFill>
              </a:rPr>
              <a:t>преорбазование</a:t>
            </a:r>
            <a:r>
              <a:rPr lang="ru-RU" sz="2000" dirty="0">
                <a:solidFill>
                  <a:srgbClr val="2C2C36"/>
                </a:solidFill>
              </a:rPr>
              <a:t> – калибровка доверительных интервалов на отдельных от тренировочной </a:t>
            </a:r>
            <a:r>
              <a:rPr lang="ru-RU" sz="2000" dirty="0" err="1">
                <a:solidFill>
                  <a:srgbClr val="2C2C36"/>
                </a:solidFill>
              </a:rPr>
              <a:t>подвыборках</a:t>
            </a:r>
            <a:r>
              <a:rPr lang="ru-RU" sz="2000" dirty="0">
                <a:solidFill>
                  <a:srgbClr val="2C2C36"/>
                </a:solidFill>
              </a:rPr>
              <a:t>.</a:t>
            </a:r>
          </a:p>
          <a:p>
            <a:r>
              <a:rPr lang="ru-RU" sz="2000" b="1" dirty="0">
                <a:solidFill>
                  <a:srgbClr val="2C2C36"/>
                </a:solidFill>
              </a:rPr>
              <a:t>Основные идеи</a:t>
            </a:r>
          </a:p>
          <a:p>
            <a:pPr>
              <a:buFont typeface="+mj-lt"/>
              <a:buAutoNum type="arabicPeriod"/>
            </a:pPr>
            <a:r>
              <a:rPr lang="ru-RU" sz="2000" dirty="0">
                <a:solidFill>
                  <a:srgbClr val="2C2C36"/>
                </a:solidFill>
              </a:rPr>
              <a:t>Используем модель, чтобы получить остатки </a:t>
            </a:r>
            <a:r>
              <a:rPr lang="ru-RU" sz="2000" i="1" dirty="0" err="1">
                <a:solidFill>
                  <a:srgbClr val="2C2C36"/>
                </a:solidFill>
              </a:rPr>
              <a:t>et</a:t>
            </a:r>
            <a:r>
              <a:rPr lang="ru-RU" sz="2000" dirty="0">
                <a:solidFill>
                  <a:srgbClr val="2C2C36"/>
                </a:solidFill>
              </a:rPr>
              <a:t>​=</a:t>
            </a:r>
            <a:r>
              <a:rPr lang="ru-RU" sz="2000" i="1" dirty="0" err="1">
                <a:solidFill>
                  <a:srgbClr val="2C2C36"/>
                </a:solidFill>
              </a:rPr>
              <a:t>yt</a:t>
            </a:r>
            <a:r>
              <a:rPr lang="ru-RU" sz="2000" dirty="0">
                <a:solidFill>
                  <a:srgbClr val="2C2C36"/>
                </a:solidFill>
              </a:rPr>
              <a:t>​−</a:t>
            </a:r>
            <a:r>
              <a:rPr lang="ru-RU" sz="2000" i="1" dirty="0">
                <a:solidFill>
                  <a:srgbClr val="2C2C36"/>
                </a:solidFill>
              </a:rPr>
              <a:t>y</a:t>
            </a:r>
            <a:r>
              <a:rPr lang="ru-RU" sz="2000" dirty="0">
                <a:solidFill>
                  <a:srgbClr val="2C2C36"/>
                </a:solidFill>
              </a:rPr>
              <a:t>^​</a:t>
            </a:r>
            <a:r>
              <a:rPr lang="ru-RU" sz="2000" i="1" dirty="0">
                <a:solidFill>
                  <a:srgbClr val="2C2C36"/>
                </a:solidFill>
              </a:rPr>
              <a:t>t</a:t>
            </a:r>
            <a:r>
              <a:rPr lang="ru-RU" sz="2000" dirty="0">
                <a:solidFill>
                  <a:srgbClr val="2C2C36"/>
                </a:solidFill>
              </a:rPr>
              <a:t>​ .</a:t>
            </a:r>
          </a:p>
          <a:p>
            <a:pPr>
              <a:buFont typeface="+mj-lt"/>
              <a:buAutoNum type="arabicPeriod"/>
            </a:pPr>
            <a:r>
              <a:rPr lang="ru-RU" sz="2000" dirty="0">
                <a:solidFill>
                  <a:srgbClr val="2C2C36"/>
                </a:solidFill>
              </a:rPr>
              <a:t>Затем случайным образом выбираем эти остатки и добавляем их к прогнозам, чтобы смоделировать возможные будущие значения.</a:t>
            </a:r>
          </a:p>
          <a:p>
            <a:pPr>
              <a:buFont typeface="+mj-lt"/>
              <a:buAutoNum type="arabicPeriod"/>
            </a:pPr>
            <a:r>
              <a:rPr lang="ru-RU" sz="2000" dirty="0">
                <a:solidFill>
                  <a:srgbClr val="2C2C36"/>
                </a:solidFill>
              </a:rPr>
              <a:t>Повторяем этот процесс множество раз, чтобы получить распределение возможных будущих значений.</a:t>
            </a:r>
          </a:p>
          <a:p>
            <a:pPr>
              <a:buFont typeface="+mj-lt"/>
              <a:buAutoNum type="arabicPeriod"/>
            </a:pPr>
            <a:r>
              <a:rPr lang="ru-RU" sz="2000" dirty="0">
                <a:solidFill>
                  <a:srgbClr val="2C2C36"/>
                </a:solidFill>
              </a:rPr>
              <a:t>На основе этого распределения строим доверительные интервалы (например, 80%, 95%).</a:t>
            </a:r>
          </a:p>
          <a:p>
            <a:r>
              <a:rPr lang="ru-RU" sz="2000" b="1" dirty="0">
                <a:solidFill>
                  <a:srgbClr val="2C2C36"/>
                </a:solidFill>
              </a:rPr>
              <a:t>Преимущества методов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2C2C36"/>
                </a:solidFill>
              </a:rPr>
              <a:t>Не требует предположений о нормальности остатков.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2C2C36"/>
                </a:solidFill>
              </a:rPr>
              <a:t>Работает даже при сложных структурах данных.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2C2C36"/>
                </a:solidFill>
              </a:rPr>
              <a:t>Может учитывать несимметричность распределения.</a:t>
            </a:r>
            <a:endParaRPr lang="ru-RU" sz="2000" b="0" i="0" dirty="0">
              <a:solidFill>
                <a:srgbClr val="2C2C36"/>
              </a:solidFill>
              <a:effectLst/>
            </a:endParaRPr>
          </a:p>
        </p:txBody>
      </p:sp>
      <p:pic>
        <p:nvPicPr>
          <p:cNvPr id="9" name="Picture 2" descr="Five simulated future sample paths of the Google closing stock price based on a naïve method with bootstrapped residuals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2334" y="850393"/>
            <a:ext cx="3867009" cy="2388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Forecasts of the Google closing stock price based on a naïve method with bootstrapped residuals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2434" y="3753865"/>
            <a:ext cx="4642510" cy="2867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11801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0896" y="365125"/>
            <a:ext cx="11042904" cy="585851"/>
          </a:xfrm>
        </p:spPr>
        <p:txBody>
          <a:bodyPr>
            <a:normAutofit fontScale="90000"/>
          </a:bodyPr>
          <a:lstStyle/>
          <a:p>
            <a:r>
              <a:rPr lang="ru-RU" dirty="0"/>
              <a:t>Необходимость вероятностных оценок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38</a:t>
            </a:fld>
            <a:endParaRPr lang="en-US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92024" y="950976"/>
            <a:ext cx="11814048" cy="7017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2200" dirty="0"/>
              <a:t>После того как мы построили прогнозные интервалы или получили прогнозное распределение, важно количественно оценить их качество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Таблица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6035911"/>
                  </p:ext>
                </p:extLst>
              </p:nvPr>
            </p:nvGraphicFramePr>
            <p:xfrm>
              <a:off x="310896" y="1652707"/>
              <a:ext cx="11422095" cy="3200519"/>
            </p:xfrm>
            <a:graphic>
              <a:graphicData uri="http://schemas.openxmlformats.org/drawingml/2006/table">
                <a:tbl>
                  <a:tblPr/>
                  <a:tblGrid>
                    <a:gridCol w="1543541">
                      <a:extLst>
                        <a:ext uri="{9D8B030D-6E8A-4147-A177-3AD203B41FA5}">
                          <a16:colId xmlns:a16="http://schemas.microsoft.com/office/drawing/2014/main" val="1648134774"/>
                        </a:ext>
                      </a:extLst>
                    </a:gridCol>
                    <a:gridCol w="2221172">
                      <a:extLst>
                        <a:ext uri="{9D8B030D-6E8A-4147-A177-3AD203B41FA5}">
                          <a16:colId xmlns:a16="http://schemas.microsoft.com/office/drawing/2014/main" val="1803540345"/>
                        </a:ext>
                      </a:extLst>
                    </a:gridCol>
                    <a:gridCol w="2897759">
                      <a:extLst>
                        <a:ext uri="{9D8B030D-6E8A-4147-A177-3AD203B41FA5}">
                          <a16:colId xmlns:a16="http://schemas.microsoft.com/office/drawing/2014/main" val="2317459356"/>
                        </a:ext>
                      </a:extLst>
                    </a:gridCol>
                    <a:gridCol w="1965533">
                      <a:extLst>
                        <a:ext uri="{9D8B030D-6E8A-4147-A177-3AD203B41FA5}">
                          <a16:colId xmlns:a16="http://schemas.microsoft.com/office/drawing/2014/main" val="3472257170"/>
                        </a:ext>
                      </a:extLst>
                    </a:gridCol>
                    <a:gridCol w="2794090">
                      <a:extLst>
                        <a:ext uri="{9D8B030D-6E8A-4147-A177-3AD203B41FA5}">
                          <a16:colId xmlns:a16="http://schemas.microsoft.com/office/drawing/2014/main" val="50803802"/>
                        </a:ext>
                      </a:extLst>
                    </a:gridCol>
                  </a:tblGrid>
                  <a:tr h="338915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Тип прогноза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Оценка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Цель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Метрики оценки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Особенности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48971985"/>
                      </a:ext>
                    </a:extLst>
                  </a:tr>
                  <a:tr h="1158073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Интервальный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диапазон с заданным покрытием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0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𝑙𝑜𝑤</m:t>
                                  </m:r>
                                </m:sub>
                              </m:sSub>
                              <m:r>
                                <a:rPr lang="ru-RU" sz="1800" b="0" i="1" u="none" strike="noStrike" dirty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ru-RU" sz="1800" b="0" i="1" u="none" strike="noStrike" dirty="0" err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800" b="0" i="1" u="none" strike="noStrike" dirty="0" err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sz="1800" b="0" i="1" u="none" strike="noStrike" dirty="0" err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h𝑖𝑔h</m:t>
                                  </m:r>
                                </m:sub>
                              </m:sSub>
                              <m:r>
                                <a:rPr lang="en-US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oMath>
                          </a14:m>
                          <a:endParaRPr lang="ru-RU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Определить</a:t>
                          </a:r>
                          <a:r>
                            <a:rPr lang="ru-RU" sz="1800" b="0" i="0" u="none" strike="noStrike" baseline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ш</a:t>
                          </a:r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ирину и покрытие интервалов 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Coverage, Mean Width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Легко интерпретировать, но не покрывает выбросы</a:t>
                          </a:r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74609934"/>
                      </a:ext>
                    </a:extLst>
                  </a:tr>
                  <a:tr h="871046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Квантильный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Предсказать конкретный квантиль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sub>
                              </m:sSub>
                            </m:oMath>
                          </a14:m>
                          <a:endParaRPr lang="ru-RU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точность определения квантилей 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Pinball Loss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Анализ</a:t>
                          </a:r>
                          <a:r>
                            <a:rPr lang="ru-RU" sz="1800" b="0" i="0" u="none" strike="noStrike" baseline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хвостов, не покрывает интервалы</a:t>
                          </a:r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71865774"/>
                      </a:ext>
                    </a:extLst>
                  </a:tr>
                  <a:tr h="58402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Вероятностный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полное распределение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p>
                                  <m: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ru-RU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ru-RU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ru-RU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ru-RU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качество всего прогнозного распределения 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Log Score, CRPS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Сложная</a:t>
                          </a:r>
                          <a:r>
                            <a:rPr lang="ru-RU" sz="1800" b="0" i="0" u="none" strike="noStrike" baseline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реализация</a:t>
                          </a:r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170140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Таблица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6035911"/>
                  </p:ext>
                </p:extLst>
              </p:nvPr>
            </p:nvGraphicFramePr>
            <p:xfrm>
              <a:off x="310896" y="1652707"/>
              <a:ext cx="11422095" cy="3200519"/>
            </p:xfrm>
            <a:graphic>
              <a:graphicData uri="http://schemas.openxmlformats.org/drawingml/2006/table">
                <a:tbl>
                  <a:tblPr/>
                  <a:tblGrid>
                    <a:gridCol w="1543541">
                      <a:extLst>
                        <a:ext uri="{9D8B030D-6E8A-4147-A177-3AD203B41FA5}">
                          <a16:colId xmlns:a16="http://schemas.microsoft.com/office/drawing/2014/main" val="1648134774"/>
                        </a:ext>
                      </a:extLst>
                    </a:gridCol>
                    <a:gridCol w="2221172">
                      <a:extLst>
                        <a:ext uri="{9D8B030D-6E8A-4147-A177-3AD203B41FA5}">
                          <a16:colId xmlns:a16="http://schemas.microsoft.com/office/drawing/2014/main" val="1803540345"/>
                        </a:ext>
                      </a:extLst>
                    </a:gridCol>
                    <a:gridCol w="2897759">
                      <a:extLst>
                        <a:ext uri="{9D8B030D-6E8A-4147-A177-3AD203B41FA5}">
                          <a16:colId xmlns:a16="http://schemas.microsoft.com/office/drawing/2014/main" val="2317459356"/>
                        </a:ext>
                      </a:extLst>
                    </a:gridCol>
                    <a:gridCol w="1965533">
                      <a:extLst>
                        <a:ext uri="{9D8B030D-6E8A-4147-A177-3AD203B41FA5}">
                          <a16:colId xmlns:a16="http://schemas.microsoft.com/office/drawing/2014/main" val="3472257170"/>
                        </a:ext>
                      </a:extLst>
                    </a:gridCol>
                    <a:gridCol w="2794090">
                      <a:extLst>
                        <a:ext uri="{9D8B030D-6E8A-4147-A177-3AD203B41FA5}">
                          <a16:colId xmlns:a16="http://schemas.microsoft.com/office/drawing/2014/main" val="50803802"/>
                        </a:ext>
                      </a:extLst>
                    </a:gridCol>
                  </a:tblGrid>
                  <a:tr h="338915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Тип прогноза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Оценка</a:t>
                          </a:r>
                          <a:endParaRPr lang="ru-RU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Цель</a:t>
                          </a:r>
                          <a:endParaRPr lang="ru-RU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Метрики оценки</a:t>
                          </a:r>
                          <a:endParaRPr lang="ru-RU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Особенности</a:t>
                          </a:r>
                          <a:endParaRPr lang="ru-RU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48971985"/>
                      </a:ext>
                    </a:extLst>
                  </a:tr>
                  <a:tr h="1158073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Интервальный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9863" t="-33158" r="-344658" b="-15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Определить</a:t>
                          </a:r>
                          <a:r>
                            <a:rPr lang="ru-RU" sz="1800" b="0" i="0" u="none" strike="noStrike" baseline="0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ш</a:t>
                          </a:r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ирину </a:t>
                          </a:r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и покрытие интервалов 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Coverage, Mean Width</a:t>
                          </a:r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Легко интерпретировать, но не покрывает выбросы</a:t>
                          </a:r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74609934"/>
                      </a:ext>
                    </a:extLst>
                  </a:tr>
                  <a:tr h="871046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Квантильный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9863" t="-176923" r="-344658" b="-1069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точность определения квантилей 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Pinball Loss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Анализ</a:t>
                          </a:r>
                          <a:r>
                            <a:rPr lang="ru-RU" sz="1800" b="0" i="0" u="none" strike="noStrike" baseline="0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хвостов, не покрывает интервалы</a:t>
                          </a:r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71865774"/>
                      </a:ext>
                    </a:extLst>
                  </a:tr>
                  <a:tr h="832485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Вероятностный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9863" t="-289051" r="-344658" b="-116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качество всего прогнозного распределения 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Log Score, CRPS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Сложная</a:t>
                          </a:r>
                          <a:r>
                            <a:rPr lang="ru-RU" sz="1800" b="0" i="0" u="none" strike="noStrike" baseline="0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реализация</a:t>
                          </a:r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1701401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Прямоугольник 6"/>
          <p:cNvSpPr/>
          <p:nvPr/>
        </p:nvSpPr>
        <p:spPr>
          <a:xfrm>
            <a:off x="310896" y="5156021"/>
            <a:ext cx="10525171" cy="14311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ru-RU" dirty="0">
                <a:solidFill>
                  <a:srgbClr val="2C2C36"/>
                </a:solidFill>
              </a:rPr>
              <a:t>Распределения могут быть представлены как: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C2C36"/>
                </a:solidFill>
              </a:rPr>
              <a:t>Параметрические распределения (например, нормальное с </a:t>
            </a:r>
            <a:r>
              <a:rPr lang="ru-RU" i="1" dirty="0">
                <a:solidFill>
                  <a:srgbClr val="2C2C36"/>
                </a:solidFill>
              </a:rPr>
              <a:t>μ</a:t>
            </a:r>
            <a:r>
              <a:rPr lang="ru-RU" dirty="0">
                <a:solidFill>
                  <a:srgbClr val="2C2C36"/>
                </a:solidFill>
              </a:rPr>
              <a:t> и </a:t>
            </a:r>
            <a:r>
              <a:rPr lang="ru-RU" i="1" dirty="0">
                <a:solidFill>
                  <a:srgbClr val="2C2C36"/>
                </a:solidFill>
              </a:rPr>
              <a:t>σ</a:t>
            </a:r>
            <a:r>
              <a:rPr lang="ru-RU" dirty="0">
                <a:solidFill>
                  <a:srgbClr val="2C2C36"/>
                </a:solidFill>
              </a:rPr>
              <a:t> ),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C2C36"/>
                </a:solidFill>
              </a:rPr>
              <a:t>Непараметрические (например, выборки из </a:t>
            </a:r>
            <a:r>
              <a:rPr lang="ru-RU" dirty="0" err="1">
                <a:solidFill>
                  <a:srgbClr val="2C2C36"/>
                </a:solidFill>
              </a:rPr>
              <a:t>бутстрепа</a:t>
            </a:r>
            <a:r>
              <a:rPr lang="ru-RU" dirty="0">
                <a:solidFill>
                  <a:srgbClr val="2C2C36"/>
                </a:solidFill>
              </a:rPr>
              <a:t> или MCMC),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C2C36"/>
                </a:solidFill>
              </a:rPr>
              <a:t>Дискретные распределения (для категориальных данных).</a:t>
            </a:r>
            <a:endParaRPr lang="ru-RU" b="0" i="0" dirty="0">
              <a:solidFill>
                <a:srgbClr val="2C2C3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503315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8941" y="271812"/>
            <a:ext cx="10780059" cy="448236"/>
          </a:xfrm>
        </p:spPr>
        <p:txBody>
          <a:bodyPr>
            <a:normAutofit fontScale="90000"/>
          </a:bodyPr>
          <a:lstStyle/>
          <a:p>
            <a:r>
              <a:rPr lang="ru-RU" b="1" dirty="0" err="1"/>
              <a:t>Квантильная</a:t>
            </a:r>
            <a:r>
              <a:rPr lang="ru-RU" b="1" dirty="0"/>
              <a:t> оценка качества </a:t>
            </a:r>
            <a:r>
              <a:rPr lang="ru-RU" b="1" dirty="0" err="1"/>
              <a:t>пресдказания</a:t>
            </a:r>
            <a:r>
              <a:rPr lang="ru-RU" b="1" dirty="0"/>
              <a:t> ВР</a:t>
            </a:r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0" y="-170549"/>
            <a:ext cx="65" cy="3410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/pinball-loss-func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4434" y="988150"/>
            <a:ext cx="3949700" cy="1947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277935" y="6298982"/>
            <a:ext cx="679132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>
                <a:hlinkClick r:id="rId3"/>
              </a:rPr>
              <a:t>https://www.lokad.com/ru/вероятностное-прогнозирование-определение/</a:t>
            </a:r>
            <a:r>
              <a:rPr lang="ru-RU" sz="1200" dirty="0"/>
              <a:t> 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203130" y="6492803"/>
            <a:ext cx="374743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>
                <a:hlinkClick r:id="rId4"/>
              </a:rPr>
              <a:t>https://www.lokad.com/pinball-loss-function-definition/</a:t>
            </a:r>
            <a:r>
              <a:rPr lang="ru-RU" sz="1200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Объект 2">
                <a:extLst>
                  <a:ext uri="{FF2B5EF4-FFF2-40B4-BE49-F238E27FC236}">
                    <a16:creationId xmlns:a16="http://schemas.microsoft.com/office/drawing/2014/main" id="{343C449D-D68B-64B7-B076-716F7EB3286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0572" y="766817"/>
                <a:ext cx="7708818" cy="534694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ru-RU" sz="2200" b="0" i="1" dirty="0">
                    <a:latin typeface="Cambria Math" panose="02040503050406030204" pitchFamily="18" charset="0"/>
                  </a:rPr>
                  <a:t>Квантильный </a:t>
                </a:r>
                <a:r>
                  <a:rPr lang="ru-RU" sz="2200" b="0" i="1" dirty="0" err="1">
                    <a:latin typeface="Cambria Math" panose="02040503050406030204" pitchFamily="18" charset="0"/>
                  </a:rPr>
                  <a:t>лосс</a:t>
                </a:r>
                <a:endParaRPr lang="ru-RU" sz="22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  <m:r>
                        <a:rPr lang="ru-RU" sz="2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ru-RU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  <m:r>
                        <a:rPr lang="ru-RU" sz="22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ru-RU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,   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e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ru-RU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eqArr>
                        </m:e>
                      </m:d>
                    </m:oMath>
                  </m:oMathPara>
                </a14:m>
                <a:endParaRPr lang="en-US" sz="22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200" dirty="0"/>
                  <a:t>где τ – квантиль,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</m:oMath>
                </a14:m>
                <a:r>
                  <a:rPr lang="ru-RU" sz="2200" dirty="0"/>
                  <a:t> - прогноз нужного квантиля,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ru-RU" sz="2200" dirty="0"/>
                  <a:t> – истинное значение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200" dirty="0" err="1"/>
                  <a:t>Квантильный</a:t>
                </a:r>
                <a:r>
                  <a:rPr lang="ru-RU" sz="2200" dirty="0"/>
                  <a:t> прогноз смещенный: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200" dirty="0"/>
                  <a:t>τ=0.5 → медианный прогноз (устойчив к выбросам).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200" dirty="0"/>
                  <a:t>τ</a:t>
                </a:r>
                <a:r>
                  <a:rPr lang="en-US" sz="2200" dirty="0"/>
                  <a:t>&gt;</a:t>
                </a:r>
                <a:r>
                  <a:rPr lang="ru-RU" sz="2200" dirty="0"/>
                  <a:t>0.5</a:t>
                </a:r>
                <a:r>
                  <a:rPr lang="en-US" sz="2200" dirty="0"/>
                  <a:t>  - </a:t>
                </a:r>
                <a:r>
                  <a:rPr lang="ru-RU" sz="2200" dirty="0"/>
                  <a:t>завышенные предсказания штрафуются сильнее.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200" dirty="0"/>
                  <a:t>τ=0.9</a:t>
                </a:r>
                <a:r>
                  <a:rPr lang="en-US" sz="2200" dirty="0"/>
                  <a:t>5</a:t>
                </a:r>
                <a:r>
                  <a:rPr lang="ru-RU" sz="2200" dirty="0"/>
                  <a:t> → оценка 9</a:t>
                </a:r>
                <a:r>
                  <a:rPr lang="en-US" sz="2200" dirty="0"/>
                  <a:t>5</a:t>
                </a:r>
                <a:r>
                  <a:rPr lang="ru-RU" sz="2200" dirty="0"/>
                  <a:t>%-</a:t>
                </a:r>
                <a:r>
                  <a:rPr lang="ru-RU" sz="2200" dirty="0" err="1"/>
                  <a:t>го</a:t>
                </a:r>
                <a:r>
                  <a:rPr lang="ru-RU" sz="2200" dirty="0"/>
                  <a:t> квантиля </a:t>
                </a:r>
                <a:r>
                  <a:rPr lang="en-US" sz="2200" dirty="0"/>
                  <a:t>-</a:t>
                </a:r>
                <a:r>
                  <a:rPr lang="ru-RU" sz="2200" dirty="0"/>
                  <a:t>редкие</a:t>
                </a:r>
                <a:r>
                  <a:rPr lang="en-US" sz="2200" dirty="0"/>
                  <a:t> </a:t>
                </a:r>
                <a:r>
                  <a:rPr lang="ru-RU" sz="2200" dirty="0"/>
                  <a:t>выбросы штрафуются сильнее (хвосты, полезно в случае дорогих рисков)</a:t>
                </a:r>
              </a:p>
              <a:p>
                <a:pPr marL="0" indent="0">
                  <a:buNone/>
                </a:pPr>
                <a:r>
                  <a:rPr lang="ru-RU" sz="2400" b="1" dirty="0"/>
                  <a:t>Применение: контроль хвостов распределения</a:t>
                </a:r>
              </a:p>
              <a:p>
                <a:endParaRPr lang="ru-RU" i="1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11" name="Объект 2">
                <a:extLst>
                  <a:ext uri="{FF2B5EF4-FFF2-40B4-BE49-F238E27FC236}">
                    <a16:creationId xmlns:a16="http://schemas.microsoft.com/office/drawing/2014/main" id="{343C449D-D68B-64B7-B076-716F7EB32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572" y="766817"/>
                <a:ext cx="7708818" cy="5346944"/>
              </a:xfrm>
              <a:prstGeom prst="rect">
                <a:avLst/>
              </a:prstGeom>
              <a:blipFill>
                <a:blip r:embed="rId5"/>
                <a:stretch>
                  <a:fillRect l="-1186" t="-14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Прямоугольник 5"/>
          <p:cNvSpPr/>
          <p:nvPr/>
        </p:nvSpPr>
        <p:spPr>
          <a:xfrm>
            <a:off x="4292599" y="6517107"/>
            <a:ext cx="791527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hlinkClick r:id="rId6"/>
              </a:rPr>
              <a:t>https://towardsdatascience.com/an-introduction-to-quantile-loss-a-k-a-the-pinball-loss-33cccac378a9/</a:t>
            </a:r>
            <a:r>
              <a:rPr lang="ru-RU" sz="1400" dirty="0"/>
              <a:t> </a:t>
            </a:r>
          </a:p>
        </p:txBody>
      </p:sp>
      <p:pic>
        <p:nvPicPr>
          <p:cNvPr id="2053" name="Picture 5" descr="Image by author"/>
          <p:cNvPicPr>
            <a:picLocks noChangeAspect="1" noChangeArrowheads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3398" y="3081884"/>
            <a:ext cx="4085402" cy="2666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Прямоугольник 9"/>
              <p:cNvSpPr/>
              <p:nvPr/>
            </p:nvSpPr>
            <p:spPr>
              <a:xfrm>
                <a:off x="203130" y="4960154"/>
                <a:ext cx="6096000" cy="1477328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ru-RU" dirty="0"/>
                  <a:t>Пусть τ = 0.9 (оцениваем 90%-й квантиль).</a:t>
                </a:r>
              </a:p>
              <a:p>
                <a:r>
                  <a:rPr lang="ru-RU" dirty="0"/>
                  <a:t>Если истинное значение y = 100, а прогноз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</m:oMath>
                </a14:m>
                <a:r>
                  <a:rPr lang="ru-RU" dirty="0"/>
                  <a:t>= 95:</a:t>
                </a:r>
              </a:p>
              <a:p>
                <a:pPr lvl="1"/>
                <a:r>
                  <a:rPr lang="ru-RU" dirty="0"/>
                  <a:t>Ошибка: 100 – 95 = 5.</a:t>
                </a:r>
                <a:r>
                  <a:rPr lang="en-US" dirty="0"/>
                  <a:t> </a:t>
                </a:r>
                <a:r>
                  <a:rPr lang="ru-RU" dirty="0"/>
                  <a:t>Штраф: τ × 5 = 0.9 × 5 = 4.5.</a:t>
                </a:r>
              </a:p>
              <a:p>
                <a:r>
                  <a:rPr lang="ru-RU" dirty="0"/>
                  <a:t>Если y = 90,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</m:oMath>
                </a14:m>
                <a:r>
                  <a:rPr lang="ru-RU" dirty="0"/>
                  <a:t> = 95:</a:t>
                </a:r>
              </a:p>
              <a:p>
                <a:pPr lvl="1"/>
                <a:r>
                  <a:rPr lang="ru-RU" dirty="0"/>
                  <a:t>Ошибка: 95 – 90 = 5.</a:t>
                </a:r>
                <a:r>
                  <a:rPr lang="en-US" dirty="0"/>
                  <a:t> </a:t>
                </a:r>
                <a:r>
                  <a:rPr lang="ru-RU" dirty="0"/>
                  <a:t>Штраф: (1–τ) × 5 = 0.1 × 5 = 0.5.</a:t>
                </a:r>
              </a:p>
            </p:txBody>
          </p:sp>
        </mc:Choice>
        <mc:Fallback xmlns="">
          <p:sp>
            <p:nvSpPr>
              <p:cNvPr id="10" name="Прямоугольник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130" y="4960154"/>
                <a:ext cx="6096000" cy="1477328"/>
              </a:xfrm>
              <a:prstGeom prst="rect">
                <a:avLst/>
              </a:prstGeom>
              <a:blipFill>
                <a:blip r:embed="rId8"/>
                <a:stretch>
                  <a:fillRect l="-800" t="-2479" b="-57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Прямоугольник 11"/>
              <p:cNvSpPr/>
              <p:nvPr/>
            </p:nvSpPr>
            <p:spPr>
              <a:xfrm>
                <a:off x="6432279" y="5939892"/>
                <a:ext cx="5556521" cy="4412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  <m:d>
                      <m:d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func>
                          <m:func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,0</m:t>
                                </m:r>
                              </m:e>
                            </m:d>
                          </m:e>
                        </m:func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+(1−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func>
                          <m:func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600"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,0</m:t>
                                </m:r>
                              </m:e>
                            </m:d>
                          </m:e>
                        </m:func>
                      </m:e>
                    </m:nary>
                  </m:oMath>
                </a14:m>
                <a:r>
                  <a:rPr lang="en-US" sz="1600" dirty="0"/>
                  <a:t> </a:t>
                </a:r>
                <a:endParaRPr lang="ru-RU" sz="1600" dirty="0"/>
              </a:p>
            </p:txBody>
          </p:sp>
        </mc:Choice>
        <mc:Fallback xmlns="">
          <p:sp>
            <p:nvSpPr>
              <p:cNvPr id="12" name="Прямоугольник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2279" y="5939892"/>
                <a:ext cx="5556521" cy="441275"/>
              </a:xfrm>
              <a:prstGeom prst="rect">
                <a:avLst/>
              </a:prstGeom>
              <a:blipFill>
                <a:blip r:embed="rId9"/>
                <a:stretch>
                  <a:fillRect t="-71233" b="-1178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28238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16582" y="619868"/>
                <a:ext cx="9147060" cy="5958673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000" b="1" dirty="0"/>
                  <a:t>Идеальный интервал должен: 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b="1" dirty="0"/>
                  <a:t>Покрывать</a:t>
                </a:r>
                <a:r>
                  <a:rPr lang="ru-RU" sz="2000" dirty="0"/>
                  <a:t> истинные значения с нужной вероятностью</a:t>
                </a:r>
                <a:br>
                  <a:rPr lang="ru-RU" sz="2000" dirty="0"/>
                </a:br>
                <a:r>
                  <a:rPr lang="ru-RU" sz="2000" dirty="0"/>
                  <a:t> (</a:t>
                </a:r>
                <a:r>
                  <a:rPr lang="ru-RU" sz="2000" dirty="0" err="1"/>
                  <a:t>напр</a:t>
                </a:r>
                <a:r>
                  <a:rPr lang="ru-RU" sz="2000" dirty="0"/>
                  <a:t>, 95% точек внутри интервала).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/>
                  <a:t>Быть </a:t>
                </a:r>
                <a:r>
                  <a:rPr lang="ru-RU" sz="2000" b="1" dirty="0"/>
                  <a:t>узким</a:t>
                </a:r>
                <a:r>
                  <a:rPr lang="ru-RU" sz="2000" dirty="0"/>
                  <a:t> (меньшая неопределенность лучше).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b="1" dirty="0"/>
                  <a:t>Симметрично</a:t>
                </a:r>
                <a:r>
                  <a:rPr lang="ru-RU" sz="2000" dirty="0"/>
                  <a:t> реагировать на ошибки вверх/вниз</a:t>
                </a:r>
              </a:p>
              <a:p>
                <a:pPr marL="0" indent="0">
                  <a:buNone/>
                </a:pPr>
                <a:r>
                  <a:rPr lang="ru-RU" sz="2000" b="1" dirty="0" err="1"/>
                  <a:t>Coverage</a:t>
                </a:r>
                <a:r>
                  <a:rPr lang="ru-RU" sz="2000" dirty="0"/>
                  <a:t> (Покрытие)</a:t>
                </a:r>
                <a:endParaRPr lang="ru-RU" sz="2000" b="1" dirty="0"/>
              </a:p>
              <a:p>
                <a:r>
                  <a:rPr lang="ru-RU" sz="2000" dirty="0"/>
                  <a:t>Доля случаев, когда фактическое значение попало в доверительный интервал.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𝐶𝑜𝑣𝑒𝑟𝑎𝑔𝑒</m:t>
                    </m:r>
                    <m:r>
                      <a:rPr lang="ru-RU" sz="20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2000" i="1" dirty="0">
                            <a:latin typeface="Cambria Math" panose="02040503050406030204" pitchFamily="18" charset="0"/>
                          </a:rPr>
                          <m:t>Число попаданий</m:t>
                        </m:r>
                      </m:num>
                      <m:den>
                        <m:r>
                          <a:rPr lang="ru-RU" sz="2000" i="1" dirty="0">
                            <a:latin typeface="Cambria Math" panose="02040503050406030204" pitchFamily="18" charset="0"/>
                          </a:rPr>
                          <m:t>Общее число прогнозов</m:t>
                        </m:r>
                      </m:den>
                    </m:f>
                  </m:oMath>
                </a14:m>
                <a:r>
                  <a:rPr lang="ru-RU" sz="2000" dirty="0"/>
                  <a:t>​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000" b="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  <m:r>
                      <a:rPr lang="en-US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US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000" b="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ru-RU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𝑙𝑜𝑤</m:t>
                                </m:r>
                              </m:sub>
                            </m:sSub>
                            <m:r>
                              <a:rPr lang="ru-RU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ru-RU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000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b="1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000" b="0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h𝑖𝑔h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ru-RU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0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 </a:t>
                </a:r>
              </a:p>
              <a:p>
                <a:r>
                  <a:rPr lang="ru-RU" sz="2000" dirty="0"/>
                  <a:t>Где </a:t>
                </a:r>
                <a14:m>
                  <m:oMath xmlns:m="http://schemas.openxmlformats.org/officeDocument/2006/math"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(⋅)</m:t>
                    </m:r>
                  </m:oMath>
                </a14:m>
                <a:r>
                  <a:rPr lang="ru-RU" sz="2000" dirty="0"/>
                  <a:t> — индикаторная функция (1, если условие выполняется, иначе 0)</a:t>
                </a:r>
                <a:endParaRPr lang="en-US" sz="20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e>
                      <m:sub>
                        <m:r>
                          <a:rPr lang="ru-RU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𝑙𝑜𝑤</m:t>
                        </m:r>
                      </m:sub>
                    </m:sSub>
                    <m:r>
                      <a:rPr lang="ru-RU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e>
                      <m:sub>
                        <m:r>
                          <a:rPr lang="en-US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h𝑖𝑔h</m:t>
                        </m:r>
                      </m:sub>
                    </m:sSub>
                  </m:oMath>
                </a14:m>
                <a:r>
                  <a:rPr lang="en-US" sz="2000" dirty="0"/>
                  <a:t> - </a:t>
                </a:r>
                <a:r>
                  <a:rPr lang="ru-RU" sz="2000" dirty="0"/>
                  <a:t>оценки интервала,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1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ru-RU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𝑙𝑜𝑤</m:t>
                            </m:r>
                          </m:sub>
                        </m:sSub>
                        <m:r>
                          <a:rPr lang="ru-RU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1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h𝑖𝑔h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2000" dirty="0"/>
                  <a:t> - число попаданий в оценки интервала</a:t>
                </a:r>
              </a:p>
              <a:p>
                <a:pPr lvl="1"/>
                <a:r>
                  <a:rPr lang="ru-RU" sz="2000" dirty="0"/>
                  <a:t>Например, для 95%-</a:t>
                </a:r>
                <a:r>
                  <a:rPr lang="ru-RU" sz="2000" dirty="0" err="1"/>
                  <a:t>го</a:t>
                </a:r>
                <a:r>
                  <a:rPr lang="ru-RU" sz="2000" dirty="0"/>
                  <a:t> интервала ожидается покрытие около 95%.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ru-RU" sz="2000" b="1" dirty="0" err="1"/>
                  <a:t>Mean</a:t>
                </a:r>
                <a:r>
                  <a:rPr lang="ru-RU" sz="2000" b="1" dirty="0"/>
                  <a:t> </a:t>
                </a:r>
                <a:r>
                  <a:rPr lang="ru-RU" sz="2000" b="1" dirty="0" err="1"/>
                  <a:t>Width</a:t>
                </a:r>
                <a:r>
                  <a:rPr lang="ru-RU" sz="2000" b="1" dirty="0"/>
                  <a:t> </a:t>
                </a:r>
                <a:r>
                  <a:rPr lang="ru-RU" sz="2000" dirty="0"/>
                  <a:t>(Средняя ширина интервала)</a:t>
                </a:r>
                <a:endParaRPr lang="ru-RU" sz="2000" b="1" dirty="0"/>
              </a:p>
              <a:p>
                <a:r>
                  <a:rPr lang="ru-RU" sz="2000" dirty="0"/>
                  <a:t>Мера неопределённости: чем уже интервал, тем точнее модель при той же уверенности.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/>
                      <m:t>Width</m:t>
                    </m:r>
                    <m:r>
                      <a:rPr lang="ru-RU" sz="20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00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m:rPr>
                            <m:sty m:val="p"/>
                          </m:rPr>
                          <a:rPr lang="en-US" sz="2000" b="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den>
                    </m:f>
                    <m:r>
                      <a:rPr lang="en-US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∑</m:t>
                    </m:r>
                    <m:d>
                      <m:dPr>
                        <m:ctrlPr>
                          <a:rPr lang="en-US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1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h𝑖𝑔h</m:t>
                            </m:r>
                          </m:sub>
                        </m:sSub>
                        <m:r>
                          <a:rPr lang="en-US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u-RU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1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ru-RU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𝑙𝑜𝑤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sz="2000" b="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ru-RU" sz="2000" b="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нормированная ширина интервала</m:t>
                    </m:r>
                  </m:oMath>
                </a14:m>
                <a:endParaRPr lang="ru-RU" sz="2000" dirty="0"/>
              </a:p>
              <a:p>
                <a:pPr marL="0" indent="0">
                  <a:buNone/>
                </a:pPr>
                <a:endParaRPr lang="ru-RU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6582" y="619868"/>
                <a:ext cx="9147060" cy="5958673"/>
              </a:xfrm>
              <a:blipFill>
                <a:blip r:embed="rId3"/>
                <a:stretch>
                  <a:fillRect l="-666" t="-614" b="-21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40</a:t>
            </a:fld>
            <a:endParaRPr lang="en-US"/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233633" y="181378"/>
            <a:ext cx="11551584" cy="5949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b="1" dirty="0"/>
              <a:t>Оценка интервала </a:t>
            </a:r>
            <a:r>
              <a:rPr lang="ru-RU" b="1" dirty="0" err="1"/>
              <a:t>пресдказания</a:t>
            </a:r>
            <a:r>
              <a:rPr lang="ru-RU" b="1" dirty="0"/>
              <a:t> ВР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5138057" y="6547118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100" dirty="0"/>
              <a:t>https://nixtlaverse.nixtla.io/mlforecast/docs/tutorials/prediction_intervals_in_forecasting_models.html</a:t>
            </a:r>
          </a:p>
        </p:txBody>
      </p:sp>
      <p:pic>
        <p:nvPicPr>
          <p:cNvPr id="12290" name="Picture 2" descr="r - Confidence Intervals for Mean Difference between Actuals and Forecast -  Cross Validate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4804" y="776748"/>
            <a:ext cx="3060614" cy="2186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9312173" y="5567085"/>
            <a:ext cx="27147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https://stats.stackexchange.com/questions/323071/confidence-intervals-for-mean-difference-between-actuals-and-forecast</a:t>
            </a:r>
          </a:p>
        </p:txBody>
      </p:sp>
      <p:pic>
        <p:nvPicPr>
          <p:cNvPr id="12292" name="Picture 4" descr="enter image description her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0041" y="3049941"/>
            <a:ext cx="2890140" cy="2339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57414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52789" y="762801"/>
                <a:ext cx="7047650" cy="5958673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000" i="1" dirty="0"/>
                  <a:t>Оценка покрытия всего распределения:</a:t>
                </a:r>
              </a:p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𝐶𝑅𝐼𝑆𝑃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d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ru-RU" sz="2000" dirty="0"/>
                  <a:t> </a:t>
                </a:r>
              </a:p>
              <a:p>
                <a:pPr marL="457200" lvl="1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000" dirty="0"/>
                  <a:t>где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</m:oMath>
                </a14:m>
                <a:r>
                  <a:rPr lang="ru-RU" sz="2000" dirty="0"/>
                  <a:t>—</a:t>
                </a:r>
                <a:r>
                  <a:rPr lang="en-US" sz="2000" dirty="0"/>
                  <a:t> </a:t>
                </a:r>
                <a:r>
                  <a:rPr lang="ru-RU" sz="2000" dirty="0"/>
                  <a:t>оценка кумулятивного распределение для х,</a:t>
                </a:r>
              </a:p>
              <a:p>
                <a:pPr marL="457200" lvl="1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(х</m:t>
                    </m:r>
                    <m:r>
                      <a:rPr lang="ru-RU" sz="200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i="1" dirty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,0)/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ru-RU" sz="2000" dirty="0"/>
                  <a:t> (ступенька) )— это функция </a:t>
                </a:r>
                <a:r>
                  <a:rPr lang="ru-RU" sz="2000" dirty="0" err="1"/>
                  <a:t>Хевисайда</a:t>
                </a:r>
                <a:r>
                  <a:rPr lang="en-US" sz="2000" dirty="0"/>
                  <a:t> </a:t>
                </a:r>
                <a:endParaRPr lang="ru-RU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>
                    <a:latin typeface="Roboto" panose="02000000000000000000" pitchFamily="2" charset="0"/>
                  </a:rPr>
                  <a:t>Функция сравнивает распределение с единичной ступенью</a:t>
                </a:r>
                <a:endParaRPr lang="ru-RU" sz="2000" i="1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i="1" dirty="0"/>
                  <a:t>Чем больше площадь между кривыми – тем хуже прогноз.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000" b="1" dirty="0"/>
                  <a:t>Плюсы</a:t>
                </a:r>
                <a:r>
                  <a:rPr lang="ru-RU" sz="2000" dirty="0"/>
                  <a:t>:</a:t>
                </a:r>
                <a:endParaRPr lang="en-US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/>
                  <a:t>Учитывает все распределение прогноза.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/>
                  <a:t>Интерпретируемость результатов.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000" b="1" dirty="0"/>
                  <a:t>Минусы</a:t>
                </a:r>
                <a:r>
                  <a:rPr lang="ru-RU" sz="2000" dirty="0"/>
                  <a:t>: 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/>
                  <a:t>сложность вычисления, 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/>
                  <a:t>требуется набор моделей (аппроксимация распределения)</a:t>
                </a: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/>
                  <a:t>или гипотеза о распределение остатков.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/>
                  <a:t>значимость отдельных квантилей теряется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000" b="1" dirty="0"/>
                  <a:t>Применение</a:t>
                </a:r>
                <a:r>
                  <a:rPr lang="ru-RU" sz="2000" dirty="0"/>
                  <a:t>: 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000" dirty="0"/>
                  <a:t>сравнение двух вероятностных моделей или гипотез об остатках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789" y="762801"/>
                <a:ext cx="7047650" cy="5958673"/>
              </a:xfrm>
              <a:blipFill>
                <a:blip r:embed="rId3"/>
                <a:stretch>
                  <a:fillRect l="-865" t="-4908" r="-77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41</a:t>
            </a:fld>
            <a:endParaRPr lang="en-US"/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233633" y="181378"/>
            <a:ext cx="11551584" cy="5949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b="1" dirty="0"/>
              <a:t>Оценка распределения </a:t>
            </a:r>
            <a:r>
              <a:rPr lang="ru-RU" b="1" dirty="0" err="1"/>
              <a:t>пресдказания</a:t>
            </a:r>
            <a:r>
              <a:rPr lang="ru-RU" b="1" dirty="0"/>
              <a:t> ВР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4"/>
          <a:srcRect t="4284" r="10817" b="13293"/>
          <a:stretch/>
        </p:blipFill>
        <p:spPr>
          <a:xfrm>
            <a:off x="7228839" y="797688"/>
            <a:ext cx="4124961" cy="2514369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7536155" y="3472863"/>
            <a:ext cx="440469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Roboto" panose="02000000000000000000" pitchFamily="2" charset="0"/>
              </a:rPr>
              <a:t>Функция сравнивает распределение с единичной ступенью - </a:t>
            </a:r>
            <a:r>
              <a:rPr lang="ru-RU" dirty="0"/>
              <a:t>Обобщение </a:t>
            </a:r>
            <a:r>
              <a:rPr lang="en-US" dirty="0"/>
              <a:t>MAE </a:t>
            </a:r>
            <a:r>
              <a:rPr lang="ru-RU" dirty="0"/>
              <a:t>на распределения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Прямоугольник 11"/>
              <p:cNvSpPr/>
              <p:nvPr/>
            </p:nvSpPr>
            <p:spPr>
              <a:xfrm>
                <a:off x="7200438" y="4247878"/>
                <a:ext cx="4618501" cy="4840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𝐶𝑅𝐼𝑆𝑃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sub>
                        </m:sSub>
                        <m:r>
                          <a:rPr lang="ru-RU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sub>
                        </m:sSub>
                        <m:r>
                          <a:rPr lang="ru-RU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dirty="0"/>
                  <a:t>, </a:t>
                </a:r>
                <a:endParaRPr lang="ru-RU" dirty="0"/>
              </a:p>
            </p:txBody>
          </p:sp>
        </mc:Choice>
        <mc:Fallback xmlns="">
          <p:sp>
            <p:nvSpPr>
              <p:cNvPr id="12" name="Прямоугольник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438" y="4247878"/>
                <a:ext cx="4618501" cy="484043"/>
              </a:xfrm>
              <a:prstGeom prst="rect">
                <a:avLst/>
              </a:prstGeom>
              <a:blipFill>
                <a:blip r:embed="rId5"/>
                <a:stretch>
                  <a:fillRect t="-79747" b="-13164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Прямоугольник 14"/>
              <p:cNvSpPr/>
              <p:nvPr/>
            </p:nvSpPr>
            <p:spPr>
              <a:xfrm>
                <a:off x="7740859" y="4662697"/>
                <a:ext cx="427928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1400" dirty="0">
                    <a:solidFill>
                      <a:srgbClr val="404040"/>
                    </a:solidFill>
                    <a:latin typeface="quote-cjk-patch"/>
                  </a:rPr>
                  <a:t>CRPS —"усредненный" </a:t>
                </a:r>
                <a:r>
                  <a:rPr lang="ru-RU" sz="1400" dirty="0" err="1">
                    <a:solidFill>
                      <a:srgbClr val="404040"/>
                    </a:solidFill>
                    <a:latin typeface="quote-cjk-patch"/>
                  </a:rPr>
                  <a:t>Pinball</a:t>
                </a:r>
                <a:r>
                  <a:rPr lang="ru-RU" sz="1400" dirty="0">
                    <a:solidFill>
                      <a:srgbClr val="404040"/>
                    </a:solidFill>
                    <a:latin typeface="quote-cjk-patch"/>
                  </a:rPr>
                  <a:t> </a:t>
                </a:r>
                <a:r>
                  <a:rPr lang="ru-RU" sz="1400" dirty="0" err="1">
                    <a:solidFill>
                      <a:srgbClr val="404040"/>
                    </a:solidFill>
                    <a:latin typeface="quote-cjk-patch"/>
                  </a:rPr>
                  <a:t>Loss</a:t>
                </a:r>
                <a:r>
                  <a:rPr lang="ru-RU" sz="1400" dirty="0">
                    <a:solidFill>
                      <a:srgbClr val="404040"/>
                    </a:solidFill>
                    <a:latin typeface="quote-cjk-patch"/>
                  </a:rPr>
                  <a:t> по всем квантилям</a:t>
                </a:r>
                <a:r>
                  <a:rPr lang="en-US" sz="1400" dirty="0">
                    <a:solidFill>
                      <a:srgbClr val="404040"/>
                    </a:solidFill>
                    <a:latin typeface="quote-cjk-patch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d>
                          <m:d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den>
                    </m:f>
                  </m:oMath>
                </a14:m>
                <a:endParaRPr lang="ru-RU" sz="1400" dirty="0"/>
              </a:p>
            </p:txBody>
          </p:sp>
        </mc:Choice>
        <mc:Fallback xmlns="">
          <p:sp>
            <p:nvSpPr>
              <p:cNvPr id="15" name="Прямоугольник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0859" y="4662697"/>
                <a:ext cx="4279285" cy="523220"/>
              </a:xfrm>
              <a:prstGeom prst="rect">
                <a:avLst/>
              </a:prstGeom>
              <a:blipFill>
                <a:blip r:embed="rId6"/>
                <a:stretch>
                  <a:fillRect l="-427" t="-13953" b="-9069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Прямоугольник 15"/>
          <p:cNvSpPr/>
          <p:nvPr/>
        </p:nvSpPr>
        <p:spPr>
          <a:xfrm>
            <a:off x="6021554" y="6517156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/>
              <a:t>https://sites.stat.washington.edu/raftery/Research/PDF/Gneiting2007jasa.pdf</a:t>
            </a:r>
          </a:p>
        </p:txBody>
      </p:sp>
      <p:cxnSp>
        <p:nvCxnSpPr>
          <p:cNvPr id="18" name="Прямая соединительная линия 17"/>
          <p:cNvCxnSpPr/>
          <p:nvPr/>
        </p:nvCxnSpPr>
        <p:spPr>
          <a:xfrm>
            <a:off x="7239008" y="3464253"/>
            <a:ext cx="0" cy="29201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Прямоугольник 18"/>
              <p:cNvSpPr/>
              <p:nvPr/>
            </p:nvSpPr>
            <p:spPr>
              <a:xfrm>
                <a:off x="7661565" y="5279000"/>
                <a:ext cx="4279285" cy="6189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1400" dirty="0">
                    <a:solidFill>
                      <a:srgbClr val="404040"/>
                    </a:solidFill>
                    <a:latin typeface="quote-cjk-patch"/>
                  </a:rPr>
                  <a:t>Альтернатива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𝐿𝑜𝑔𝑆𝑐𝑜𝑟𝑒</m:t>
                    </m:r>
                    <m:r>
                      <a:rPr lang="en-US" sz="1400" i="1" dirty="0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1400" b="0" i="1" dirty="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1" dirty="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400" b="0" i="1" dirty="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sz="1400" b="0" i="1" dirty="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400" b="0" i="1" dirty="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m:rPr>
                            <m:sty m:val="p"/>
                          </m:rPr>
                          <a:rPr lang="en-US" sz="1400" b="0" i="1" dirty="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sSup>
                          <m:sSupPr>
                            <m:ctrlP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d>
                          <m:d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acc>
                          </m:e>
                        </m:d>
                      </m:e>
                    </m:nary>
                  </m:oMath>
                </a14:m>
                <a:endParaRPr lang="en-US" sz="1400" b="0" dirty="0">
                  <a:solidFill>
                    <a:srgbClr val="404040"/>
                  </a:solidFill>
                  <a:latin typeface="quote-cjk-patch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</m:e>
                    </m:d>
                  </m:oMath>
                </a14:m>
                <a:r>
                  <a:rPr lang="en-US" sz="1400" dirty="0"/>
                  <a:t>-</a:t>
                </a:r>
                <a:r>
                  <a:rPr lang="ru-RU" sz="1400" dirty="0"/>
                  <a:t>плотность распределения</a:t>
                </a:r>
                <a:r>
                  <a:rPr lang="en-US" sz="1400" dirty="0"/>
                  <a:t> </a:t>
                </a:r>
                <a:r>
                  <a:rPr lang="ru-RU" sz="1400" dirty="0"/>
                  <a:t>оценки на шаге </a:t>
                </a:r>
                <a:r>
                  <a:rPr lang="en-US" sz="1400" dirty="0" err="1"/>
                  <a:t>i</a:t>
                </a:r>
                <a:endParaRPr lang="ru-RU" sz="1400" dirty="0"/>
              </a:p>
            </p:txBody>
          </p:sp>
        </mc:Choice>
        <mc:Fallback xmlns="">
          <p:sp>
            <p:nvSpPr>
              <p:cNvPr id="19" name="Прямоугольник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1565" y="5279000"/>
                <a:ext cx="4279285" cy="618952"/>
              </a:xfrm>
              <a:prstGeom prst="rect">
                <a:avLst/>
              </a:prstGeom>
              <a:blipFill>
                <a:blip r:embed="rId7"/>
                <a:stretch>
                  <a:fillRect l="-427" t="-43137" b="-362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Прямая соединительная линия 20"/>
          <p:cNvCxnSpPr/>
          <p:nvPr/>
        </p:nvCxnSpPr>
        <p:spPr>
          <a:xfrm flipV="1">
            <a:off x="7665578" y="5227032"/>
            <a:ext cx="3688222" cy="213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Прямоугольник 21"/>
              <p:cNvSpPr/>
              <p:nvPr/>
            </p:nvSpPr>
            <p:spPr>
              <a:xfrm>
                <a:off x="7220825" y="5935062"/>
                <a:ext cx="5035353" cy="5234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ru-RU" dirty="0"/>
                  <a:t>Можно ввести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𝑆𝐹𝐶𝑅𝐼𝑆𝑃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𝐶𝑅𝐼𝑆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𝑛𝑎𝑖𝑣𝑒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𝐶𝑅𝐼𝑆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𝑚𝑜𝑑𝑒𝑙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𝐶𝑅𝐼𝑆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𝑛𝑎𝑖𝑣𝑒</m:t>
                            </m:r>
                          </m:sub>
                        </m:sSub>
                      </m:den>
                    </m:f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</a:t>
                </a:r>
                <a:endParaRPr lang="ru-RU" dirty="0"/>
              </a:p>
            </p:txBody>
          </p:sp>
        </mc:Choice>
        <mc:Fallback xmlns="">
          <p:sp>
            <p:nvSpPr>
              <p:cNvPr id="22" name="Прямоугольник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0825" y="5935062"/>
                <a:ext cx="5035353" cy="523477"/>
              </a:xfrm>
              <a:prstGeom prst="rect">
                <a:avLst/>
              </a:prstGeom>
              <a:blipFill>
                <a:blip r:embed="rId8"/>
                <a:stretch>
                  <a:fillRect l="-1090" b="-117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Прямая соединительная линия 22"/>
          <p:cNvCxnSpPr/>
          <p:nvPr/>
        </p:nvCxnSpPr>
        <p:spPr>
          <a:xfrm flipV="1">
            <a:off x="7610780" y="5905834"/>
            <a:ext cx="3688222" cy="213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43112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5CF265-69E0-6399-718A-1D16E8BCA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585B36-63FB-AB66-D543-F65C6C5EF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79CF1A6-BD6F-867B-185F-2E2BC4BD7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42</a:t>
            </a:fld>
            <a:endParaRPr lang="en-US"/>
          </a:p>
        </p:txBody>
      </p:sp>
      <p:pic>
        <p:nvPicPr>
          <p:cNvPr id="7170" name="Picture 2" descr="Different forms of dependence and their Pearson's r values">
            <a:extLst>
              <a:ext uri="{FF2B5EF4-FFF2-40B4-BE49-F238E27FC236}">
                <a16:creationId xmlns:a16="http://schemas.microsoft.com/office/drawing/2014/main" id="{9C640715-FCEC-9E02-C24B-446D96F52E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4590" y="2274671"/>
            <a:ext cx="7568756" cy="3453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1D615A-AB23-F639-C63B-32D2BB310067}"/>
              </a:ext>
            </a:extLst>
          </p:cNvPr>
          <p:cNvSpPr txBox="1"/>
          <p:nvPr/>
        </p:nvSpPr>
        <p:spPr>
          <a:xfrm>
            <a:off x="5562600" y="625667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smac-group.github.io</a:t>
            </a:r>
            <a:r>
              <a:rPr lang="ru-RU" dirty="0"/>
              <a:t>/</a:t>
            </a:r>
            <a:r>
              <a:rPr lang="ru-RU" dirty="0" err="1"/>
              <a:t>ts</a:t>
            </a:r>
            <a:r>
              <a:rPr lang="ru-RU" dirty="0"/>
              <a:t>/</a:t>
            </a:r>
            <a:r>
              <a:rPr lang="ru-RU" dirty="0" err="1"/>
              <a:t>fundtimeseries.html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E620BB-993D-69EB-37A9-4653940405A5}"/>
              </a:ext>
            </a:extLst>
          </p:cNvPr>
          <p:cNvSpPr txBox="1"/>
          <p:nvPr/>
        </p:nvSpPr>
        <p:spPr>
          <a:xfrm>
            <a:off x="5517572" y="5767773"/>
            <a:ext cx="63557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</a:t>
            </a:r>
            <a:r>
              <a:rPr lang="en-US" dirty="0" err="1"/>
              <a:t>ри</a:t>
            </a:r>
            <a:r>
              <a:rPr lang="ru-RU" dirty="0"/>
              <a:t>меры различных зависимостей с одинаковой корреляцией</a:t>
            </a:r>
          </a:p>
        </p:txBody>
      </p:sp>
    </p:spTree>
    <p:extLst>
      <p:ext uri="{BB962C8B-B14F-4D97-AF65-F5344CB8AC3E}">
        <p14:creationId xmlns:p14="http://schemas.microsoft.com/office/powerpoint/2010/main" val="165275528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Тема Office 2013–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8757</TotalTime>
  <Words>6129</Words>
  <Application>Microsoft Macintosh PowerPoint</Application>
  <PresentationFormat>Широкоэкранный</PresentationFormat>
  <Paragraphs>677</Paragraphs>
  <Slides>42</Slides>
  <Notes>18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13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42</vt:i4>
      </vt:variant>
    </vt:vector>
  </HeadingPairs>
  <TitlesOfParts>
    <vt:vector size="56" baseType="lpstr">
      <vt:lpstr>__YSText_10659f</vt:lpstr>
      <vt:lpstr>Arial</vt:lpstr>
      <vt:lpstr>Calibri</vt:lpstr>
      <vt:lpstr>Calibri Light</vt:lpstr>
      <vt:lpstr>Cambria Math</vt:lpstr>
      <vt:lpstr>KaTeX_Main</vt:lpstr>
      <vt:lpstr>Merriweather</vt:lpstr>
      <vt:lpstr>MJXc-TeX-main-R</vt:lpstr>
      <vt:lpstr>MJXc-TeX-math-I</vt:lpstr>
      <vt:lpstr>quote-cjk-patch</vt:lpstr>
      <vt:lpstr>Roboto</vt:lpstr>
      <vt:lpstr>Segoe UI</vt:lpstr>
      <vt:lpstr>system-ui</vt:lpstr>
      <vt:lpstr>Тема Office 2013–2022</vt:lpstr>
      <vt:lpstr>Статистический подход к анализу  временных рядов.</vt:lpstr>
      <vt:lpstr>Модели временных рядов</vt:lpstr>
      <vt:lpstr>Особенности модели временных рядов</vt:lpstr>
      <vt:lpstr>Белый Гауссов шум</vt:lpstr>
      <vt:lpstr>Статистические сво йства ВР</vt:lpstr>
      <vt:lpstr>Автокорреляция ВР</vt:lpstr>
      <vt:lpstr>Замечания </vt:lpstr>
      <vt:lpstr>Пример дорожно-транспортных происшествий за 14 лет с дискретностью 1 месяц,</vt:lpstr>
      <vt:lpstr>Корреляция</vt:lpstr>
      <vt:lpstr>Замечания </vt:lpstr>
      <vt:lpstr>Частичная автокорреляция</vt:lpstr>
      <vt:lpstr>Частичная автокорреляция</vt:lpstr>
      <vt:lpstr>Анализ стационарности</vt:lpstr>
      <vt:lpstr>Стационарность ВР</vt:lpstr>
      <vt:lpstr>Анализ нестационарности</vt:lpstr>
      <vt:lpstr>Стационарность ВР. Замечания</vt:lpstr>
      <vt:lpstr>Анализ стационарности</vt:lpstr>
      <vt:lpstr>Белый Гауссов шум</vt:lpstr>
      <vt:lpstr>Преобразования нестационарных  временных рядов</vt:lpstr>
      <vt:lpstr>Преобразования нестационарных  временных рядов</vt:lpstr>
      <vt:lpstr>Преобразования нестационарных ВР</vt:lpstr>
      <vt:lpstr>Гетероскедастичность</vt:lpstr>
      <vt:lpstr>Частичная автокорреляция (PACF)</vt:lpstr>
      <vt:lpstr>Остатки и метрики модели</vt:lpstr>
      <vt:lpstr>Типы метрик во временных рядах</vt:lpstr>
      <vt:lpstr>Точечные абсолютные ошибки</vt:lpstr>
      <vt:lpstr>Точечные относительные ошибки</vt:lpstr>
      <vt:lpstr>Альтернативные точечные ошибки</vt:lpstr>
      <vt:lpstr>Таблица некоторых точечных метрик</vt:lpstr>
      <vt:lpstr>Экзотические метрики</vt:lpstr>
      <vt:lpstr>Оценка качества пресдказания ВР</vt:lpstr>
      <vt:lpstr>Необходимость вероятностных оценок</vt:lpstr>
      <vt:lpstr>Необходимость вероятностных оценок</vt:lpstr>
      <vt:lpstr>Необходимость вероятностных оценок</vt:lpstr>
      <vt:lpstr>Наивная оценка СКО</vt:lpstr>
      <vt:lpstr>Наивная оценка СКО</vt:lpstr>
      <vt:lpstr>Необходимость вероятностных оценок</vt:lpstr>
      <vt:lpstr>Необходимость вероятностных оценок</vt:lpstr>
      <vt:lpstr>Квантильная оценка качества пресдказания ВР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Time Series Analysis</dc:title>
  <dc:creator>Ронкин Михаил Владимирович</dc:creator>
  <cp:lastModifiedBy>Ронкин Михаил Владимирович</cp:lastModifiedBy>
  <cp:revision>264</cp:revision>
  <dcterms:created xsi:type="dcterms:W3CDTF">2021-10-31T10:57:36Z</dcterms:created>
  <dcterms:modified xsi:type="dcterms:W3CDTF">2025-07-13T14:50:55Z</dcterms:modified>
</cp:coreProperties>
</file>