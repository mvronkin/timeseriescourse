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38" r:id="rId2"/>
    <p:sldId id="387" r:id="rId3"/>
    <p:sldId id="382" r:id="rId4"/>
    <p:sldId id="390" r:id="rId5"/>
    <p:sldId id="393" r:id="rId6"/>
    <p:sldId id="388" r:id="rId7"/>
    <p:sldId id="391" r:id="rId8"/>
    <p:sldId id="392" r:id="rId9"/>
    <p:sldId id="395" r:id="rId10"/>
    <p:sldId id="401" r:id="rId11"/>
    <p:sldId id="447" r:id="rId12"/>
    <p:sldId id="450" r:id="rId13"/>
    <p:sldId id="402" r:id="rId14"/>
    <p:sldId id="451" r:id="rId15"/>
    <p:sldId id="348" r:id="rId16"/>
    <p:sldId id="394" r:id="rId17"/>
    <p:sldId id="351" r:id="rId18"/>
    <p:sldId id="396" r:id="rId19"/>
    <p:sldId id="350" r:id="rId20"/>
    <p:sldId id="352" r:id="rId21"/>
    <p:sldId id="353" r:id="rId22"/>
    <p:sldId id="409" r:id="rId23"/>
    <p:sldId id="397" r:id="rId24"/>
    <p:sldId id="39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3973" autoAdjust="0"/>
  </p:normalViewPr>
  <p:slideViewPr>
    <p:cSldViewPr snapToGrid="0">
      <p:cViewPr varScale="1">
        <p:scale>
          <a:sx n="121" d="100"/>
          <a:sy n="121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6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4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0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7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87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18BA-D680-7B96-02F9-861C902A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6B88F9-A535-B316-A9F8-13B986774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998119-CE33-144F-7234-9811AEC1C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57A107-06D5-30F3-A29E-2711A90B0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990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56D06-6B42-419D-A61C-F7AD450318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82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3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377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15.07.2025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15.07.2025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15.07.2025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/>
              <a:t>Статистический подход к анализу </a:t>
            </a:r>
            <a:br>
              <a:rPr lang="ru-RU" b="1" dirty="0"/>
            </a:br>
            <a:r>
              <a:rPr lang="ru-RU" b="1" dirty="0"/>
              <a:t>временных рядов.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708799"/>
          </a:xfrm>
        </p:spPr>
        <p:txBody>
          <a:bodyPr>
            <a:normAutofit/>
          </a:bodyPr>
          <a:lstStyle/>
          <a:p>
            <a:r>
              <a:rPr lang="ru-RU" b="1" dirty="0"/>
              <a:t>Модели временных рядов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Часто  вводится аддитивная модель ВР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trend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 - тренд ВР, 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−сезонность ВР</m:t>
                    </m:r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r>
                  <a:rPr lang="ru-RU" altLang="en-US" sz="2000" dirty="0"/>
                  <a:t> – остаточная часть ВР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Иногда также разделяют тренд на уровень, тренд и цикличность: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algn="just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- постоянная составляющая,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altLang="en-US" sz="2000" dirty="0"/>
                  <a:t> – цикличность ВР,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/>
                  <a:t>-остальной тренд</a:t>
                </a:r>
                <a:endParaRPr lang="ru-RU" altLang="en-US" sz="2400" dirty="0"/>
              </a:p>
              <a:p>
                <a:pPr marL="898525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напр. если выделяют уровень экономики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, 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dirty="0"/>
                  <a:t>цикличность кризисов,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b="1" dirty="0"/>
                  <a:t>тренд</a:t>
                </a:r>
                <a:r>
                  <a:rPr lang="ru-RU" altLang="en-US" sz="2000" dirty="0"/>
                  <a:t> экономики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b="1" dirty="0"/>
                  <a:t>сезонные факторы ( год, неделя и </a:t>
                </a:r>
                <a:r>
                  <a:rPr lang="ru-RU" altLang="en-US" sz="2000" b="1" dirty="0" err="1"/>
                  <a:t>тд</a:t>
                </a:r>
                <a:r>
                  <a:rPr lang="ru-RU" altLang="en-US" sz="2000" b="1" dirty="0"/>
                  <a:t>)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  <a:blipFill>
                <a:blip r:embed="rId2"/>
                <a:stretch>
                  <a:fillRect l="-770" t="-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71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95C2-7E07-1469-9870-10731979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3757B-A658-84DA-AF87-09AF2C0BB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636" y="197786"/>
            <a:ext cx="9477263" cy="880808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/>
              <a:t>Особенности модели временных рядов</a:t>
            </a:r>
            <a:endParaRPr lang="en-US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AE69D-36D8-D04E-E425-5890F744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7" y="870413"/>
            <a:ext cx="11386458" cy="546031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Как правило тренд и сезонность объяснить частично можно (это структура ВР)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700" dirty="0"/>
              <a:t>можно разложить ВР на тренд и  сезонность известного типа. То что останется – мы считаем шумом (случайные колебания).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Шум создает неопределенность или смещение в результатах предсказаний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Данные с шумом можно описать статистически (ввести статистические гипотезы о данных)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При статистическом анализе ВР введем стат. Характеристики ВР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6DBD4B-2A5F-824E-0852-1F458866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2F553-27F1-A9E4-3E80-186B4C2D8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0299A3-CABC-57D4-2339-DB1A2A6F0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BF2AC38-DF2F-3DB7-8C04-C58B060D8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4B08EDCE-CC97-1B6E-4FFB-7098941108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9" name="Picture 10" descr="fisher-ld generator network">
            <a:extLst>
              <a:ext uri="{FF2B5EF4-FFF2-40B4-BE49-F238E27FC236}">
                <a16:creationId xmlns:a16="http://schemas.microsoft.com/office/drawing/2014/main" id="{094FD0F3-3C45-1831-7A8D-5AD1DF952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68"/>
          <a:stretch>
            <a:fillRect/>
          </a:stretch>
        </p:blipFill>
        <p:spPr bwMode="auto">
          <a:xfrm>
            <a:off x="7010547" y="3340005"/>
            <a:ext cx="3690915" cy="207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AD22B5-69D6-B86B-8A88-593EC56D043C}"/>
              </a:ext>
            </a:extLst>
          </p:cNvPr>
          <p:cNvSpPr txBox="1"/>
          <p:nvPr/>
        </p:nvSpPr>
        <p:spPr>
          <a:xfrm>
            <a:off x="6400800" y="6452732"/>
            <a:ext cx="4577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www.mdpi.com</a:t>
            </a:r>
            <a:r>
              <a:rPr lang="ru-RU" sz="1200" dirty="0"/>
              <a:t>/2571-9394/5/4/37</a:t>
            </a:r>
          </a:p>
        </p:txBody>
      </p:sp>
      <p:pic>
        <p:nvPicPr>
          <p:cNvPr id="2052" name="Picture 4" descr="Forecasting 05 00037 g004">
            <a:extLst>
              <a:ext uri="{FF2B5EF4-FFF2-40B4-BE49-F238E27FC236}">
                <a16:creationId xmlns:a16="http://schemas.microsoft.com/office/drawing/2014/main" id="{BA41271C-0AFA-C211-2BE4-34C7CC047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8" t="-1725" r="-6328" b="4206"/>
          <a:stretch>
            <a:fillRect/>
          </a:stretch>
        </p:blipFill>
        <p:spPr bwMode="auto">
          <a:xfrm>
            <a:off x="7403218" y="3443143"/>
            <a:ext cx="4486067" cy="216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869C0B-7131-A294-EB92-B57B16945595}"/>
              </a:ext>
            </a:extLst>
          </p:cNvPr>
          <p:cNvSpPr txBox="1"/>
          <p:nvPr/>
        </p:nvSpPr>
        <p:spPr>
          <a:xfrm>
            <a:off x="60579" y="5090821"/>
            <a:ext cx="688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/>
            <a:r>
              <a:rPr lang="ru-RU" sz="2100" b="1" dirty="0"/>
              <a:t>Остаточная часть может содержать информацию, необъясненную моделью!</a:t>
            </a:r>
            <a:endParaRPr lang="ru-RU" sz="2100" dirty="0"/>
          </a:p>
        </p:txBody>
      </p:sp>
      <p:pic>
        <p:nvPicPr>
          <p:cNvPr id="2050" name="Picture 2" descr="Forecasting 05 00037 g002">
            <a:extLst>
              <a:ext uri="{FF2B5EF4-FFF2-40B4-BE49-F238E27FC236}">
                <a16:creationId xmlns:a16="http://schemas.microsoft.com/office/drawing/2014/main" id="{8A8EFD81-5807-BED2-93C4-70EFE4383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2" r="37620" b="4330"/>
          <a:stretch>
            <a:fillRect/>
          </a:stretch>
        </p:blipFill>
        <p:spPr bwMode="auto">
          <a:xfrm>
            <a:off x="6793471" y="3146214"/>
            <a:ext cx="4834467" cy="335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F10E1-0017-BDF5-41D6-ECD9FB8B0037}"/>
              </a:ext>
            </a:extLst>
          </p:cNvPr>
          <p:cNvSpPr txBox="1"/>
          <p:nvPr/>
        </p:nvSpPr>
        <p:spPr>
          <a:xfrm>
            <a:off x="241270" y="2838406"/>
            <a:ext cx="68591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Пример 1</a:t>
            </a:r>
            <a:br>
              <a:rPr lang="ru-RU" b="1" dirty="0"/>
            </a:br>
            <a:r>
              <a:rPr lang="ru-RU" b="1" dirty="0"/>
              <a:t>Прогнозирование спроса в баре:</a:t>
            </a:r>
            <a:endParaRPr lang="ru-RU" dirty="0"/>
          </a:p>
          <a:p>
            <a:r>
              <a:rPr lang="ru-RU" b="1" dirty="0"/>
              <a:t>Структура:</a:t>
            </a:r>
            <a:endParaRPr lang="ru-RU" dirty="0"/>
          </a:p>
          <a:p>
            <a:pPr lvl="1"/>
            <a:r>
              <a:rPr lang="ru-RU" dirty="0"/>
              <a:t>Повышенные продажи по пятницам (</a:t>
            </a:r>
            <a:r>
              <a:rPr lang="ru-RU" dirty="0" err="1"/>
              <a:t>holiday</a:t>
            </a:r>
            <a:r>
              <a:rPr lang="en-US" dirty="0"/>
              <a:t>s effect)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Рост выручки летом (сезонность).</a:t>
            </a:r>
          </a:p>
          <a:p>
            <a:pPr lvl="1"/>
            <a:r>
              <a:rPr lang="ru-RU" dirty="0"/>
              <a:t>Влияние футбольных матчей (календарные эффекты).</a:t>
            </a:r>
          </a:p>
          <a:p>
            <a:r>
              <a:rPr lang="ru-RU" b="1" dirty="0"/>
              <a:t>Шум:</a:t>
            </a:r>
            <a:endParaRPr lang="ru-RU" dirty="0"/>
          </a:p>
          <a:p>
            <a:pPr lvl="1"/>
            <a:r>
              <a:rPr lang="ru-RU" dirty="0"/>
              <a:t>Изменение числа посетителей по пятницам (или другим дням)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BD40F-2444-22EE-0F3C-A35F292D5B5A}"/>
              </a:ext>
            </a:extLst>
          </p:cNvPr>
          <p:cNvSpPr txBox="1"/>
          <p:nvPr/>
        </p:nvSpPr>
        <p:spPr>
          <a:xfrm>
            <a:off x="6793470" y="2725644"/>
            <a:ext cx="4707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 2 </a:t>
            </a:r>
            <a:r>
              <a:rPr lang="en" dirty="0"/>
              <a:t>Electricity Transformer Temperature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35081-F0C8-5927-0982-2E8D3316FBF4}"/>
              </a:ext>
            </a:extLst>
          </p:cNvPr>
          <p:cNvSpPr txBox="1"/>
          <p:nvPr/>
        </p:nvSpPr>
        <p:spPr>
          <a:xfrm>
            <a:off x="142389" y="5787944"/>
            <a:ext cx="6858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quote-cjk-patch"/>
              </a:rPr>
              <a:t>Вопрос аудитории:</a:t>
            </a: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ru-RU" b="0" i="1" dirty="0">
                <a:solidFill>
                  <a:srgbClr val="404040"/>
                </a:solidFill>
                <a:effectLst/>
                <a:latin typeface="quote-cjk-patch"/>
              </a:rPr>
              <a:t>"Можно ли полностью устранить шум? Что произойдет, если игнорировать его при планировании запасов?"</a:t>
            </a:r>
            <a:endParaRPr lang="ru-RU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53785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E599-491E-9D0B-A873-0682219D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CE594-68EE-E093-BE0F-46EF1344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В идеале остаточная часть не содержит информации, равномерно распределена и все ее значения независимы друг от друга (</a:t>
                </a:r>
                <a:r>
                  <a:rPr lang="en-US" sz="2000" dirty="0"/>
                  <a:t>identical independent distribution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) – такая остаточная часть называется Белый Гауссов Шум</a:t>
                </a:r>
                <a:r>
                  <a:rPr lang="en-US" sz="2000" dirty="0"/>
                  <a:t> (White Gaussian Noises)</a:t>
                </a:r>
                <a:r>
                  <a:rPr lang="ru-RU" sz="2000" dirty="0"/>
                  <a:t>.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Обратите внимание, что WGN имеет так называемое нормальное распределение с нулевым средним.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𝑤𝑔𝑛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𝑤𝑔𝑛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𝑤𝑔𝑛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распределние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69AA6E-94FF-7413-7F65-A38504D6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C419EEAC-D406-406E-6A2C-FC0E31293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987" y="4182627"/>
            <a:ext cx="2877379" cy="210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3E8B28-40F1-2361-FCA5-36112D783949}"/>
              </a:ext>
            </a:extLst>
          </p:cNvPr>
          <p:cNvSpPr/>
          <p:nvPr/>
        </p:nvSpPr>
        <p:spPr>
          <a:xfrm>
            <a:off x="1035586" y="3712684"/>
            <a:ext cx="110609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Пример </a:t>
            </a:r>
            <a:r>
              <a:rPr lang="ru-RU" sz="2000" dirty="0" err="1"/>
              <a:t>wgn</a:t>
            </a:r>
            <a:r>
              <a:rPr lang="ru-RU" sz="20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FBD4E4E1-2D94-2347-F1CB-D2A319423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34" y="4147264"/>
            <a:ext cx="6047009" cy="242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7BA2-14D3-0EBD-7F01-4E0E161D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3E797-F1C9-9C7F-FF67-4AB80754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Статистические </a:t>
            </a:r>
            <a:r>
              <a:rPr lang="ru-RU" dirty="0" err="1"/>
              <a:t>сво</a:t>
            </a:r>
            <a:r>
              <a:rPr lang="ru-RU" dirty="0"/>
              <a:t>	</a:t>
            </a:r>
            <a:r>
              <a:rPr lang="ru-RU" dirty="0" err="1"/>
              <a:t>йства</a:t>
            </a:r>
            <a:r>
              <a:rPr lang="ru-RU" dirty="0"/>
              <a:t> ВР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C2C294-7A96-5E70-2A21-B81587DAE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85" y="875278"/>
            <a:ext cx="11644829" cy="5982722"/>
          </a:xfrm>
        </p:spPr>
        <p:txBody>
          <a:bodyPr>
            <a:noAutofit/>
          </a:bodyPr>
          <a:lstStyle/>
          <a:p>
            <a:r>
              <a:rPr lang="en-US" sz="2200" dirty="0" err="1"/>
              <a:t>Е</a:t>
            </a:r>
            <a:r>
              <a:rPr lang="ru-RU" sz="2200" dirty="0" err="1"/>
              <a:t>сли</a:t>
            </a:r>
            <a:r>
              <a:rPr lang="ru-RU" sz="2200" dirty="0"/>
              <a:t> временной ряд не является белым гауссовым шумом и не нарушает принципов оцифровки ВР, то каждый его отсчет зависим от предыдущих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Введем для такого ряда статистические свойства: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Автокорреляция (АКФ) </a:t>
            </a:r>
            <a:r>
              <a:rPr lang="ru-RU" sz="2200" dirty="0"/>
              <a:t>– зависимость каждого значения ВР от его предыдущих значений (бывает полная и частичная АКФ).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Стационарность</a:t>
            </a:r>
            <a:r>
              <a:rPr lang="ru-RU" sz="2200" dirty="0"/>
              <a:t> – свойства сохранности основных статистических значений независимо от момента взятия выборки ВР (сильная и слабая стационарность</a:t>
            </a:r>
            <a:r>
              <a:rPr lang="ru-RU" dirty="0"/>
              <a:t>)</a:t>
            </a:r>
            <a:endParaRPr lang="ru-RU" sz="1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Могут быть и другие статистические показатели, например: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Гомоскедастичность</a:t>
            </a:r>
            <a:r>
              <a:rPr lang="ru-RU" dirty="0"/>
              <a:t> – свойство ВР сохранять дисперсию во времени. </a:t>
            </a:r>
            <a:r>
              <a:rPr lang="ru-RU" b="1" dirty="0" err="1"/>
              <a:t>Гетероскедастичность</a:t>
            </a:r>
            <a:r>
              <a:rPr lang="ru-RU" dirty="0"/>
              <a:t> (</a:t>
            </a:r>
            <a:r>
              <a:rPr lang="en" dirty="0"/>
              <a:t>Heteroskedasticity)</a:t>
            </a:r>
            <a:r>
              <a:rPr lang="ru-RU" dirty="0"/>
              <a:t> – волатильность ВР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Окрашенность шума </a:t>
            </a:r>
            <a:r>
              <a:rPr lang="ru-RU" dirty="0"/>
              <a:t>– наличие в шуме автокорреляционных свойств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Долговременная связанность </a:t>
            </a:r>
            <a:r>
              <a:rPr lang="ru-RU" dirty="0"/>
              <a:t>(показатель Херста) – долговременная зависимость  ВР от своих лагов (напр. Тренд)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Нелинейность ВР</a:t>
            </a:r>
            <a:r>
              <a:rPr lang="ru-RU" dirty="0"/>
              <a:t> – компоненты связаны сложными зависимостями (напр. Модуляция)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Структурные разрывы </a:t>
            </a:r>
            <a:r>
              <a:rPr lang="ru-RU" dirty="0"/>
              <a:t>(ряд с новизной или точками перегиба)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1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AA7BF-8316-D890-B7B7-600FCCA1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95" y="150379"/>
            <a:ext cx="10968210" cy="703511"/>
          </a:xfrm>
        </p:spPr>
        <p:txBody>
          <a:bodyPr/>
          <a:lstStyle/>
          <a:p>
            <a:pPr algn="ctr"/>
            <a:r>
              <a:rPr lang="en-US" dirty="0" err="1"/>
              <a:t>Авто</a:t>
            </a:r>
            <a:r>
              <a:rPr lang="ru-RU" dirty="0"/>
              <a:t>корреляция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1906" y="835163"/>
                <a:ext cx="9098068" cy="510832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Получим численную оценку степени влияния значения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200" dirty="0"/>
                  <a:t>​ </a:t>
                </a:r>
                <a:r>
                  <a:rPr lang="ru-RU" sz="2200" dirty="0"/>
                  <a:t>на значение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200" dirty="0"/>
                  <a:t>​</a:t>
                </a:r>
                <a:r>
                  <a:rPr lang="ru-RU" sz="2200" dirty="0"/>
                  <a:t> (оценки корреляции) в виде коэффициента корреляции Пирсона для ВР с самим собой со сдвигом на </a:t>
                </a:r>
                <a:r>
                  <a:rPr lang="el-GR" sz="2200" i="1" dirty="0"/>
                  <a:t>τ</a:t>
                </a:r>
                <a:r>
                  <a:rPr lang="ru-RU" sz="2200" i="1" dirty="0"/>
                  <a:t> – автокорреляцию ВР (АКФ)</a:t>
                </a:r>
                <a:r>
                  <a:rPr lang="el-GR" sz="2200" dirty="0"/>
                  <a:t>. 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1906" y="835163"/>
                <a:ext cx="9098068" cy="5108327"/>
              </a:xfrm>
              <a:blipFill>
                <a:blip r:embed="rId3"/>
                <a:stretch>
                  <a:fillRect l="-837" t="-7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BF6D1-54CF-35BD-E4B5-79CA80A4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/>
              <p:nvPr/>
            </p:nvSpPr>
            <p:spPr>
              <a:xfrm>
                <a:off x="1181026" y="2218404"/>
                <a:ext cx="6097836" cy="925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026" y="2218404"/>
                <a:ext cx="6097836" cy="925574"/>
              </a:xfrm>
              <a:prstGeom prst="rect">
                <a:avLst/>
              </a:prstGeom>
              <a:blipFill>
                <a:blip r:embed="rId4"/>
                <a:stretch>
                  <a:fillRect t="-59459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/>
              <p:nvPr/>
            </p:nvSpPr>
            <p:spPr>
              <a:xfrm>
                <a:off x="281906" y="3240547"/>
                <a:ext cx="8959469" cy="1720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Где среднее значений (или ожидаемое значение),</a:t>
                </a:r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 теор. формула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800" dirty="0"/>
              </a:p>
              <a:p>
                <a:r>
                  <a:rPr lang="ru-RU" sz="1800" dirty="0"/>
                  <a:t>где y - выборки размера N,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800" dirty="0">
                        <a:latin typeface="Cambria Math" panose="02040503050406030204" pitchFamily="18" charset="0"/>
                      </a:rPr>
                      <m:t>распределение значений величины</m:t>
                    </m:r>
                  </m:oMath>
                </a14:m>
                <a:r>
                  <a:rPr lang="ru-RU" sz="1800" dirty="0"/>
                  <a:t> </a:t>
                </a:r>
                <a:r>
                  <a:rPr lang="ru-RU" i="1" dirty="0">
                    <a:latin typeface="Cambria Math" panose="02040503050406030204" pitchFamily="18" charset="0"/>
                  </a:rPr>
                  <a:t/>
                </a:r>
                <a:br>
                  <a:rPr lang="ru-RU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𝑒𝑣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</m:ra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:r>
                  <a:rPr lang="ru-RU" dirty="0" err="1"/>
                  <a:t>var</a:t>
                </a:r>
                <a:r>
                  <a:rPr lang="ru-RU" dirty="0"/>
                  <a:t> - дисперсия; </a:t>
                </a:r>
                <a:r>
                  <a:rPr lang="ru-RU" dirty="0" err="1"/>
                  <a:t>std</a:t>
                </a:r>
                <a:r>
                  <a:rPr lang="ru-RU" dirty="0"/>
                  <a:t> - стандартное отклонение</a:t>
                </a:r>
                <a:endParaRPr lang="en-US" dirty="0"/>
              </a:p>
              <a:p>
                <a:endParaRPr lang="ru-RU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6" y="3240547"/>
                <a:ext cx="8959469" cy="1720920"/>
              </a:xfrm>
              <a:prstGeom prst="rect">
                <a:avLst/>
              </a:prstGeom>
              <a:blipFill>
                <a:blip r:embed="rId5"/>
                <a:stretch>
                  <a:fillRect l="-3541" t="-22059" b="-16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AE15FCB-CB7C-BA1A-51AD-54785DA7748B}"/>
              </a:ext>
            </a:extLst>
          </p:cNvPr>
          <p:cNvSpPr txBox="1"/>
          <p:nvPr/>
        </p:nvSpPr>
        <p:spPr>
          <a:xfrm>
            <a:off x="298402" y="4930470"/>
            <a:ext cx="5391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Например, если мы хотим оценить степень влияния сегодняшней температуры на завтрашнюю, то посчитаем коэффициент корреляции исходного ряда и его</a:t>
            </a:r>
            <a:r>
              <a:rPr lang="en-US" b="0" i="0" dirty="0">
                <a:solidFill>
                  <a:srgbClr val="323232"/>
                </a:solidFill>
                <a:effectLst/>
                <a:latin typeface="__YSText_10659f"/>
              </a:rPr>
              <a:t> </a:t>
            </a:r>
            <a:r>
              <a:rPr lang="en-US" b="0" i="0" dirty="0" err="1">
                <a:solidFill>
                  <a:srgbClr val="323232"/>
                </a:solidFill>
                <a:effectLst/>
                <a:latin typeface="__YSText_10659f"/>
              </a:rPr>
              <a:t>же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, сдвинутым на 1 день.</a:t>
            </a:r>
            <a:endParaRPr lang="ru-RU" dirty="0"/>
          </a:p>
        </p:txBody>
      </p:sp>
      <p:pic>
        <p:nvPicPr>
          <p:cNvPr id="1026" name="Picture 2" descr="2.6.1 Взаимная и автокорреляционные функции сигнала">
            <a:extLst>
              <a:ext uri="{FF2B5EF4-FFF2-40B4-BE49-F238E27FC236}">
                <a16:creationId xmlns:a16="http://schemas.microsoft.com/office/drawing/2014/main" id="{54264BB7-C97E-AA39-943C-3D1F85AC6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974" y="502134"/>
            <a:ext cx="2530059" cy="402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CF of monthly Australian antidiabetic drug sales.">
            <a:extLst>
              <a:ext uri="{FF2B5EF4-FFF2-40B4-BE49-F238E27FC236}">
                <a16:creationId xmlns:a16="http://schemas.microsoft.com/office/drawing/2014/main" id="{A05E2094-6729-56A7-F169-31F127E0F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4625950"/>
            <a:ext cx="6367450" cy="190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B5F1B-9791-B173-52B5-AF455F6A693C}"/>
              </a:ext>
            </a:extLst>
          </p:cNvPr>
          <p:cNvSpPr txBox="1"/>
          <p:nvPr/>
        </p:nvSpPr>
        <p:spPr>
          <a:xfrm>
            <a:off x="298402" y="6351908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acf.html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17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ED5BB-127A-7415-8A44-D4E77DF7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76" y="200518"/>
            <a:ext cx="10847024" cy="725545"/>
          </a:xfrm>
        </p:spPr>
        <p:txBody>
          <a:bodyPr/>
          <a:lstStyle/>
          <a:p>
            <a:pPr algn="ctr"/>
            <a:r>
              <a:rPr lang="ru-RU" dirty="0"/>
              <a:t>З</a:t>
            </a:r>
            <a:r>
              <a:rPr lang="en-US" dirty="0" err="1"/>
              <a:t>амеч</a:t>
            </a:r>
            <a:r>
              <a:rPr lang="ru-RU" dirty="0" err="1"/>
              <a:t>ания</a:t>
            </a:r>
            <a:r>
              <a:rPr lang="ru-RU" dirty="0"/>
              <a:t> </a:t>
            </a:r>
            <a:r>
              <a:rPr lang="ru-RU" dirty="0" smtClean="0"/>
              <a:t>к автокорреляции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&gt;0 – </a:t>
                </a:r>
                <a:r>
                  <a:rPr lang="ru-RU" sz="2400" dirty="0"/>
                  <a:t>положительная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​&lt;0 – </a:t>
                </a:r>
                <a:r>
                  <a:rPr lang="ru-RU" sz="2400" dirty="0"/>
                  <a:t>отрицательная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меньше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nor/>
                      </m:rPr>
                      <a:rPr lang="el-GR" sz="2400" dirty="0"/>
                      <m:t>​∣⩽1;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=1 </a:t>
                </a:r>
                <a:r>
                  <a:rPr lang="ru-RU" sz="2400" dirty="0"/>
                  <a:t>означает строгую линейную зависимость.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l-GR" sz="2400" dirty="0"/>
                      <m:t>​∣⩽</m:t>
                    </m:r>
                    <m:r>
                      <m:rPr>
                        <m:nor/>
                      </m:rPr>
                      <a:rPr lang="ru-RU" sz="2400" b="0" i="0" dirty="0" smtClean="0"/>
                      <m:t>0.05 (0.01) может колебаться из за шума</m:t>
                    </m:r>
                  </m:oMath>
                </a14:m>
                <a:endParaRPr lang="ru-RU" sz="2400" b="0" dirty="0"/>
              </a:p>
              <a:p>
                <a:r>
                  <a:rPr lang="ru-RU" sz="2400" dirty="0"/>
                  <a:t>Значимые корреляции проверяются отельными</a:t>
                </a:r>
                <a:br>
                  <a:rPr lang="ru-RU" sz="2400" dirty="0"/>
                </a:br>
                <a:r>
                  <a:rPr lang="ru-RU" sz="2400" dirty="0"/>
                  <a:t> стат. тестами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  <a:blipFill>
                <a:blip r:embed="rId2"/>
                <a:stretch>
                  <a:fillRect l="-653" t="-1244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DB019B-3104-A600-AEB2-42CB0E2A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1474F1-1290-7EF6-E2E4-2A58FE82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84" y="4898985"/>
            <a:ext cx="4982760" cy="1454427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7E8AF36A-0838-C3AB-9A29-306D244FB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205" y="2679878"/>
            <a:ext cx="4655171" cy="317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99D0E-571B-F326-BDB2-26FF2D54EFBE}"/>
              </a:ext>
            </a:extLst>
          </p:cNvPr>
          <p:cNvSpPr txBox="1"/>
          <p:nvPr/>
        </p:nvSpPr>
        <p:spPr>
          <a:xfrm>
            <a:off x="6136434" y="5707081"/>
            <a:ext cx="574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Четыре различных набора данных, коэффициент корреляции на которых равен 0.81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B4922-0E0E-77D6-DC87-7ED5B07D70E3}"/>
              </a:ext>
            </a:extLst>
          </p:cNvPr>
          <p:cNvSpPr txBox="1"/>
          <p:nvPr/>
        </p:nvSpPr>
        <p:spPr>
          <a:xfrm>
            <a:off x="478090" y="6247588"/>
            <a:ext cx="5135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analitika-vremennyh-ryadov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EC631-2FAB-3BE2-13B0-4F9C3AF0E2A7}"/>
              </a:ext>
            </a:extLst>
          </p:cNvPr>
          <p:cNvSpPr txBox="1"/>
          <p:nvPr/>
        </p:nvSpPr>
        <p:spPr>
          <a:xfrm>
            <a:off x="5759374" y="6280875"/>
            <a:ext cx="6252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</a:t>
            </a:r>
            <a:r>
              <a:rPr lang="ru-RU" sz="1200" dirty="0"/>
              <a:t>://</a:t>
            </a:r>
            <a:r>
              <a:rPr lang="ru-RU" sz="1200" dirty="0" err="1"/>
              <a:t>www.machinelearning.ru</a:t>
            </a:r>
            <a:r>
              <a:rPr lang="ru-RU" sz="1200" dirty="0"/>
              <a:t>/</a:t>
            </a:r>
            <a:r>
              <a:rPr lang="ru-RU" sz="1200" dirty="0" err="1"/>
              <a:t>wiki</a:t>
            </a:r>
            <a:r>
              <a:rPr lang="ru-RU" sz="1200" dirty="0"/>
              <a:t>/</a:t>
            </a:r>
            <a:r>
              <a:rPr lang="ru-RU" sz="1200" dirty="0" err="1"/>
              <a:t>index.php?title</a:t>
            </a:r>
            <a:r>
              <a:rPr lang="ru-RU" sz="1200" dirty="0"/>
              <a:t>= </a:t>
            </a:r>
            <a:r>
              <a:rPr lang="ru-RU" sz="1200" dirty="0" err="1"/>
              <a:t>Коэффициент_корреляции_Пирсона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/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800" dirty="0"/>
                  <a:t>=0 – </a:t>
                </a:r>
                <a:r>
                  <a:rPr lang="ru-RU" sz="1800" dirty="0"/>
                  <a:t>отсутствие автокорреляции, при этом значения могут быть зависимыми;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blipFill>
                <a:blip r:embed="rId5"/>
                <a:stretch>
                  <a:fillRect l="-1040" t="-3846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9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08D33-ED14-B6CA-1D53-1B9E7F3C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54" y="251842"/>
            <a:ext cx="11023294" cy="106706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дорожно-транспортных происшествий за 14 лет с дискретностью 1 месяц,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0EB80A-8708-FE17-1283-675B44B1F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0" y="1290544"/>
            <a:ext cx="6409987" cy="5567456"/>
          </a:xfrm>
        </p:spPr>
        <p:txBody>
          <a:bodyPr>
            <a:normAutofit/>
          </a:bodyPr>
          <a:lstStyle/>
          <a:p>
            <a:r>
              <a:rPr lang="ru-RU" sz="2000" dirty="0"/>
              <a:t>Видна годовая сезонность.</a:t>
            </a:r>
          </a:p>
          <a:p>
            <a:r>
              <a:rPr lang="ru-RU" sz="2000" dirty="0"/>
              <a:t>На графике АКФ видны максимуму на 12 лагах</a:t>
            </a:r>
          </a:p>
          <a:p>
            <a:r>
              <a:rPr lang="en" sz="2000" i="1" dirty="0"/>
              <a:t>r</a:t>
            </a:r>
            <a:r>
              <a:rPr lang="en" sz="2000" baseline="-25000" dirty="0"/>
              <a:t>12</a:t>
            </a:r>
            <a:r>
              <a:rPr lang="en" sz="2000" dirty="0"/>
              <a:t>​ </a:t>
            </a:r>
            <a:r>
              <a:rPr lang="ru-RU" sz="2000" dirty="0"/>
              <a:t>является локальным максимумом, что означает высокую положительную корреляцию значения ряда за текущий месяц с аналогичным значением год назад. </a:t>
            </a:r>
          </a:p>
          <a:p>
            <a:r>
              <a:rPr lang="ru-RU" sz="2200" dirty="0"/>
              <a:t>Закрашенная область визуализирует границу незначимой автокорреляции, то есть тех значений автокорреляции, для которых не выявлена статистически значимое отличие от 0 (иначе говоря, доверительный интервал пересекает 0).</a:t>
            </a:r>
          </a:p>
          <a:p>
            <a:r>
              <a:rPr lang="ru-RU" sz="2200" dirty="0"/>
              <a:t>Значимые лаги: 1, 2, 6, 12, 24 – именно эти лаги связаны и на них имеет смысл строить прогноз (0 лаг не считается!)</a:t>
            </a:r>
            <a:endParaRPr lang="ru-RU" sz="13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77126-4ACD-5BB7-D444-3F25CEA3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ex">
            <a:extLst>
              <a:ext uri="{FF2B5EF4-FFF2-40B4-BE49-F238E27FC236}">
                <a16:creationId xmlns:a16="http://schemas.microsoft.com/office/drawing/2014/main" id="{E80B7204-5939-A61A-3D66-4CB8D9AE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230123"/>
            <a:ext cx="5562294" cy="23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x">
            <a:extLst>
              <a:ext uri="{FF2B5EF4-FFF2-40B4-BE49-F238E27FC236}">
                <a16:creationId xmlns:a16="http://schemas.microsoft.com/office/drawing/2014/main" id="{7F87FE3F-E8B0-649D-36C2-1720B1430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122" y="4049782"/>
            <a:ext cx="5420299" cy="240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E1161-304E-9255-4C0B-8F9D8EADCD32}"/>
              </a:ext>
            </a:extLst>
          </p:cNvPr>
          <p:cNvSpPr txBox="1"/>
          <p:nvPr/>
        </p:nvSpPr>
        <p:spPr>
          <a:xfrm>
            <a:off x="3581401" y="6452782"/>
            <a:ext cx="8496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education.yandex.ru</a:t>
            </a:r>
            <a:r>
              <a:rPr lang="ru-RU" sz="1600" dirty="0"/>
              <a:t>/</a:t>
            </a:r>
            <a:r>
              <a:rPr lang="ru-RU" sz="1600" dirty="0" err="1"/>
              <a:t>handbook</a:t>
            </a:r>
            <a:r>
              <a:rPr lang="ru-RU" sz="1600" dirty="0"/>
              <a:t>/</a:t>
            </a:r>
            <a:r>
              <a:rPr lang="ru-RU" sz="1600" dirty="0" err="1"/>
              <a:t>ml</a:t>
            </a:r>
            <a:r>
              <a:rPr lang="ru-RU" sz="1600" dirty="0"/>
              <a:t>/</a:t>
            </a:r>
            <a:r>
              <a:rPr lang="ru-RU" sz="1600" dirty="0" err="1"/>
              <a:t>article</a:t>
            </a:r>
            <a:r>
              <a:rPr lang="ru-RU" sz="1600" dirty="0"/>
              <a:t>/</a:t>
            </a:r>
            <a:r>
              <a:rPr lang="ru-RU" sz="1600" dirty="0" err="1"/>
              <a:t>analitika-vremennyh-ryadov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5788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4C83-235B-4AAE-B0A4-C9FB77FC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33933-0FF6-28B2-7970-86106396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Корреляция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6DD14-17BE-1876-BA26-EDBFF92FB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26" y="1010958"/>
            <a:ext cx="11293973" cy="5710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Пример ACF. Синяя линия показывает уверенность  согласно тексту Бокса-</a:t>
            </a:r>
            <a:r>
              <a:rPr lang="ru-RU" sz="2200" dirty="0" err="1"/>
              <a:t>Льюнга</a:t>
            </a:r>
            <a:r>
              <a:rPr lang="ru-RU" sz="2200" dirty="0"/>
              <a:t> по уровню </a:t>
            </a:r>
            <a:r>
              <a:rPr lang="en-US" sz="2200" dirty="0"/>
              <a:t>p</a:t>
            </a:r>
            <a:r>
              <a:rPr lang="ru-RU" sz="2200" dirty="0"/>
              <a:t>-</a:t>
            </a:r>
            <a:r>
              <a:rPr lang="en-US" sz="2200" dirty="0"/>
              <a:t>value</a:t>
            </a:r>
            <a:r>
              <a:rPr lang="ru-RU" sz="2200" dirty="0"/>
              <a:t> 0,05(корреляции ниже – случайные).</a:t>
            </a:r>
          </a:p>
          <a:p>
            <a:pPr marL="0" indent="0">
              <a:buNone/>
            </a:pPr>
            <a:r>
              <a:rPr lang="ru-RU" sz="2200" dirty="0"/>
              <a:t>ВР не имеет тренда и сезонности, каждое следующее значение связано с 3мя предыдущими</a:t>
            </a:r>
            <a:endParaRPr lang="en-US" sz="22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96886C-6E73-E8AD-E5D2-2AF8B403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pic>
        <p:nvPicPr>
          <p:cNvPr id="6146" name="Picture 2" descr="image.png">
            <a:extLst>
              <a:ext uri="{FF2B5EF4-FFF2-40B4-BE49-F238E27FC236}">
                <a16:creationId xmlns:a16="http://schemas.microsoft.com/office/drawing/2014/main" id="{363BC3FD-33D8-EDAB-9F86-38F046F0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4109"/>
            <a:ext cx="10515599" cy="31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22872-326F-18EB-8E85-45286CF14BA9}"/>
              </a:ext>
            </a:extLst>
          </p:cNvPr>
          <p:cNvSpPr txBox="1"/>
          <p:nvPr/>
        </p:nvSpPr>
        <p:spPr>
          <a:xfrm>
            <a:off x="6604000" y="6023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library.altspu.ru</a:t>
            </a:r>
            <a:r>
              <a:rPr lang="ru-RU" dirty="0"/>
              <a:t>/</a:t>
            </a:r>
            <a:r>
              <a:rPr lang="ru-RU" dirty="0" err="1"/>
              <a:t>dc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</a:t>
            </a:r>
            <a:r>
              <a:rPr lang="ru-RU" dirty="0" err="1"/>
              <a:t>kizbikenov.pdf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55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83EC4-8F67-20B6-5BB9-4FD4C80D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136525"/>
            <a:ext cx="11035145" cy="909493"/>
          </a:xfrm>
        </p:spPr>
        <p:txBody>
          <a:bodyPr/>
          <a:lstStyle/>
          <a:p>
            <a:pPr algn="ctr"/>
            <a:r>
              <a:rPr lang="ru-RU" dirty="0"/>
              <a:t>Замечания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746E5-8498-3604-B42B-E7AF22FB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8" y="861218"/>
            <a:ext cx="11631468" cy="4993482"/>
          </a:xfrm>
        </p:spPr>
        <p:txBody>
          <a:bodyPr>
            <a:normAutofit/>
          </a:bodyPr>
          <a:lstStyle/>
          <a:p>
            <a:r>
              <a:rPr lang="ru-RU" sz="2200" b="1" dirty="0"/>
              <a:t>ВР имеет тренд –&gt; </a:t>
            </a:r>
            <a:r>
              <a:rPr lang="ru-RU" sz="2200" dirty="0"/>
              <a:t>АКФ для небольших лагов, как правило, большие и положительные, поскольку наблюдения, близкие по времени, также близки по значению. </a:t>
            </a:r>
          </a:p>
          <a:p>
            <a:pPr lvl="1"/>
            <a:r>
              <a:rPr lang="ru-RU" sz="2200" dirty="0"/>
              <a:t>Таким образом, </a:t>
            </a:r>
            <a:r>
              <a:rPr lang="en" sz="2200" dirty="0"/>
              <a:t>ACF </a:t>
            </a:r>
            <a:r>
              <a:rPr lang="ru-RU" sz="2200" dirty="0"/>
              <a:t>трендового временного ряда, как правило, имеет положительные значения, которые медленно уменьшаются по мере увеличения лагов.</a:t>
            </a:r>
          </a:p>
          <a:p>
            <a:r>
              <a:rPr lang="ru-RU" sz="2200" b="1" dirty="0"/>
              <a:t>Если данные сезонные</a:t>
            </a:r>
            <a:r>
              <a:rPr lang="ru-RU" sz="2200" dirty="0"/>
              <a:t>, автокорреляции будут больше для сезонных лагов (кратных сезонному периоду), чем для других лагов.</a:t>
            </a:r>
          </a:p>
          <a:p>
            <a:r>
              <a:rPr lang="ru-RU" sz="2200" b="1" dirty="0"/>
              <a:t>Данные являются как трендовыми, так и сезонными</a:t>
            </a:r>
            <a:r>
              <a:rPr lang="ru-RU" sz="2200" dirty="0"/>
              <a:t>, будет иметь место комбинация этих эффектов</a:t>
            </a:r>
            <a:r>
              <a:rPr lang="en-US" sz="2200" dirty="0"/>
              <a:t> (</a:t>
            </a:r>
            <a:r>
              <a:rPr lang="en-US" sz="2200" dirty="0" err="1"/>
              <a:t>см</a:t>
            </a:r>
            <a:r>
              <a:rPr lang="ru-RU" sz="2200" dirty="0"/>
              <a:t>. ниже).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0439D6-FBAC-9105-9726-C0D57B53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E7FECC-00BF-3EB6-BCFE-927426B0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8" y="3946948"/>
            <a:ext cx="4112343" cy="259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86AD531-2C9B-BB91-4CEE-1902E77A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36" y="3960387"/>
            <a:ext cx="4304291" cy="271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9B540-6FFC-6740-2DA4-DE2C2AF66693}"/>
              </a:ext>
            </a:extLst>
          </p:cNvPr>
          <p:cNvSpPr txBox="1"/>
          <p:nvPr/>
        </p:nvSpPr>
        <p:spPr>
          <a:xfrm>
            <a:off x="2597727" y="6488668"/>
            <a:ext cx="6137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/02-graphics.html</a:t>
            </a:r>
          </a:p>
        </p:txBody>
      </p:sp>
    </p:spTree>
    <p:extLst>
      <p:ext uri="{BB962C8B-B14F-4D97-AF65-F5344CB8AC3E}">
        <p14:creationId xmlns:p14="http://schemas.microsoft.com/office/powerpoint/2010/main" val="191718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21867-E96A-0A79-4583-D9755263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17501"/>
            <a:ext cx="11480800" cy="723900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19FC89-5133-BB8B-A9FF-1295B4C4D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900" y="1041402"/>
                <a:ext cx="11480800" cy="5135562"/>
              </a:xfrm>
            </p:spPr>
            <p:txBody>
              <a:bodyPr>
                <a:normAutofit/>
              </a:bodyPr>
              <a:lstStyle/>
              <a:p>
                <a:r>
                  <a:rPr lang="ru-RU" sz="2100" dirty="0"/>
                  <a:t>Фактически АКФ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показывает связанность ВР  и всех сдвинутых его копий до значения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100" dirty="0"/>
                  <a:t>. </a:t>
                </a:r>
              </a:p>
              <a:p>
                <a:pPr lvl="1"/>
                <a:r>
                  <a:rPr lang="ru-RU" sz="2100" dirty="0"/>
                  <a:t>Иногда это мешает понять связанность конкретно с лагом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100" dirty="0"/>
                  <a:t>. Для компенсации этого используют </a:t>
                </a:r>
                <a:r>
                  <a:rPr lang="ru-RU" sz="2100" b="1" dirty="0"/>
                  <a:t>Частичную АКФ (ЧАКФ,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PACF</m:t>
                    </m:r>
                    <m:r>
                      <m:rPr>
                        <m:nor/>
                      </m:rPr>
                      <a:rPr lang="ru-RU" sz="2100" dirty="0"/>
                      <m:t>):</m:t>
                    </m:r>
                  </m:oMath>
                </a14:m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𝑃𝐴𝐶𝐹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где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m:rPr>
                        <m:nor/>
                      </m:rPr>
                      <a:rPr lang="en-US" sz="2100" dirty="0"/>
                      <m:t> −</m:t>
                    </m:r>
                    <m:r>
                      <m:rPr>
                        <m:nor/>
                      </m:rPr>
                      <a:rPr lang="ru-RU" sz="2100" dirty="0"/>
                      <m:t> значение, предсказанное как результат линейной регрессии 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r>
                      <m:rPr>
                        <m:nor/>
                      </m:rPr>
                      <a:rPr lang="ru-RU" sz="2100" dirty="0"/>
                      <m:t>по лагам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Частичная корреляция снимает (</m:t>
                    </m:r>
                    <m:r>
                      <m:rPr>
                        <m:nor/>
                      </m:rPr>
                      <a:rPr lang="ru-RU" sz="2100" dirty="0" err="1"/>
                      <m:t>устр</m:t>
                    </m:r>
                    <m:r>
                      <m:rPr>
                        <m:nor/>
                      </m:rPr>
                      <a:rPr lang="ru-RU" sz="2100" b="0" i="0" dirty="0" smtClean="0"/>
                      <m:t>о</m:t>
                    </m:r>
                    <m:r>
                      <m:rPr>
                        <m:nor/>
                      </m:rPr>
                      <a:rPr lang="ru-RU" sz="2100" dirty="0" err="1"/>
                      <m:t>няте</m:t>
                    </m:r>
                    <m:r>
                      <m:rPr>
                        <m:nor/>
                      </m:rPr>
                      <a:rPr lang="ru-RU" sz="2100" dirty="0"/>
                      <m:t>) линейную зависимость от промежуточных лагов</m:t>
                    </m:r>
                  </m:oMath>
                </a14:m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Например, если мы регрессируем переменную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по переменным X1, X2 и X3, частичная корреляция между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и X3 - это степень корреляции между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и X3, которая не объясняется их общими корреляциями с X1 и X2. </a:t>
                </a:r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b="1" dirty="0"/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19FC89-5133-BB8B-A9FF-1295B4C4D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041402"/>
                <a:ext cx="11480800" cy="5135562"/>
              </a:xfrm>
              <a:blipFill>
                <a:blip r:embed="rId3"/>
                <a:stretch>
                  <a:fillRect l="-442" t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60B919-B531-0487-B565-BBFBD78D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70EA36A-6C6A-569D-0A4F-2A8F1F86D2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z</a:t>
            </a:r>
            <a:endParaRPr lang="ru-RU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E3123F7-B5BC-000D-9F1B-D13A79BF0E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34EC4F-1B05-05D3-3E1D-CF9CAB6A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696423" y="4365012"/>
            <a:ext cx="4535358" cy="17575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68194A-4251-58E0-17CF-7ED2E3629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0" t="47448" r="-3360" b="2552"/>
          <a:stretch>
            <a:fillRect/>
          </a:stretch>
        </p:blipFill>
        <p:spPr>
          <a:xfrm>
            <a:off x="6342921" y="4285595"/>
            <a:ext cx="4535358" cy="1757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843FAA-D681-989C-D7DB-7844E3AC3F6C}"/>
              </a:ext>
            </a:extLst>
          </p:cNvPr>
          <p:cNvSpPr txBox="1"/>
          <p:nvPr/>
        </p:nvSpPr>
        <p:spPr>
          <a:xfrm>
            <a:off x="5419493" y="6059206"/>
            <a:ext cx="387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en-US" dirty="0" err="1"/>
              <a:t>а</a:t>
            </a:r>
            <a:r>
              <a:rPr lang="ru-RU" dirty="0"/>
              <a:t> ЧАКФ видны сезонные колебания </a:t>
            </a:r>
          </a:p>
        </p:txBody>
      </p:sp>
    </p:spTree>
    <p:extLst>
      <p:ext uri="{BB962C8B-B14F-4D97-AF65-F5344CB8AC3E}">
        <p14:creationId xmlns:p14="http://schemas.microsoft.com/office/powerpoint/2010/main" val="407656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FBC2-18F6-B6F1-089D-7DA695D3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8F64A-909A-8502-663F-7CEF3685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17501"/>
            <a:ext cx="11480800" cy="723900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89A096-BA9C-B641-5BB5-6DD59D4EC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041402"/>
            <a:ext cx="11480800" cy="513556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b="1" dirty="0"/>
              <a:t>	пример: В индустрии: </a:t>
            </a:r>
            <a:r>
              <a:rPr lang="ru-RU" dirty="0"/>
              <a:t>отделение сигнала поломки оборудования по вибрации от регулярных вибраций</a:t>
            </a:r>
          </a:p>
          <a:p>
            <a:pPr marL="457200" lvl="1" indent="0">
              <a:buNone/>
            </a:pPr>
            <a:r>
              <a:rPr lang="ru-RU" b="1" dirty="0"/>
              <a:t>в гидрологии </a:t>
            </a:r>
            <a:r>
              <a:rPr lang="en" dirty="0"/>
              <a:t>PACF </a:t>
            </a:r>
            <a:r>
              <a:rPr lang="ru-RU" dirty="0"/>
              <a:t>отделяет влияние непосредственных предшествующих наблюдений от сезонных эффектов</a:t>
            </a:r>
          </a:p>
          <a:p>
            <a:pPr marL="457200" lvl="1" indent="0">
              <a:buNone/>
            </a:pPr>
            <a:r>
              <a:rPr lang="ru-RU" b="1" dirty="0"/>
              <a:t>		в машинном обучении: </a:t>
            </a:r>
            <a:r>
              <a:rPr lang="ru-RU" dirty="0"/>
              <a:t>формирование признаков только из нужных лагов без избыточности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DF9A2F-EC74-30BC-44D8-4BFE998E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0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CF265-69E0-6399-718A-1D16E8B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85B36-63FB-AB66-D543-F65C6C5E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9CF1A6-BD6F-867B-185F-2E2BC4BD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7170" name="Picture 2" descr="Different forms of dependence and their Pearson's r values">
            <a:extLst>
              <a:ext uri="{FF2B5EF4-FFF2-40B4-BE49-F238E27FC236}">
                <a16:creationId xmlns:a16="http://schemas.microsoft.com/office/drawing/2014/main" id="{9C640715-FCEC-9E02-C24B-446D96F5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590" y="2274671"/>
            <a:ext cx="7568756" cy="345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D615A-AB23-F639-C63B-32D2BB310067}"/>
              </a:ext>
            </a:extLst>
          </p:cNvPr>
          <p:cNvSpPr txBox="1"/>
          <p:nvPr/>
        </p:nvSpPr>
        <p:spPr>
          <a:xfrm>
            <a:off x="5562600" y="62566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smac-group.github.io</a:t>
            </a:r>
            <a:r>
              <a:rPr lang="ru-RU" dirty="0"/>
              <a:t>/</a:t>
            </a:r>
            <a:r>
              <a:rPr lang="ru-RU" dirty="0" err="1"/>
              <a:t>ts</a:t>
            </a:r>
            <a:r>
              <a:rPr lang="ru-RU" dirty="0"/>
              <a:t>/</a:t>
            </a:r>
            <a:r>
              <a:rPr lang="ru-RU" dirty="0" err="1"/>
              <a:t>fundtimeseries.html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620BB-993D-69EB-37A9-4653940405A5}"/>
              </a:ext>
            </a:extLst>
          </p:cNvPr>
          <p:cNvSpPr txBox="1"/>
          <p:nvPr/>
        </p:nvSpPr>
        <p:spPr>
          <a:xfrm>
            <a:off x="5517572" y="5767773"/>
            <a:ext cx="6355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</a:t>
            </a:r>
            <a:r>
              <a:rPr lang="en-US" dirty="0" err="1"/>
              <a:t>ри</a:t>
            </a:r>
            <a:r>
              <a:rPr lang="ru-RU" dirty="0"/>
              <a:t>меры различных зависимостей с одинаковой корреляцией</a:t>
            </a:r>
          </a:p>
        </p:txBody>
      </p:sp>
    </p:spTree>
    <p:extLst>
      <p:ext uri="{BB962C8B-B14F-4D97-AF65-F5344CB8AC3E}">
        <p14:creationId xmlns:p14="http://schemas.microsoft.com/office/powerpoint/2010/main" val="1652755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2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7D957-91ED-4DFD-BF38-CD029733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18F5E-C23C-4099-A406-E529666D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2" y="1006477"/>
            <a:ext cx="11222182" cy="5817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Нестационарный ряд </a:t>
            </a:r>
            <a:r>
              <a:rPr lang="ru-RU" sz="2400" dirty="0"/>
              <a:t>- временной ряд считается нестационарным, если некоторые из его статистических свойств меняются с течением времени. </a:t>
            </a:r>
          </a:p>
          <a:p>
            <a:pPr marL="0" indent="0">
              <a:buNone/>
            </a:pPr>
            <a:r>
              <a:rPr lang="ru-RU" sz="2400" dirty="0"/>
              <a:t>Другими словами, ВР имеет переменную среднего времени, дисперсию или другие статистические характеристики.</a:t>
            </a:r>
            <a:endParaRPr lang="en-US" sz="32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E4B016-46C5-1BFB-262D-5EBB825C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0FBAF8A5-46C7-4F6E-B148-B2008975F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35"/>
          <a:stretch/>
        </p:blipFill>
        <p:spPr bwMode="auto">
          <a:xfrm>
            <a:off x="2366105" y="2938311"/>
            <a:ext cx="6992302" cy="313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Stationarity in time series analysis | by Shay Palachy | Towards Data  Science"/>
          <p:cNvSpPr>
            <a:spLocks noChangeAspect="1" noChangeArrowheads="1"/>
          </p:cNvSpPr>
          <p:nvPr/>
        </p:nvSpPr>
        <p:spPr bwMode="auto">
          <a:xfrm>
            <a:off x="-136842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351"/>
          </a:p>
        </p:txBody>
      </p:sp>
    </p:spTree>
    <p:extLst>
      <p:ext uri="{BB962C8B-B14F-4D97-AF65-F5344CB8AC3E}">
        <p14:creationId xmlns:p14="http://schemas.microsoft.com/office/powerpoint/2010/main" val="164417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0CA84-E3AD-B7BB-82C3-9F98F66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EA5FD-8A38-5591-1AF1-A2953088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24" y="946446"/>
            <a:ext cx="11673540" cy="4965108"/>
          </a:xfrm>
        </p:spPr>
        <p:txBody>
          <a:bodyPr>
            <a:normAutofit/>
          </a:bodyPr>
          <a:lstStyle/>
          <a:p>
            <a:r>
              <a:rPr lang="ru-RU" sz="2200" b="1" dirty="0"/>
              <a:t>В узком смысле, </a:t>
            </a:r>
            <a:r>
              <a:rPr lang="ru-RU" sz="2200" dirty="0"/>
              <a:t>при сдвиге в любой момент времени ВР на одном и </a:t>
            </a:r>
            <a:r>
              <a:rPr lang="ru-RU" sz="2200" dirty="0" err="1"/>
              <a:t>томже</a:t>
            </a:r>
            <a:r>
              <a:rPr lang="ru-RU" sz="2200" dirty="0"/>
              <a:t> размер. Выборки имеет одно и тоже распределение </a:t>
            </a:r>
          </a:p>
          <a:p>
            <a:pPr lvl="1"/>
            <a:r>
              <a:rPr lang="ru-RU" sz="2200" dirty="0"/>
              <a:t>если для любых  </a:t>
            </a:r>
            <a:r>
              <a:rPr lang="en" sz="2200" dirty="0"/>
              <a:t>t</a:t>
            </a:r>
            <a:r>
              <a:rPr lang="en" sz="2200" baseline="-25000" dirty="0"/>
              <a:t>1</a:t>
            </a:r>
            <a:r>
              <a:rPr lang="en" sz="2200" dirty="0"/>
              <a:t>,...,</a:t>
            </a:r>
            <a:r>
              <a:rPr lang="en" sz="2200" dirty="0" err="1"/>
              <a:t>t</a:t>
            </a:r>
            <a:r>
              <a:rPr lang="en" sz="2200" baseline="-25000" dirty="0" err="1"/>
              <a:t>n</a:t>
            </a:r>
            <a:r>
              <a:rPr lang="en" sz="2200" dirty="0"/>
              <a:t>,</a:t>
            </a:r>
            <a:r>
              <a:rPr lang="ru-RU" sz="2200" dirty="0"/>
              <a:t> и </a:t>
            </a:r>
            <a:r>
              <a:rPr lang="el-GR" sz="2200" dirty="0"/>
              <a:t>τ </a:t>
            </a:r>
            <a:r>
              <a:rPr lang="ru-RU" sz="2200" dirty="0"/>
              <a:t>вектор (</a:t>
            </a:r>
            <a:r>
              <a:rPr lang="en" sz="2200" dirty="0"/>
              <a:t>y</a:t>
            </a:r>
            <a:r>
              <a:rPr lang="en" sz="2200" baseline="-25000" dirty="0"/>
              <a:t>t1+</a:t>
            </a:r>
            <a:r>
              <a:rPr lang="el-GR" sz="2200" baseline="-25000" dirty="0"/>
              <a:t>τ</a:t>
            </a:r>
            <a:r>
              <a:rPr lang="el-GR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en" sz="2200" baseline="-25000" dirty="0"/>
              <a:t>+</a:t>
            </a:r>
            <a:r>
              <a:rPr lang="el-GR" sz="2200" baseline="-25000" dirty="0"/>
              <a:t>τ</a:t>
            </a:r>
            <a:r>
              <a:rPr lang="el-GR" sz="2200" dirty="0"/>
              <a:t>)</a:t>
            </a:r>
            <a:r>
              <a:rPr lang="ru-RU" sz="2200" dirty="0"/>
              <a:t> совпадает по распределению с (</a:t>
            </a:r>
            <a:r>
              <a:rPr lang="en" sz="2200" dirty="0"/>
              <a:t>y</a:t>
            </a:r>
            <a:r>
              <a:rPr lang="en" sz="2200" baseline="-25000" dirty="0"/>
              <a:t>t1</a:t>
            </a:r>
            <a:r>
              <a:rPr lang="en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ru-RU" sz="2200" dirty="0"/>
              <a:t>)</a:t>
            </a:r>
          </a:p>
          <a:p>
            <a:r>
              <a:rPr lang="ru-RU" sz="2200" b="1" dirty="0"/>
              <a:t>В широком смысле: </a:t>
            </a:r>
            <a:r>
              <a:rPr lang="ru-RU" sz="2200" dirty="0"/>
              <a:t>если статистические свойства ВР не меняются с течением времени. </a:t>
            </a:r>
            <a:endParaRPr lang="en-US" sz="2200" dirty="0"/>
          </a:p>
          <a:p>
            <a:r>
              <a:rPr lang="ru-RU" sz="2200" dirty="0"/>
              <a:t>Другими словами, </a:t>
            </a:r>
            <a:r>
              <a:rPr lang="en-US" sz="2200" dirty="0" err="1"/>
              <a:t>ряд</a:t>
            </a:r>
            <a:r>
              <a:rPr lang="ru-RU" sz="2200" dirty="0"/>
              <a:t> имеет постоянное среднее значение и дисперсию, а ковариация зависит только от разницы индексов лагов. </a:t>
            </a:r>
          </a:p>
          <a:p>
            <a:pPr lvl="1"/>
            <a:r>
              <a:rPr lang="ru-RU" sz="2200" dirty="0"/>
              <a:t>указанные статистические характеристики не должны быть бесконечными.</a:t>
            </a:r>
          </a:p>
          <a:p>
            <a:pPr lvl="1"/>
            <a:r>
              <a:rPr lang="en" sz="1800" dirty="0"/>
              <a:t>E</a:t>
            </a:r>
            <a:r>
              <a:rPr lang="en" sz="1800" i="1" dirty="0"/>
              <a:t>y</a:t>
            </a:r>
            <a:r>
              <a:rPr lang="en" sz="1800" i="1" baseline="-25000" dirty="0"/>
              <a:t>t</a:t>
            </a:r>
            <a:r>
              <a:rPr lang="en" sz="1800" baseline="30000" dirty="0"/>
              <a:t>2</a:t>
            </a:r>
            <a:r>
              <a:rPr lang="en" sz="1800" dirty="0"/>
              <a:t>​&lt;+∞ </a:t>
            </a:r>
            <a:r>
              <a:rPr lang="ru-RU" sz="1800" dirty="0"/>
              <a:t>для любого </a:t>
            </a:r>
            <a:r>
              <a:rPr lang="en" sz="1800" i="1" dirty="0"/>
              <a:t>t</a:t>
            </a:r>
            <a:r>
              <a:rPr lang="en" sz="1800" dirty="0"/>
              <a:t>.</a:t>
            </a:r>
            <a:r>
              <a:rPr lang="ru-RU" sz="1800" dirty="0"/>
              <a:t> </a:t>
            </a:r>
            <a:r>
              <a:rPr lang="en" sz="1800" dirty="0" err="1"/>
              <a:t>E</a:t>
            </a:r>
            <a:r>
              <a:rPr lang="en" sz="1800" i="1" dirty="0" err="1"/>
              <a:t>y</a:t>
            </a:r>
            <a:r>
              <a:rPr lang="en" sz="1800" i="1" baseline="-25000" dirty="0" err="1"/>
              <a:t>t</a:t>
            </a:r>
            <a:r>
              <a:rPr lang="ru-RU" sz="1800" i="1" baseline="30000" dirty="0"/>
              <a:t> </a:t>
            </a:r>
            <a:r>
              <a:rPr lang="ru-RU" sz="1800" dirty="0"/>
              <a:t>не зависит от </a:t>
            </a:r>
            <a:r>
              <a:rPr lang="en" sz="1800" i="1" dirty="0"/>
              <a:t>t</a:t>
            </a:r>
            <a:r>
              <a:rPr lang="en" sz="1800" dirty="0"/>
              <a:t>, </a:t>
            </a:r>
            <a:r>
              <a:rPr lang="ru-RU" sz="1800" dirty="0"/>
              <a:t>то есть в среднем значение временного ряда постоянно. </a:t>
            </a:r>
            <a:r>
              <a:rPr lang="en" sz="1800" dirty="0"/>
              <a:t>C</a:t>
            </a:r>
            <a:r>
              <a:rPr lang="ru-RU" sz="1800" dirty="0" err="1"/>
              <a:t>ov</a:t>
            </a:r>
            <a:r>
              <a:rPr lang="en-US" sz="1800" dirty="0"/>
              <a:t>(t)=</a:t>
            </a:r>
            <a:r>
              <a:rPr lang="en-US" sz="1800" dirty="0" err="1"/>
              <a:t>Cov</a:t>
            </a:r>
            <a:r>
              <a:rPr lang="en-US" sz="1800" dirty="0"/>
              <a:t>(</a:t>
            </a:r>
            <a:r>
              <a:rPr lang="en-US" sz="1800" dirty="0" err="1"/>
              <a:t>t+tau</a:t>
            </a:r>
            <a:r>
              <a:rPr lang="en-US" sz="1800" dirty="0"/>
              <a:t>)</a:t>
            </a:r>
            <a:r>
              <a:rPr lang="ru-RU" sz="1800" dirty="0"/>
              <a:t> , то есть значение автокорреляции зависит только от длины отрезка времени между двумя значениями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9CDCF-CA89-B716-5BCC-F64969F3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348A59E2-301A-DD23-5BAD-1E073DDA6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b="56037"/>
          <a:stretch>
            <a:fillRect/>
          </a:stretch>
        </p:blipFill>
        <p:spPr bwMode="auto">
          <a:xfrm>
            <a:off x="4655127" y="4134452"/>
            <a:ext cx="6975222" cy="247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200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</a:t>
            </a:r>
            <a:r>
              <a:rPr lang="ru-RU" b="1" dirty="0" err="1"/>
              <a:t>нестационарности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4" y="1060024"/>
            <a:ext cx="11952107" cy="460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000" dirty="0"/>
              <a:t>Если ВР имеет тренд, выраженную сезонность или переменную дисперсию (</a:t>
            </a:r>
            <a:r>
              <a:rPr lang="ru-RU" sz="2000" dirty="0" err="1"/>
              <a:t>гетеросекдостичность</a:t>
            </a:r>
            <a:r>
              <a:rPr lang="ru-RU" sz="2000" dirty="0"/>
              <a:t>), то ВР </a:t>
            </a:r>
            <a:r>
              <a:rPr lang="ru-RU" sz="2000" dirty="0" err="1"/>
              <a:t>нестационарен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DF02A9-1A1F-AE07-E202-839063BE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pic>
        <p:nvPicPr>
          <p:cNvPr id="10242" name="Picture 2" descr="image.png">
            <a:extLst>
              <a:ext uri="{FF2B5EF4-FFF2-40B4-BE49-F238E27FC236}">
                <a16:creationId xmlns:a16="http://schemas.microsoft.com/office/drawing/2014/main" id="{DD8C898C-2BC4-4CDA-A79D-0C28B3CB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930" y="1427559"/>
            <a:ext cx="7632415" cy="50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20B24B-03C1-7306-AE22-AAC0C9E9B8D4}"/>
              </a:ext>
            </a:extLst>
          </p:cNvPr>
          <p:cNvSpPr txBox="1"/>
          <p:nvPr/>
        </p:nvSpPr>
        <p:spPr>
          <a:xfrm>
            <a:off x="1607127" y="6356350"/>
            <a:ext cx="874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0938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7A29-C3A0-7522-0DAC-32BF46F9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2E7AB-E7E7-215B-AFB5-C6656CE0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ВР. Замечания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4A7FB-FF48-C141-958F-6FB372C0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868764"/>
            <a:ext cx="11665527" cy="4965108"/>
          </a:xfrm>
        </p:spPr>
        <p:txBody>
          <a:bodyPr>
            <a:normAutofit/>
          </a:bodyPr>
          <a:lstStyle/>
          <a:p>
            <a:r>
              <a:rPr lang="en-US" sz="2200" dirty="0" err="1"/>
              <a:t>Если</a:t>
            </a:r>
            <a:r>
              <a:rPr lang="ru-RU" sz="2200" dirty="0"/>
              <a:t> ряд регулярный он может не быть </a:t>
            </a:r>
            <a:r>
              <a:rPr lang="ru-RU" sz="2200" dirty="0" err="1"/>
              <a:t>стационарым</a:t>
            </a:r>
            <a:r>
              <a:rPr lang="ru-RU" sz="2200" dirty="0"/>
              <a:t> (но не наоборот)</a:t>
            </a:r>
          </a:p>
          <a:p>
            <a:r>
              <a:rPr lang="ru-RU" sz="2200" dirty="0"/>
              <a:t>Временной ряд в ряде случаев сводится к стационарному простыми преобразованиями</a:t>
            </a:r>
          </a:p>
          <a:p>
            <a:r>
              <a:rPr lang="ru-RU" sz="2200" dirty="0"/>
              <a:t>Не все методы предсказания ВР требуют сведения ВР к стационарному, но основные требуют </a:t>
            </a:r>
          </a:p>
          <a:p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4CC8B1-1A3E-A562-1797-A6262E4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 descr="stationary">
            <a:extLst>
              <a:ext uri="{FF2B5EF4-FFF2-40B4-BE49-F238E27FC236}">
                <a16:creationId xmlns:a16="http://schemas.microsoft.com/office/drawing/2014/main" id="{CC32CBF0-6BD1-B7CD-8361-92A51F4C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42" y="2105075"/>
            <a:ext cx="6227116" cy="447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1B7D9-7F27-C0BA-1A6B-FDC96CEC9608}"/>
              </a:ext>
            </a:extLst>
          </p:cNvPr>
          <p:cNvSpPr txBox="1"/>
          <p:nvPr/>
        </p:nvSpPr>
        <p:spPr>
          <a:xfrm>
            <a:off x="410813" y="3013364"/>
            <a:ext cx="5569526" cy="265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Примеры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а,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c, d, e, f,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поскольку они имеют тренд;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b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скорее всего стационарный, имеется выброс;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d, g, h,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потому что имеют сезонность.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FB870-F0D3-4BE0-3CEC-865570E80239}"/>
              </a:ext>
            </a:extLst>
          </p:cNvPr>
          <p:cNvSpPr txBox="1"/>
          <p:nvPr/>
        </p:nvSpPr>
        <p:spPr>
          <a:xfrm>
            <a:off x="263236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education.yandex.ru</a:t>
            </a:r>
            <a:r>
              <a:rPr lang="ru-RU" sz="1400" dirty="0"/>
              <a:t>/</a:t>
            </a:r>
            <a:r>
              <a:rPr lang="ru-RU" sz="1400" dirty="0" err="1"/>
              <a:t>handbook</a:t>
            </a:r>
            <a:r>
              <a:rPr lang="ru-RU" sz="1400" dirty="0"/>
              <a:t>/</a:t>
            </a:r>
            <a:r>
              <a:rPr lang="ru-RU" sz="1400" dirty="0" err="1"/>
              <a:t>ml</a:t>
            </a:r>
            <a:r>
              <a:rPr lang="ru-RU" sz="1400" dirty="0"/>
              <a:t>/</a:t>
            </a:r>
            <a:r>
              <a:rPr lang="ru-RU" sz="1400" dirty="0" err="1"/>
              <a:t>article</a:t>
            </a:r>
            <a:r>
              <a:rPr lang="ru-RU" sz="1400" dirty="0"/>
              <a:t>/</a:t>
            </a:r>
            <a:r>
              <a:rPr lang="ru-RU" sz="1400" dirty="0" err="1"/>
              <a:t>analitika-vremennyh-ryadov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9591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42922"/>
            <a:ext cx="9614647" cy="254187"/>
          </a:xfrm>
        </p:spPr>
        <p:txBody>
          <a:bodyPr>
            <a:normAutofit fontScale="85000" lnSpcReduction="20000"/>
          </a:bodyPr>
          <a:lstStyle/>
          <a:p>
            <a:r>
              <a:rPr lang="ru-RU" sz="1600" dirty="0"/>
              <a:t>Пример нестационарности линии тренда</a:t>
            </a:r>
            <a:endParaRPr lang="en-US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E1B8AB-F6A2-B209-F59C-484D26A9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pic>
        <p:nvPicPr>
          <p:cNvPr id="9218" name="Picture 2" descr="image.png">
            <a:extLst>
              <a:ext uri="{FF2B5EF4-FFF2-40B4-BE49-F238E27FC236}">
                <a16:creationId xmlns:a16="http://schemas.microsoft.com/office/drawing/2014/main" id="{052CE546-38C8-4545-9CE9-3131E7560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395" y="1414418"/>
            <a:ext cx="4705351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45038227-696C-41D4-9A08-38060580E5A9}"/>
              </a:ext>
            </a:extLst>
          </p:cNvPr>
          <p:cNvSpPr txBox="1">
            <a:spLocks/>
          </p:cNvSpPr>
          <p:nvPr/>
        </p:nvSpPr>
        <p:spPr>
          <a:xfrm>
            <a:off x="5086672" y="1242922"/>
            <a:ext cx="5790557" cy="298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Пример сезонной нестационарности (в смысле дисперсии)</a:t>
            </a:r>
            <a:endParaRPr lang="en-US" sz="1600" dirty="0"/>
          </a:p>
        </p:txBody>
      </p:sp>
      <p:pic>
        <p:nvPicPr>
          <p:cNvPr id="9220" name="Picture 4" descr="image.png">
            <a:extLst>
              <a:ext uri="{FF2B5EF4-FFF2-40B4-BE49-F238E27FC236}">
                <a16:creationId xmlns:a16="http://schemas.microsoft.com/office/drawing/2014/main" id="{128D129D-DCD4-4354-8157-9D2680DA5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646" y="1605040"/>
            <a:ext cx="38766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226A53E-F261-4312-BAF5-E1890408B123}"/>
              </a:ext>
            </a:extLst>
          </p:cNvPr>
          <p:cNvSpPr txBox="1">
            <a:spLocks/>
          </p:cNvSpPr>
          <p:nvPr/>
        </p:nvSpPr>
        <p:spPr>
          <a:xfrm>
            <a:off x="1524000" y="3820835"/>
            <a:ext cx="9480176" cy="415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Пример сезонной нестационарности (в смысле периода сезонности)</a:t>
            </a:r>
            <a:endParaRPr lang="en-US" sz="2000" dirty="0"/>
          </a:p>
        </p:txBody>
      </p:sp>
      <p:pic>
        <p:nvPicPr>
          <p:cNvPr id="9222" name="Picture 6" descr="image.png">
            <a:extLst>
              <a:ext uri="{FF2B5EF4-FFF2-40B4-BE49-F238E27FC236}">
                <a16:creationId xmlns:a16="http://schemas.microsoft.com/office/drawing/2014/main" id="{C99BD1AB-58BB-4B8A-925E-27D84036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91" y="4281209"/>
            <a:ext cx="5391151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2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537B0-7966-4E39-93FF-9C938D86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042F3-0F09-4E1C-8D08-588BCFBD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905855"/>
            <a:ext cx="11693237" cy="234897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Одним из наиболее важных случаев стационарного ВР является стационарность шума.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Шум стационарности с независимыми выборками во времени (с автокорреляцией 0) называется шумом белого гаусса (WGN).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Таким образом, WGN - это ряд с </a:t>
            </a:r>
            <a:br>
              <a:rPr lang="ru-RU" dirty="0"/>
            </a:br>
            <a:r>
              <a:rPr lang="ru-RU" dirty="0"/>
              <a:t>𝑒𝑣 = 0; 𝑣𝑎𝑟 &lt;∞; 𝑐𝑜𝑣 (𝑛) = 𝑠𝑡𝑑⋅𝛿 (𝑘 − 𝑛), </a:t>
            </a:r>
            <a:br>
              <a:rPr lang="ru-RU" dirty="0"/>
            </a:br>
            <a:r>
              <a:rPr lang="ru-RU" dirty="0"/>
              <a:t>где 𝛿 (𝑘 − 𝑛) = 1, если 𝑘 = 𝑛, и 0 в остальных случаях.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АКФ БГШ будет иметь некоторые ненулевые случайные значения – это эффект ограниченной выборки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9C633B-7933-0002-AE7E-DFCCA19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421DC3E5-7CB6-4B47-B931-566FF314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797" y="4104844"/>
            <a:ext cx="2887437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E8075-377F-4827-AB95-E074F6D4F7F7}"/>
              </a:ext>
            </a:extLst>
          </p:cNvPr>
          <p:cNvSpPr/>
          <p:nvPr/>
        </p:nvSpPr>
        <p:spPr>
          <a:xfrm>
            <a:off x="1790701" y="3603172"/>
            <a:ext cx="8599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</a:t>
            </a:r>
            <a:r>
              <a:rPr lang="ru-RU" sz="1600" dirty="0"/>
              <a:t> </a:t>
            </a:r>
            <a:r>
              <a:rPr lang="ru-RU" sz="1600" dirty="0" err="1"/>
              <a:t>wgn</a:t>
            </a:r>
            <a:r>
              <a:rPr lang="ru-RU" sz="16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8635D9C6-FAAA-48AF-B36E-41034DB9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" y="4170025"/>
            <a:ext cx="5264746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A6652-22B8-97B5-C1CF-515D1A7E07A0}"/>
              </a:ext>
            </a:extLst>
          </p:cNvPr>
          <p:cNvSpPr txBox="1"/>
          <p:nvPr/>
        </p:nvSpPr>
        <p:spPr>
          <a:xfrm>
            <a:off x="1705857" y="3117262"/>
            <a:ext cx="9397573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dirty="0"/>
              <a:t>Обратите внимание, что дисперсия также может быть названа мощностью шума.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4955585-ABAB-C413-AECE-CABA2C507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180" y="3972504"/>
            <a:ext cx="3726820" cy="234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607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81141"/>
            <a:ext cx="11671300" cy="53403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На самом деле почти все временные ряды нестационарны (в той или иной степени). 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Однако, в зависимости от требований к точности в некоторых случаях мы можем сделать допущение, что ВР является стационарным для нашей задачи если он удовлетворяет каким либо нашим условиям.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Нестационарные ВР могут содержать ложные корреляции (тренда, сезонность, аномалии)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на стационарность визуально (напр. Резкий спад АКФ)</a:t>
            </a:r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строго на </a:t>
            </a:r>
            <a:r>
              <a:rPr lang="ru-RU" dirty="0" err="1"/>
              <a:t>станционарность</a:t>
            </a:r>
            <a:r>
              <a:rPr lang="ru-RU" dirty="0"/>
              <a:t> с помощью различных статистических критериев. Наиболее популярны следующие критерии: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</a:t>
            </a:r>
            <a:r>
              <a:rPr lang="en" dirty="0"/>
              <a:t>KPSS (Kwiatkowski–Phillips–Schmidt–Shin): </a:t>
            </a:r>
            <a:r>
              <a:rPr lang="ru-RU" dirty="0"/>
              <a:t>если </a:t>
            </a:r>
            <a:r>
              <a:rPr lang="en" dirty="0"/>
              <a:t>p-value ⩽0.05, </a:t>
            </a:r>
            <a:r>
              <a:rPr lang="ru-RU" dirty="0"/>
              <a:t>то отвергаем стационарность;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Дики-Фуллера: если </a:t>
            </a:r>
            <a:r>
              <a:rPr lang="en" dirty="0"/>
              <a:t>p-value ⩽0.05, </a:t>
            </a:r>
            <a:r>
              <a:rPr lang="ru-RU" dirty="0"/>
              <a:t>то отвергаем </a:t>
            </a:r>
            <a:r>
              <a:rPr lang="ru-RU" b="1" dirty="0" err="1"/>
              <a:t>НЕ</a:t>
            </a:r>
            <a:r>
              <a:rPr lang="ru-RU" dirty="0" err="1"/>
              <a:t>стационарность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87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40" y="1563703"/>
            <a:ext cx="11630819" cy="49752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Можно ввести несколько градаций </a:t>
            </a:r>
            <a:r>
              <a:rPr lang="ru-RU" sz="2200" dirty="0" err="1"/>
              <a:t>нестационарности</a:t>
            </a:r>
            <a:r>
              <a:rPr lang="ru-RU" sz="2200" dirty="0"/>
              <a:t> ВР: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Сильная стационарность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Слабая стационарность (2 порядка)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/>
              <a:t>DS-</a:t>
            </a:r>
            <a:r>
              <a:rPr lang="ru-RU" sz="2200" dirty="0"/>
              <a:t>ряд разностно-стационарный ВР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/>
              <a:t>TS-</a:t>
            </a:r>
            <a:r>
              <a:rPr lang="ru-RU" sz="2200" dirty="0"/>
              <a:t>ряд</a:t>
            </a:r>
            <a:r>
              <a:rPr lang="en-US" sz="2200" dirty="0"/>
              <a:t> – </a:t>
            </a:r>
            <a:r>
              <a:rPr lang="ru-RU" sz="2200" dirty="0"/>
              <a:t>сводится к стационарному путем удаления тренда и\или сезонности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 err="1"/>
              <a:t>Гетеросекдостичный</a:t>
            </a:r>
            <a:r>
              <a:rPr lang="ru-RU" sz="2200" dirty="0"/>
              <a:t> ВР – может сводится к стационарному путем логарифмирования</a:t>
            </a:r>
            <a:r>
              <a:rPr lang="en-US" sz="2200" dirty="0"/>
              <a:t> </a:t>
            </a:r>
            <a:r>
              <a:rPr lang="ru-RU" sz="2200" dirty="0"/>
              <a:t>(степенного преобразования)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Регулярный ВР – нестационарный ВР, имеющий явные паттерны поведения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 err="1"/>
              <a:t>Неформализуемый</a:t>
            </a:r>
            <a:r>
              <a:rPr lang="ru-RU" sz="2200" dirty="0"/>
              <a:t> ВР – паттерны поведения не явны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22</a:t>
            </a:fld>
            <a:endParaRPr lang="en-US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68941" y="1552175"/>
            <a:ext cx="30736" cy="474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https://miro.medium.com/v2/resize:fit:875/1*aRHZEc1hxOXYLHDnBVaKd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071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9BAA-6E94-D4B8-B3C8-2821CABD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ABA1A-E0BD-E207-CE58-71907033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31535"/>
            <a:ext cx="11346872" cy="66278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Преобразования нестационарных ВР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Можно ввести модель ВР стационарную по отношению к тренду или сезонности </a:t>
                </a:r>
                <a:r>
                  <a:rPr lang="en-US" sz="2200" dirty="0"/>
                  <a:t>(TS </a:t>
                </a:r>
                <a:r>
                  <a:rPr lang="ru-RU" sz="2200" dirty="0"/>
                  <a:t>модель</a:t>
                </a:r>
                <a:r>
                  <a:rPr lang="en-US" sz="2200" dirty="0"/>
                  <a:t>)</a:t>
                </a:r>
                <a:r>
                  <a:rPr lang="ru-RU" sz="2200" dirty="0"/>
                  <a:t>. То есть: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endParaRPr lang="ru-RU" altLang="en-US" sz="2000" dirty="0"/>
              </a:p>
              <a:p>
                <a:pPr marL="319088" indent="0">
                  <a:buNone/>
                </a:pPr>
                <a:r>
                  <a:rPr lang="ru-RU" sz="2200" dirty="0"/>
                  <a:t>где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 – </a:t>
                </a:r>
                <a:r>
                  <a:rPr lang="ru-RU" altLang="en-US" sz="2400" dirty="0"/>
                  <a:t>стационарная часть ВР. </a:t>
                </a:r>
              </a:p>
              <a:p>
                <a:pPr marL="319088" indent="0">
                  <a:buNone/>
                </a:pPr>
                <a:r>
                  <a:rPr lang="ru-RU" altLang="en-US" sz="2400" dirty="0"/>
                  <a:t>Тогда можно убрать тренд и стационарность их вычитанием. </a:t>
                </a:r>
              </a:p>
              <a:p>
                <a:pPr marL="0" indent="0">
                  <a:buNone/>
                </a:pPr>
                <a:r>
                  <a:rPr lang="ru-RU" altLang="en-US" sz="2400" dirty="0"/>
                  <a:t>Или преобразованиями типа </a:t>
                </a:r>
                <a:r>
                  <a:rPr lang="en-US" altLang="en-US" sz="2400" dirty="0"/>
                  <a:t>(DS </a:t>
                </a:r>
                <a:r>
                  <a:rPr lang="ru-RU" altLang="en-US" sz="2400" dirty="0"/>
                  <a:t>модель):</a:t>
                </a:r>
                <a:endParaRPr lang="ru-RU" sz="2200" dirty="0"/>
              </a:p>
              <a:p>
                <a:r>
                  <a:rPr lang="ru-RU" sz="2200" dirty="0"/>
                  <a:t>Дифференцирование ряда (для снятие тренда) 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" sz="2200" dirty="0" err="1"/>
                  <a:t>y</a:t>
                </a:r>
                <a:r>
                  <a:rPr lang="en" sz="2200" baseline="-25000" dirty="0" err="1"/>
                  <a:t>t</a:t>
                </a:r>
                <a:r>
                  <a:rPr lang="en" sz="2200" dirty="0"/>
                  <a:t>′=y</a:t>
                </a:r>
                <a:r>
                  <a:rPr lang="en" sz="2200" baseline="-25000" dirty="0"/>
                  <a:t>t</a:t>
                </a:r>
                <a:r>
                  <a:rPr lang="en" sz="2200" dirty="0"/>
                  <a:t>−y</a:t>
                </a:r>
                <a:r>
                  <a:rPr lang="en" sz="2200" baseline="-25000" dirty="0"/>
                  <a:t>t−1</a:t>
                </a:r>
                <a:r>
                  <a:rPr lang="en" sz="2200" dirty="0"/>
                  <a:t>. 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Сезонное дифференцирование (снятие сезонности)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" sz="2200" dirty="0"/>
                  <a:t>=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dirty="0"/>
                  <a:t>​−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baseline="-25000" dirty="0"/>
                  <a:t>−</a:t>
                </a:r>
                <a:r>
                  <a:rPr lang="en" sz="2200" i="1" baseline="-25000" dirty="0"/>
                  <a:t>s</a:t>
                </a:r>
                <a:r>
                  <a:rPr lang="en" sz="2200" baseline="-25000" dirty="0"/>
                  <a:t>​</a:t>
                </a:r>
                <a:r>
                  <a:rPr lang="en" sz="2200" dirty="0"/>
                  <a:t>, </a:t>
                </a:r>
                <a:r>
                  <a:rPr lang="ru-RU" sz="2200" dirty="0"/>
                  <a:t/>
                </a:r>
                <a:br>
                  <a:rPr lang="ru-RU" sz="2200" dirty="0"/>
                </a:br>
                <a:endParaRPr lang="ru-RU" sz="2200" dirty="0"/>
              </a:p>
              <a:p>
                <a:pPr marL="0" indent="0" algn="ctr">
                  <a:buNone/>
                </a:pPr>
                <a:r>
                  <a:rPr lang="en" sz="2200" i="1" dirty="0"/>
                  <a:t>s</a:t>
                </a:r>
                <a:r>
                  <a:rPr lang="en" sz="2200" dirty="0"/>
                  <a:t> – </a:t>
                </a:r>
                <a:r>
                  <a:rPr lang="ru-RU" sz="2200" dirty="0"/>
                  <a:t>длина сезона.</a:t>
                </a:r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Преобразования можно применять несколько раз. </a:t>
                </a:r>
              </a:p>
              <a:p>
                <a:r>
                  <a:rPr lang="ru-RU" sz="2200" dirty="0"/>
                  <a:t>Обычно сначала применяют сезонное дифференцирование.</a:t>
                </a:r>
                <a:br>
                  <a:rPr lang="ru-RU" sz="2200" dirty="0"/>
                </a:b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  <a:blipFill>
                <a:blip r:embed="rId2"/>
                <a:stretch>
                  <a:fillRect l="-995" t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D23F6C-7410-4C33-A167-CD4C4394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43E2-8C7A-261B-FAA7-DD4F1D0B815C}"/>
              </a:ext>
            </a:extLst>
          </p:cNvPr>
          <p:cNvSpPr txBox="1"/>
          <p:nvPr/>
        </p:nvSpPr>
        <p:spPr>
          <a:xfrm>
            <a:off x="2885208" y="6352143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87B935A-7DEC-7B26-64EF-E7C975725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" b="68104"/>
          <a:stretch>
            <a:fillRect/>
          </a:stretch>
        </p:blipFill>
        <p:spPr bwMode="auto">
          <a:xfrm>
            <a:off x="7925297" y="626007"/>
            <a:ext cx="3737753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.png">
            <a:extLst>
              <a:ext uri="{FF2B5EF4-FFF2-40B4-BE49-F238E27FC236}">
                <a16:creationId xmlns:a16="http://schemas.microsoft.com/office/drawing/2014/main" id="{842AE8AE-5091-CA10-4BC3-9F9B9EA49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71" t="37973" r="3671" b="33202"/>
          <a:stretch>
            <a:fillRect/>
          </a:stretch>
        </p:blipFill>
        <p:spPr bwMode="auto">
          <a:xfrm>
            <a:off x="7808033" y="2581322"/>
            <a:ext cx="3855017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3ADD4940-D8B5-C15B-5B54-B156C06B5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71872" r="-9"/>
          <a:stretch>
            <a:fillRect/>
          </a:stretch>
        </p:blipFill>
        <p:spPr bwMode="auto">
          <a:xfrm>
            <a:off x="8007938" y="4536637"/>
            <a:ext cx="3855017" cy="190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/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/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43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65B6-B96E-1E76-3705-2650BC1F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E32E8-5EA8-F99F-F926-A6D3A2CE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09" y="0"/>
            <a:ext cx="10515600" cy="1325563"/>
          </a:xfrm>
        </p:spPr>
        <p:txBody>
          <a:bodyPr/>
          <a:lstStyle/>
          <a:p>
            <a:r>
              <a:rPr lang="ru-RU" b="1" dirty="0" err="1"/>
              <a:t>Гетероскедастичность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</p:spPr>
            <p:txBody>
              <a:bodyPr/>
              <a:lstStyle/>
              <a:p>
                <a:pPr marL="179384" lvl="1" indent="-179384"/>
                <a:r>
                  <a:rPr lang="ru-RU" dirty="0"/>
                  <a:t>Можно избавиться при помощи Бокса-Кокса или например как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14AA5B-B022-4081-70C1-DDB7650E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 descr="Временные ряды - презентация онлайн">
            <a:extLst>
              <a:ext uri="{FF2B5EF4-FFF2-40B4-BE49-F238E27FC236}">
                <a16:creationId xmlns:a16="http://schemas.microsoft.com/office/drawing/2014/main" id="{81306493-953A-D497-DA2E-508EFC8F0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0"/>
          <a:stretch/>
        </p:blipFill>
        <p:spPr bwMode="auto">
          <a:xfrm>
            <a:off x="303375" y="2846121"/>
            <a:ext cx="6573280" cy="378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ox-Cox Transformation.. The real-world data is not always… | by Ronak  Chhatbar | Medium">
            <a:extLst>
              <a:ext uri="{FF2B5EF4-FFF2-40B4-BE49-F238E27FC236}">
                <a16:creationId xmlns:a16="http://schemas.microsoft.com/office/drawing/2014/main" id="{4946CB98-F55D-FFFC-BFD3-D30D3C07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85" y="1565234"/>
            <a:ext cx="2744047" cy="130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219D55-A210-A6C7-AE41-0EE7928EE31F}"/>
              </a:ext>
            </a:extLst>
          </p:cNvPr>
          <p:cNvSpPr txBox="1"/>
          <p:nvPr/>
        </p:nvSpPr>
        <p:spPr>
          <a:xfrm>
            <a:off x="121262" y="1645793"/>
            <a:ext cx="4201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Логарифмические преобразования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Полиномиальные преобразования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Преобразования Бокса-Кокса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Комбинации с другими темами</a:t>
            </a:r>
            <a:endParaRPr lang="en-US" dirty="0"/>
          </a:p>
        </p:txBody>
      </p:sp>
      <p:pic>
        <p:nvPicPr>
          <p:cNvPr id="8" name="Picture 2" descr="ex">
            <a:extLst>
              <a:ext uri="{FF2B5EF4-FFF2-40B4-BE49-F238E27FC236}">
                <a16:creationId xmlns:a16="http://schemas.microsoft.com/office/drawing/2014/main" id="{E67ADA8F-567B-E771-9B76-21F75C70E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9" y="1672024"/>
            <a:ext cx="4636846" cy="504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57BB38-5F7F-B029-5AE5-AB1AB1AF5BC9}"/>
              </a:ext>
            </a:extLst>
          </p:cNvPr>
          <p:cNvSpPr txBox="1"/>
          <p:nvPr/>
        </p:nvSpPr>
        <p:spPr>
          <a:xfrm>
            <a:off x="7288357" y="3531107"/>
            <a:ext cx="97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y’=ln(</a:t>
            </a:r>
            <a:r>
              <a:rPr lang="en-US" dirty="0"/>
              <a:t>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/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dirty="0"/>
                  <a:t>y’’=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ln(</a:t>
                </a:r>
                <a:r>
                  <a:rPr lang="en-US" dirty="0"/>
                  <a:t>y)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blipFill>
                <a:blip r:embed="rId6"/>
                <a:stretch>
                  <a:fillRect l="-2162" t="-6667" b="-2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8042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8760</TotalTime>
  <Words>1134</Words>
  <Application>Microsoft Office PowerPoint</Application>
  <PresentationFormat>Широкоэкранный</PresentationFormat>
  <Paragraphs>209</Paragraphs>
  <Slides>24</Slides>
  <Notes>9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__YSText_10659f</vt:lpstr>
      <vt:lpstr>Arial</vt:lpstr>
      <vt:lpstr>Calibri</vt:lpstr>
      <vt:lpstr>Calibri Light</vt:lpstr>
      <vt:lpstr>Cambria Math</vt:lpstr>
      <vt:lpstr>quote-cjk-patch</vt:lpstr>
      <vt:lpstr>Times New Roman</vt:lpstr>
      <vt:lpstr>Тема Office 2013–2022</vt:lpstr>
      <vt:lpstr>Статистический подход к анализу  временных рядов.</vt:lpstr>
      <vt:lpstr>Модели временных рядов</vt:lpstr>
      <vt:lpstr>Особенности модели временных рядов</vt:lpstr>
      <vt:lpstr>Белый Гауссов шум</vt:lpstr>
      <vt:lpstr>Статистические сво йства ВР</vt:lpstr>
      <vt:lpstr>Автокорреляция ВР</vt:lpstr>
      <vt:lpstr>Замечания к автокорреляции</vt:lpstr>
      <vt:lpstr>Пример дорожно-транспортных происшествий за 14 лет с дискретностью 1 месяц,</vt:lpstr>
      <vt:lpstr>Корреляция</vt:lpstr>
      <vt:lpstr>Замечания </vt:lpstr>
      <vt:lpstr>Частичная автокорреляция</vt:lpstr>
      <vt:lpstr>Частичная автокорреляция</vt:lpstr>
      <vt:lpstr>Презентация PowerPoint</vt:lpstr>
      <vt:lpstr>Презентация PowerPoint</vt:lpstr>
      <vt:lpstr>Анализ стационарности</vt:lpstr>
      <vt:lpstr>Стационарность ВР</vt:lpstr>
      <vt:lpstr>Анализ нестационарности</vt:lpstr>
      <vt:lpstr>Стационарность ВР. Замечания</vt:lpstr>
      <vt:lpstr>Анализ стационарности</vt:lpstr>
      <vt:lpstr>Белый Гауссов шум</vt:lpstr>
      <vt:lpstr>Преобразования нестационарных  временных рядов</vt:lpstr>
      <vt:lpstr>Преобразования нестационарных  временных рядов</vt:lpstr>
      <vt:lpstr>Преобразования нестационарных ВР</vt:lpstr>
      <vt:lpstr>Гетероскедастичность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265</cp:revision>
  <dcterms:created xsi:type="dcterms:W3CDTF">2021-10-31T10:57:36Z</dcterms:created>
  <dcterms:modified xsi:type="dcterms:W3CDTF">2025-07-15T13:27:50Z</dcterms:modified>
</cp:coreProperties>
</file>