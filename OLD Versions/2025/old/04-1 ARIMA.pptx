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310" r:id="rId3"/>
    <p:sldId id="351" r:id="rId4"/>
    <p:sldId id="340" r:id="rId5"/>
    <p:sldId id="358" r:id="rId6"/>
    <p:sldId id="311" r:id="rId7"/>
    <p:sldId id="312" r:id="rId8"/>
    <p:sldId id="313" r:id="rId9"/>
    <p:sldId id="352" r:id="rId10"/>
    <p:sldId id="363" r:id="rId11"/>
    <p:sldId id="364" r:id="rId12"/>
    <p:sldId id="365" r:id="rId13"/>
    <p:sldId id="366" r:id="rId14"/>
    <p:sldId id="353" r:id="rId15"/>
    <p:sldId id="362" r:id="rId16"/>
    <p:sldId id="354" r:id="rId17"/>
    <p:sldId id="355" r:id="rId18"/>
    <p:sldId id="356" r:id="rId19"/>
    <p:sldId id="357" r:id="rId20"/>
    <p:sldId id="361" r:id="rId21"/>
    <p:sldId id="359" r:id="rId22"/>
    <p:sldId id="360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  <p:sldId id="40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6127" autoAdjust="0"/>
  </p:normalViewPr>
  <p:slideViewPr>
    <p:cSldViewPr snapToGrid="0">
      <p:cViewPr varScale="1">
        <p:scale>
          <a:sx n="126" d="100"/>
          <a:sy n="126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10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160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760934"/>
          </a:xfrm>
        </p:spPr>
        <p:txBody>
          <a:bodyPr>
            <a:normAutofit/>
          </a:bodyPr>
          <a:lstStyle/>
          <a:p>
            <a:r>
              <a:rPr lang="ru-RU" sz="8800" b="1" dirty="0"/>
              <a:t>М</a:t>
            </a:r>
            <a:r>
              <a:rPr lang="en-US" sz="8800" b="1" dirty="0" err="1"/>
              <a:t>одели</a:t>
            </a:r>
            <a:r>
              <a:rPr lang="en-US" sz="8800" b="1" dirty="0"/>
              <a:t> </a:t>
            </a:r>
            <a:r>
              <a:rPr lang="ru-RU" sz="8800" b="1" dirty="0"/>
              <a:t>а</a:t>
            </a:r>
            <a:r>
              <a:rPr lang="en-US" sz="8800" b="1" dirty="0" err="1"/>
              <a:t>вторегресси</a:t>
            </a:r>
            <a:r>
              <a:rPr lang="ru-RU" sz="8800" b="1" dirty="0"/>
              <a:t>и</a:t>
            </a:r>
            <a:r>
              <a:rPr lang="en-US" sz="8800" b="1" dirty="0"/>
              <a:t> </a:t>
            </a:r>
            <a:br>
              <a:rPr lang="en-US" sz="8800" b="1" dirty="0"/>
            </a:br>
            <a:r>
              <a:rPr lang="ru-RU" sz="8800" b="1" dirty="0"/>
              <a:t>с</a:t>
            </a:r>
            <a:r>
              <a:rPr lang="en-US" sz="8800" b="1" dirty="0" err="1"/>
              <a:t>кользящ</a:t>
            </a:r>
            <a:r>
              <a:rPr lang="ru-RU" sz="8800" b="1" dirty="0"/>
              <a:t>его</a:t>
            </a:r>
            <a:r>
              <a:rPr lang="en-US" sz="8800" b="1" dirty="0"/>
              <a:t> </a:t>
            </a:r>
            <a:r>
              <a:rPr lang="en-US" sz="8800" b="1" dirty="0" err="1"/>
              <a:t>средн</a:t>
            </a:r>
            <a:r>
              <a:rPr lang="ru-RU" sz="8800" b="1" dirty="0"/>
              <a:t>его</a:t>
            </a:r>
            <a:r>
              <a:rPr lang="en-US" sz="8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365125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812" y="1110344"/>
                <a:ext cx="10797988" cy="4898570"/>
              </a:xfrm>
            </p:spPr>
            <p:txBody>
              <a:bodyPr>
                <a:normAutofit fontScale="92500" lnSpcReduction="20000"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600" dirty="0"/>
                  <a:t>Рассмотрим уравнение взвешенного </a:t>
                </a:r>
                <a:r>
                  <a:rPr lang="en-US" sz="2600" dirty="0" err="1"/>
                  <a:t>скользящего</a:t>
                </a:r>
                <a:r>
                  <a:rPr lang="en-US" sz="2600" dirty="0"/>
                  <a:t> </a:t>
                </a:r>
                <a:r>
                  <a:rPr lang="ru-RU" sz="2600" dirty="0"/>
                  <a:t>сглаживания</a:t>
                </a:r>
                <a:r>
                  <a:rPr lang="en-US" sz="2600" dirty="0"/>
                  <a:t> (</a:t>
                </a:r>
                <a:r>
                  <a:rPr lang="en-US" sz="2600" b="1" dirty="0" err="1"/>
                  <a:t>Авторегрессия</a:t>
                </a:r>
                <a:r>
                  <a:rPr lang="en-US" sz="2600" b="1" dirty="0"/>
                  <a:t>, АR</a:t>
                </a:r>
                <a:r>
                  <a:rPr lang="en-US" sz="2600" dirty="0"/>
                  <a:t>)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+...=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6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/>
                  <a:t>Также переменная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может быть </a:t>
                </a:r>
                <a:r>
                  <a:rPr lang="en-US" sz="2600" dirty="0" err="1"/>
                  <a:t>также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представлен</a:t>
                </a:r>
                <a:r>
                  <a:rPr lang="ru-RU" sz="2600" dirty="0"/>
                  <a:t>а</a:t>
                </a:r>
                <a:r>
                  <a:rPr lang="en-US" sz="2600" dirty="0"/>
                  <a:t> как набор процессов, подобных </a:t>
                </a:r>
                <a:r>
                  <a:rPr lang="en-US" sz="2600" dirty="0" err="1"/>
                  <a:t>случайному</a:t>
                </a:r>
                <a:r>
                  <a:rPr lang="en-US" sz="2600" dirty="0"/>
                  <a:t> </a:t>
                </a:r>
                <a:r>
                  <a:rPr lang="en-US" sz="2600" dirty="0" err="1"/>
                  <a:t>блужданию</a:t>
                </a:r>
                <a:r>
                  <a:rPr lang="ru-RU" sz="2600" dirty="0"/>
                  <a:t> при помощи </a:t>
                </a:r>
                <a:r>
                  <a:rPr lang="en-US" sz="2600" dirty="0"/>
                  <a:t> </a:t>
                </a:r>
                <a:r>
                  <a:rPr lang="ru-RU" sz="2600" b="1" dirty="0"/>
                  <a:t>с</a:t>
                </a:r>
                <a:r>
                  <a:rPr lang="en-US" sz="2600" b="1" dirty="0" err="1"/>
                  <a:t>кользящ</a:t>
                </a:r>
                <a:r>
                  <a:rPr lang="ru-RU" sz="2600" b="1" dirty="0"/>
                  <a:t>его</a:t>
                </a:r>
                <a:r>
                  <a:rPr lang="en-US" sz="2600" b="1" dirty="0"/>
                  <a:t> </a:t>
                </a:r>
                <a:r>
                  <a:rPr lang="en-US" sz="2600" b="1" dirty="0" err="1"/>
                  <a:t>средн</a:t>
                </a:r>
                <a:r>
                  <a:rPr lang="ru-RU" sz="2600" b="1" dirty="0"/>
                  <a:t>его</a:t>
                </a:r>
                <a:r>
                  <a:rPr lang="en-US" sz="2600" b="1" dirty="0"/>
                  <a:t>, ​​MA</a:t>
                </a:r>
                <a:r>
                  <a:rPr lang="en-US" sz="2600" dirty="0"/>
                  <a:t> </a:t>
                </a:r>
                <a:r>
                  <a:rPr lang="ru-RU" sz="2600" dirty="0"/>
                  <a:t>как</a:t>
                </a:r>
                <a:endParaRPr lang="en-US" sz="26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6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.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812" y="1110344"/>
                <a:ext cx="10797988" cy="4898570"/>
              </a:xfrm>
              <a:blipFill>
                <a:blip r:embed="rId2"/>
                <a:stretch>
                  <a:fillRect l="-734" t="-9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58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 </a:t>
            </a:r>
            <a:r>
              <a:rPr lang="ru-RU" dirty="0" err="1"/>
              <a:t>Вольда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2830" y="1504613"/>
                <a:ext cx="11130550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Недетерминированный стационарный в широком смысле процесс может быть представлен как стохастический процесс </a:t>
                </a:r>
                <a:r>
                  <a:rPr lang="ru-RU" sz="2200" i="1" dirty="0"/>
                  <a:t>МА</a:t>
                </a:r>
                <a:r>
                  <a:rPr lang="ru-RU" sz="2200" dirty="0"/>
                  <a:t>(q), в предельном случае бесконечного порядка.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ru-RU" sz="2200" dirty="0"/>
                  <a:t>почти стационарный = стационарный + простой тренд, а в предельном случае q будет бесконечным</a:t>
                </a:r>
              </a:p>
              <a:p>
                <a:r>
                  <a:rPr lang="ru-RU" sz="2200" dirty="0"/>
                  <a:t>с – постоянная (дрейф, глобальный тренд).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sz="2200" dirty="0"/>
                  <a:t> – стационарный ряд.</a:t>
                </a:r>
              </a:p>
              <a:p>
                <a:r>
                  <a:rPr lang="ru-RU" sz="2200" dirty="0"/>
                  <a:t>Как правило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200" dirty="0"/>
                  <a:t>белый шум.</a:t>
                </a:r>
              </a:p>
              <a:p>
                <a:r>
                  <a:rPr lang="ru-RU" sz="2200" dirty="0"/>
                  <a:t>Как следствие, пусть </a:t>
                </a:r>
                <a:r>
                  <a:rPr lang="en-US" sz="2200" dirty="0"/>
                  <a:t>q – </a:t>
                </a:r>
                <a:r>
                  <a:rPr lang="ru-RU" sz="2200" dirty="0"/>
                  <a:t>конечно, тогда каким будет остаток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ru-RU" sz="22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830" y="1504613"/>
                <a:ext cx="11130550" cy="4351338"/>
              </a:xfrm>
              <a:blipFill>
                <a:blip r:embed="rId2"/>
                <a:stretch>
                  <a:fillRect l="-602" t="-1821" b="-17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6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21648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3191" y="929369"/>
                <a:ext cx="11110609" cy="574765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Попытаемся объединить процесс </a:t>
                </a:r>
                <a:r>
                  <a:rPr lang="en-US" sz="2400" dirty="0"/>
                  <a:t>MA, </a:t>
                </a:r>
                <a:r>
                  <a:rPr lang="ru-RU" sz="2400" dirty="0"/>
                  <a:t>но ограниченного порядка и </a:t>
                </a:r>
                <a:r>
                  <a:rPr lang="en-US" sz="2400" dirty="0"/>
                  <a:t>AR </a:t>
                </a:r>
                <a:r>
                  <a:rPr lang="ru-RU" sz="2400" dirty="0"/>
                  <a:t>ограниченного порядка.   Получаем процесс </a:t>
                </a:r>
                <a:r>
                  <a:rPr lang="ru-RU" sz="2400" dirty="0" err="1"/>
                  <a:t>Авторегресии</a:t>
                </a:r>
                <a:r>
                  <a:rPr lang="ru-RU" sz="2400" dirty="0"/>
                  <a:t>-Скользящего среднего </a:t>
                </a:r>
                <a:r>
                  <a:rPr lang="en-US" sz="2400" dirty="0"/>
                  <a:t>(ARCC, </a:t>
                </a:r>
                <a:r>
                  <a:rPr lang="en-US" sz="2400" b="1" dirty="0"/>
                  <a:t>ARMA</a:t>
                </a:r>
                <a:r>
                  <a:rPr lang="en-US" sz="2400" dirty="0"/>
                  <a:t>):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весовые коэффициенты модели.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В некоторой интерпретации можно сказать, что, что из модели следует, что </a:t>
                </a:r>
                <a:r>
                  <a:rPr lang="en-US" b="1" dirty="0"/>
                  <a:t>​​MA</a:t>
                </a:r>
                <a:r>
                  <a:rPr lang="en-US" dirty="0"/>
                  <a:t> </a:t>
                </a:r>
                <a:r>
                  <a:rPr lang="ru-RU" dirty="0"/>
                  <a:t>это остаток, не объясненный авторегрессией</a:t>
                </a:r>
                <a:br>
                  <a:rPr lang="ru-RU" dirty="0"/>
                </a:br>
                <a:r>
                  <a:rPr lang="ru-RU" dirty="0"/>
                  <a:t> (или наоборот):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ru-RU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191" y="929369"/>
                <a:ext cx="11110609" cy="5747656"/>
              </a:xfrm>
              <a:blipFill>
                <a:blip r:embed="rId2"/>
                <a:stretch>
                  <a:fillRect l="-768" t="-106" r="-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63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21648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3191" y="929369"/>
                <a:ext cx="11110609" cy="5747656"/>
              </a:xfrm>
            </p:spPr>
            <p:txBody>
              <a:bodyPr>
                <a:normAutofit/>
              </a:bodyPr>
              <a:lstStyle/>
              <a:p>
                <a:pPr marL="534988" lvl="3" indent="-360363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 smtClean="0"/>
                  <a:t>Иногда также можно описать </a:t>
                </a:r>
                <a:r>
                  <a:rPr lang="en-US" sz="2400" dirty="0"/>
                  <a:t>ARMA </a:t>
                </a:r>
                <a:r>
                  <a:rPr lang="ru-RU" sz="2400" dirty="0"/>
                  <a:t>как </a:t>
                </a:r>
              </a:p>
              <a:p>
                <a:pPr marL="1371600" lvl="3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+с</m:t>
                      </m:r>
                    </m:oMath>
                  </m:oMathPara>
                </a14:m>
                <a:endParaRPr lang="en-US" sz="20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Тогда можно ввести модель реальных данных</a:t>
                </a:r>
              </a:p>
              <a:p>
                <a:pPr marL="0" lvl="3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2000" i="1">
                          <a:latin typeface="Cambria Math" panose="02040503050406030204" pitchFamily="18" charset="0"/>
                        </a:rPr>
                        <m:t>+с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just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Проинтерпретировать модель можно следующим образом: </a:t>
                </a:r>
                <a:br>
                  <a:rPr lang="ru-RU" dirty="0"/>
                </a:br>
                <a:r>
                  <a:rPr lang="ru-RU" dirty="0"/>
                  <a:t>текущее значение ВР зависит от </a:t>
                </a:r>
                <a:r>
                  <a:rPr lang="ru-RU" dirty="0" smtClean="0"/>
                  <a:t>суперпозиции прошлых </a:t>
                </a:r>
                <a:r>
                  <a:rPr lang="ru-RU" dirty="0"/>
                  <a:t>значений до заданного лага </a:t>
                </a:r>
                <a:r>
                  <a:rPr lang="ru-RU" i="1" dirty="0"/>
                  <a:t>p</a:t>
                </a:r>
                <a:r>
                  <a:rPr lang="ru-RU" dirty="0"/>
                  <a:t> и от текущего и прошлых внешних «возмущений» (флуктуаций) до лага </a:t>
                </a:r>
                <a:r>
                  <a:rPr lang="ru-RU" dirty="0" smtClean="0"/>
                  <a:t>заданного </a:t>
                </a:r>
                <a:r>
                  <a:rPr lang="ru-RU" i="1" dirty="0" smtClean="0"/>
                  <a:t>q</a:t>
                </a:r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191" y="929369"/>
                <a:ext cx="11110609" cy="5747656"/>
              </a:xfrm>
              <a:blipFill>
                <a:blip r:embed="rId2"/>
                <a:stretch>
                  <a:fillRect l="-987" t="-106" r="-1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78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rmAutofit/>
          </a:bodyPr>
          <a:lstStyle/>
          <a:p>
            <a:r>
              <a:rPr lang="en-US" sz="3600" b="1" dirty="0"/>
              <a:t>ARMA</a:t>
            </a:r>
            <a:r>
              <a:rPr lang="ru-RU" sz="3600" b="1" dirty="0"/>
              <a:t>  как фильтр!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013012"/>
                <a:ext cx="11232776" cy="5746377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ru-RU" sz="2200" dirty="0"/>
                  <a:t>Строгий в</a:t>
                </a:r>
                <a:r>
                  <a:rPr lang="en-US" sz="2200" dirty="0" err="1"/>
                  <a:t>ывод</a:t>
                </a:r>
                <a:r>
                  <a:rPr lang="en-US" sz="2200" dirty="0"/>
                  <a:t> </a:t>
                </a:r>
                <a:r>
                  <a:rPr lang="en-US" sz="2200" dirty="0" err="1"/>
                  <a:t>уравнения</a:t>
                </a:r>
                <a:r>
                  <a:rPr lang="en-US" sz="2200" dirty="0"/>
                  <a:t> ARMA на основе гармонического </a:t>
                </a:r>
                <a:r>
                  <a:rPr lang="en-US" sz="2200" dirty="0" err="1"/>
                  <a:t>анализа</a:t>
                </a:r>
                <a:r>
                  <a:rPr lang="en-US" sz="2200" dirty="0"/>
                  <a:t> (</a:t>
                </a:r>
                <a:r>
                  <a:rPr lang="ru-RU" sz="2200" b="0" i="0" dirty="0">
                    <a:latin typeface="+mj-lt"/>
                  </a:rPr>
                  <a:t>или </a:t>
                </a:r>
                <a:r>
                  <a:rPr lang="en-US" sz="2200" i="0" dirty="0">
                    <a:latin typeface="+mj-lt"/>
                  </a:rPr>
                  <a:t>z</a:t>
                </a:r>
                <a:r>
                  <a:rPr lang="en-US" sz="2200" dirty="0"/>
                  <a:t>-</a:t>
                </a:r>
                <a:r>
                  <a:rPr lang="ru-RU" sz="2200" dirty="0"/>
                  <a:t>преобразований</a:t>
                </a:r>
                <a:r>
                  <a:rPr lang="en-US" sz="2200" dirty="0"/>
                  <a:t>), </a:t>
                </a:r>
                <a:r>
                  <a:rPr lang="en-US" sz="2200" dirty="0" err="1"/>
                  <a:t>доказ</a:t>
                </a:r>
                <a:r>
                  <a:rPr lang="ru-RU" sz="2200" dirty="0" err="1"/>
                  <a:t>ывает</a:t>
                </a:r>
                <a:r>
                  <a:rPr lang="en-US" sz="2200" dirty="0"/>
                  <a:t>, что каждый рациональный (физически реальный) </a:t>
                </a:r>
                <a:r>
                  <a:rPr lang="en-US" sz="2200" dirty="0" err="1"/>
                  <a:t>спектр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временн</a:t>
                </a:r>
                <a:r>
                  <a:rPr lang="ru-RU" sz="2200" dirty="0"/>
                  <a:t>ого</a:t>
                </a:r>
                <a:r>
                  <a:rPr lang="en-US" sz="2200" dirty="0"/>
                  <a:t> </a:t>
                </a:r>
                <a:r>
                  <a:rPr lang="en-US" sz="2200" dirty="0" err="1"/>
                  <a:t>ряд</a:t>
                </a:r>
                <a:r>
                  <a:rPr lang="ru-RU" sz="2200" dirty="0"/>
                  <a:t>а</a:t>
                </a:r>
                <a:r>
                  <a:rPr lang="en-US" sz="2200" dirty="0"/>
                  <a:t> (или любая система, зависящая </a:t>
                </a:r>
                <a:r>
                  <a:rPr lang="en-US" sz="2200" dirty="0" err="1"/>
                  <a:t>от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времени</a:t>
                </a:r>
                <a:r>
                  <a:rPr lang="en-US" sz="2200" dirty="0"/>
                  <a:t>) </a:t>
                </a:r>
                <a:r>
                  <a:rPr lang="en-US" sz="2200" dirty="0" err="1"/>
                  <a:t>мож</a:t>
                </a:r>
                <a:r>
                  <a:rPr lang="ru-RU" sz="2200" dirty="0" err="1"/>
                  <a:t>ет</a:t>
                </a:r>
                <a:r>
                  <a:rPr lang="ru-RU" sz="2200" dirty="0"/>
                  <a:t> быть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представ</a:t>
                </a:r>
                <a:r>
                  <a:rPr lang="ru-RU" sz="2200" dirty="0"/>
                  <a:t>лена</a:t>
                </a:r>
                <a:r>
                  <a:rPr lang="en-US" sz="2200" dirty="0"/>
                  <a:t> как </a:t>
                </a:r>
              </a:p>
              <a:p>
                <a:pPr marL="0" indent="0" algn="l" rtl="0">
                  <a:lnSpc>
                    <a:spcPct val="100000"/>
                  </a:lnSpc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/|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  <a:p>
                <a:pPr algn="l" rtl="0"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- спектр процесса AR и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- спектр процесса МА.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en-US" sz="2200" dirty="0"/>
                  <a:t>Основным следствием этого является то, что процесс ARMA можно рассматривать </a:t>
                </a:r>
                <a:r>
                  <a:rPr lang="en-US" sz="2200" dirty="0" err="1"/>
                  <a:t>как</a:t>
                </a:r>
                <a:r>
                  <a:rPr lang="en-US" sz="2200" dirty="0"/>
                  <a:t> </a:t>
                </a:r>
                <a:r>
                  <a:rPr lang="en-US" sz="2200" dirty="0" err="1"/>
                  <a:t>фильтраци</a:t>
                </a:r>
                <a:r>
                  <a:rPr lang="ru-RU" sz="2200" dirty="0"/>
                  <a:t>ю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r>
                  <a:rPr lang="en-US" sz="2200" dirty="0"/>
                  <a:t>фильтром с бесконечной импульсной характеристикой. </a:t>
                </a:r>
              </a:p>
              <a:p>
                <a:pPr algn="just" rtl="0"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ru-RU" sz="2200" dirty="0"/>
                  <a:t>При этом </a:t>
                </a:r>
                <a:r>
                  <a:rPr lang="en-US" sz="2200" dirty="0"/>
                  <a:t>MA по отдельности можно рассматривать как </a:t>
                </a:r>
                <a:r>
                  <a:rPr lang="en-US" sz="2200" dirty="0" err="1"/>
                  <a:t>фильтрацию</a:t>
                </a:r>
                <a:r>
                  <a:rPr lang="en-US" sz="2200" dirty="0"/>
                  <a:t> </a:t>
                </a:r>
                <a:r>
                  <a:rPr lang="en-US" sz="2200" dirty="0" err="1"/>
                  <a:t>шума</a:t>
                </a:r>
                <a:r>
                  <a:rPr lang="ru-RU" sz="2200" dirty="0"/>
                  <a:t> в процессе,</a:t>
                </a:r>
              </a:p>
              <a:p>
                <a:pPr algn="just" rtl="0"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en-US" sz="2200" dirty="0"/>
                  <a:t>AR </a:t>
                </a:r>
                <a:r>
                  <a:rPr lang="ru-RU" sz="2200" dirty="0"/>
                  <a:t>часть можно рассматривать как </a:t>
                </a:r>
                <a:r>
                  <a:rPr lang="ru-RU" sz="2200" dirty="0" err="1"/>
                  <a:t>фильтрацю</a:t>
                </a:r>
                <a:r>
                  <a:rPr lang="ru-RU" sz="2200" dirty="0"/>
                  <a:t> с конечной импульсной </a:t>
                </a:r>
                <a:r>
                  <a:rPr lang="ru-RU" sz="2200" dirty="0" err="1"/>
                  <a:t>характеритстикой</a:t>
                </a:r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013012"/>
                <a:ext cx="11232776" cy="5746377"/>
              </a:xfrm>
              <a:blipFill>
                <a:blip r:embed="rId2"/>
                <a:stretch>
                  <a:fillRect l="-651" t="-7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64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1039905"/>
                <a:ext cx="11232776" cy="5746377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/>
                  <a:t>В некоторых случаях </a:t>
                </a:r>
                <a:r>
                  <a:rPr lang="en-US" sz="2400" dirty="0" err="1"/>
                  <a:t>мы</a:t>
                </a:r>
                <a:r>
                  <a:rPr lang="en-US" sz="2400" dirty="0"/>
                  <a:t> можем аппроксимировать ARMA </a:t>
                </a:r>
                <a:r>
                  <a:rPr lang="en-US" sz="2400" dirty="0" err="1"/>
                  <a:t>его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перво</a:t>
                </a:r>
                <a:r>
                  <a:rPr lang="ru-RU" sz="2400" dirty="0"/>
                  <a:t>й</a:t>
                </a:r>
                <a:r>
                  <a:rPr lang="en-US" sz="2400" dirty="0"/>
                  <a:t> </a:t>
                </a:r>
                <a:r>
                  <a:rPr lang="ru-RU" sz="2400" dirty="0"/>
                  <a:t>суммой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ую</a:t>
                </a:r>
                <a:r>
                  <a:rPr lang="en-US" sz="2400" dirty="0"/>
                  <a:t> теперь мы будем </a:t>
                </a:r>
                <a:r>
                  <a:rPr lang="en-US" sz="2400" dirty="0" err="1"/>
                  <a:t>называть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Авторегресси</a:t>
                </a:r>
                <a:r>
                  <a:rPr lang="ru-RU" sz="2400" dirty="0" err="1"/>
                  <a:t>онная</a:t>
                </a:r>
                <a:r>
                  <a:rPr lang="en-US" sz="2400" dirty="0"/>
                  <a:t> модель (AR)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algn="l" rtl="0"/>
                <a:r>
                  <a:rPr lang="en-US" sz="2400" dirty="0"/>
                  <a:t>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втор</a:t>
                </a:r>
                <a:r>
                  <a:rPr lang="ru-RU" sz="2400" dirty="0"/>
                  <a:t>ой</a:t>
                </a:r>
                <a:r>
                  <a:rPr lang="en-US" sz="2400" dirty="0"/>
                  <a:t> </a:t>
                </a:r>
                <a:r>
                  <a:rPr lang="ru-RU" sz="2400" dirty="0"/>
                  <a:t>суммой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ую</a:t>
                </a:r>
                <a:r>
                  <a:rPr lang="en-US" sz="2400" dirty="0"/>
                  <a:t> теперь мы будем называть моделью скользящей средней (MA)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r>
                  <a:rPr lang="ru-RU" sz="2400" dirty="0"/>
                  <a:t>В первом случае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модель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зависит от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коэффициент</a:t>
                </a:r>
                <a:r>
                  <a:rPr lang="ru-RU" sz="2400" dirty="0" err="1"/>
                  <a:t>ов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</a:t>
                </a:r>
              </a:p>
              <a:p>
                <a:pPr lvl="1"/>
                <a:r>
                  <a:rPr lang="ru-RU" sz="2800" dirty="0"/>
                  <a:t>можно сказать, </a:t>
                </a:r>
                <a:r>
                  <a:rPr lang="en-US" sz="2800" dirty="0" err="1"/>
                  <a:t>что</a:t>
                </a:r>
                <a:r>
                  <a:rPr lang="en-US" sz="2800" dirty="0"/>
                  <a:t> </a:t>
                </a:r>
                <a:r>
                  <a:rPr lang="en-US" sz="2800" dirty="0" err="1"/>
                  <a:t>модель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𝐴𝑅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имеет</a:t>
                </a:r>
                <a:r>
                  <a:rPr lang="en-US" sz="2800" dirty="0"/>
                  <a:t> </a:t>
                </a:r>
                <a:r>
                  <a:rPr lang="ru-RU" sz="2800" dirty="0"/>
                  <a:t>порядок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 или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ru-RU" sz="2400" dirty="0"/>
                  <a:t>Во втором случае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модель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зависит от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коэффициент</a:t>
                </a:r>
                <a:r>
                  <a:rPr lang="ru-RU" sz="2400" dirty="0" err="1"/>
                  <a:t>ов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719138" lvl="2"/>
                <a:r>
                  <a:rPr lang="ru-RU" sz="2800" dirty="0"/>
                  <a:t>можно сказать, </a:t>
                </a:r>
                <a:r>
                  <a:rPr lang="en-US" sz="2800" dirty="0" err="1"/>
                  <a:t>что</a:t>
                </a:r>
                <a:r>
                  <a:rPr lang="en-US" sz="2800" dirty="0"/>
                  <a:t> </a:t>
                </a:r>
                <a:r>
                  <a:rPr lang="en-US" sz="2800" dirty="0" err="1"/>
                  <a:t>модель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𝑀𝐴</m:t>
                    </m:r>
                  </m:oMath>
                </a14:m>
                <a:r>
                  <a:rPr lang="en-US" sz="2800" dirty="0"/>
                  <a:t> имеет </a:t>
                </a:r>
                <a:r>
                  <a:rPr lang="ru-RU" sz="2800" dirty="0"/>
                  <a:t>порядок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или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𝑀𝐴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</a:t>
                </a:r>
                <a:endParaRPr lang="ru-RU" sz="2800" dirty="0"/>
              </a:p>
              <a:p>
                <a:pPr marL="719138" lvl="2"/>
                <a:r>
                  <a:rPr lang="ru-RU" dirty="0" err="1"/>
                  <a:t>Лема</a:t>
                </a:r>
                <a:r>
                  <a:rPr lang="ru-RU" dirty="0"/>
                  <a:t> </a:t>
                </a:r>
                <a:r>
                  <a:rPr lang="ru-RU" dirty="0" err="1"/>
                  <a:t>Уитсона</a:t>
                </a:r>
                <a:r>
                  <a:rPr lang="ru-RU" dirty="0"/>
                  <a:t>: число </a:t>
                </a:r>
                <a:r>
                  <a:rPr lang="en-US" dirty="0"/>
                  <a:t>AR </a:t>
                </a:r>
                <a:r>
                  <a:rPr lang="ru-RU" dirty="0"/>
                  <a:t>параметров </a:t>
                </a:r>
                <a:r>
                  <a:rPr lang="ru-RU" dirty="0" err="1"/>
                  <a:t>сязано</a:t>
                </a:r>
                <a:r>
                  <a:rPr lang="ru-RU" dirty="0"/>
                  <a:t> с числом </a:t>
                </a:r>
                <a:r>
                  <a:rPr lang="ru-RU" dirty="0" err="1"/>
                  <a:t>лин.независ</a:t>
                </a:r>
                <a:r>
                  <a:rPr lang="ru-RU" dirty="0"/>
                  <a:t>. </a:t>
                </a:r>
                <a:r>
                  <a:rPr lang="ru-RU" dirty="0" err="1"/>
                  <a:t>Соста</a:t>
                </a:r>
                <a:r>
                  <a:rPr lang="ru-RU" dirty="0"/>
                  <a:t>. ВР как </a:t>
                </a:r>
                <a:r>
                  <a:rPr lang="en-US" dirty="0"/>
                  <a:t>2n+1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1039905"/>
                <a:ext cx="11232776" cy="5746377"/>
              </a:xfrm>
              <a:blipFill>
                <a:blip r:embed="rId2"/>
                <a:stretch>
                  <a:fillRect l="-791" t="-105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88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1039905"/>
                <a:ext cx="11232776" cy="5746377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dirty="0"/>
                  <a:t>Задача ARMA-</a:t>
                </a:r>
                <a:r>
                  <a:rPr lang="en-US" dirty="0" err="1"/>
                  <a:t>аппроксимации</a:t>
                </a:r>
                <a:r>
                  <a:rPr lang="ru-RU" dirty="0"/>
                  <a:t> (построения АРСС модели)</a:t>
                </a:r>
                <a:r>
                  <a:rPr lang="en-US" dirty="0"/>
                  <a:t> - </a:t>
                </a:r>
                <a:r>
                  <a:rPr lang="en-US" dirty="0" err="1"/>
                  <a:t>найти</a:t>
                </a:r>
                <a:r>
                  <a:rPr lang="en-US" dirty="0"/>
                  <a:t> </a:t>
                </a:r>
                <a:r>
                  <a:rPr lang="en-US" dirty="0" err="1"/>
                  <a:t>весовые</a:t>
                </a:r>
                <a:r>
                  <a:rPr lang="en-US" dirty="0"/>
                  <a:t> 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и </a:t>
                </a:r>
                <a:r>
                  <a:rPr lang="ru-RU" dirty="0"/>
                  <a:t>оценить их</a:t>
                </a:r>
                <a:r>
                  <a:rPr lang="en-US" dirty="0"/>
                  <a:t> </a:t>
                </a:r>
                <a:r>
                  <a:rPr lang="en-US" dirty="0" err="1" smtClean="0"/>
                  <a:t>порядки</a:t>
                </a:r>
                <a:r>
                  <a:rPr lang="ru-RU" dirty="0" smtClean="0"/>
                  <a:t> 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p,q</a:t>
                </a:r>
                <a:r>
                  <a:rPr lang="en-US" dirty="0" smtClean="0"/>
                  <a:t>), </a:t>
                </a:r>
                <a:r>
                  <a:rPr lang="en-US" dirty="0"/>
                  <a:t>приближающие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лучше всего к исходному процессу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dirty="0"/>
                  <a:t>Как правило, эту задачу можно решить регрессионными методами. 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dirty="0"/>
                  <a:t>Для этого необходимо выбрать часть ряда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аппроксимации</a:t>
                </a:r>
                <a:r>
                  <a:rPr lang="en-US" dirty="0"/>
                  <a:t> </a:t>
                </a:r>
                <a:r>
                  <a:rPr lang="ru-RU" dirty="0"/>
                  <a:t>(</a:t>
                </a:r>
                <a:r>
                  <a:rPr lang="ru-RU" dirty="0" err="1"/>
                  <a:t>тренеровочную</a:t>
                </a:r>
                <a:r>
                  <a:rPr lang="ru-RU" dirty="0"/>
                  <a:t> выборку)</a:t>
                </a:r>
                <a:r>
                  <a:rPr lang="en-US" dirty="0"/>
                  <a:t> и </a:t>
                </a:r>
                <a:r>
                  <a:rPr lang="en-US" dirty="0" err="1"/>
                  <a:t>проверить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r>
                  <a:rPr lang="ru-RU" dirty="0"/>
                  <a:t> (тестовая выборка)</a:t>
                </a:r>
                <a:r>
                  <a:rPr lang="en-US" dirty="0"/>
                  <a:t>. 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dirty="0"/>
                  <a:t>Если мы знаем коэффициенты ARMA, мы можем предсказать будущие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с использованием уравнения ARMA.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1039905"/>
                <a:ext cx="11232776" cy="5746377"/>
              </a:xfrm>
              <a:blipFill>
                <a:blip r:embed="rId2"/>
                <a:stretch>
                  <a:fillRect l="-977" t="-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Time Series Analysis - MATLAB &amp; Simul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824" y="4586287"/>
            <a:ext cx="3533775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26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6"/>
            <a:ext cx="11364446" cy="5853952"/>
          </a:xfrm>
        </p:spPr>
        <p:txBody>
          <a:bodyPr>
            <a:normAutofit/>
          </a:bodyPr>
          <a:lstStyle/>
          <a:p>
            <a:pPr algn="l" rtl="0"/>
            <a:r>
              <a:rPr lang="ru-RU" sz="2400" dirty="0"/>
              <a:t>Есть ряд эмпирических правил для выбора порядка </a:t>
            </a:r>
            <a:r>
              <a:rPr lang="en-US" sz="2400" dirty="0"/>
              <a:t>ARMA </a:t>
            </a:r>
            <a:r>
              <a:rPr lang="ru-RU" sz="2400" dirty="0"/>
              <a:t>моделей</a:t>
            </a:r>
          </a:p>
          <a:p>
            <a:pPr algn="l" rtl="0"/>
            <a:r>
              <a:rPr lang="ru-RU" sz="2400" dirty="0"/>
              <a:t>Такой анализ выполняется на основе вида графиков автокорреляции и частичной автокорреляции. </a:t>
            </a:r>
            <a:endParaRPr lang="en-US" sz="2400" dirty="0"/>
          </a:p>
          <a:p>
            <a:pPr algn="l" rtl="0"/>
            <a:endParaRPr lang="en-US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679285-94BC-45E3-AB5C-3D14E13D5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09384"/>
              </p:ext>
            </p:extLst>
          </p:nvPr>
        </p:nvGraphicFramePr>
        <p:xfrm>
          <a:off x="503407" y="2139807"/>
          <a:ext cx="11185186" cy="3770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2385">
                  <a:extLst>
                    <a:ext uri="{9D8B030D-6E8A-4147-A177-3AD203B41FA5}">
                      <a16:colId xmlns:a16="http://schemas.microsoft.com/office/drawing/2014/main" val="3810330014"/>
                    </a:ext>
                  </a:extLst>
                </a:gridCol>
                <a:gridCol w="3441596">
                  <a:extLst>
                    <a:ext uri="{9D8B030D-6E8A-4147-A177-3AD203B41FA5}">
                      <a16:colId xmlns:a16="http://schemas.microsoft.com/office/drawing/2014/main" val="928333261"/>
                    </a:ext>
                  </a:extLst>
                </a:gridCol>
                <a:gridCol w="414142">
                  <a:extLst>
                    <a:ext uri="{9D8B030D-6E8A-4147-A177-3AD203B41FA5}">
                      <a16:colId xmlns:a16="http://schemas.microsoft.com/office/drawing/2014/main" val="3199557286"/>
                    </a:ext>
                  </a:extLst>
                </a:gridCol>
                <a:gridCol w="4107063">
                  <a:extLst>
                    <a:ext uri="{9D8B030D-6E8A-4147-A177-3AD203B41FA5}">
                      <a16:colId xmlns:a16="http://schemas.microsoft.com/office/drawing/2014/main" val="2644834403"/>
                    </a:ext>
                  </a:extLst>
                </a:gridCol>
              </a:tblGrid>
              <a:tr h="205164">
                <a:tc>
                  <a:txBody>
                    <a:bodyPr/>
                    <a:lstStyle/>
                    <a:p>
                      <a:pPr algn="l" rtl="0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rtl="0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58686"/>
                  </a:ext>
                </a:extLst>
              </a:tr>
              <a:tr h="469826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2800" u="none" strike="noStrike" dirty="0" err="1">
                          <a:effectLst/>
                        </a:rPr>
                        <a:t>Выбор</a:t>
                      </a:r>
                      <a:r>
                        <a:rPr lang="en-US" sz="2800" u="none" strike="noStrike" dirty="0">
                          <a:effectLst/>
                        </a:rPr>
                        <a:t> </a:t>
                      </a:r>
                      <a:r>
                        <a:rPr lang="ru-RU" sz="2800" u="none" strike="noStrike" dirty="0" err="1">
                          <a:effectLst/>
                        </a:rPr>
                        <a:t>пордяка</a:t>
                      </a:r>
                      <a:r>
                        <a:rPr lang="en-US" sz="2800" u="none" strike="noStrike" dirty="0">
                          <a:effectLst/>
                        </a:rPr>
                        <a:t> ARMA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rtl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48648"/>
                  </a:ext>
                </a:extLst>
              </a:tr>
              <a:tr h="30569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dirty="0">
                          <a:effectLst/>
                        </a:rPr>
                        <a:t>график</a:t>
                      </a:r>
                      <a:r>
                        <a:rPr lang="en-US" sz="2000" u="none" strike="noStrike" dirty="0">
                          <a:effectLst/>
                        </a:rPr>
                        <a:t> ACF</a:t>
                      </a:r>
                      <a:r>
                        <a:rPr lang="ru-RU" sz="2000" u="none" strike="noStrike" dirty="0">
                          <a:effectLst/>
                        </a:rPr>
                        <a:t> (АКФ)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dirty="0">
                          <a:effectLst/>
                        </a:rPr>
                        <a:t>график</a:t>
                      </a:r>
                      <a:r>
                        <a:rPr lang="en-US" sz="2000" u="none" strike="noStrike" dirty="0">
                          <a:effectLst/>
                        </a:rPr>
                        <a:t> PACF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>
                          <a:effectLst/>
                        </a:rPr>
                        <a:t>Заключение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986974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dirty="0">
                          <a:effectLst/>
                        </a:rPr>
                        <a:t>Сходится к </a:t>
                      </a:r>
                      <a:r>
                        <a:rPr lang="en-US" sz="2000" u="none" strike="noStrike" dirty="0">
                          <a:effectLst/>
                        </a:rPr>
                        <a:t> 0 </a:t>
                      </a:r>
                      <a:r>
                        <a:rPr lang="en-US" sz="2000" u="none" strike="noStrike" dirty="0" err="1">
                          <a:effectLst/>
                        </a:rPr>
                        <a:t>каким</a:t>
                      </a:r>
                      <a:r>
                        <a:rPr lang="en-US" sz="2000" u="none" strike="noStrike" dirty="0">
                          <a:effectLst/>
                        </a:rPr>
                        <a:t>-</a:t>
                      </a:r>
                      <a:r>
                        <a:rPr lang="ru-RU" sz="2000" u="none" strike="noStrike" dirty="0">
                          <a:effectLst/>
                        </a:rPr>
                        <a:t>либо</a:t>
                      </a:r>
                      <a:r>
                        <a:rPr lang="en-US" sz="2000" u="none" strike="noStrike" dirty="0">
                          <a:effectLst/>
                        </a:rPr>
                        <a:t> образом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</a:rPr>
                        <a:t>Ненулевые значения в первых p </a:t>
                      </a:r>
                      <a:r>
                        <a:rPr lang="ru-RU" sz="2000" b="1" u="none" strike="noStrike" dirty="0">
                          <a:effectLst/>
                        </a:rPr>
                        <a:t>лагов</a:t>
                      </a:r>
                      <a:r>
                        <a:rPr lang="en-US" sz="2000" b="1" u="none" strike="noStrike" dirty="0">
                          <a:effectLst/>
                        </a:rPr>
                        <a:t>; </a:t>
                      </a:r>
                      <a:r>
                        <a:rPr lang="ru-RU" sz="2000" b="1" u="none" strike="noStrike" dirty="0">
                          <a:effectLst/>
                        </a:rPr>
                        <a:t>потом нули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</a:rPr>
                        <a:t>AR (p) </a:t>
                      </a:r>
                      <a:r>
                        <a:rPr lang="en-US" sz="2000" b="1" u="none" strike="noStrike" dirty="0" err="1">
                          <a:effectLst/>
                        </a:rPr>
                        <a:t>Модель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9842672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</a:rPr>
                        <a:t>Ненулевые значения в первых q </a:t>
                      </a:r>
                      <a:r>
                        <a:rPr lang="ru-RU" sz="2000" b="1" u="none" strike="noStrike" dirty="0">
                          <a:effectLst/>
                        </a:rPr>
                        <a:t>лагов</a:t>
                      </a:r>
                      <a:r>
                        <a:rPr lang="en-US" sz="2000" b="1" u="none" strike="noStrike" dirty="0">
                          <a:effectLst/>
                        </a:rPr>
                        <a:t>; </a:t>
                      </a:r>
                      <a:r>
                        <a:rPr lang="ru-RU" sz="2000" b="1" u="none" strike="noStrike" dirty="0">
                          <a:effectLst/>
                        </a:rPr>
                        <a:t>потом нули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dirty="0">
                          <a:effectLst/>
                        </a:rPr>
                        <a:t>Сходится к </a:t>
                      </a:r>
                      <a:r>
                        <a:rPr lang="en-US" sz="2000" u="none" strike="noStrike" dirty="0">
                          <a:effectLst/>
                        </a:rPr>
                        <a:t> 0 </a:t>
                      </a:r>
                      <a:r>
                        <a:rPr lang="en-US" sz="2000" u="none" strike="noStrike" dirty="0" err="1">
                          <a:effectLst/>
                        </a:rPr>
                        <a:t>каким</a:t>
                      </a:r>
                      <a:r>
                        <a:rPr lang="en-US" sz="2000" u="none" strike="noStrike" dirty="0">
                          <a:effectLst/>
                        </a:rPr>
                        <a:t>-</a:t>
                      </a:r>
                      <a:r>
                        <a:rPr lang="ru-RU" sz="2000" u="none" strike="noStrike" dirty="0">
                          <a:effectLst/>
                        </a:rPr>
                        <a:t>либо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образом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 err="1">
                          <a:effectLst/>
                        </a:rPr>
                        <a:t>Модель</a:t>
                      </a:r>
                      <a:r>
                        <a:rPr lang="en-US" sz="2000" b="1" u="none" strike="noStrike" dirty="0">
                          <a:effectLst/>
                        </a:rPr>
                        <a:t> MA (q)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7765168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i="1" u="none" strike="noStrike" dirty="0" err="1">
                          <a:effectLst/>
                        </a:rPr>
                        <a:t>Значения</a:t>
                      </a:r>
                      <a:r>
                        <a:rPr lang="en-US" sz="2000" i="1" u="none" strike="noStrike" dirty="0">
                          <a:effectLst/>
                        </a:rPr>
                        <a:t>, </a:t>
                      </a:r>
                      <a:r>
                        <a:rPr lang="en-US" sz="2000" i="1" u="none" strike="noStrike" dirty="0" err="1">
                          <a:effectLst/>
                        </a:rPr>
                        <a:t>близкие</a:t>
                      </a:r>
                      <a:r>
                        <a:rPr lang="en-US" sz="2000" i="1" u="none" strike="noStrike" dirty="0">
                          <a:effectLst/>
                        </a:rPr>
                        <a:t> к 1, </a:t>
                      </a:r>
                      <a:r>
                        <a:rPr lang="ru-RU" sz="2000" i="1" u="none" strike="noStrike" dirty="0">
                          <a:effectLst/>
                        </a:rPr>
                        <a:t>нет</a:t>
                      </a:r>
                      <a:r>
                        <a:rPr lang="en-US" sz="2000" i="1" u="none" strike="noStrike" dirty="0">
                          <a:effectLst/>
                        </a:rPr>
                        <a:t> </a:t>
                      </a:r>
                      <a:r>
                        <a:rPr lang="ru-RU" sz="2000" i="1" u="none" strike="noStrike" dirty="0">
                          <a:effectLst/>
                        </a:rPr>
                        <a:t>сходимости или долгая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2000" i="1" u="none" strike="noStrike" dirty="0">
                          <a:effectLst/>
                        </a:rPr>
                        <a:t>Значения, близкие к 1, </a:t>
                      </a:r>
                      <a:r>
                        <a:rPr lang="ru-RU" sz="2000" i="1" u="none" strike="noStrike" dirty="0">
                          <a:effectLst/>
                        </a:rPr>
                        <a:t>нет</a:t>
                      </a:r>
                      <a:r>
                        <a:rPr lang="en-US" sz="2000" i="1" u="none" strike="noStrike" dirty="0">
                          <a:effectLst/>
                        </a:rPr>
                        <a:t> </a:t>
                      </a:r>
                      <a:r>
                        <a:rPr lang="ru-RU" sz="2000" i="1" u="none" strike="noStrike" dirty="0">
                          <a:effectLst/>
                        </a:rPr>
                        <a:t>сходимости или долгая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i="1" u="none" strike="noStrike" dirty="0">
                          <a:effectLst/>
                        </a:rPr>
                        <a:t>Симптомы </a:t>
                      </a:r>
                      <a:r>
                        <a:rPr lang="en-US" sz="2000" b="1" i="1" u="none" strike="noStrike" dirty="0">
                          <a:effectLst/>
                        </a:rPr>
                        <a:t>нестационарного ряда</a:t>
                      </a:r>
                      <a:r>
                        <a:rPr lang="en-US" sz="2000" i="1" u="none" strike="noStrike" dirty="0">
                          <a:effectLst/>
                        </a:rPr>
                        <a:t>. </a:t>
                      </a:r>
                      <a:r>
                        <a:rPr lang="ru-RU" sz="2000" i="1" u="none" strike="noStrike" dirty="0">
                          <a:effectLst/>
                        </a:rPr>
                        <a:t>Нужно</a:t>
                      </a:r>
                      <a:r>
                        <a:rPr lang="ru-RU" sz="2000" i="1" u="none" strike="noStrike" baseline="0" dirty="0">
                          <a:effectLst/>
                        </a:rPr>
                        <a:t> свести ряд к стационарному!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1503096"/>
                  </a:ext>
                </a:extLst>
              </a:tr>
              <a:tr h="60113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Случайн</a:t>
                      </a:r>
                      <a:r>
                        <a:rPr lang="ru-RU" sz="2000" u="none" strike="noStrike" dirty="0" err="1">
                          <a:effectLst/>
                        </a:rPr>
                        <a:t>ый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</a:rPr>
                        <a:t>ряд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3632095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46529" y="6055919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97521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Анализ невязок (остатков)</a:t>
            </a:r>
            <a:r>
              <a:rPr lang="en-US" b="1" dirty="0"/>
              <a:t>. </a:t>
            </a:r>
            <a:r>
              <a:rPr lang="ru-RU" b="1" dirty="0"/>
              <a:t>Стационарность, </a:t>
            </a:r>
            <a:br>
              <a:rPr lang="ru-RU" b="1" dirty="0"/>
            </a:br>
            <a:r>
              <a:rPr lang="ru-RU" b="1" dirty="0"/>
              <a:t>Частичная автокорреляция (</a:t>
            </a:r>
            <a:r>
              <a:rPr lang="en-US" b="1" dirty="0"/>
              <a:t>PACF</a:t>
            </a:r>
            <a:r>
              <a:rPr lang="ru-RU" b="1" dirty="0"/>
              <a:t>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-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 это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редстказанный по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-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это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</a:t>
                </a:r>
                <a14:m>
                  <m:oMath xmlns:m="http://schemas.openxmlformats.org/officeDocument/2006/math">
                    <m:r>
                      <a:rPr lang="ru-RU" sz="2000">
                        <a:latin typeface="Cambria Math" panose="02040503050406030204" pitchFamily="18" charset="0"/>
                      </a:rPr>
                      <m:t>редстказанный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по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;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𝑃𝐴𝐶𝑉𝐹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это частичная ковариация</a:t>
                </a:r>
                <a:r>
                  <a:rPr lang="en-US" sz="2000" dirty="0"/>
                  <a:t>,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𝑃𝐴𝐶𝑉𝐹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«Частичная» корреляция между двумя переменными - это степень корреляции между ними, которая не объясняется их взаимной корреляцией с заданным набором других переменных. 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Например, если мы регрессируем переменную Y по переменным X1, X2 и X3, частичная корреляция между Y и X3 - это степень корреляции между Y и X3, которая не объясняется их общими корреляциями с X1 и X2.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54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" y="365125"/>
            <a:ext cx="1090612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Анализ невязок (остатков)</a:t>
            </a:r>
            <a:r>
              <a:rPr lang="en-US" b="1" dirty="0"/>
              <a:t>. </a:t>
            </a:r>
            <a:r>
              <a:rPr lang="ru-RU" b="1" dirty="0"/>
              <a:t>Стационарность, </a:t>
            </a:r>
            <a:br>
              <a:rPr lang="ru-RU" b="1" dirty="0"/>
            </a:br>
            <a:r>
              <a:rPr lang="ru-RU" b="1" dirty="0"/>
              <a:t>Частичная автокорреляция (</a:t>
            </a:r>
            <a:r>
              <a:rPr lang="en-US" b="1" dirty="0"/>
              <a:t>PACF</a:t>
            </a:r>
            <a:r>
              <a:rPr lang="ru-RU" b="1" dirty="0"/>
              <a:t>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ru-RU" sz="2000" dirty="0"/>
                  <a:t>Один из методов проверки стационарности  - с помощью так называемой функции частичной автокорреляции (PACF):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𝑃𝐴𝐶𝐹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)⋅(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𝑃𝐴𝐶𝑉𝐹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970183-3CAB-4906-AF11-E3A7AA743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62" y="1424247"/>
                <a:ext cx="11410950" cy="5239544"/>
              </a:xfrm>
              <a:blipFill>
                <a:blip r:embed="rId2"/>
                <a:stretch>
                  <a:fillRect l="-481" t="-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82" y="3344445"/>
            <a:ext cx="5476502" cy="279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253" y="3344445"/>
            <a:ext cx="5804695" cy="279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890366" y="297511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5993984" y="2975113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</p:spTree>
    <p:extLst>
      <p:ext uri="{BB962C8B-B14F-4D97-AF65-F5344CB8AC3E}">
        <p14:creationId xmlns:p14="http://schemas.microsoft.com/office/powerpoint/2010/main" val="272140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/>
          </a:bodyPr>
          <a:lstStyle/>
          <a:p>
            <a:r>
              <a:rPr lang="ru-RU" b="1" dirty="0"/>
              <a:t>Пример нестационарного ВР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1" y="1276350"/>
            <a:ext cx="11149949" cy="5991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5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/>
          </a:bodyPr>
          <a:lstStyle/>
          <a:p>
            <a:r>
              <a:rPr lang="ru-RU" b="1" dirty="0"/>
              <a:t>Пример где работать еще можно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701625"/>
            <a:ext cx="1093469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2000" dirty="0"/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94" y="1159098"/>
            <a:ext cx="10615209" cy="569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01220" y="361233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695388" y="363921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6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ряда </a:t>
            </a:r>
            <a:r>
              <a:rPr lang="en-US" dirty="0"/>
              <a:t>ARMA(1,2)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8" y="1593135"/>
            <a:ext cx="5640421" cy="51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80" y="1439694"/>
            <a:ext cx="5301322" cy="51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4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лагов на значимость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Тестовая </a:t>
            </a:r>
            <a:r>
              <a:rPr lang="en-US" dirty="0"/>
              <a:t>Q-</a:t>
            </a:r>
            <a:r>
              <a:rPr lang="ru-RU" dirty="0"/>
              <a:t>статистика </a:t>
            </a:r>
            <a:r>
              <a:rPr lang="ru-RU" dirty="0" err="1"/>
              <a:t>Льюинга</a:t>
            </a:r>
            <a:r>
              <a:rPr lang="ru-RU" dirty="0"/>
              <a:t>-Бокса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Рассмотрим выборочные коэффициенты автоковариации и автокорреляции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Выборочные частные коэффициенты автокорреляции (PACF)</a:t>
            </a:r>
          </a:p>
          <a:p>
            <a:endParaRPr lang="ru-RU" sz="2000" dirty="0"/>
          </a:p>
          <a:p>
            <a:r>
              <a:rPr lang="ru-RU" sz="2000" dirty="0"/>
              <a:t>Далее необходимо проверить их значимость. Для этого тестируем гипотезу при фиксированном лаге: 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7" y="2249725"/>
            <a:ext cx="292417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726" y="2287825"/>
            <a:ext cx="1790700" cy="666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862" y="3416775"/>
            <a:ext cx="3619500" cy="409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76" y="4203819"/>
            <a:ext cx="2876550" cy="36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426" y="4250947"/>
            <a:ext cx="1857375" cy="381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801" y="4212847"/>
            <a:ext cx="2466975" cy="419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99" y="4630619"/>
            <a:ext cx="4019550" cy="2105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Критическое значение имеет хи-квадрат распределения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поэтому для проверки гипотезы применяем следующее статистическое правило: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  <a:blipFill>
                <a:blip r:embed="rId10"/>
                <a:stretch>
                  <a:fillRect l="-800" t="-3846" b="-70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49" y="5783277"/>
            <a:ext cx="3362325" cy="7048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082874" y="5778981"/>
            <a:ext cx="3753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Замечание. Применение Q-статистик оправдано только для больших выборок. Это асимптотический тест!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874" y="6656507"/>
            <a:ext cx="6276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9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изначального выбора </a:t>
                </a:r>
                <a:r>
                  <a:rPr lang="en-US" sz="2200" dirty="0"/>
                  <a:t>ARAM </a:t>
                </a:r>
                <a:r>
                  <a:rPr lang="ru-RU" sz="2200" dirty="0"/>
                  <a:t>коэффициентов следует </a:t>
                </a:r>
                <a:r>
                  <a:rPr lang="ru-RU" sz="2200" dirty="0" err="1"/>
                  <a:t>дообучить</a:t>
                </a:r>
                <a:r>
                  <a:rPr lang="ru-RU" sz="2200" dirty="0"/>
                  <a:t> модель</a:t>
                </a:r>
                <a:r>
                  <a:rPr lang="en-US" sz="2200" dirty="0"/>
                  <a:t> </a:t>
                </a:r>
                <a:r>
                  <a:rPr lang="ru-RU" sz="2200" dirty="0"/>
                  <a:t>(т.е. взять несколько моделей и сравнить их).</a:t>
                </a:r>
              </a:p>
              <a:p>
                <a:r>
                  <a:rPr lang="ru-RU" sz="2200" dirty="0"/>
                  <a:t>Как правило при этом используют</a:t>
                </a:r>
                <a:endParaRPr lang="en-US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Информационный критерий </a:t>
                </a:r>
                <a:r>
                  <a:rPr lang="ru-RU" sz="2200" dirty="0" err="1"/>
                  <a:t>Акайке</a:t>
                </a:r>
                <a:endParaRPr lang="en-US" sz="2200" dirty="0"/>
              </a:p>
              <a:p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ru-RU" sz="2200" dirty="0"/>
                  <a:t>оценка правдоподобия модели</a:t>
                </a:r>
                <a:r>
                  <a:rPr lang="en-US" sz="2200" dirty="0"/>
                  <a:t>; </a:t>
                </a:r>
                <a:endParaRPr lang="ru-RU" sz="2200" dirty="0"/>
              </a:p>
              <a:p>
                <a:pPr lvl="1"/>
                <a:r>
                  <a:rPr lang="ru-RU" sz="2200" dirty="0"/>
                  <a:t>На самом деле формула справедлива только если остаток – белый шум</a:t>
                </a:r>
                <a:r>
                  <a:rPr lang="en-US" sz="2200" dirty="0"/>
                  <a:t>, </a:t>
                </a:r>
                <a:endParaRPr lang="ru-RU" sz="2200" dirty="0"/>
              </a:p>
              <a:p>
                <a:pPr lvl="1"/>
                <a:r>
                  <a:rPr lang="ru-RU" sz="2200" i="1" dirty="0"/>
                  <a:t>Для других случаев </a:t>
                </a:r>
                <a:r>
                  <a:rPr lang="ru-RU" sz="2200" i="1" dirty="0" err="1"/>
                  <a:t>формуы</a:t>
                </a:r>
                <a:r>
                  <a:rPr lang="ru-RU" sz="2200" i="1" dirty="0"/>
                  <a:t> будут иметь другой вид!</a:t>
                </a:r>
              </a:p>
              <a:p>
                <a:pPr lvl="2"/>
                <a:r>
                  <a:rPr lang="ru-RU" sz="2200" i="1" dirty="0"/>
                  <a:t>Общий вид: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, </a:t>
                </a:r>
                <a:r>
                  <a:rPr lang="ru-RU" sz="2200" i="1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/>
                  <a:t>логогфим функции правдоподобия.</a:t>
                </a:r>
                <a:endParaRPr lang="ru-RU" sz="2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корень суммы квадратов ошибки,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200" dirty="0"/>
                  <a:t>. </a:t>
                </a:r>
                <a:endParaRPr lang="ru-RU" sz="2200" dirty="0"/>
              </a:p>
              <a:p>
                <a:r>
                  <a:rPr lang="en-US" sz="2200" dirty="0"/>
                  <a:t>k </a:t>
                </a:r>
                <a:r>
                  <a:rPr lang="ru-RU" sz="2200" dirty="0"/>
                  <a:t>число параметров, например для </a:t>
                </a:r>
                <a:r>
                  <a:rPr lang="en-US" sz="2200" dirty="0"/>
                  <a:t> ARMA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ru-RU" sz="2200" dirty="0"/>
                  <a:t>или с константой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200" dirty="0"/>
                  <a:t>; </a:t>
                </a:r>
              </a:p>
              <a:p>
                <a:pPr lvl="1"/>
                <a:r>
                  <a:rPr lang="ru-RU" sz="2200" dirty="0"/>
                  <a:t>Могут быть и другие выражения 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200" dirty="0"/>
                  <a:t> в зависимости о числа параметров в модели.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1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63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952564"/>
          </a:xfrm>
        </p:spPr>
        <p:txBody>
          <a:bodyPr>
            <a:normAutofit/>
          </a:bodyPr>
          <a:lstStyle/>
          <a:p>
            <a:r>
              <a:rPr lang="ru-RU" dirty="0"/>
              <a:t>Критерии используются для выбора модели (сравнения между статистическими моделями).</a:t>
            </a:r>
          </a:p>
          <a:p>
            <a:pPr lvl="1"/>
            <a:r>
              <a:rPr lang="ru-RU" dirty="0"/>
              <a:t>Чем ниже значение критериев – тем лучше.</a:t>
            </a:r>
            <a:endParaRPr lang="en-US" dirty="0"/>
          </a:p>
          <a:p>
            <a:r>
              <a:rPr lang="ru-RU" dirty="0"/>
              <a:t>Критерий позволяет задать мини-</a:t>
            </a:r>
            <a:r>
              <a:rPr lang="ru-RU" dirty="0" err="1"/>
              <a:t>максную</a:t>
            </a:r>
            <a:r>
              <a:rPr lang="ru-RU" dirty="0"/>
              <a:t> задачу поиска параметров моделей: минимум ошибки при максимально-допустимом числе параметров модели.</a:t>
            </a:r>
          </a:p>
          <a:p>
            <a:pPr lvl="1"/>
            <a:r>
              <a:rPr lang="ru-RU" dirty="0"/>
              <a:t>Известно, что чем меньше общее число параметров модели, тем ниже вероятность переобучения модели.</a:t>
            </a:r>
          </a:p>
          <a:p>
            <a:pPr lvl="2"/>
            <a:r>
              <a:rPr lang="ru-RU" dirty="0"/>
              <a:t>Нужен компромисс между точностью и сложностью моделей.</a:t>
            </a:r>
          </a:p>
          <a:p>
            <a:pPr lvl="2"/>
            <a:r>
              <a:rPr lang="ru-RU" dirty="0"/>
              <a:t>С другой стороны чем больше параметров в модели тем больше эффектов в модели могут быть объяснены.</a:t>
            </a:r>
          </a:p>
          <a:p>
            <a:pPr lvl="1"/>
            <a:r>
              <a:rPr lang="ru-RU" dirty="0"/>
              <a:t>Модель штрафуется за слишком большое число параметров.</a:t>
            </a:r>
          </a:p>
          <a:p>
            <a:pPr lvl="1"/>
            <a:r>
              <a:rPr lang="ru-RU" dirty="0"/>
              <a:t>Абсолютные значение критерия не имеет смысла.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92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000"/>
                  </a:spcBef>
                </a:pPr>
                <a:r>
                  <a:rPr lang="ru-RU" sz="2800" dirty="0"/>
                  <a:t>Разные критерии штрафуют по разному.</a:t>
                </a:r>
                <a:endParaRPr lang="en-US" sz="2800" dirty="0"/>
              </a:p>
              <a:p>
                <a:r>
                  <a:rPr lang="ru-RU" dirty="0"/>
                  <a:t>Есть несколько популярных критериев: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en-US" dirty="0"/>
                  <a:t>ARMA </a:t>
                </a:r>
                <a:r>
                  <a:rPr lang="ru-RU" dirty="0"/>
                  <a:t>процесса может несколько завышать число параметров.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Байесовский Информационный критерий</a:t>
                </a:r>
              </a:p>
              <a:p>
                <a:pPr lvl="1"/>
                <a:r>
                  <a:rPr lang="ru-RU" dirty="0"/>
                  <a:t>Штрафует сильнее, 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</m:oMath>
                </a14:m>
                <a:r>
                  <a:rPr lang="ru-RU" dirty="0"/>
                  <a:t> (оценка снизу), но работает для больших выборок.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модифицированный 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Рекомендуется при небольших выборках.</a:t>
                </a:r>
              </a:p>
              <a:p>
                <a:r>
                  <a:rPr lang="ru-RU" sz="2000" dirty="0"/>
                  <a:t>Большая выборка или нет определяется по </a:t>
                </a:r>
                <a:r>
                  <a:rPr lang="ru-RU" sz="2000" dirty="0" err="1"/>
                  <a:t>теор</a:t>
                </a:r>
                <a:r>
                  <a:rPr lang="ru-RU" sz="2000" dirty="0"/>
                  <a:t>. Котельникова.</a:t>
                </a:r>
              </a:p>
              <a:p>
                <a:pPr lvl="1"/>
                <a:r>
                  <a:rPr lang="ru-RU" sz="1800" dirty="0"/>
                  <a:t>Можно искусственно сделать выборку большой, но от этого она больше информации содержать не будет. </a:t>
                </a:r>
              </a:p>
              <a:p>
                <a:pPr lvl="1"/>
                <a:r>
                  <a:rPr lang="ru-RU" sz="1800" dirty="0"/>
                  <a:t>Можно </a:t>
                </a:r>
                <a:r>
                  <a:rPr lang="ru-RU" sz="1800" dirty="0" err="1"/>
                  <a:t>децимировать</a:t>
                </a:r>
                <a:r>
                  <a:rPr lang="ru-RU" sz="1800" dirty="0"/>
                  <a:t> выборку, но только если </a:t>
                </a:r>
                <a:r>
                  <a:rPr lang="ru-RU" sz="1800" dirty="0" err="1"/>
                  <a:t>теор</a:t>
                </a:r>
                <a:r>
                  <a:rPr lang="ru-RU" sz="1800" dirty="0"/>
                  <a:t>. Котельникова позволяет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 t="-1763" r="-1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8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ARMA 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2634" y="1284051"/>
            <a:ext cx="11200582" cy="51966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Модель работает для слабо-стационарного ряда (без тренда)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Чем менее стационарен ряд, тем меньше горизонт точного прогнозирования.</a:t>
            </a:r>
          </a:p>
          <a:p>
            <a:pPr lvl="1"/>
            <a:r>
              <a:rPr lang="ru-RU" u="sng" dirty="0"/>
              <a:t> тем ниже обобщающая способность.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тренировочной и </a:t>
            </a:r>
            <a:r>
              <a:rPr lang="ru-RU" sz="2400" u="sng" dirty="0" err="1"/>
              <a:t>валидационной</a:t>
            </a:r>
            <a:r>
              <a:rPr lang="ru-RU" sz="2400" u="sng" dirty="0"/>
              <a:t> выборки.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изначальных параметров модели по АКФ и ЧАКФ.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Варьирование параметров моделей с целью минимизации </a:t>
            </a:r>
            <a:r>
              <a:rPr lang="en-US" sz="2400" u="sng" dirty="0"/>
              <a:t>BIC </a:t>
            </a:r>
            <a:r>
              <a:rPr lang="ru-RU" sz="2400" u="sng" dirty="0"/>
              <a:t>или</a:t>
            </a:r>
            <a:r>
              <a:rPr lang="en-US" sz="2400" u="sng" dirty="0"/>
              <a:t> </a:t>
            </a:r>
            <a:r>
              <a:rPr lang="en-US" sz="2400" u="sng" dirty="0" err="1"/>
              <a:t>AICc</a:t>
            </a:r>
            <a:r>
              <a:rPr lang="en-US" sz="2400" u="sng" dirty="0"/>
              <a:t> </a:t>
            </a:r>
            <a:r>
              <a:rPr lang="ru-RU" sz="2400" u="sng" dirty="0"/>
              <a:t>критериев.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Проверка остатков для модели </a:t>
            </a:r>
            <a:r>
              <a:rPr lang="en-US" sz="2400" u="sng" dirty="0"/>
              <a:t>(</a:t>
            </a:r>
            <a:r>
              <a:rPr lang="ru-RU" sz="2400" u="sng" dirty="0"/>
              <a:t>на предмет стационарного БГШ</a:t>
            </a:r>
            <a:r>
              <a:rPr lang="en-US" sz="2400" u="sng" dirty="0"/>
              <a:t>)</a:t>
            </a:r>
            <a:r>
              <a:rPr lang="ru-RU" sz="2400" u="sng" dirty="0"/>
              <a:t>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 err="1"/>
              <a:t>Валидация</a:t>
            </a:r>
            <a:r>
              <a:rPr lang="ru-RU" sz="2400" u="sng" dirty="0"/>
              <a:t>, проверка точности по известным метрикам</a:t>
            </a:r>
            <a:r>
              <a:rPr lang="ru-RU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6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6997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39" y="1222122"/>
            <a:ext cx="5105400" cy="5305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54" y="1149688"/>
            <a:ext cx="52482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5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4281"/>
            <a:ext cx="10515600" cy="54343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2830" y="6309992"/>
            <a:ext cx="10515600" cy="499118"/>
          </a:xfrm>
        </p:spPr>
        <p:txBody>
          <a:bodyPr>
            <a:normAutofit/>
          </a:bodyPr>
          <a:lstStyle/>
          <a:p>
            <a:r>
              <a:rPr lang="en-US" sz="700" dirty="0"/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endParaRPr lang="ru-RU" sz="7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54" y="747713"/>
            <a:ext cx="5143500" cy="54292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230" y="747713"/>
            <a:ext cx="50292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644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1" y="1372394"/>
            <a:ext cx="5505450" cy="5305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8187"/>
            <a:ext cx="54864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6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080" y="2371415"/>
            <a:ext cx="10932920" cy="3760934"/>
          </a:xfrm>
        </p:spPr>
        <p:txBody>
          <a:bodyPr>
            <a:normAutofit fontScale="90000"/>
          </a:bodyPr>
          <a:lstStyle/>
          <a:p>
            <a:r>
              <a:rPr lang="ru-RU" sz="8800" b="1" dirty="0"/>
              <a:t>М</a:t>
            </a:r>
            <a:r>
              <a:rPr lang="en-US" sz="8800" b="1" dirty="0" err="1"/>
              <a:t>одели</a:t>
            </a:r>
            <a:r>
              <a:rPr lang="en-US" sz="8800" b="1" dirty="0"/>
              <a:t> </a:t>
            </a:r>
            <a:r>
              <a:rPr lang="ru-RU" sz="8800" b="1" dirty="0"/>
              <a:t>интегрированной а</a:t>
            </a:r>
            <a:r>
              <a:rPr lang="en-US" sz="8800" b="1" dirty="0" err="1"/>
              <a:t>вторегресси</a:t>
            </a:r>
            <a:r>
              <a:rPr lang="ru-RU" sz="8800" b="1" dirty="0"/>
              <a:t>и</a:t>
            </a:r>
            <a:r>
              <a:rPr lang="en-US" sz="8800" b="1" dirty="0"/>
              <a:t> </a:t>
            </a:r>
            <a:br>
              <a:rPr lang="en-US" sz="8800" b="1" dirty="0"/>
            </a:br>
            <a:r>
              <a:rPr lang="ru-RU" sz="8800" b="1" dirty="0"/>
              <a:t>с</a:t>
            </a:r>
            <a:r>
              <a:rPr lang="en-US" sz="8800" b="1" dirty="0" err="1"/>
              <a:t>кользящ</a:t>
            </a:r>
            <a:r>
              <a:rPr lang="ru-RU" sz="8800" b="1" dirty="0"/>
              <a:t>его</a:t>
            </a:r>
            <a:r>
              <a:rPr lang="en-US" sz="8800" b="1" dirty="0"/>
              <a:t> </a:t>
            </a:r>
            <a:r>
              <a:rPr lang="en-US" sz="8800" b="1" dirty="0" err="1"/>
              <a:t>средн</a:t>
            </a:r>
            <a:r>
              <a:rPr lang="ru-RU" sz="8800" b="1" dirty="0"/>
              <a:t>его</a:t>
            </a:r>
            <a:br>
              <a:rPr lang="ru-RU" sz="8800" b="1" dirty="0"/>
            </a:br>
            <a:r>
              <a:rPr lang="en-US" sz="8800" b="1" dirty="0"/>
              <a:t>ARIMA </a:t>
            </a:r>
          </a:p>
        </p:txBody>
      </p:sp>
    </p:spTree>
    <p:extLst>
      <p:ext uri="{BB962C8B-B14F-4D97-AF65-F5344CB8AC3E}">
        <p14:creationId xmlns:p14="http://schemas.microsoft.com/office/powerpoint/2010/main" val="22744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767B6-15E9-44FE-83F3-68423D4C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12" y="1279188"/>
            <a:ext cx="11232776" cy="5168266"/>
          </a:xfrm>
        </p:spPr>
        <p:txBody>
          <a:bodyPr>
            <a:normAutofit/>
          </a:bodyPr>
          <a:lstStyle/>
          <a:p>
            <a:pPr algn="l" rtl="0">
              <a:lnSpc>
                <a:spcPct val="100000"/>
              </a:lnSpc>
            </a:pPr>
            <a:r>
              <a:rPr lang="en-US" sz="2400" dirty="0"/>
              <a:t>Основным недостатком процесса ARMA в ранее описанной форме является </a:t>
            </a:r>
            <a:r>
              <a:rPr lang="en-US" sz="2400" dirty="0" err="1"/>
              <a:t>внутреннее</a:t>
            </a:r>
            <a:r>
              <a:rPr lang="en-US" sz="2400" dirty="0"/>
              <a:t> </a:t>
            </a:r>
            <a:r>
              <a:rPr lang="en-US" sz="2400" dirty="0" err="1"/>
              <a:t>требование</a:t>
            </a:r>
            <a:r>
              <a:rPr lang="en-US" sz="2400" dirty="0"/>
              <a:t> </a:t>
            </a:r>
            <a:r>
              <a:rPr lang="ru-RU" sz="2400" dirty="0"/>
              <a:t>стационарности</a:t>
            </a:r>
            <a:r>
              <a:rPr lang="en-US" sz="2400" dirty="0"/>
              <a:t>, которое лежит в процедуре поиска коэффициентов. </a:t>
            </a:r>
          </a:p>
          <a:p>
            <a:pPr algn="l" rtl="0">
              <a:lnSpc>
                <a:spcPct val="100000"/>
              </a:lnSpc>
            </a:pPr>
            <a:r>
              <a:rPr lang="en-US" sz="2400" dirty="0"/>
              <a:t>Действительно, если нам требуется получить наилучшее приближение (наименьшую ошибку) для одной части ряда - ряд должен быть </a:t>
            </a:r>
            <a:r>
              <a:rPr lang="en-US" sz="2400" dirty="0" err="1"/>
              <a:t>аналогичным</a:t>
            </a:r>
            <a:r>
              <a:rPr lang="en-US" sz="2400" dirty="0"/>
              <a:t> 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en-US" sz="2400" dirty="0"/>
              <a:t>(или иметь аналогичное поведение) для своих будущих частей, чтобы гарантировать ту же </a:t>
            </a:r>
            <a:r>
              <a:rPr lang="en-US" sz="2400" dirty="0" err="1"/>
              <a:t>ошибку</a:t>
            </a:r>
            <a:r>
              <a:rPr lang="en-US" sz="2400" dirty="0"/>
              <a:t>.</a:t>
            </a:r>
          </a:p>
          <a:p>
            <a:pPr algn="l" rtl="0">
              <a:lnSpc>
                <a:spcPct val="100000"/>
              </a:lnSpc>
            </a:pPr>
            <a:r>
              <a:rPr lang="ru-RU" sz="2400" dirty="0"/>
              <a:t>Чем менее стационарный ряд – тем больше ошибка и тем больше она растет при увеличении горизонта прогнозирования.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776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П</a:t>
                </a:r>
                <a:r>
                  <a:rPr lang="en-US" sz="2400" dirty="0" err="1"/>
                  <a:t>ри</a:t>
                </a:r>
                <a:r>
                  <a:rPr lang="en-US" sz="2400" dirty="0"/>
                  <a:t> анализе временных рядов для уменьшения (или устранения) </a:t>
                </a:r>
                <a:r>
                  <a:rPr lang="en-US" sz="2400" dirty="0" err="1"/>
                  <a:t>требования</a:t>
                </a:r>
                <a:r>
                  <a:rPr lang="en-US" sz="2400" dirty="0"/>
                  <a:t> </a:t>
                </a:r>
                <a:r>
                  <a:rPr lang="ru-RU" sz="2400" dirty="0"/>
                  <a:t>повторяемости</a:t>
                </a:r>
                <a:r>
                  <a:rPr lang="en-US" sz="2400" dirty="0"/>
                  <a:t> в первую очередь мы должны </a:t>
                </a:r>
                <a:r>
                  <a:rPr lang="en-US" sz="2400" dirty="0" err="1"/>
                  <a:t>достичь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стационарности</a:t>
                </a:r>
                <a:r>
                  <a:rPr lang="en-US" sz="2400" dirty="0"/>
                  <a:t>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Можно </a:t>
                </a:r>
                <a:r>
                  <a:rPr lang="en-US" sz="2400" dirty="0" err="1"/>
                  <a:t>свести</a:t>
                </a:r>
                <a:r>
                  <a:rPr lang="en-US" sz="2400" dirty="0"/>
                  <a:t> задачу к стационарной, попробовав некоторые обратимые преобразования. </a:t>
                </a:r>
                <a:endParaRPr lang="ru-RU" sz="2400" dirty="0"/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Методы приведения ряда к стационарному: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обычная производная  –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дробная производная – сложный, цикличный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сезонная производная  – высокое влияние сезонности.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Преобразования Бокса-Кокса – 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, в частности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Приведение к виду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Декомпозиция модели (напр. использование разных подходов для разных частей).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И др.</a:t>
                </a:r>
              </a:p>
              <a:p>
                <a:pPr lvl="2">
                  <a:lnSpc>
                    <a:spcPct val="10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  <a:blipFill>
                <a:blip r:embed="rId2"/>
                <a:stretch>
                  <a:fillRect l="-760" t="-946" b="-1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56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767B6-15E9-44FE-83F3-68423D4C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12" y="1279187"/>
            <a:ext cx="11232776" cy="5158935"/>
          </a:xfrm>
        </p:spPr>
        <p:txBody>
          <a:bodyPr>
            <a:normAutofit/>
          </a:bodyPr>
          <a:lstStyle/>
          <a:p>
            <a:pPr algn="l" rtl="0">
              <a:lnSpc>
                <a:spcPct val="100000"/>
              </a:lnSpc>
            </a:pPr>
            <a:r>
              <a:rPr lang="en-US" sz="2400" dirty="0" err="1"/>
              <a:t>Как</a:t>
            </a:r>
            <a:r>
              <a:rPr lang="en-US" sz="2400" dirty="0"/>
              <a:t> правило, </a:t>
            </a:r>
            <a:r>
              <a:rPr lang="ru-RU" sz="2400" dirty="0"/>
              <a:t>устранить </a:t>
            </a:r>
            <a:r>
              <a:rPr lang="ru-RU" sz="2400" dirty="0" err="1"/>
              <a:t>нестационарность</a:t>
            </a:r>
            <a:r>
              <a:rPr lang="ru-RU" sz="2400" dirty="0"/>
              <a:t> тренда можно</a:t>
            </a:r>
            <a:r>
              <a:rPr lang="en-US" sz="2400" dirty="0"/>
              <a:t>, взяв численную производную.</a:t>
            </a:r>
          </a:p>
          <a:p>
            <a:pPr algn="l" rtl="0">
              <a:lnSpc>
                <a:spcPct val="100000"/>
              </a:lnSpc>
            </a:pPr>
            <a:r>
              <a:rPr lang="ru-RU" sz="2400" b="1" dirty="0"/>
              <a:t>Такая</a:t>
            </a:r>
            <a:r>
              <a:rPr lang="en-US" sz="2400" b="1" dirty="0"/>
              <a:t> модель называется интегрированной авторегрессионной скользящей средней (ARIMA).</a:t>
            </a:r>
            <a:endParaRPr lang="ru-RU" sz="2400" b="1" dirty="0"/>
          </a:p>
          <a:p>
            <a:pPr lvl="1">
              <a:lnSpc>
                <a:spcPct val="100000"/>
              </a:lnSpc>
            </a:pPr>
            <a:r>
              <a:rPr lang="ru-RU" dirty="0"/>
              <a:t>В ряде случаев по мимо обычной производной берут т.н. сезонную производную – такая модель называется </a:t>
            </a:r>
            <a:r>
              <a:rPr lang="en-US" dirty="0"/>
              <a:t>SARIMA</a:t>
            </a:r>
            <a:endParaRPr lang="ru-RU" dirty="0"/>
          </a:p>
          <a:p>
            <a:pPr lvl="1">
              <a:lnSpc>
                <a:spcPct val="100000"/>
              </a:lnSpc>
            </a:pPr>
            <a:r>
              <a:rPr lang="ru-RU" dirty="0"/>
              <a:t>В некоторых специфических случаях вместо обычной производной берут так называемую дробную производную, тогда модель будет называться </a:t>
            </a:r>
            <a:r>
              <a:rPr lang="en-US" dirty="0"/>
              <a:t>ARIFMA </a:t>
            </a:r>
            <a:r>
              <a:rPr lang="ru-RU" dirty="0"/>
              <a:t>или </a:t>
            </a:r>
            <a:r>
              <a:rPr lang="en-US" dirty="0"/>
              <a:t>FARIMA</a:t>
            </a:r>
          </a:p>
        </p:txBody>
      </p:sp>
    </p:spTree>
    <p:extLst>
      <p:ext uri="{BB962C8B-B14F-4D97-AF65-F5344CB8AC3E}">
        <p14:creationId xmlns:p14="http://schemas.microsoft.com/office/powerpoint/2010/main" val="221105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Производная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Обозначим производную как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численная</a:t>
                </a:r>
                <a:r>
                  <a:rPr lang="en-US" sz="2400" dirty="0"/>
                  <a:t> производная может быть вычислена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В случае рассмотрения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вместо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мы делаем предположение, </a:t>
                </a:r>
                <a:r>
                  <a:rPr lang="en-US" sz="2400" dirty="0" err="1"/>
                  <a:t>что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производная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имеет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поведение</a:t>
                </a:r>
                <a:r>
                  <a:rPr lang="ru-RU" sz="2400" dirty="0"/>
                  <a:t> (как правило разности значений рядов более стационарны, чем сами ряды)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47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Лаговая форма 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Определим оператор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как отображение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преобразует</a:t>
                </a:r>
                <a:r>
                  <a:rPr lang="ru-RU" sz="2400" dirty="0"/>
                  <a:t> одни</a:t>
                </a:r>
                <a:r>
                  <a:rPr lang="en-US" sz="2400" dirty="0"/>
                  <a:t> последовательности в </a:t>
                </a:r>
                <a:r>
                  <a:rPr lang="ru-RU" sz="2400" dirty="0"/>
                  <a:t>другие </a:t>
                </a:r>
                <a:r>
                  <a:rPr lang="en-US" sz="2400" dirty="0" err="1"/>
                  <a:t>последовательности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для всех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Отображение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называется </a:t>
                </a:r>
                <a:r>
                  <a:rPr lang="en-US" sz="2400" b="1" dirty="0"/>
                  <a:t>оператор запаздывания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ru-RU" sz="2400" b="1" dirty="0"/>
                  <a:t>лаговый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оператор</a:t>
                </a:r>
                <a:r>
                  <a:rPr lang="en-US" sz="2400" dirty="0"/>
                  <a:t>.</a:t>
                </a:r>
                <a:endParaRPr lang="ru-RU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Таким</a:t>
                </a:r>
                <a:r>
                  <a:rPr lang="en-US" sz="2400" dirty="0"/>
                  <a:t> же образом мы </a:t>
                </a:r>
                <a:r>
                  <a:rPr lang="en-US" sz="2400" dirty="0" err="1"/>
                  <a:t>можем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определить</a:t>
                </a:r>
                <a:r>
                  <a:rPr lang="ru-RU" sz="2400" dirty="0"/>
                  <a:t> более длительные запаздывания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Также</a:t>
                </a:r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Используя </a:t>
                </a:r>
                <a:r>
                  <a:rPr lang="ru-RU" sz="1600" dirty="0"/>
                  <a:t>введенные</a:t>
                </a:r>
                <a:r>
                  <a:rPr lang="en-US" sz="1600" dirty="0"/>
                  <a:t> обозначения, </a:t>
                </a:r>
                <a:r>
                  <a:rPr lang="en-US" dirty="0"/>
                  <a:t>ARMA (</a:t>
                </a:r>
                <a:r>
                  <a:rPr lang="en-US" dirty="0" err="1"/>
                  <a:t>р,q</a:t>
                </a:r>
                <a:r>
                  <a:rPr lang="en-US" dirty="0"/>
                  <a:t>) модель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дан</a:t>
                </a:r>
                <a:r>
                  <a:rPr lang="ru-RU" dirty="0"/>
                  <a:t>а</a:t>
                </a:r>
                <a:r>
                  <a:rPr lang="en-US" dirty="0"/>
                  <a:t> в </a:t>
                </a:r>
                <a:r>
                  <a:rPr lang="en-US" dirty="0" err="1"/>
                  <a:t>виде</a:t>
                </a:r>
                <a:r>
                  <a:rPr lang="en-US" dirty="0"/>
                  <a:t> </a:t>
                </a:r>
                <a:r>
                  <a:rPr lang="ru-RU" dirty="0"/>
                  <a:t>с </a:t>
                </a:r>
                <a:r>
                  <a:rPr lang="en-US" dirty="0" err="1"/>
                  <a:t>лаг</a:t>
                </a:r>
                <a:r>
                  <a:rPr lang="ru-RU" dirty="0" err="1"/>
                  <a:t>овым</a:t>
                </a:r>
                <a:r>
                  <a:rPr lang="ru-RU" dirty="0"/>
                  <a:t> оператором</a:t>
                </a:r>
                <a:r>
                  <a:rPr lang="en-US" dirty="0"/>
                  <a:t>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28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В </a:t>
                </a:r>
                <a:r>
                  <a:rPr lang="en-US" sz="2300" dirty="0" err="1"/>
                  <a:t>форме</a:t>
                </a:r>
                <a:r>
                  <a:rPr lang="en-US" sz="2300" dirty="0"/>
                  <a:t> </a:t>
                </a:r>
                <a:r>
                  <a:rPr lang="ru-RU" sz="2300" dirty="0"/>
                  <a:t>лагового оператора</a:t>
                </a:r>
                <a:r>
                  <a:rPr lang="en-US" sz="2300" dirty="0"/>
                  <a:t> мы можем определить числовую производную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300" dirty="0"/>
                  <a:t>Например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3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  <a:blipFill>
                <a:blip r:embed="rId2"/>
                <a:stretch>
                  <a:fillRect l="-1043" t="-10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300" dirty="0"/>
                  <a:t>Используя определение производной, мы </a:t>
                </a:r>
                <a:r>
                  <a:rPr lang="en-US" sz="2300" dirty="0" err="1"/>
                  <a:t>можем</a:t>
                </a:r>
                <a:r>
                  <a:rPr lang="en-US" sz="2300" dirty="0"/>
                  <a:t> </a:t>
                </a:r>
                <a:r>
                  <a:rPr lang="ru-RU" sz="2300" dirty="0"/>
                  <a:t>задать </a:t>
                </a:r>
                <a:r>
                  <a:rPr lang="en-US" sz="2300" dirty="0"/>
                  <a:t>ARIMA (</a:t>
                </a:r>
                <a:r>
                  <a:rPr lang="en-US" sz="2300" dirty="0" err="1"/>
                  <a:t>p,d,q</a:t>
                </a:r>
                <a:r>
                  <a:rPr lang="en-US" sz="2300" dirty="0"/>
                  <a:t>) модель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300" dirty="0"/>
                  <a:t> </a:t>
                </a:r>
                <a:r>
                  <a:rPr lang="ru-RU" sz="2300" dirty="0"/>
                  <a:t>Отметим, что </a:t>
                </a: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300" dirty="0"/>
                  <a:t>имеет линейный </a:t>
                </a:r>
                <a:r>
                  <a:rPr lang="en-US" sz="2300" dirty="0" err="1"/>
                  <a:t>тренд</a:t>
                </a:r>
                <a:r>
                  <a:rPr lang="en-US" sz="2300" dirty="0"/>
                  <a:t>;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/>
                  <a:t> если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300" dirty="0"/>
                  <a:t>, квадратичный тренд и т. д. 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300" dirty="0"/>
                  <a:t> не имеет тренда.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  <a:blipFill>
                <a:blip r:embed="rId3"/>
                <a:stretch>
                  <a:fillRect l="-793" t="-209" b="-3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96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</p:spPr>
            <p:txBody>
              <a:bodyPr>
                <a:normAutofit fontScale="55000" lnSpcReduction="20000"/>
              </a:bodyPr>
              <a:lstStyle/>
              <a:p>
                <a:pPr algn="l" rtl="0"/>
                <a:r>
                  <a:rPr lang="en-US" sz="2600" dirty="0"/>
                  <a:t> В некоторых случаях вы можете встретить </a:t>
                </a:r>
                <a:r>
                  <a:rPr lang="en-US" sz="2600" dirty="0" err="1"/>
                  <a:t>следующие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формы</a:t>
                </a:r>
                <a:r>
                  <a:rPr lang="ru-RU" sz="2600" dirty="0"/>
                  <a:t> записи</a:t>
                </a:r>
                <a:r>
                  <a:rPr lang="en-US" sz="2600" dirty="0"/>
                  <a:t> ARIMA</a:t>
                </a:r>
              </a:p>
              <a:p>
                <a:pPr marL="0" indent="0" algn="l" rtl="0">
                  <a:buNone/>
                </a:pPr>
                <a:r>
                  <a:rPr lang="en-US" sz="2600" dirty="0"/>
                  <a:t>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(2.2):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(3):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(4):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sz="2600" dirty="0"/>
              </a:p>
              <a:p>
                <a:pPr algn="l" rtl="0"/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некоторая дополнительная детерминированная константа или медленное изменение почти детерминированного тренда 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- детерминированный линейный тренд;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r>
                  <a:rPr lang="en-US" dirty="0"/>
                  <a:t>а также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r>
                  <a:rPr lang="ru-RU" dirty="0"/>
                  <a:t>О</a:t>
                </a:r>
                <a:r>
                  <a:rPr lang="en-US" dirty="0" err="1"/>
                  <a:t>братите</a:t>
                </a:r>
                <a:r>
                  <a:rPr lang="en-US" dirty="0"/>
                  <a:t> внимание,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постоянна - ее можно исключить вычитанием среднего значения.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endParaRPr lang="en-US" sz="26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  <a:blipFill>
                <a:blip r:embed="rId2"/>
                <a:stretch>
                  <a:fillRect l="-158" t="-1146" r="-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0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ru-RU" b="1" dirty="0"/>
              <a:t>Модель </a:t>
            </a:r>
            <a:r>
              <a:rPr lang="en-US" b="1" dirty="0"/>
              <a:t>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766177" cy="585395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ARIMA (0,1,0) случайное блуждание - простейшая </a:t>
                </a:r>
                <a:r>
                  <a:rPr lang="en-US" sz="2400" dirty="0" err="1"/>
                  <a:t>модель</a:t>
                </a:r>
                <a:r>
                  <a:rPr lang="en-US" sz="2400" dirty="0"/>
                  <a:t> 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ARIMA (0,1,1) простое экспоненциальное </a:t>
                </a:r>
                <a:r>
                  <a:rPr lang="en-US" sz="2400" dirty="0" err="1"/>
                  <a:t>сглаживание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Модель без порядков дифференцирования предполагает, что исходный ряд является </a:t>
                </a:r>
                <a:r>
                  <a:rPr lang="en-US" sz="2400" dirty="0" err="1"/>
                  <a:t>стационарным</a:t>
                </a:r>
                <a:r>
                  <a:rPr lang="en-US" sz="2400" dirty="0"/>
                  <a:t> (</a:t>
                </a:r>
                <a:r>
                  <a:rPr lang="ru-RU" sz="2400" dirty="0"/>
                  <a:t>в смысле тренда</a:t>
                </a:r>
                <a:r>
                  <a:rPr lang="en-US" sz="2400" dirty="0"/>
                  <a:t>). </a:t>
                </a:r>
              </a:p>
              <a:p>
                <a:pPr algn="l" rtl="0"/>
                <a:endParaRPr lang="en-US" sz="24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766177" cy="5853952"/>
              </a:xfrm>
              <a:blipFill>
                <a:blip r:embed="rId2"/>
                <a:stretch>
                  <a:fillRect l="-673" t="-14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 descr="image.png">
            <a:extLst>
              <a:ext uri="{FF2B5EF4-FFF2-40B4-BE49-F238E27FC236}">
                <a16:creationId xmlns:a16="http://schemas.microsoft.com/office/drawing/2014/main" id="{23E3BF3A-A10F-465B-9A1E-FBCCB409FD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04"/>
          <a:stretch/>
        </p:blipFill>
        <p:spPr bwMode="auto">
          <a:xfrm>
            <a:off x="5178651" y="4462079"/>
            <a:ext cx="6329542" cy="229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19EF17-BDC7-402B-9DB4-2A39AAD62287}"/>
              </a:ext>
            </a:extLst>
          </p:cNvPr>
          <p:cNvSpPr/>
          <p:nvPr/>
        </p:nvSpPr>
        <p:spPr>
          <a:xfrm>
            <a:off x="596188" y="484356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Вот таблица соответствия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между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ETS и некоторыми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моделями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SARIMA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1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1935"/>
          </a:xfrm>
        </p:spPr>
        <p:txBody>
          <a:bodyPr/>
          <a:lstStyle/>
          <a:p>
            <a:r>
              <a:rPr lang="ru-RU" dirty="0"/>
              <a:t>О производных и тренде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4215" y="1184662"/>
            <a:ext cx="11226553" cy="567333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ru-RU" sz="2200" dirty="0"/>
              <a:t>Обычная численная производная </a:t>
            </a:r>
            <a:r>
              <a:rPr lang="ru-RU" dirty="0"/>
              <a:t>убирает</a:t>
            </a:r>
            <a:r>
              <a:rPr lang="ru-RU" sz="2200" dirty="0" smtClean="0"/>
              <a:t> </a:t>
            </a:r>
            <a:r>
              <a:rPr lang="ru-RU" sz="2200" dirty="0"/>
              <a:t>тренд во временном ряду.</a:t>
            </a:r>
          </a:p>
          <a:p>
            <a:pPr>
              <a:spcBef>
                <a:spcPts val="300"/>
              </a:spcBef>
            </a:pPr>
            <a:r>
              <a:rPr lang="en-US" sz="2100" dirty="0" err="1"/>
              <a:t>Модель</a:t>
            </a:r>
            <a:r>
              <a:rPr lang="en-US" sz="2100" dirty="0"/>
              <a:t> с </a:t>
            </a:r>
            <a:r>
              <a:rPr lang="en-US" sz="2100" dirty="0" err="1"/>
              <a:t>одним</a:t>
            </a:r>
            <a:r>
              <a:rPr lang="en-US" sz="2100" dirty="0"/>
              <a:t> </a:t>
            </a:r>
            <a:r>
              <a:rPr lang="en-US" sz="2100" dirty="0" err="1"/>
              <a:t>порядком</a:t>
            </a:r>
            <a:r>
              <a:rPr lang="en-US" sz="2100" dirty="0"/>
              <a:t> </a:t>
            </a:r>
            <a:r>
              <a:rPr lang="en-US" sz="2100" dirty="0" err="1"/>
              <a:t>дифференцирования</a:t>
            </a:r>
            <a:r>
              <a:rPr lang="en-US" sz="2100" dirty="0"/>
              <a:t> </a:t>
            </a:r>
            <a:r>
              <a:rPr lang="en-US" sz="2100" dirty="0" err="1"/>
              <a:t>предполагает</a:t>
            </a:r>
            <a:r>
              <a:rPr lang="en-US" sz="2100" dirty="0"/>
              <a:t>, </a:t>
            </a:r>
            <a:r>
              <a:rPr lang="en-US" sz="2100" dirty="0" err="1"/>
              <a:t>что</a:t>
            </a:r>
            <a:r>
              <a:rPr lang="en-US" sz="2100" dirty="0"/>
              <a:t> </a:t>
            </a:r>
            <a:r>
              <a:rPr lang="en-US" sz="2100" dirty="0" err="1"/>
              <a:t>исходный</a:t>
            </a:r>
            <a:r>
              <a:rPr lang="en-US" sz="2100" dirty="0"/>
              <a:t> </a:t>
            </a:r>
            <a:r>
              <a:rPr lang="en-US" sz="2100" dirty="0" err="1"/>
              <a:t>ряд</a:t>
            </a:r>
            <a:r>
              <a:rPr lang="en-US" sz="2100" dirty="0"/>
              <a:t> </a:t>
            </a:r>
            <a:r>
              <a:rPr lang="en-US" sz="2100" dirty="0" err="1"/>
              <a:t>имеет</a:t>
            </a:r>
            <a:r>
              <a:rPr lang="en-US" sz="2100" dirty="0"/>
              <a:t> </a:t>
            </a:r>
            <a:r>
              <a:rPr lang="en-US" sz="2100" dirty="0" err="1"/>
              <a:t>постоянный</a:t>
            </a:r>
            <a:r>
              <a:rPr lang="en-US" sz="2100" dirty="0"/>
              <a:t> </a:t>
            </a:r>
            <a:r>
              <a:rPr lang="en-US" sz="2100" dirty="0" err="1"/>
              <a:t>средний</a:t>
            </a:r>
            <a:r>
              <a:rPr lang="en-US" sz="2100" dirty="0"/>
              <a:t> </a:t>
            </a:r>
            <a:r>
              <a:rPr lang="en-US" sz="2100" dirty="0" err="1"/>
              <a:t>тренд</a:t>
            </a:r>
            <a:r>
              <a:rPr lang="en-US" sz="2100" dirty="0"/>
              <a:t> (</a:t>
            </a:r>
            <a:r>
              <a:rPr lang="en-US" sz="2100" dirty="0" err="1"/>
              <a:t>например</a:t>
            </a:r>
            <a:r>
              <a:rPr lang="en-US" sz="2100" dirty="0"/>
              <a:t>, </a:t>
            </a:r>
            <a:r>
              <a:rPr lang="en-US" sz="2100" dirty="0" err="1"/>
              <a:t>случайное</a:t>
            </a:r>
            <a:r>
              <a:rPr lang="en-US" sz="2100" dirty="0"/>
              <a:t> </a:t>
            </a:r>
            <a:r>
              <a:rPr lang="en-US" sz="2100" dirty="0" err="1"/>
              <a:t>блуждание</a:t>
            </a:r>
            <a:r>
              <a:rPr lang="en-US" sz="2100" dirty="0"/>
              <a:t> </a:t>
            </a:r>
            <a:r>
              <a:rPr lang="en-US" sz="2100" dirty="0" err="1"/>
              <a:t>или</a:t>
            </a:r>
            <a:r>
              <a:rPr lang="en-US" sz="2100" dirty="0"/>
              <a:t> </a:t>
            </a:r>
            <a:r>
              <a:rPr lang="en-US" sz="2100" dirty="0" err="1"/>
              <a:t>модель</a:t>
            </a:r>
            <a:r>
              <a:rPr lang="en-US" sz="2100" dirty="0"/>
              <a:t> </a:t>
            </a:r>
            <a:r>
              <a:rPr lang="en-US" sz="2100" dirty="0" err="1"/>
              <a:t>типа</a:t>
            </a:r>
            <a:r>
              <a:rPr lang="en-US" sz="2100" dirty="0"/>
              <a:t> </a:t>
            </a:r>
            <a:r>
              <a:rPr lang="en-US" sz="2100" dirty="0" err="1"/>
              <a:t>простого</a:t>
            </a:r>
            <a:r>
              <a:rPr lang="en-US" sz="2100" dirty="0"/>
              <a:t> </a:t>
            </a:r>
            <a:r>
              <a:rPr lang="en-US" sz="2100" dirty="0" err="1"/>
              <a:t>скользящего</a:t>
            </a:r>
            <a:r>
              <a:rPr lang="en-US" sz="2100" dirty="0"/>
              <a:t> </a:t>
            </a:r>
            <a:r>
              <a:rPr lang="en-US" sz="2100" dirty="0" err="1"/>
              <a:t>среднего</a:t>
            </a:r>
            <a:r>
              <a:rPr lang="en-US" sz="2100" dirty="0"/>
              <a:t>). </a:t>
            </a:r>
          </a:p>
          <a:p>
            <a:pPr>
              <a:spcBef>
                <a:spcPts val="300"/>
              </a:spcBef>
            </a:pPr>
            <a:r>
              <a:rPr lang="en-US" sz="2100" dirty="0" err="1"/>
              <a:t>Модель</a:t>
            </a:r>
            <a:r>
              <a:rPr lang="en-US" sz="2100" dirty="0"/>
              <a:t> с </a:t>
            </a:r>
            <a:r>
              <a:rPr lang="en-US" sz="2100" dirty="0" err="1"/>
              <a:t>двумя</a:t>
            </a:r>
            <a:r>
              <a:rPr lang="en-US" sz="2100" dirty="0"/>
              <a:t> </a:t>
            </a:r>
            <a:r>
              <a:rPr lang="en-US" sz="2100" dirty="0" err="1"/>
              <a:t>порядками</a:t>
            </a:r>
            <a:r>
              <a:rPr lang="en-US" sz="2100" dirty="0"/>
              <a:t> </a:t>
            </a:r>
            <a:r>
              <a:rPr lang="en-US" sz="2100" dirty="0" err="1"/>
              <a:t>дифференцирования</a:t>
            </a:r>
            <a:r>
              <a:rPr lang="en-US" sz="2100" dirty="0"/>
              <a:t> </a:t>
            </a:r>
            <a:r>
              <a:rPr lang="en-US" sz="2100" dirty="0" err="1"/>
              <a:t>предполагает</a:t>
            </a:r>
            <a:r>
              <a:rPr lang="en-US" sz="2100" dirty="0"/>
              <a:t>, </a:t>
            </a:r>
            <a:r>
              <a:rPr lang="en-US" sz="2100" dirty="0" err="1"/>
              <a:t>что</a:t>
            </a:r>
            <a:r>
              <a:rPr lang="en-US" sz="2100" dirty="0"/>
              <a:t> </a:t>
            </a:r>
            <a:r>
              <a:rPr lang="en-US" sz="2100" dirty="0" err="1"/>
              <a:t>исходный</a:t>
            </a:r>
            <a:r>
              <a:rPr lang="en-US" sz="2100" dirty="0"/>
              <a:t> </a:t>
            </a:r>
            <a:r>
              <a:rPr lang="en-US" sz="2100" dirty="0" err="1"/>
              <a:t>ряд</a:t>
            </a:r>
            <a:r>
              <a:rPr lang="en-US" sz="2100" dirty="0"/>
              <a:t> </a:t>
            </a:r>
            <a:r>
              <a:rPr lang="en-US" sz="2100" dirty="0" err="1"/>
              <a:t>имеет</a:t>
            </a:r>
            <a:r>
              <a:rPr lang="en-US" sz="2100" dirty="0"/>
              <a:t> </a:t>
            </a:r>
            <a:r>
              <a:rPr lang="en-US" sz="2100" dirty="0" err="1"/>
              <a:t>изменяющийся</a:t>
            </a:r>
            <a:r>
              <a:rPr lang="en-US" sz="2100" dirty="0"/>
              <a:t> </a:t>
            </a:r>
            <a:r>
              <a:rPr lang="en-US" sz="2100" dirty="0" err="1"/>
              <a:t>во</a:t>
            </a:r>
            <a:r>
              <a:rPr lang="en-US" sz="2100" dirty="0"/>
              <a:t> </a:t>
            </a:r>
            <a:r>
              <a:rPr lang="en-US" sz="2100" dirty="0" err="1"/>
              <a:t>времени</a:t>
            </a:r>
            <a:r>
              <a:rPr lang="en-US" sz="2100" dirty="0"/>
              <a:t> </a:t>
            </a:r>
            <a:r>
              <a:rPr lang="en-US" sz="2100" dirty="0" err="1"/>
              <a:t>тренд</a:t>
            </a:r>
            <a:r>
              <a:rPr lang="en-US" sz="2100" dirty="0"/>
              <a:t> </a:t>
            </a:r>
            <a:r>
              <a:rPr lang="ru-RU" sz="2100" dirty="0"/>
              <a:t> </a:t>
            </a:r>
            <a:r>
              <a:rPr lang="en-US" sz="2100" dirty="0"/>
              <a:t>(</a:t>
            </a:r>
            <a:r>
              <a:rPr lang="en-US" sz="2100" dirty="0" err="1"/>
              <a:t>например</a:t>
            </a:r>
            <a:r>
              <a:rPr lang="en-US" sz="2100" dirty="0"/>
              <a:t>, </a:t>
            </a:r>
            <a:r>
              <a:rPr lang="en-US" sz="2100" dirty="0" err="1"/>
              <a:t>случайный</a:t>
            </a:r>
            <a:r>
              <a:rPr lang="en-US" sz="2100" dirty="0"/>
              <a:t> </a:t>
            </a:r>
            <a:r>
              <a:rPr lang="en-US" sz="2100" dirty="0" err="1"/>
              <a:t>тренд</a:t>
            </a:r>
            <a:r>
              <a:rPr lang="en-US" sz="2100" dirty="0"/>
              <a:t> </a:t>
            </a:r>
            <a:r>
              <a:rPr lang="en-US" sz="2100" dirty="0" err="1"/>
              <a:t>или</a:t>
            </a:r>
            <a:r>
              <a:rPr lang="en-US" sz="2100" dirty="0"/>
              <a:t> </a:t>
            </a:r>
            <a:r>
              <a:rPr lang="en-US" sz="2100" dirty="0" err="1"/>
              <a:t>модель</a:t>
            </a:r>
            <a:r>
              <a:rPr lang="en-US" sz="2100" dirty="0"/>
              <a:t> </a:t>
            </a:r>
            <a:r>
              <a:rPr lang="en-US" sz="2100" dirty="0" err="1"/>
              <a:t>типа</a:t>
            </a:r>
            <a:r>
              <a:rPr lang="en-US" sz="2100" dirty="0"/>
              <a:t> EMA).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2100" dirty="0" err="1"/>
              <a:t>Первое</a:t>
            </a:r>
            <a:r>
              <a:rPr lang="en-US" sz="2100" dirty="0"/>
              <a:t>, </a:t>
            </a:r>
            <a:r>
              <a:rPr lang="en-US" sz="2100" dirty="0" err="1"/>
              <a:t>что</a:t>
            </a:r>
            <a:r>
              <a:rPr lang="en-US" sz="2100" dirty="0"/>
              <a:t> </a:t>
            </a:r>
            <a:r>
              <a:rPr lang="en-US" sz="2100" dirty="0" err="1"/>
              <a:t>вам</a:t>
            </a:r>
            <a:r>
              <a:rPr lang="en-US" sz="2100" dirty="0"/>
              <a:t> </a:t>
            </a:r>
            <a:r>
              <a:rPr lang="en-US" sz="2100" dirty="0" err="1"/>
              <a:t>нужно</a:t>
            </a:r>
            <a:r>
              <a:rPr lang="en-US" sz="2100" dirty="0"/>
              <a:t> </a:t>
            </a:r>
            <a:r>
              <a:rPr lang="en-US" sz="2100" dirty="0" err="1"/>
              <a:t>сделать</a:t>
            </a:r>
            <a:r>
              <a:rPr lang="en-US" sz="2100" dirty="0"/>
              <a:t> </a:t>
            </a:r>
            <a:r>
              <a:rPr lang="en-US" sz="2100" dirty="0" err="1"/>
              <a:t>при</a:t>
            </a:r>
            <a:r>
              <a:rPr lang="en-US" sz="2100" dirty="0"/>
              <a:t> </a:t>
            </a:r>
            <a:r>
              <a:rPr lang="en-US" sz="2100" dirty="0" err="1"/>
              <a:t>работе</a:t>
            </a:r>
            <a:r>
              <a:rPr lang="en-US" sz="2100" dirty="0"/>
              <a:t> с ARIMA - </a:t>
            </a:r>
            <a:r>
              <a:rPr lang="en-US" sz="2100" dirty="0" err="1"/>
              <a:t>это</a:t>
            </a:r>
            <a:r>
              <a:rPr lang="en-US" sz="2100" dirty="0"/>
              <a:t> </a:t>
            </a:r>
            <a:r>
              <a:rPr lang="en-US" sz="2100" dirty="0" err="1"/>
              <a:t>определить</a:t>
            </a:r>
            <a:r>
              <a:rPr lang="en-US" sz="2100" dirty="0"/>
              <a:t> </a:t>
            </a:r>
            <a:r>
              <a:rPr lang="en-US" sz="2100" dirty="0" err="1"/>
              <a:t>деривацию</a:t>
            </a:r>
            <a:r>
              <a:rPr lang="en-US" sz="2100" dirty="0"/>
              <a:t> (</a:t>
            </a:r>
            <a:r>
              <a:rPr lang="en-US" sz="2100" dirty="0" err="1"/>
              <a:t>исключить</a:t>
            </a:r>
            <a:r>
              <a:rPr lang="en-US" sz="2100" dirty="0"/>
              <a:t> </a:t>
            </a:r>
            <a:r>
              <a:rPr lang="en-US" sz="2100" dirty="0" err="1"/>
              <a:t>тренд</a:t>
            </a:r>
            <a:r>
              <a:rPr lang="en-US" sz="2100" dirty="0"/>
              <a:t> и </a:t>
            </a:r>
            <a:r>
              <a:rPr lang="en-US" sz="2100" dirty="0" err="1"/>
              <a:t>сделать</a:t>
            </a:r>
            <a:r>
              <a:rPr lang="en-US" sz="2100" dirty="0"/>
              <a:t> </a:t>
            </a:r>
            <a:r>
              <a:rPr lang="en-US" sz="2100" dirty="0" err="1"/>
              <a:t>данные</a:t>
            </a:r>
            <a:r>
              <a:rPr lang="en-US" sz="2100" dirty="0"/>
              <a:t> </a:t>
            </a:r>
            <a:r>
              <a:rPr lang="en-US" sz="2100" dirty="0" err="1"/>
              <a:t>более</a:t>
            </a:r>
            <a:r>
              <a:rPr lang="en-US" sz="2100" dirty="0"/>
              <a:t> </a:t>
            </a:r>
            <a:r>
              <a:rPr lang="en-US" sz="2100" dirty="0" err="1"/>
              <a:t>стационарными</a:t>
            </a:r>
            <a:r>
              <a:rPr lang="en-US" sz="2100" dirty="0"/>
              <a:t>). 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2100" dirty="0" err="1"/>
              <a:t>Как</a:t>
            </a:r>
            <a:r>
              <a:rPr lang="en-US" sz="2100" dirty="0"/>
              <a:t> </a:t>
            </a:r>
            <a:r>
              <a:rPr lang="en-US" sz="2100" dirty="0" err="1"/>
              <a:t>правило</a:t>
            </a:r>
            <a:r>
              <a:rPr lang="en-US" sz="2100" dirty="0"/>
              <a:t>, </a:t>
            </a:r>
            <a:r>
              <a:rPr lang="en-US" sz="2100" dirty="0" err="1"/>
              <a:t>применяется</a:t>
            </a:r>
            <a:r>
              <a:rPr lang="en-US" sz="2100" dirty="0"/>
              <a:t> </a:t>
            </a:r>
            <a:r>
              <a:rPr lang="en-US" sz="2100" dirty="0" err="1"/>
              <a:t>производная</a:t>
            </a:r>
            <a:r>
              <a:rPr lang="en-US" sz="2100" dirty="0"/>
              <a:t> </a:t>
            </a:r>
            <a:r>
              <a:rPr lang="en-US" sz="2100" dirty="0" err="1"/>
              <a:t>на</a:t>
            </a:r>
            <a:r>
              <a:rPr lang="en-US" sz="2100" dirty="0"/>
              <a:t> 1-3 </a:t>
            </a:r>
            <a:r>
              <a:rPr lang="en-US" sz="2100" dirty="0" err="1"/>
              <a:t>порядка</a:t>
            </a:r>
            <a:r>
              <a:rPr lang="en-US" sz="2100" dirty="0"/>
              <a:t>, </a:t>
            </a:r>
            <a:r>
              <a:rPr lang="en-US" sz="2100" dirty="0" err="1"/>
              <a:t>реже</a:t>
            </a:r>
            <a:r>
              <a:rPr lang="en-US" sz="2100" dirty="0"/>
              <a:t> - </a:t>
            </a:r>
            <a:r>
              <a:rPr lang="en-US" sz="2100" dirty="0" err="1"/>
              <a:t>больше</a:t>
            </a:r>
            <a:r>
              <a:rPr lang="en-US" sz="2100" dirty="0"/>
              <a:t>. </a:t>
            </a:r>
            <a:endParaRPr lang="ru-RU" sz="2100" dirty="0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2100" dirty="0"/>
              <a:t>На самом деле </a:t>
            </a:r>
            <a:r>
              <a:rPr lang="ru-RU" sz="2100" dirty="0" err="1"/>
              <a:t>недодифференцированность</a:t>
            </a:r>
            <a:r>
              <a:rPr lang="ru-RU" sz="2100" dirty="0"/>
              <a:t> может быть не так страшна – она приводит к необходимости добавления </a:t>
            </a:r>
            <a:r>
              <a:rPr lang="en-US" sz="2100" dirty="0"/>
              <a:t>AR </a:t>
            </a:r>
            <a:r>
              <a:rPr lang="ru-RU" sz="2100" dirty="0"/>
              <a:t>составляющих.</a:t>
            </a:r>
          </a:p>
          <a:p>
            <a:pPr lvl="1">
              <a:lnSpc>
                <a:spcPct val="120000"/>
              </a:lnSpc>
              <a:spcBef>
                <a:spcPts val="300"/>
              </a:spcBef>
            </a:pPr>
            <a:r>
              <a:rPr lang="ru-RU" sz="2100" dirty="0" err="1"/>
              <a:t>Передифференцируемость</a:t>
            </a:r>
            <a:r>
              <a:rPr lang="ru-RU" sz="2100" dirty="0"/>
              <a:t> приводит к необходимости добавления </a:t>
            </a:r>
            <a:r>
              <a:rPr lang="en-US" sz="2100" dirty="0"/>
              <a:t>MA </a:t>
            </a:r>
            <a:r>
              <a:rPr lang="ru-RU" sz="2100" dirty="0"/>
              <a:t>составляющих.</a:t>
            </a:r>
          </a:p>
          <a:p>
            <a:pPr lvl="2">
              <a:lnSpc>
                <a:spcPct val="120000"/>
              </a:lnSpc>
              <a:spcBef>
                <a:spcPts val="300"/>
              </a:spcBef>
            </a:pPr>
            <a:r>
              <a:rPr lang="ru-RU" sz="2100" dirty="0"/>
              <a:t>Также может привести к появлению ложных составляющих во ВР</a:t>
            </a:r>
            <a:endParaRPr lang="en-US" sz="2100" dirty="0"/>
          </a:p>
          <a:p>
            <a:pPr>
              <a:spcBef>
                <a:spcPts val="300"/>
              </a:spcBef>
            </a:pPr>
            <a:r>
              <a:rPr lang="ru-RU" sz="2200" dirty="0"/>
              <a:t>То есть порядок дифференцирования тоже варьируется.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113146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Стационарность ARIMA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697821" cy="5853952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Для</a:t>
            </a:r>
            <a:r>
              <a:rPr lang="en-US" dirty="0"/>
              <a:t> проверки стационарности можно использовать множество статистических и визуальных методов, среди которых: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 err="1"/>
              <a:t>Статистика</a:t>
            </a:r>
            <a:r>
              <a:rPr lang="en-US" b="1" dirty="0"/>
              <a:t> </a:t>
            </a:r>
            <a:r>
              <a:rPr lang="ru-RU" b="1" dirty="0"/>
              <a:t>скользящего окна (</a:t>
            </a:r>
            <a:r>
              <a:rPr lang="en-US" b="1" dirty="0"/>
              <a:t>Rolling Statistics</a:t>
            </a:r>
            <a:r>
              <a:rPr lang="ru-RU" b="1" dirty="0"/>
              <a:t>)</a:t>
            </a:r>
            <a:r>
              <a:rPr lang="en-US" dirty="0"/>
              <a:t>: Постройте скользящее среднее и скользящее стандартное отклонение. Временные ряды являются стационарными, если они остаются постоянными во </a:t>
            </a:r>
            <a:r>
              <a:rPr lang="en-US" dirty="0" err="1"/>
              <a:t>времени</a:t>
            </a:r>
            <a:r>
              <a:rPr lang="en-US" dirty="0"/>
              <a:t> (</a:t>
            </a:r>
            <a:r>
              <a:rPr lang="en-US" dirty="0" err="1"/>
              <a:t>посмотрите</a:t>
            </a:r>
            <a:r>
              <a:rPr lang="en-US" dirty="0"/>
              <a:t>, являются ли линии прямыми и параллельными оси x). Этот метод соответствует слабому определению стационарного.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ACF анализ </a:t>
            </a:r>
            <a:r>
              <a:rPr lang="en-US" dirty="0"/>
              <a:t>- для нестационарного процесса вы увидите </a:t>
            </a:r>
            <a:r>
              <a:rPr lang="en-US" dirty="0" err="1"/>
              <a:t>медленное</a:t>
            </a:r>
            <a:r>
              <a:rPr lang="en-US" dirty="0"/>
              <a:t> </a:t>
            </a:r>
            <a:r>
              <a:rPr lang="en-US" dirty="0" err="1"/>
              <a:t>убывание</a:t>
            </a:r>
            <a:r>
              <a:rPr lang="ru-RU" dirty="0"/>
              <a:t> </a:t>
            </a:r>
            <a:r>
              <a:rPr lang="ru-RU" dirty="0" err="1"/>
              <a:t>коэфициентоа</a:t>
            </a:r>
            <a:r>
              <a:rPr lang="ru-RU" dirty="0"/>
              <a:t> АКФ.</a:t>
            </a:r>
            <a:r>
              <a:rPr lang="en-US" dirty="0"/>
              <a:t>  Для стационарной последовательной автокорреляционной функции (АКФ) график довольно быстро затухает до нуля или </a:t>
            </a:r>
            <a:r>
              <a:rPr lang="en-US" dirty="0" err="1"/>
              <a:t>ниже</a:t>
            </a:r>
            <a:r>
              <a:rPr lang="en-US" dirty="0" smtClean="0"/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b="1" dirty="0" err="1" smtClean="0"/>
              <a:t>Расширенный</a:t>
            </a:r>
            <a:r>
              <a:rPr lang="en-US" b="1" dirty="0" smtClean="0"/>
              <a:t> </a:t>
            </a:r>
            <a:r>
              <a:rPr lang="en-US" b="1" dirty="0" err="1" smtClean="0"/>
              <a:t>тест</a:t>
            </a:r>
            <a:r>
              <a:rPr lang="en-US" b="1" dirty="0" smtClean="0"/>
              <a:t> </a:t>
            </a:r>
            <a:r>
              <a:rPr lang="en-US" b="1" dirty="0" err="1" smtClean="0"/>
              <a:t>Дики-Фуллера</a:t>
            </a:r>
            <a:r>
              <a:rPr lang="ru-RU" b="1" dirty="0" smtClean="0"/>
              <a:t> (</a:t>
            </a:r>
            <a:r>
              <a:rPr lang="en-US" b="1" dirty="0" smtClean="0"/>
              <a:t>Augmented Dickey-Fuller Test,</a:t>
            </a:r>
            <a:r>
              <a:rPr lang="ru-RU" b="1" dirty="0" smtClean="0"/>
              <a:t> </a:t>
            </a:r>
            <a:r>
              <a:rPr lang="en-US" b="1" dirty="0" smtClean="0"/>
              <a:t>ADF</a:t>
            </a:r>
            <a:r>
              <a:rPr lang="ru-RU" b="1" dirty="0" smtClean="0"/>
              <a:t>)</a:t>
            </a:r>
            <a:r>
              <a:rPr lang="en-US" dirty="0" smtClean="0"/>
              <a:t>: </a:t>
            </a:r>
            <a:r>
              <a:rPr lang="en-US" dirty="0" err="1" smtClean="0"/>
              <a:t>Временной</a:t>
            </a:r>
            <a:r>
              <a:rPr lang="en-US" dirty="0" smtClean="0"/>
              <a:t> </a:t>
            </a:r>
            <a:r>
              <a:rPr lang="en-US" dirty="0" err="1" smtClean="0"/>
              <a:t>ряд</a:t>
            </a:r>
            <a:r>
              <a:rPr lang="en-US" dirty="0" smtClean="0"/>
              <a:t> </a:t>
            </a:r>
            <a:r>
              <a:rPr lang="en-US" dirty="0" err="1" smtClean="0"/>
              <a:t>считается</a:t>
            </a:r>
            <a:r>
              <a:rPr lang="en-US" dirty="0" smtClean="0"/>
              <a:t> </a:t>
            </a:r>
            <a:r>
              <a:rPr lang="en-US" dirty="0" err="1" smtClean="0"/>
              <a:t>стационарным</a:t>
            </a:r>
            <a:r>
              <a:rPr lang="en-US" dirty="0" smtClean="0"/>
              <a:t> </a:t>
            </a:r>
            <a:r>
              <a:rPr lang="en-US" dirty="0" err="1" smtClean="0"/>
              <a:t>по</a:t>
            </a:r>
            <a:r>
              <a:rPr lang="en-US" dirty="0" smtClean="0"/>
              <a:t> </a:t>
            </a:r>
            <a:r>
              <a:rPr lang="en-US" dirty="0" err="1" smtClean="0"/>
              <a:t>определенному</a:t>
            </a:r>
            <a:r>
              <a:rPr lang="en-US" dirty="0" smtClean="0"/>
              <a:t> </a:t>
            </a:r>
            <a:r>
              <a:rPr lang="en-US" dirty="0" err="1" smtClean="0"/>
              <a:t>критерию</a:t>
            </a:r>
            <a:r>
              <a:rPr lang="en-US" dirty="0" smtClean="0"/>
              <a:t>, </a:t>
            </a:r>
            <a:r>
              <a:rPr lang="ru-RU" dirty="0" smtClean="0"/>
              <a:t>связанному с единичной окружностью на </a:t>
            </a:r>
            <a:r>
              <a:rPr lang="en-US" dirty="0" smtClean="0"/>
              <a:t>z </a:t>
            </a:r>
            <a:r>
              <a:rPr lang="ru-RU" dirty="0" smtClean="0"/>
              <a:t>плоскости. При расчете критерия</a:t>
            </a:r>
            <a:r>
              <a:rPr lang="en-US" dirty="0" smtClean="0"/>
              <a:t> </a:t>
            </a:r>
            <a:r>
              <a:rPr lang="en-US" dirty="0" err="1" smtClean="0"/>
              <a:t>также</a:t>
            </a:r>
            <a:r>
              <a:rPr lang="en-US" dirty="0" smtClean="0"/>
              <a:t> </a:t>
            </a:r>
            <a:r>
              <a:rPr lang="en-US" dirty="0" err="1" smtClean="0"/>
              <a:t>вычисляется</a:t>
            </a:r>
            <a:r>
              <a:rPr lang="en-US" dirty="0" smtClean="0"/>
              <a:t> p-</a:t>
            </a:r>
            <a:r>
              <a:rPr lang="en-US" dirty="0" err="1" smtClean="0"/>
              <a:t>значение</a:t>
            </a:r>
            <a:r>
              <a:rPr lang="ru-RU" dirty="0" smtClean="0"/>
              <a:t> (статистическая значимость)</a:t>
            </a:r>
            <a:r>
              <a:rPr lang="en-US" dirty="0" smtClean="0"/>
              <a:t>.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значение</a:t>
            </a:r>
            <a:r>
              <a:rPr lang="en-US" dirty="0" smtClean="0"/>
              <a:t> p </a:t>
            </a:r>
            <a:r>
              <a:rPr lang="en-US" dirty="0" err="1" smtClean="0"/>
              <a:t>низкое</a:t>
            </a:r>
            <a:r>
              <a:rPr lang="en-US" dirty="0" smtClean="0"/>
              <a:t> (</a:t>
            </a:r>
            <a:r>
              <a:rPr lang="en-US" dirty="0" err="1" smtClean="0"/>
              <a:t>согласно</a:t>
            </a:r>
            <a:r>
              <a:rPr lang="en-US" dirty="0" smtClean="0"/>
              <a:t> </a:t>
            </a:r>
            <a:r>
              <a:rPr lang="en-US" dirty="0" err="1" smtClean="0"/>
              <a:t>нулевой</a:t>
            </a:r>
            <a:r>
              <a:rPr lang="en-US" dirty="0" smtClean="0"/>
              <a:t> </a:t>
            </a:r>
            <a:r>
              <a:rPr lang="en-US" dirty="0" err="1" smtClean="0"/>
              <a:t>гипотезе</a:t>
            </a:r>
            <a:r>
              <a:rPr lang="en-US" dirty="0" smtClean="0"/>
              <a:t>) и </a:t>
            </a:r>
            <a:r>
              <a:rPr lang="en-US" dirty="0" err="1" smtClean="0"/>
              <a:t>критические</a:t>
            </a:r>
            <a:r>
              <a:rPr lang="en-US" dirty="0" smtClean="0"/>
              <a:t> </a:t>
            </a:r>
            <a:r>
              <a:rPr lang="en-US" dirty="0" err="1" smtClean="0"/>
              <a:t>значения</a:t>
            </a:r>
            <a:r>
              <a:rPr lang="en-US" dirty="0" smtClean="0"/>
              <a:t> </a:t>
            </a:r>
            <a:r>
              <a:rPr lang="en-US" dirty="0" err="1" smtClean="0"/>
              <a:t>при</a:t>
            </a:r>
            <a:r>
              <a:rPr lang="en-US" dirty="0" smtClean="0"/>
              <a:t> </a:t>
            </a:r>
            <a:r>
              <a:rPr lang="en-US" dirty="0" err="1" smtClean="0"/>
              <a:t>доверительных</a:t>
            </a:r>
            <a:r>
              <a:rPr lang="en-US" dirty="0" smtClean="0"/>
              <a:t> </a:t>
            </a:r>
            <a:r>
              <a:rPr lang="en-US" dirty="0" err="1" smtClean="0"/>
              <a:t>интервалах</a:t>
            </a:r>
            <a:r>
              <a:rPr lang="en-US" dirty="0" smtClean="0"/>
              <a:t> 1%, 5%, 10% </a:t>
            </a:r>
            <a:r>
              <a:rPr lang="ru-RU" dirty="0" smtClean="0"/>
              <a:t>выше порога</a:t>
            </a:r>
            <a:r>
              <a:rPr lang="en-US" dirty="0" smtClean="0"/>
              <a:t> к </a:t>
            </a:r>
            <a:r>
              <a:rPr lang="en-US" dirty="0" err="1" smtClean="0"/>
              <a:t>статистик</a:t>
            </a:r>
            <a:r>
              <a:rPr lang="ru-RU" dirty="0" smtClean="0"/>
              <a:t>и</a:t>
            </a:r>
            <a:r>
              <a:rPr lang="en-US" dirty="0" smtClean="0"/>
              <a:t> ADF</a:t>
            </a:r>
            <a:r>
              <a:rPr lang="ru-RU" dirty="0" smtClean="0"/>
              <a:t>, то ряд стационарен</a:t>
            </a:r>
            <a:endParaRPr lang="en-US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 err="1" smtClean="0"/>
              <a:t>Тест</a:t>
            </a:r>
            <a:r>
              <a:rPr lang="en-US" b="1" dirty="0" smtClean="0"/>
              <a:t> </a:t>
            </a:r>
            <a:r>
              <a:rPr lang="en-US" b="1" dirty="0" err="1" smtClean="0"/>
              <a:t>Квятковского</a:t>
            </a:r>
            <a:r>
              <a:rPr lang="en-US" b="1" dirty="0" smtClean="0"/>
              <a:t> – </a:t>
            </a:r>
            <a:r>
              <a:rPr lang="en-US" b="1" dirty="0" err="1" smtClean="0"/>
              <a:t>Филлипса</a:t>
            </a:r>
            <a:r>
              <a:rPr lang="en-US" b="1" dirty="0" smtClean="0"/>
              <a:t> – </a:t>
            </a:r>
            <a:r>
              <a:rPr lang="en-US" b="1" dirty="0" err="1" smtClean="0"/>
              <a:t>Шмидта</a:t>
            </a:r>
            <a:r>
              <a:rPr lang="en-US" b="1" dirty="0" smtClean="0"/>
              <a:t> – </a:t>
            </a:r>
            <a:r>
              <a:rPr lang="en-US" b="1" dirty="0" err="1" smtClean="0"/>
              <a:t>Шина</a:t>
            </a:r>
            <a:r>
              <a:rPr lang="en-US" b="1" dirty="0" smtClean="0"/>
              <a:t> (KPSS)</a:t>
            </a:r>
            <a:r>
              <a:rPr lang="en-US" dirty="0" smtClean="0"/>
              <a:t>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также</a:t>
            </a:r>
            <a:r>
              <a:rPr lang="en-US" dirty="0" smtClean="0"/>
              <a:t> </a:t>
            </a:r>
            <a:r>
              <a:rPr lang="en-US" dirty="0" err="1" smtClean="0"/>
              <a:t>является</a:t>
            </a:r>
            <a:r>
              <a:rPr lang="en-US" dirty="0" smtClean="0"/>
              <a:t> </a:t>
            </a:r>
            <a:r>
              <a:rPr lang="en-US" dirty="0" err="1" smtClean="0"/>
              <a:t>тестом</a:t>
            </a:r>
            <a:r>
              <a:rPr lang="en-US" dirty="0" smtClean="0"/>
              <a:t> </a:t>
            </a:r>
            <a:r>
              <a:rPr lang="ru-RU" dirty="0" smtClean="0"/>
              <a:t>единичной окружности </a:t>
            </a:r>
            <a:r>
              <a:rPr lang="en-US" dirty="0" smtClean="0"/>
              <a:t>z </a:t>
            </a:r>
            <a:r>
              <a:rPr lang="ru-RU" dirty="0" smtClean="0"/>
              <a:t>плоскости</a:t>
            </a:r>
            <a:r>
              <a:rPr lang="en-US" dirty="0" smtClean="0"/>
              <a:t>, </a:t>
            </a:r>
            <a:r>
              <a:rPr lang="en-US" dirty="0" err="1" smtClean="0"/>
              <a:t>но</a:t>
            </a:r>
            <a:r>
              <a:rPr lang="en-US" dirty="0" smtClean="0"/>
              <a:t> </a:t>
            </a:r>
            <a:r>
              <a:rPr lang="en-US" dirty="0" err="1" smtClean="0"/>
              <a:t>отличается</a:t>
            </a:r>
            <a:r>
              <a:rPr lang="en-US" dirty="0" smtClean="0"/>
              <a:t> </a:t>
            </a:r>
            <a:r>
              <a:rPr lang="en-US" dirty="0" err="1" smtClean="0"/>
              <a:t>от</a:t>
            </a:r>
            <a:r>
              <a:rPr lang="en-US" dirty="0" smtClean="0"/>
              <a:t> ADF в </a:t>
            </a:r>
            <a:r>
              <a:rPr lang="en-US" dirty="0" err="1" smtClean="0"/>
              <a:t>случае</a:t>
            </a:r>
            <a:r>
              <a:rPr lang="en-US" dirty="0" smtClean="0"/>
              <a:t> </a:t>
            </a:r>
            <a:r>
              <a:rPr lang="ru-RU" dirty="0" smtClean="0"/>
              <a:t>как случайного, так и </a:t>
            </a:r>
            <a:r>
              <a:rPr lang="en-US" dirty="0" err="1" smtClean="0"/>
              <a:t>детерминированного</a:t>
            </a:r>
            <a:r>
              <a:rPr lang="en-US" dirty="0" smtClean="0"/>
              <a:t> </a:t>
            </a:r>
            <a:r>
              <a:rPr lang="en-US" dirty="0" err="1" smtClean="0"/>
              <a:t>тренда</a:t>
            </a:r>
            <a:r>
              <a:rPr lang="en-US" dirty="0" smtClean="0"/>
              <a:t> с </a:t>
            </a:r>
            <a:r>
              <a:rPr lang="en-US" dirty="0" err="1" smtClean="0"/>
              <a:t>точками</a:t>
            </a:r>
            <a:r>
              <a:rPr lang="en-US" dirty="0" smtClean="0"/>
              <a:t> </a:t>
            </a:r>
            <a:r>
              <a:rPr lang="en-US" dirty="0" err="1" smtClean="0"/>
              <a:t>перегиба</a:t>
            </a:r>
            <a:r>
              <a:rPr lang="en-US" dirty="0" smtClean="0"/>
              <a:t>.</a:t>
            </a:r>
            <a:r>
              <a:rPr lang="ru-RU" dirty="0" smtClean="0"/>
              <a:t> Нулевая гипотеза тут говорит </a:t>
            </a:r>
            <a:r>
              <a:rPr lang="ru-RU" smtClean="0"/>
              <a:t>о стационарности.</a:t>
            </a:r>
            <a:endParaRPr lang="en-US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1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График автокорреляци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7604125" cy="392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200" y="5711424"/>
            <a:ext cx="5308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https://pythonpip.ru/examples/model-arima-v-python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507" y="2241331"/>
            <a:ext cx="2914650" cy="2227625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6472238" y="3443288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6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Residual analysis of ARIMA(0, 1, 2)(1, 0, 1) 30 Model | Download Scientific 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577850"/>
            <a:ext cx="9321800" cy="599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36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384" y="1138334"/>
            <a:ext cx="9807255" cy="478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60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3760934"/>
          </a:xfrm>
        </p:spPr>
        <p:txBody>
          <a:bodyPr>
            <a:normAutofit/>
          </a:bodyPr>
          <a:lstStyle/>
          <a:p>
            <a:r>
              <a:rPr lang="ru-RU" sz="8800" b="1" dirty="0"/>
              <a:t>М</a:t>
            </a:r>
            <a:r>
              <a:rPr lang="en-US" sz="8800" b="1" dirty="0" err="1"/>
              <a:t>одели</a:t>
            </a:r>
            <a:r>
              <a:rPr lang="en-US" sz="8800" b="1" dirty="0"/>
              <a:t> SARIMAX </a:t>
            </a:r>
            <a:r>
              <a:rPr lang="ru-RU" sz="8800" b="1" dirty="0"/>
              <a:t/>
            </a:r>
            <a:br>
              <a:rPr lang="ru-RU" sz="8800" b="1" dirty="0"/>
            </a:br>
            <a:r>
              <a:rPr lang="ru-RU" sz="8800" b="1" dirty="0"/>
              <a:t>и другие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03372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7D1D9-176E-4DAF-80F0-AF1A911D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4" y="26971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сезонной и</a:t>
            </a:r>
            <a:r>
              <a:rPr lang="en-US" sz="4000" b="1" dirty="0" err="1"/>
              <a:t>нтегрированно</a:t>
            </a:r>
            <a:r>
              <a:rPr lang="ru-RU" sz="4000" b="1" dirty="0"/>
              <a:t>й </a:t>
            </a:r>
            <a:r>
              <a:rPr lang="ru-RU" b="1" dirty="0"/>
              <a:t>авторегрессии </a:t>
            </a:r>
            <a:r>
              <a:rPr lang="ru-RU" sz="4000" b="1" dirty="0" smtClean="0"/>
              <a:t> </a:t>
            </a:r>
            <a:r>
              <a:rPr lang="ru-RU" sz="4000" b="1" dirty="0"/>
              <a:t>-</a:t>
            </a:r>
            <a:r>
              <a:rPr lang="en-US" sz="4000" b="1" dirty="0"/>
              <a:t> </a:t>
            </a:r>
            <a:r>
              <a:rPr lang="en-US" sz="4000" b="1" dirty="0" err="1"/>
              <a:t>скользяще</a:t>
            </a:r>
            <a:r>
              <a:rPr lang="ru-RU" sz="4000" b="1" dirty="0" err="1"/>
              <a:t>го</a:t>
            </a:r>
            <a:r>
              <a:rPr lang="en-US" sz="4000" b="1" dirty="0"/>
              <a:t> </a:t>
            </a:r>
            <a:r>
              <a:rPr lang="en-US" sz="4000" b="1" dirty="0" err="1"/>
              <a:t>средне</a:t>
            </a:r>
            <a:r>
              <a:rPr lang="ru-RU" sz="4000" b="1" dirty="0" err="1"/>
              <a:t>го</a:t>
            </a:r>
            <a:r>
              <a:rPr lang="ru-RU" sz="4000" b="1" dirty="0"/>
              <a:t> </a:t>
            </a:r>
            <a:r>
              <a:rPr lang="en-US" sz="4000" b="1" dirty="0"/>
              <a:t> (SARIMA).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000" dirty="0"/>
                  <a:t>Если модель </a:t>
                </a:r>
                <a:r>
                  <a:rPr lang="en-US" sz="2000" dirty="0" err="1"/>
                  <a:t>имеет</a:t>
                </a:r>
                <a:r>
                  <a:rPr lang="en-US" sz="2000" dirty="0"/>
                  <a:t> </a:t>
                </a:r>
                <a:r>
                  <a:rPr lang="ru-RU" sz="2000" dirty="0"/>
                  <a:t>интенсивную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сезонн</a:t>
                </a:r>
                <a:r>
                  <a:rPr lang="ru-RU" sz="2000" dirty="0" err="1"/>
                  <a:t>ую</a:t>
                </a:r>
                <a:r>
                  <a:rPr lang="ru-RU" sz="2000" dirty="0"/>
                  <a:t> составляющую</a:t>
                </a:r>
                <a:r>
                  <a:rPr lang="en-US" sz="2000" dirty="0"/>
                  <a:t>, то она может быть компенсирована так называемой сезонной производной, имеющей вид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В операторной форме это можно представить как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=(1−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 err="1"/>
                  <a:t>Таким</a:t>
                </a:r>
                <a:r>
                  <a:rPr lang="en-US" sz="2000" dirty="0"/>
                  <a:t> образом, может быть введена так называемая сезонная авторегрессионная интегрированная скользящая средняя (SARIMA).</a:t>
                </a:r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  <a:blipFill>
                <a:blip r:embed="rId2"/>
                <a:stretch>
                  <a:fillRect l="-501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11B5B-0E35-4E01-8ADD-47ECBCA4BBF9}"/>
              </a:ext>
            </a:extLst>
          </p:cNvPr>
          <p:cNvSpPr/>
          <p:nvPr/>
        </p:nvSpPr>
        <p:spPr>
          <a:xfrm>
            <a:off x="3307748" y="6123543"/>
            <a:ext cx="797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Обратите внимание,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что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обе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производные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берутся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только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части AR.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/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Полное уравнение SARIMA можно представить в виде 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или в более компактной форме как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  <a:blipFill>
                <a:blip r:embed="rId3"/>
                <a:stretch>
                  <a:fillRect l="-558" t="-1902" b="-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98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ru-RU" sz="2000" dirty="0"/>
                  <a:t>Порядок </a:t>
                </a:r>
                <a:r>
                  <a:rPr lang="en-US" sz="2000" dirty="0"/>
                  <a:t>SARIMA </a:t>
                </a:r>
                <a:r>
                  <a:rPr lang="en-US" sz="2000" dirty="0" err="1"/>
                  <a:t>часто</a:t>
                </a:r>
                <a:r>
                  <a:rPr lang="en-US" sz="2000" dirty="0"/>
                  <a:t> </a:t>
                </a:r>
                <a:r>
                  <a:rPr lang="ru-RU" sz="2000" dirty="0"/>
                  <a:t>записывается</a:t>
                </a:r>
                <a:r>
                  <a:rPr lang="en-US" sz="2000" dirty="0"/>
                  <a:t> в форме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или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это сезонный период.</a:t>
                </a:r>
              </a:p>
              <a:p>
                <a:pPr algn="l" rtl="0"/>
                <a:r>
                  <a:rPr lang="en-US" sz="2000" dirty="0"/>
                  <a:t> Пример для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𝑆𝐴𝑅𝐼𝑀𝐴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(1,1,1)×(1,1,1)4</m:t>
                    </m:r>
                  </m:oMath>
                </a14:m>
                <a:endParaRPr lang="en-US" sz="2000" dirty="0"/>
              </a:p>
              <a:p>
                <a:pPr algn="l" rtl="0"/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  <a:blipFill>
                <a:blip r:embed="rId2"/>
                <a:stretch>
                  <a:fillRect l="-463" t="-2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514D45C-FE7E-425B-A902-7FE5582E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837" y="3230596"/>
            <a:ext cx="8677275" cy="23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/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Обратите внимание, что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здесь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множение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оператор</a:t>
                </a:r>
                <a:r>
                  <a:rPr lang="ru-RU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ов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дифференцирования работает как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  <a:blipFill>
                <a:blip r:embed="rId4"/>
                <a:stretch>
                  <a:fillRect l="-462" t="-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97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endParaRPr lang="en-US" sz="2000" dirty="0"/>
          </a:p>
        </p:txBody>
      </p:sp>
      <p:pic>
        <p:nvPicPr>
          <p:cNvPr id="2050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86"/>
          <a:stretch/>
        </p:blipFill>
        <p:spPr bwMode="auto">
          <a:xfrm>
            <a:off x="313356" y="1436280"/>
            <a:ext cx="11645153" cy="437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52404" y="6102464"/>
            <a:ext cx="7120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Ряд не стационарен, возможно, если убрать среднее, может и можно </a:t>
            </a:r>
            <a:br>
              <a:rPr lang="ru-RU" dirty="0"/>
            </a:br>
            <a:r>
              <a:rPr lang="ru-RU" dirty="0"/>
              <a:t>использовать </a:t>
            </a:r>
            <a:r>
              <a:rPr lang="en-US" dirty="0"/>
              <a:t>ARMA, </a:t>
            </a:r>
            <a:r>
              <a:rPr lang="ru-RU" dirty="0"/>
              <a:t>но возможно большого порядка.</a:t>
            </a:r>
          </a:p>
        </p:txBody>
      </p:sp>
    </p:spTree>
    <p:extLst>
      <p:ext uri="{BB962C8B-B14F-4D97-AF65-F5344CB8AC3E}">
        <p14:creationId xmlns:p14="http://schemas.microsoft.com/office/powerpoint/2010/main" val="244770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9" b="52288"/>
          <a:stretch/>
        </p:blipFill>
        <p:spPr bwMode="auto">
          <a:xfrm>
            <a:off x="397631" y="1222860"/>
            <a:ext cx="11535688" cy="34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0979" y="5140171"/>
            <a:ext cx="461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Видно </a:t>
            </a:r>
            <a:r>
              <a:rPr lang="ru-RU" dirty="0"/>
              <a:t>явная сезонность в </a:t>
            </a:r>
            <a:r>
              <a:rPr lang="ru-RU" dirty="0" err="1" smtClean="0"/>
              <a:t>нестационарности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478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0" b="26618"/>
          <a:stretch/>
        </p:blipFill>
        <p:spPr bwMode="auto">
          <a:xfrm>
            <a:off x="386228" y="810526"/>
            <a:ext cx="11107272" cy="4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3301" y="5459767"/>
            <a:ext cx="7659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Видно, что есть </a:t>
            </a:r>
            <a:r>
              <a:rPr lang="en-US" dirty="0"/>
              <a:t>AR 2 </a:t>
            </a:r>
            <a:r>
              <a:rPr lang="ru-RU" dirty="0"/>
              <a:t>порядка, видно что есть какое-то </a:t>
            </a:r>
            <a:r>
              <a:rPr lang="en-US" dirty="0"/>
              <a:t>MA, </a:t>
            </a:r>
            <a:r>
              <a:rPr lang="ru-RU" dirty="0"/>
              <a:t>пусть 1 порядка, </a:t>
            </a:r>
            <a:br>
              <a:rPr lang="ru-RU" dirty="0"/>
            </a:br>
            <a:r>
              <a:rPr lang="ru-RU" dirty="0"/>
              <a:t>по выбросам АКФ можно сказать об одной </a:t>
            </a:r>
            <a:r>
              <a:rPr lang="en-US" dirty="0"/>
              <a:t>SAR </a:t>
            </a:r>
            <a:r>
              <a:rPr lang="ru-RU" dirty="0"/>
              <a:t>составляющей – 1 выброс,</a:t>
            </a:r>
          </a:p>
          <a:p>
            <a:r>
              <a:rPr lang="ru-RU" dirty="0"/>
              <a:t>По выбросам ЧАКФ можно сказать что мин. 2 </a:t>
            </a:r>
            <a:r>
              <a:rPr lang="en-US" dirty="0"/>
              <a:t>SMA </a:t>
            </a:r>
            <a:r>
              <a:rPr lang="ru-RU" dirty="0"/>
              <a:t>составляющих. </a:t>
            </a:r>
          </a:p>
        </p:txBody>
      </p:sp>
    </p:spTree>
    <p:extLst>
      <p:ext uri="{BB962C8B-B14F-4D97-AF65-F5344CB8AC3E}">
        <p14:creationId xmlns:p14="http://schemas.microsoft.com/office/powerpoint/2010/main" val="44959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1" b="1"/>
          <a:stretch/>
        </p:blipFill>
        <p:spPr bwMode="auto">
          <a:xfrm>
            <a:off x="246528" y="1137660"/>
            <a:ext cx="11551154" cy="47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95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Алгоритм подбора модели SARIMA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sz="2300" dirty="0" err="1"/>
              <a:t>Определение</a:t>
            </a:r>
            <a:r>
              <a:rPr lang="en-US" sz="2300" dirty="0"/>
              <a:t> порядка обычного дифференцирования, </a:t>
            </a:r>
          </a:p>
          <a:p>
            <a:pPr lvl="2">
              <a:lnSpc>
                <a:spcPct val="120000"/>
              </a:lnSpc>
            </a:pPr>
            <a:r>
              <a:rPr lang="en-US" sz="2300" dirty="0" err="1"/>
              <a:t>необходимо</a:t>
            </a:r>
            <a:r>
              <a:rPr lang="en-US" sz="2300" dirty="0"/>
              <a:t> </a:t>
            </a:r>
            <a:r>
              <a:rPr lang="en-US" sz="2300" dirty="0" err="1"/>
              <a:t>для</a:t>
            </a:r>
            <a:r>
              <a:rPr lang="en-US" sz="2300" dirty="0"/>
              <a:t> </a:t>
            </a:r>
            <a:r>
              <a:rPr lang="ru-RU" sz="2300" dirty="0"/>
              <a:t>приведения ряда к стационарно</a:t>
            </a:r>
            <a:r>
              <a:rPr lang="en-US" sz="2300" dirty="0"/>
              <a:t>c</a:t>
            </a:r>
            <a:r>
              <a:rPr lang="ru-RU" sz="2300" dirty="0" err="1"/>
              <a:t>ти</a:t>
            </a:r>
            <a:r>
              <a:rPr lang="en-US" sz="2300" dirty="0"/>
              <a:t> (чтобы исключить тренд).</a:t>
            </a:r>
          </a:p>
          <a:p>
            <a:pPr lvl="1" algn="l" rtl="0">
              <a:lnSpc>
                <a:spcPct val="120000"/>
              </a:lnSpc>
            </a:pPr>
            <a:r>
              <a:rPr lang="ru-RU" sz="2300" dirty="0"/>
              <a:t>Определение порядка основной сезонности.</a:t>
            </a:r>
          </a:p>
          <a:p>
            <a:pPr lvl="1" algn="l" rtl="0">
              <a:lnSpc>
                <a:spcPct val="120000"/>
              </a:lnSpc>
            </a:pPr>
            <a:r>
              <a:rPr lang="en-US" sz="2300" dirty="0" err="1"/>
              <a:t>Проверка</a:t>
            </a:r>
            <a:r>
              <a:rPr lang="en-US" sz="2300" dirty="0"/>
              <a:t> влияния сезонной составляющей и, возможно, </a:t>
            </a:r>
            <a:r>
              <a:rPr lang="en-US" sz="2300" dirty="0" err="1"/>
              <a:t>устранение</a:t>
            </a:r>
            <a:r>
              <a:rPr lang="ru-RU" sz="2300" dirty="0"/>
              <a:t> сильной</a:t>
            </a:r>
            <a:r>
              <a:rPr lang="en-US" sz="2300" dirty="0"/>
              <a:t> </a:t>
            </a:r>
            <a:r>
              <a:rPr lang="en-US" sz="2300" dirty="0" err="1"/>
              <a:t>сезонности</a:t>
            </a:r>
            <a:r>
              <a:rPr lang="en-US" sz="2300" dirty="0"/>
              <a:t> </a:t>
            </a:r>
            <a:r>
              <a:rPr lang="ru-RU" sz="2300" dirty="0"/>
              <a:t>путем сезонного дифференцирования</a:t>
            </a:r>
            <a:r>
              <a:rPr lang="en-US" sz="2300" dirty="0"/>
              <a:t>.</a:t>
            </a:r>
          </a:p>
          <a:p>
            <a:pPr lvl="1" algn="l" rtl="0">
              <a:lnSpc>
                <a:spcPct val="120000"/>
              </a:lnSpc>
            </a:pPr>
            <a:r>
              <a:rPr lang="en-US" sz="2300" dirty="0" err="1"/>
              <a:t>Определение</a:t>
            </a:r>
            <a:r>
              <a:rPr lang="en-US" sz="2300" dirty="0"/>
              <a:t> </a:t>
            </a:r>
            <a:r>
              <a:rPr lang="en-US" sz="2300" dirty="0" err="1"/>
              <a:t>порядк</a:t>
            </a:r>
            <a:r>
              <a:rPr lang="ru-RU" sz="2300" dirty="0" err="1"/>
              <a:t>ов</a:t>
            </a:r>
            <a:r>
              <a:rPr lang="ru-RU" sz="2300" dirty="0"/>
              <a:t> начальных </a:t>
            </a:r>
            <a:r>
              <a:rPr lang="ru-RU" sz="2300" dirty="0" err="1"/>
              <a:t>значенй</a:t>
            </a:r>
            <a:r>
              <a:rPr lang="en-US" sz="2300" dirty="0"/>
              <a:t> AR и MA.</a:t>
            </a:r>
            <a:endParaRPr lang="ru-RU" sz="2300" dirty="0"/>
          </a:p>
          <a:p>
            <a:pPr lvl="1">
              <a:lnSpc>
                <a:spcPct val="120000"/>
              </a:lnSpc>
            </a:pPr>
            <a:r>
              <a:rPr lang="en-US" sz="2300" dirty="0" err="1"/>
              <a:t>Определение</a:t>
            </a:r>
            <a:r>
              <a:rPr lang="en-US" sz="2300" dirty="0"/>
              <a:t> </a:t>
            </a:r>
            <a:r>
              <a:rPr lang="en-US" sz="2300" dirty="0" err="1"/>
              <a:t>порядк</a:t>
            </a:r>
            <a:r>
              <a:rPr lang="ru-RU" sz="2300" dirty="0" err="1"/>
              <a:t>ов</a:t>
            </a:r>
            <a:r>
              <a:rPr lang="ru-RU" sz="2300" dirty="0"/>
              <a:t> начальных значений сезонных</a:t>
            </a:r>
            <a:r>
              <a:rPr lang="en-US" sz="2300" dirty="0"/>
              <a:t> SAR и SMA.</a:t>
            </a:r>
            <a:endParaRPr lang="ru-RU" sz="2300" dirty="0"/>
          </a:p>
          <a:p>
            <a:pPr lvl="1" algn="l" rtl="0">
              <a:lnSpc>
                <a:spcPct val="120000"/>
              </a:lnSpc>
            </a:pPr>
            <a:r>
              <a:rPr lang="en-US" sz="2300" dirty="0" err="1"/>
              <a:t>Расчет</a:t>
            </a:r>
            <a:r>
              <a:rPr lang="en-US" sz="2300" dirty="0"/>
              <a:t> </a:t>
            </a:r>
            <a:r>
              <a:rPr lang="en-US" sz="2300" dirty="0" err="1"/>
              <a:t>коэффициентов</a:t>
            </a:r>
            <a:r>
              <a:rPr lang="en-US" sz="2300" dirty="0"/>
              <a:t>.</a:t>
            </a:r>
            <a:endParaRPr lang="ru-RU" sz="2300" dirty="0"/>
          </a:p>
          <a:p>
            <a:pPr lvl="1" algn="l" rtl="0">
              <a:lnSpc>
                <a:spcPct val="120000"/>
              </a:lnSpc>
            </a:pPr>
            <a:r>
              <a:rPr lang="ru-RU" sz="2300" dirty="0"/>
              <a:t>Варьирование порядков модели</a:t>
            </a:r>
            <a:endParaRPr lang="en-US" sz="2300" dirty="0"/>
          </a:p>
          <a:p>
            <a:pPr lvl="1" algn="l" rtl="0">
              <a:lnSpc>
                <a:spcPct val="120000"/>
              </a:lnSpc>
            </a:pPr>
            <a:r>
              <a:rPr lang="en-US" sz="2300" dirty="0" err="1"/>
              <a:t>Проверка</a:t>
            </a:r>
            <a:r>
              <a:rPr lang="en-US" sz="2300" dirty="0"/>
              <a:t> </a:t>
            </a:r>
            <a:r>
              <a:rPr lang="en-US" sz="2300" dirty="0" err="1"/>
              <a:t>результатов</a:t>
            </a:r>
            <a:r>
              <a:rPr lang="en-US" sz="2300" dirty="0"/>
              <a:t> </a:t>
            </a:r>
            <a:r>
              <a:rPr lang="ru-RU" sz="2300" dirty="0"/>
              <a:t>на </a:t>
            </a:r>
            <a:r>
              <a:rPr lang="en-US" sz="2300" dirty="0" err="1"/>
              <a:t>валидационн</a:t>
            </a:r>
            <a:r>
              <a:rPr lang="ru-RU" sz="2300" dirty="0"/>
              <a:t>ой</a:t>
            </a:r>
            <a:r>
              <a:rPr lang="en-US" sz="2300" dirty="0"/>
              <a:t> </a:t>
            </a:r>
            <a:r>
              <a:rPr lang="ru-RU" sz="2300" dirty="0"/>
              <a:t>выборке</a:t>
            </a:r>
            <a:r>
              <a:rPr lang="en-US" sz="2300" dirty="0"/>
              <a:t>.</a:t>
            </a:r>
          </a:p>
          <a:p>
            <a:pPr lvl="1" algn="l" rtl="0">
              <a:lnSpc>
                <a:spcPct val="120000"/>
              </a:lnSpc>
            </a:pPr>
            <a:endParaRPr lang="en-US" sz="2300" dirty="0"/>
          </a:p>
          <a:p>
            <a:pPr algn="l" rtl="0"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110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5"/>
            <a:ext cx="11489752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Правила отбора </a:t>
            </a:r>
            <a:r>
              <a:rPr lang="en-US" altLang="en-US" sz="2400" i="1" dirty="0" err="1">
                <a:solidFill>
                  <a:srgbClr val="000000"/>
                </a:solidFill>
              </a:rPr>
              <a:t>исходных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ru-RU" altLang="en-US" sz="2400" i="1" dirty="0">
                <a:solidFill>
                  <a:srgbClr val="000000"/>
                </a:solidFill>
              </a:rPr>
              <a:t>значений порядка</a:t>
            </a:r>
            <a:endParaRPr lang="en-US" altLang="en-US" sz="2400" dirty="0"/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b="1" dirty="0">
                <a:solidFill>
                  <a:srgbClr val="000000"/>
                </a:solidFill>
              </a:rPr>
              <a:t>Правильный </a:t>
            </a:r>
            <a:r>
              <a:rPr lang="en-US" altLang="en-US" sz="2400" b="1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𝑑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это </a:t>
            </a:r>
            <a:r>
              <a:rPr lang="en-US" altLang="en-US" sz="2400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разности</a:t>
            </a:r>
            <a:r>
              <a:rPr lang="ru-RU" altLang="en-US" sz="2400" dirty="0">
                <a:solidFill>
                  <a:srgbClr val="000000"/>
                </a:solidFill>
              </a:rPr>
              <a:t>, который делает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временной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ряд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ru-RU" altLang="en-US" sz="2400" u="sng" dirty="0">
                <a:solidFill>
                  <a:srgbClr val="000000"/>
                </a:solidFill>
              </a:rPr>
              <a:t>максимально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шумоподобным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т.е. </a:t>
            </a:r>
            <a:r>
              <a:rPr lang="ru-RU" altLang="en-US" dirty="0">
                <a:solidFill>
                  <a:srgbClr val="000000"/>
                </a:solidFill>
              </a:rPr>
              <a:t>значения </a:t>
            </a:r>
            <a:r>
              <a:rPr lang="en-US" altLang="en-US" dirty="0" err="1">
                <a:solidFill>
                  <a:srgbClr val="000000"/>
                </a:solidFill>
              </a:rPr>
              <a:t>колеблется</a:t>
            </a:r>
            <a:r>
              <a:rPr lang="en-US" altLang="en-US" dirty="0">
                <a:solidFill>
                  <a:srgbClr val="000000"/>
                </a:solidFill>
              </a:rPr>
              <a:t> около четко определенного </a:t>
            </a:r>
            <a:r>
              <a:rPr lang="en-US" altLang="en-US" dirty="0" err="1">
                <a:solidFill>
                  <a:srgbClr val="000000"/>
                </a:solidFill>
              </a:rPr>
              <a:t>среднего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ru-RU" altLang="en-US" dirty="0">
                <a:solidFill>
                  <a:srgbClr val="000000"/>
                </a:solidFill>
              </a:rPr>
              <a:t/>
            </a:r>
            <a:br>
              <a:rPr lang="ru-RU" altLang="en-US" dirty="0">
                <a:solidFill>
                  <a:srgbClr val="000000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и</a:t>
            </a:r>
            <a:r>
              <a:rPr lang="ru-RU" altLang="en-US" dirty="0">
                <a:solidFill>
                  <a:srgbClr val="000000"/>
                </a:solidFill>
              </a:rPr>
              <a:t> имеют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почти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постоянн</a:t>
            </a:r>
            <a:r>
              <a:rPr lang="ru-RU" altLang="en-US" dirty="0" err="1">
                <a:solidFill>
                  <a:srgbClr val="000000"/>
                </a:solidFill>
              </a:rPr>
              <a:t>ый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разброс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Используйте</a:t>
            </a:r>
            <a:r>
              <a:rPr lang="en-US" altLang="en-US" sz="2400" u="sng" dirty="0">
                <a:solidFill>
                  <a:srgbClr val="000000"/>
                </a:solidFill>
              </a:rPr>
              <a:t> сезонную производную только в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случае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сильно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сезонно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ru-RU" altLang="en-US" sz="2400" u="sng" dirty="0">
                <a:solidFill>
                  <a:srgbClr val="000000"/>
                </a:solidFill>
              </a:rPr>
              <a:t> влияния</a:t>
            </a:r>
            <a:r>
              <a:rPr lang="en-US" altLang="en-US" sz="2400" u="sng" dirty="0">
                <a:solidFill>
                  <a:srgbClr val="000000"/>
                </a:solidFill>
              </a:rPr>
              <a:t>.</a:t>
            </a:r>
            <a:endParaRPr lang="ru-RU" altLang="en-US" sz="2400" u="sng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dirty="0">
                <a:solidFill>
                  <a:srgbClr val="000000"/>
                </a:solidFill>
              </a:rPr>
              <a:t> Следует проверить продифференцированный ряд на </a:t>
            </a:r>
            <a:r>
              <a:rPr lang="en-US" altLang="en-US" sz="2400" dirty="0" err="1">
                <a:solidFill>
                  <a:srgbClr val="000000"/>
                </a:solidFill>
              </a:rPr>
              <a:t>стационарность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по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критериям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dirty="0" err="1">
                <a:solidFill>
                  <a:srgbClr val="000000"/>
                </a:solidFill>
              </a:rPr>
              <a:t>указанным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ru-RU" altLang="en-US" sz="2400" dirty="0">
                <a:solidFill>
                  <a:srgbClr val="000000"/>
                </a:solidFill>
              </a:rPr>
              <a:t>ранее</a:t>
            </a:r>
            <a:r>
              <a:rPr lang="en-US" altLang="en-US" sz="2400" dirty="0">
                <a:solidFill>
                  <a:srgbClr val="000000"/>
                </a:solidFill>
              </a:rPr>
              <a:t>.</a:t>
            </a:r>
            <a:endParaRPr lang="ru-RU" altLang="en-US" sz="24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Выбираем порядки моделей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en-US" sz="2200" dirty="0">
                <a:solidFill>
                  <a:srgbClr val="000000"/>
                </a:solidFill>
              </a:rPr>
              <a:t>После дифференцирования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рассмотри</a:t>
            </a:r>
            <a:r>
              <a:rPr lang="ru-RU" altLang="en-US" sz="2200" dirty="0">
                <a:solidFill>
                  <a:srgbClr val="000000"/>
                </a:solidFill>
              </a:rPr>
              <a:t>те</a:t>
            </a:r>
            <a:r>
              <a:rPr lang="en-US" altLang="en-US" sz="2200" dirty="0">
                <a:solidFill>
                  <a:srgbClr val="000000"/>
                </a:solidFill>
              </a:rPr>
              <a:t> ACF и PACF.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AR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PACF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спадом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положительных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MA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ростом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отрицательных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SAR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положительный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отрицателен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Посмотрите на количество значительных лагов, которые </a:t>
            </a:r>
            <a:r>
              <a:rPr lang="en-US" altLang="en-US" sz="2200" dirty="0" err="1">
                <a:solidFill>
                  <a:srgbClr val="000000"/>
                </a:solidFill>
              </a:rPr>
              <a:t>кратны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период</a:t>
            </a:r>
            <a:r>
              <a:rPr lang="ru-RU" altLang="en-US" sz="2200" dirty="0">
                <a:solidFill>
                  <a:srgbClr val="000000"/>
                </a:solidFill>
              </a:rPr>
              <a:t>у</a:t>
            </a:r>
            <a:r>
              <a:rPr lang="en-US" altLang="en-US" sz="2200" dirty="0">
                <a:solidFill>
                  <a:srgbClr val="000000"/>
                </a:solidFill>
              </a:rPr>
              <a:t> сезона.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Например, если период равен 24, и мы видим, что 24-е и 48-е запаздывания являются значительными в PACF, это означает, что начальное значение P должно быть равно 2.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smtClean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smtClean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SMA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отрицательный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Используйте те же правила для определения количества </a:t>
            </a:r>
            <a:r>
              <a:rPr lang="en-US" altLang="en-US" sz="2200" dirty="0" err="1">
                <a:solidFill>
                  <a:srgbClr val="000000"/>
                </a:solidFill>
              </a:rPr>
              <a:t>лага</a:t>
            </a:r>
            <a:r>
              <a:rPr lang="en-US" altLang="en-US" sz="2200" dirty="0">
                <a:solidFill>
                  <a:srgbClr val="000000"/>
                </a:solidFill>
              </a:rPr>
              <a:t> что </a:t>
            </a:r>
            <a:r>
              <a:rPr lang="en-US" altLang="en-US" sz="2200" dirty="0" err="1">
                <a:solidFill>
                  <a:srgbClr val="000000"/>
                </a:solidFill>
              </a:rPr>
              <a:t>касается</a:t>
            </a:r>
            <a:r>
              <a:rPr lang="en-US" altLang="en-US" sz="2200" dirty="0">
                <a:solidFill>
                  <a:srgbClr val="000000"/>
                </a:solidFill>
              </a:rPr>
              <a:t> SAR</a:t>
            </a:r>
            <a:endParaRPr lang="ru-RU" altLang="en-US" sz="2200" dirty="0">
              <a:solidFill>
                <a:srgbClr val="000000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положительный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algn="l" rtl="0"/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3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77154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en-US" sz="2200" dirty="0"/>
              <a:t> </a:t>
            </a:r>
            <a:r>
              <a:rPr lang="ru-RU" sz="2200" b="1" dirty="0" err="1"/>
              <a:t>недодифференцирован</a:t>
            </a:r>
            <a:r>
              <a:rPr lang="en-US" sz="2200" dirty="0"/>
              <a:t>,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AR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PACF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</a:t>
            </a:r>
            <a:r>
              <a:rPr lang="ru-RU" sz="2200" dirty="0" err="1"/>
              <a:t>ий</a:t>
            </a:r>
            <a:r>
              <a:rPr lang="en-US" sz="2200" dirty="0"/>
              <a:t> </a:t>
            </a:r>
            <a:r>
              <a:rPr lang="ru-RU" sz="2200" dirty="0"/>
              <a:t>спады</a:t>
            </a:r>
            <a:r>
              <a:rPr lang="en-US" sz="2200" dirty="0"/>
              <a:t> и 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положительна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Задержка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которой</a:t>
            </a:r>
            <a:r>
              <a:rPr lang="en-US" sz="2200" dirty="0"/>
              <a:t> PACF </a:t>
            </a:r>
            <a:r>
              <a:rPr lang="ru-RU" sz="2200" dirty="0"/>
              <a:t>спадает</a:t>
            </a:r>
            <a:r>
              <a:rPr lang="en-US" sz="2200" dirty="0"/>
              <a:t> 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ru-RU" sz="2200" dirty="0"/>
              <a:t>необходимое</a:t>
            </a:r>
            <a:r>
              <a:rPr lang="en-US" sz="2200" dirty="0"/>
              <a:t> </a:t>
            </a:r>
            <a:r>
              <a:rPr lang="en-US" sz="2200" dirty="0" err="1"/>
              <a:t>количество</a:t>
            </a:r>
            <a:r>
              <a:rPr lang="en-US" sz="2200" dirty="0"/>
              <a:t> </a:t>
            </a:r>
            <a:r>
              <a:rPr lang="en-US" sz="2200" dirty="0" err="1"/>
              <a:t>членов</a:t>
            </a:r>
            <a:r>
              <a:rPr lang="en-US" sz="2200" dirty="0"/>
              <a:t> AR.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ru-RU" sz="2200" dirty="0"/>
              <a:t> </a:t>
            </a:r>
            <a:r>
              <a:rPr lang="ru-RU" sz="2200" b="1" dirty="0" err="1"/>
              <a:t>передифференцировн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MA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резкое</a:t>
            </a:r>
            <a:r>
              <a:rPr lang="en-US" sz="2200" dirty="0"/>
              <a:t> </a:t>
            </a:r>
            <a:r>
              <a:rPr lang="ru-RU" sz="2200" dirty="0"/>
              <a:t>падание</a:t>
            </a:r>
            <a:r>
              <a:rPr lang="en-US" sz="2200" dirty="0"/>
              <a:t> и/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отрицательна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Запаздывание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котором</a:t>
            </a:r>
            <a:r>
              <a:rPr lang="en-US" sz="2200" dirty="0"/>
              <a:t> АКФ </a:t>
            </a:r>
            <a:r>
              <a:rPr lang="ru-RU" sz="2200" dirty="0"/>
              <a:t>спадает</a:t>
            </a:r>
            <a:r>
              <a:rPr lang="en-US" sz="2200" dirty="0"/>
              <a:t>, </a:t>
            </a:r>
            <a:r>
              <a:rPr lang="en-US" sz="2200" dirty="0" err="1"/>
              <a:t>является</a:t>
            </a:r>
            <a:r>
              <a:rPr lang="en-US" sz="2200" dirty="0"/>
              <a:t> </a:t>
            </a:r>
            <a:r>
              <a:rPr lang="en-US" sz="2200" dirty="0" err="1"/>
              <a:t>указанным</a:t>
            </a:r>
            <a:r>
              <a:rPr lang="en-US" sz="2200" dirty="0"/>
              <a:t> </a:t>
            </a:r>
            <a:r>
              <a:rPr lang="en-US" sz="2200" dirty="0" err="1"/>
              <a:t>количеством</a:t>
            </a:r>
            <a:r>
              <a:rPr lang="en-US" sz="2200" dirty="0"/>
              <a:t> </a:t>
            </a:r>
            <a:r>
              <a:rPr lang="ru-RU" sz="2200" dirty="0" err="1"/>
              <a:t>слогаемых</a:t>
            </a:r>
            <a:r>
              <a:rPr lang="ru-RU" sz="2200" dirty="0"/>
              <a:t> </a:t>
            </a:r>
            <a:r>
              <a:rPr lang="en-US" sz="2200" dirty="0"/>
              <a:t>MA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Старайтесь избегать использования более одного или двух </a:t>
            </a:r>
            <a:r>
              <a:rPr lang="en-US" sz="2200" dirty="0" err="1"/>
              <a:t>сезонных</a:t>
            </a:r>
            <a:r>
              <a:rPr lang="en-US" sz="2200" dirty="0"/>
              <a:t> </a:t>
            </a:r>
            <a:r>
              <a:rPr lang="ru-RU" sz="2200" dirty="0" err="1"/>
              <a:t>слогамех</a:t>
            </a:r>
            <a:r>
              <a:rPr lang="en-US" sz="2200" dirty="0"/>
              <a:t> (SAR + SMA) в одной модели, так как это может привести к переобучению данных и / или проблемам в оценке.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если в </a:t>
            </a:r>
            <a:r>
              <a:rPr lang="ru-RU" sz="2200" dirty="0"/>
              <a:t>ряде</a:t>
            </a:r>
            <a:r>
              <a:rPr lang="en-US" sz="2200" dirty="0"/>
              <a:t> есть </a:t>
            </a:r>
            <a:r>
              <a:rPr lang="en-US" sz="2200" b="1" dirty="0"/>
              <a:t>положительные значения ACF с </a:t>
            </a:r>
            <a:r>
              <a:rPr lang="en-US" sz="2200" b="1" dirty="0" err="1"/>
              <a:t>большим</a:t>
            </a:r>
            <a:r>
              <a:rPr lang="en-US" sz="2200" b="1" dirty="0"/>
              <a:t> </a:t>
            </a:r>
            <a:r>
              <a:rPr lang="en-US" sz="2200" b="1" dirty="0" err="1"/>
              <a:t>запаздыванием</a:t>
            </a:r>
            <a:r>
              <a:rPr lang="ru-RU" sz="2200" dirty="0"/>
              <a:t>, добавьте</a:t>
            </a:r>
            <a:r>
              <a:rPr lang="en-US" sz="2200" u="sng" dirty="0"/>
              <a:t> разностный порядок</a:t>
            </a:r>
            <a:r>
              <a:rPr lang="en-US" sz="22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Ч</a:t>
            </a:r>
            <a:r>
              <a:rPr lang="en-US" sz="2200" dirty="0" err="1"/>
              <a:t>асто</a:t>
            </a:r>
            <a:r>
              <a:rPr lang="en-US" sz="2200" dirty="0"/>
              <a:t> </a:t>
            </a:r>
            <a:r>
              <a:rPr lang="ru-RU" sz="2200" b="1" dirty="0"/>
              <a:t>о</a:t>
            </a:r>
            <a:r>
              <a:rPr lang="en-US" sz="2200" b="1" dirty="0" err="1"/>
              <a:t>птимальный</a:t>
            </a:r>
            <a:r>
              <a:rPr lang="en-US" sz="2200" b="1" dirty="0"/>
              <a:t> порядок дифференцирования </a:t>
            </a:r>
            <a:r>
              <a:rPr lang="en-US" sz="2200" dirty="0"/>
              <a:t>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en-US" sz="2200" dirty="0" err="1"/>
              <a:t>тот</a:t>
            </a:r>
            <a:r>
              <a:rPr lang="en-US" sz="2200" dirty="0"/>
              <a:t> порядок разности, при котором дисперсия наименьшая (вы должны стараться избегать чрезмерного </a:t>
            </a:r>
            <a:r>
              <a:rPr lang="en-US" sz="2200" dirty="0" err="1"/>
              <a:t>дифференцирования</a:t>
            </a:r>
            <a:r>
              <a:rPr lang="en-US" sz="2200" dirty="0"/>
              <a:t>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5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модель полная (AR и MA), член AR и член MA могут нейтрализовать эффекты друг друга. 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В этом случае </a:t>
            </a:r>
            <a:r>
              <a:rPr lang="en-US" sz="2200" dirty="0" err="1"/>
              <a:t>попробуйте</a:t>
            </a:r>
            <a:r>
              <a:rPr lang="en-US" sz="2200" dirty="0"/>
              <a:t> </a:t>
            </a:r>
            <a:r>
              <a:rPr lang="ru-RU" sz="2200" dirty="0"/>
              <a:t>уменьшить порядки модели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dirty="0" err="1"/>
              <a:t>особенно</a:t>
            </a:r>
            <a:r>
              <a:rPr lang="en-US" sz="2200" dirty="0"/>
              <a:t> если оценки параметров в исходной модели требуют более 10 итераций для схождения.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AR почти равна 1 –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AR на один и увеличить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на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МА почти равна 1 -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МА на один и </a:t>
            </a:r>
            <a:r>
              <a:rPr lang="en-US" sz="2200" dirty="0" err="1"/>
              <a:t>уменьшить</a:t>
            </a:r>
            <a:r>
              <a:rPr lang="en-US" sz="2200" dirty="0"/>
              <a:t>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ряд имеет устойчивый и последовательный </a:t>
            </a:r>
            <a:r>
              <a:rPr lang="en-US" sz="2200" dirty="0" err="1"/>
              <a:t>сезонный</a:t>
            </a:r>
            <a:r>
              <a:rPr lang="en-US" sz="2200" dirty="0"/>
              <a:t> </a:t>
            </a:r>
            <a:r>
              <a:rPr lang="ru-RU" sz="2200" dirty="0"/>
              <a:t>шаблон</a:t>
            </a:r>
            <a:r>
              <a:rPr lang="en-US" sz="2200" dirty="0"/>
              <a:t>, </a:t>
            </a:r>
            <a:r>
              <a:rPr lang="ru-RU" sz="2200" dirty="0"/>
              <a:t>рекомендуется повысить</a:t>
            </a:r>
            <a:r>
              <a:rPr lang="en-US" sz="2200" dirty="0"/>
              <a:t> порядок сезонной разницы.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 err="1"/>
              <a:t>Используйте</a:t>
            </a:r>
            <a:r>
              <a:rPr lang="en-US" sz="2200" dirty="0"/>
              <a:t> </a:t>
            </a:r>
            <a:r>
              <a:rPr lang="en-US" sz="2200" dirty="0" err="1"/>
              <a:t>сезонн</a:t>
            </a:r>
            <a:r>
              <a:rPr lang="ru-RU" sz="2200" dirty="0" err="1"/>
              <a:t>ое</a:t>
            </a:r>
            <a:r>
              <a:rPr lang="en-US" sz="2200" dirty="0"/>
              <a:t> </a:t>
            </a:r>
            <a:r>
              <a:rPr lang="ru-RU" sz="2200" dirty="0"/>
              <a:t>дифференцирование</a:t>
            </a:r>
            <a:r>
              <a:rPr lang="en-US" sz="2200" dirty="0"/>
              <a:t> </a:t>
            </a:r>
            <a:r>
              <a:rPr lang="ru-RU" sz="2200" dirty="0"/>
              <a:t>в случае</a:t>
            </a:r>
            <a:r>
              <a:rPr lang="en-US" sz="2200" dirty="0"/>
              <a:t> нестационарной сезонности.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0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911225"/>
          </a:xfrm>
        </p:spPr>
        <p:txBody>
          <a:bodyPr>
            <a:normAutofit/>
          </a:bodyPr>
          <a:lstStyle/>
          <a:p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</a:t>
            </a:r>
            <a:r>
              <a:rPr lang="en-US" b="1" dirty="0" err="1"/>
              <a:t>Пример</a:t>
            </a:r>
            <a:endParaRPr lang="en-US" b="1" dirty="0"/>
          </a:p>
        </p:txBody>
      </p:sp>
      <p:pic>
        <p:nvPicPr>
          <p:cNvPr id="22530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5449"/>
            <a:ext cx="3895725" cy="198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134339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628650" y="394967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7075" y="3765007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" y="1487460"/>
            <a:ext cx="109346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Вы можете очень эффективно использовать PACF для следующих целей: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определить, сколько лагов нужно включить в уравнение прогнозирования </a:t>
            </a:r>
            <a:r>
              <a:rPr lang="ru-RU" altLang="en-US" sz="2000" dirty="0" err="1"/>
              <a:t>авторегрессивной</a:t>
            </a:r>
            <a:r>
              <a:rPr lang="ru-RU" altLang="en-US" sz="2000" dirty="0"/>
              <a:t> модели.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авторегрессии (AR) модели.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 или проверить, сколько сезонных лагов нужно включить в уравнение модели скользящего среднего для сезонного временного ряда.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сезонного скользящего среднего (SMA) модели.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80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5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В данном примере </a:t>
            </a:r>
            <a:r>
              <a:rPr lang="en-US" sz="2000" dirty="0"/>
              <a:t>p, скорее всего, </a:t>
            </a:r>
            <a:r>
              <a:rPr lang="en-US" sz="2000" dirty="0" err="1"/>
              <a:t>равно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dirty="0"/>
              <a:t>, </a:t>
            </a:r>
            <a:endParaRPr lang="ru-RU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последн</a:t>
            </a:r>
            <a:r>
              <a:rPr lang="ru-RU" sz="1600" dirty="0" err="1"/>
              <a:t>ий</a:t>
            </a:r>
            <a:r>
              <a:rPr lang="en-US" sz="1600" dirty="0"/>
              <a:t> </a:t>
            </a:r>
            <a:r>
              <a:rPr lang="en-US" sz="1600" dirty="0" err="1"/>
              <a:t>существенн</a:t>
            </a:r>
            <a:r>
              <a:rPr lang="ru-RU" sz="1600" dirty="0" err="1"/>
              <a:t>ый</a:t>
            </a:r>
            <a:r>
              <a:rPr lang="en-US" sz="1600" dirty="0"/>
              <a:t> </a:t>
            </a:r>
            <a:r>
              <a:rPr lang="ru-RU" sz="1600" dirty="0"/>
              <a:t>лаг</a:t>
            </a:r>
            <a:r>
              <a:rPr lang="en-US" sz="1600" dirty="0"/>
              <a:t> PACF, после которого большинство других не являются значительными.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</a:t>
            </a:r>
            <a:r>
              <a:rPr lang="en-US" sz="2000" dirty="0" err="1"/>
              <a:t>равно</a:t>
            </a:r>
            <a:r>
              <a:rPr lang="en-US" sz="2000" dirty="0"/>
              <a:t> 1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 должно быть где-то около 4, как видно на ACF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 может быть 2, так как 24-е и 48-е </a:t>
            </a:r>
            <a:r>
              <a:rPr lang="en-US" sz="2000" dirty="0" err="1"/>
              <a:t>лагы</a:t>
            </a:r>
            <a:r>
              <a:rPr lang="en-US" sz="2000" dirty="0"/>
              <a:t> </a:t>
            </a:r>
            <a:r>
              <a:rPr lang="en-US" sz="2000" dirty="0" err="1"/>
              <a:t>значительны</a:t>
            </a:r>
            <a:r>
              <a:rPr lang="en-US" sz="2000" dirty="0"/>
              <a:t> на PACF.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снова равно 1, потому что мы провели сезонную дифференциацию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Q, вероятно, </a:t>
            </a:r>
            <a:r>
              <a:rPr lang="en-US" sz="2000" dirty="0" err="1"/>
              <a:t>равен</a:t>
            </a:r>
            <a:r>
              <a:rPr lang="en-US" sz="2000" dirty="0"/>
              <a:t> 1</a:t>
            </a:r>
            <a:r>
              <a:rPr lang="ru-RU" sz="2000" dirty="0"/>
              <a:t> - </a:t>
            </a:r>
            <a:r>
              <a:rPr lang="en-US" sz="2000" dirty="0"/>
              <a:t>24-е отставание по ACF значительно, а 48-е - нет.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DEA3292B-3A21-4C0C-A3C3-E89699259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51"/>
          <a:stretch/>
        </p:blipFill>
        <p:spPr bwMode="auto">
          <a:xfrm>
            <a:off x="838200" y="2825133"/>
            <a:ext cx="4604692" cy="403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39884C6-78AF-4D29-BAAB-02C7C0357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4"/>
          <a:stretch/>
        </p:blipFill>
        <p:spPr bwMode="auto">
          <a:xfrm>
            <a:off x="6310373" y="2868706"/>
            <a:ext cx="4906569" cy="38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95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4" name="Picture 4" descr="image.png">
            <a:extLst>
              <a:ext uri="{FF2B5EF4-FFF2-40B4-BE49-F238E27FC236}">
                <a16:creationId xmlns:a16="http://schemas.microsoft.com/office/drawing/2014/main" id="{D10892BB-8D21-40FC-836C-32C6ABB3F8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05"/>
          <a:stretch/>
        </p:blipFill>
        <p:spPr bwMode="auto">
          <a:xfrm>
            <a:off x="245127" y="1102938"/>
            <a:ext cx="3664400" cy="331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F24351D9-FA5F-440B-A27C-572948FF2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69" b="26862"/>
          <a:stretch/>
        </p:blipFill>
        <p:spPr bwMode="auto">
          <a:xfrm>
            <a:off x="6204857" y="977155"/>
            <a:ext cx="5473370" cy="243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F24351D9-FA5F-440B-A27C-572948FF2C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94" b="1"/>
          <a:stretch/>
        </p:blipFill>
        <p:spPr bwMode="auto">
          <a:xfrm>
            <a:off x="3833640" y="3214864"/>
            <a:ext cx="7362504" cy="356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4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Оценка коэффициента ARMA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dirty="0" err="1"/>
                  <a:t>Наиболее</a:t>
                </a:r>
                <a:r>
                  <a:rPr lang="en-US" dirty="0"/>
                  <a:t> популярные из них следующие.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Информационный критерий Акаике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Байесовский информационный критерий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900" dirty="0"/>
                  <a:t> модифицированный информационный критерий Акаике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𝐻𝑄𝐶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+2×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900" dirty="0"/>
                  <a:t> Информационный критерий Ханнана – Куинна</a:t>
                </a:r>
              </a:p>
              <a:p>
                <a:pPr algn="l" rtl="0"/>
                <a:r>
                  <a:rPr lang="en-US" dirty="0"/>
                  <a:t>Где </a:t>
                </a:r>
              </a:p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оценка правдоподобия модели; </a:t>
                </a:r>
              </a:p>
              <a:p>
                <a:pPr algn="l" rtl="0"/>
                <a:r>
                  <a:rPr lang="en-US" dirty="0"/>
                  <a:t>k - полное количество параметров: </a:t>
                </a:r>
              </a:p>
              <a:p>
                <a:pPr algn="l" rtl="0"/>
                <a:r>
                  <a:rPr lang="en-US" dirty="0"/>
                  <a:t>для ARMA без константы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в другом случае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SARIMA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Специфика этих критериев заключается в совместной оптимизации количества параметров и значения RSS. По этим критериям AIC является наиболее популярным, </a:t>
                </a:r>
                <a:r>
                  <a:rPr lang="en-US" dirty="0" err="1"/>
                  <a:t>но</a:t>
                </a:r>
                <a:r>
                  <a:rPr lang="ru-RU" dirty="0"/>
                  <a:t> п</a:t>
                </a:r>
                <a:r>
                  <a:rPr lang="en-US" dirty="0" err="1"/>
                  <a:t>редполагается</a:t>
                </a:r>
                <a:r>
                  <a:rPr lang="ru-RU" dirty="0"/>
                  <a:t> </a:t>
                </a:r>
                <a:r>
                  <a:rPr lang="en-US" dirty="0" err="1"/>
                  <a:t>AICc</a:t>
                </a:r>
                <a:r>
                  <a:rPr lang="en-US" dirty="0"/>
                  <a:t>, что обеспечит лучший результат. </a:t>
                </a:r>
              </a:p>
              <a:p>
                <a:pPr algn="l" rtl="0"/>
                <a:r>
                  <a:rPr lang="en-US" dirty="0"/>
                  <a:t>Критерии могут быть применены для автоматизации параметрического поиска.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2178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8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image.png">
            <a:extLst>
              <a:ext uri="{FF2B5EF4-FFF2-40B4-BE49-F238E27FC236}">
                <a16:creationId xmlns:a16="http://schemas.microsoft.com/office/drawing/2014/main" id="{4B302CCE-8A1F-44C4-A3A5-C6594DBE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8443"/>
            <a:ext cx="6057900" cy="374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638175" y="529607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Данные сильно сезонны и явно нестационарны, поэтому сезонная разница будет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использоваться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с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сезонностью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12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endParaRPr lang="en-US" sz="1600" dirty="0"/>
          </a:p>
        </p:txBody>
      </p:sp>
      <p:pic>
        <p:nvPicPr>
          <p:cNvPr id="14340" name="Picture 4" descr="image.png">
            <a:extLst>
              <a:ext uri="{FF2B5EF4-FFF2-40B4-BE49-F238E27FC236}">
                <a16:creationId xmlns:a16="http://schemas.microsoft.com/office/drawing/2014/main" id="{54A6615A-6E32-4A6A-98BE-D5514149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72" y="1733340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C0874C-18EE-4E14-95B8-1EB051FE94EB}"/>
              </a:ext>
            </a:extLst>
          </p:cNvPr>
          <p:cNvSpPr/>
          <p:nvPr/>
        </p:nvSpPr>
        <p:spPr>
          <a:xfrm>
            <a:off x="6672263" y="5296071"/>
            <a:ext cx="52732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На данный момент неясно, следует ли нам делать еще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одно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дифференцирование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или нет.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Решаем не делать этого, но выбор не очевиден.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930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515472" y="4913516"/>
            <a:ext cx="11772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На полученном графике есть всплески в PACF при лагах 12 и 24,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ru-RU" dirty="0"/>
              <a:t>нет </a:t>
            </a:r>
            <a:r>
              <a:rPr lang="ru-RU" dirty="0" err="1"/>
              <a:t>вспесков</a:t>
            </a:r>
            <a:r>
              <a:rPr lang="ru-RU" dirty="0"/>
              <a:t> на </a:t>
            </a:r>
            <a:r>
              <a:rPr lang="en-US" dirty="0" err="1"/>
              <a:t>при</a:t>
            </a:r>
            <a:r>
              <a:rPr lang="en-US" dirty="0"/>
              <a:t> сезонных лагах в ACF. Это может указывать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SAR (2). В несезонных лагах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3</a:t>
            </a:r>
            <a:r>
              <a:rPr lang="en-US" dirty="0"/>
              <a:t> значительных всплеска PACF, что указывает на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AR (3). ACF не указывает на какую-либо простую модель.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 err="1"/>
              <a:t>Этот</a:t>
            </a:r>
            <a:r>
              <a:rPr lang="en-US" dirty="0"/>
              <a:t> первоначальный анализ предполагает, что возможной моделью для этих данных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ru-RU" dirty="0"/>
              <a:t/>
            </a:r>
            <a:br>
              <a:rPr lang="ru-RU" dirty="0"/>
            </a:br>
            <a:r>
              <a:rPr lang="en-US" dirty="0"/>
              <a:t>ARIMA (3,0,0) (2,1,0) 12.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err="1"/>
              <a:t>Автоподбор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опроверга</a:t>
            </a:r>
            <a:r>
              <a:rPr lang="ru-RU" dirty="0"/>
              <a:t>е</a:t>
            </a:r>
            <a:r>
              <a:rPr lang="en-US" dirty="0"/>
              <a:t> первое предположение - лучше использовать модель ARIMA (3,0,1) (0,1,2) 12.</a:t>
            </a:r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D4F6B6DC-6873-47DC-ADF5-51EE38F3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2" y="1504571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2E6A9-5E3C-4BDA-821A-526120D0FE35}"/>
              </a:ext>
            </a:extLst>
          </p:cNvPr>
          <p:cNvSpPr/>
          <p:nvPr/>
        </p:nvSpPr>
        <p:spPr>
          <a:xfrm>
            <a:off x="6163238" y="1517464"/>
            <a:ext cx="5782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Вариации параметров опровергают первое предположение - лучше использовать модель ARIMA (3,0,1) (0,1,2) 12.</a:t>
            </a:r>
            <a:endParaRPr lang="en-US" dirty="0"/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2"/>
          <a:stretch/>
        </p:blipFill>
        <p:spPr bwMode="auto">
          <a:xfrm>
            <a:off x="6181099" y="2516948"/>
            <a:ext cx="2193780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6"/>
          <a:stretch/>
        </p:blipFill>
        <p:spPr bwMode="auto">
          <a:xfrm>
            <a:off x="8459182" y="2516948"/>
            <a:ext cx="1375983" cy="237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57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126"/>
            <a:ext cx="11196735" cy="612028"/>
          </a:xfrm>
        </p:spPr>
        <p:txBody>
          <a:bodyPr>
            <a:noAutofit/>
          </a:bodyPr>
          <a:lstStyle/>
          <a:p>
            <a:pPr algn="l" rtl="0"/>
            <a:r>
              <a:rPr lang="en-US" sz="2800" b="1" dirty="0"/>
              <a:t>Пример </a:t>
            </a:r>
            <a:r>
              <a:rPr lang="en-US" sz="2800" b="1" dirty="0" err="1"/>
              <a:t>оценки</a:t>
            </a:r>
            <a:r>
              <a:rPr lang="en-US" sz="2800" b="1" dirty="0"/>
              <a:t> </a:t>
            </a:r>
            <a:r>
              <a:rPr lang="ru-RU" sz="2800" b="1" dirty="0"/>
              <a:t>остаточной части</a:t>
            </a:r>
            <a:r>
              <a:rPr lang="en-US" sz="2800" b="1" dirty="0"/>
              <a:t> ARMA </a:t>
            </a:r>
            <a:r>
              <a:rPr lang="ru-RU" sz="2800" b="1" dirty="0"/>
              <a:t>для предыдущего слайда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графике</a:t>
            </a:r>
            <a:r>
              <a:rPr lang="en-US" sz="2000" dirty="0"/>
              <a:t> </a:t>
            </a:r>
            <a:r>
              <a:rPr lang="ru-RU" sz="2000" dirty="0"/>
              <a:t>остатков </a:t>
            </a:r>
            <a:r>
              <a:rPr lang="en-US" sz="2000" dirty="0" err="1"/>
              <a:t>наблюдается</a:t>
            </a:r>
            <a:r>
              <a:rPr lang="en-US" sz="2000" dirty="0"/>
              <a:t>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BF43F526-6D3D-44CD-A0A0-0D4DC93E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31" y="2340322"/>
            <a:ext cx="5460868" cy="3372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B907D4-C1AC-4ECB-9E69-5D7355BFAF64}"/>
              </a:ext>
            </a:extLst>
          </p:cNvPr>
          <p:cNvSpPr/>
          <p:nvPr/>
        </p:nvSpPr>
        <p:spPr>
          <a:xfrm>
            <a:off x="5849472" y="132466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ACF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остатков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есть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несколько значительных всплесков, поэтому модель не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соответствует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требованиям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Ljung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-Box test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(критерию стат. значимости)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Это значит, что м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одель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конечно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можно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использовать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прогнозирования,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но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интервалы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прогнозирования могут быть неточными из-за коррелированных остатков.</a:t>
            </a:r>
            <a:endParaRPr lang="en-US" dirty="0"/>
          </a:p>
        </p:txBody>
      </p:sp>
      <p:pic>
        <p:nvPicPr>
          <p:cNvPr id="16388" name="Picture 4" descr="image.png">
            <a:extLst>
              <a:ext uri="{FF2B5EF4-FFF2-40B4-BE49-F238E27FC236}">
                <a16:creationId xmlns:a16="http://schemas.microsoft.com/office/drawing/2014/main" id="{2F065641-E48C-4AE8-982E-8ED9A79E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514" y="4026527"/>
            <a:ext cx="4088886" cy="252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50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65" y="820737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381163" y="1066609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36267"/>
            <a:ext cx="65" cy="18466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9844" y="4022338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en-US" altLang="ru-RU" dirty="0">
                <a:solidFill>
                  <a:srgbClr val="40A070"/>
                </a:solidFill>
                <a:latin typeface="Hack"/>
              </a:rPr>
              <a:t>3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pic>
        <p:nvPicPr>
          <p:cNvPr id="3075" name="Picture 3" descr="Residuals from the fitted ARIMA(0,1,1)(0,1,1)$_4$ model for the European retail trade index dat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573" y="2080725"/>
            <a:ext cx="4582750" cy="274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92378" y="18493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Fira Sans"/>
              </a:rPr>
              <a:t> Residuals from the fitted ARIMA(0,1,1)(0,1,1)</a:t>
            </a:r>
            <a:r>
              <a:rPr lang="en-US" dirty="0">
                <a:solidFill>
                  <a:srgbClr val="222222"/>
                </a:solidFill>
                <a:latin typeface="MJXc-TeX-main-R"/>
              </a:rPr>
              <a:t>4</a:t>
            </a:r>
            <a:r>
              <a:rPr lang="en-US" dirty="0">
                <a:solidFill>
                  <a:srgbClr val="222222"/>
                </a:solidFill>
                <a:latin typeface="Fira Sans"/>
              </a:rPr>
              <a:t>4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3077" name="Picture 5" descr="Residuals from the fitted ARIMA(0,1,3)(0,1,1)$_4$ model for the European retail trade index dat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54" y="4395363"/>
            <a:ext cx="3925143" cy="235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67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inherit"/>
              </a:rPr>
              <a:t>Другие модели, подобные SARIMA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dirty="0" err="1">
                <a:solidFill>
                  <a:srgbClr val="000000"/>
                </a:solidFill>
              </a:rPr>
              <a:t>Помимо</a:t>
            </a:r>
            <a:r>
              <a:rPr lang="en-US" altLang="en-US" sz="2000" dirty="0">
                <a:solidFill>
                  <a:srgbClr val="000000"/>
                </a:solidFill>
              </a:rPr>
              <a:t> обсуждаемой выше модели SARIMA</a:t>
            </a:r>
            <a:r>
              <a:rPr lang="en-US" altLang="en-US" sz="2000" dirty="0" smtClean="0">
                <a:solidFill>
                  <a:srgbClr val="000000"/>
                </a:solidFill>
              </a:rPr>
              <a:t>, </a:t>
            </a:r>
            <a:r>
              <a:rPr lang="ru-RU" altLang="en-US" sz="2000" dirty="0" smtClean="0">
                <a:solidFill>
                  <a:srgbClr val="000000"/>
                </a:solidFill>
              </a:rPr>
              <a:t>а также </a:t>
            </a:r>
            <a:r>
              <a:rPr lang="en-US" altLang="en-US" sz="2000" dirty="0" smtClean="0">
                <a:solidFill>
                  <a:srgbClr val="000000"/>
                </a:solidFill>
              </a:rPr>
              <a:t>AR, MA, ARMA </a:t>
            </a:r>
            <a:r>
              <a:rPr lang="ru-RU" altLang="en-US" sz="2000" dirty="0" smtClean="0">
                <a:solidFill>
                  <a:srgbClr val="000000"/>
                </a:solidFill>
              </a:rPr>
              <a:t>и </a:t>
            </a:r>
            <a:r>
              <a:rPr lang="en-US" altLang="en-US" sz="2000" dirty="0" smtClean="0">
                <a:solidFill>
                  <a:srgbClr val="000000"/>
                </a:solidFill>
              </a:rPr>
              <a:t>ARIMA </a:t>
            </a:r>
            <a:r>
              <a:rPr lang="en-US" altLang="en-US" sz="2000" dirty="0">
                <a:solidFill>
                  <a:srgbClr val="000000"/>
                </a:solidFill>
              </a:rPr>
              <a:t>она обычно рассматривается как несколько других: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SARIMAX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SARIMA с экзогенными </a:t>
            </a:r>
            <a:r>
              <a:rPr lang="en-US" altLang="en-US" sz="2000" dirty="0" err="1">
                <a:solidFill>
                  <a:srgbClr val="000000"/>
                </a:solidFill>
              </a:rPr>
              <a:t>добавочными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факт</a:t>
            </a:r>
            <a:r>
              <a:rPr lang="ru-RU" altLang="en-US" sz="2000" dirty="0" smtClean="0">
                <a:solidFill>
                  <a:srgbClr val="000000"/>
                </a:solidFill>
              </a:rPr>
              <a:t>а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рами</a:t>
            </a:r>
            <a:r>
              <a:rPr lang="en-US" altLang="en-US" sz="2000" dirty="0" smtClean="0">
                <a:solidFill>
                  <a:srgbClr val="000000"/>
                </a:solidFill>
              </a:rPr>
              <a:t>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MSARIMA</a:t>
            </a:r>
            <a:r>
              <a:rPr lang="en-US" altLang="en-US" sz="2000" dirty="0" smtClean="0">
                <a:solidFill>
                  <a:srgbClr val="000000"/>
                </a:solidFill>
              </a:rPr>
              <a:t>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модель с несколькими сезонными составляющими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ARIFMA</a:t>
            </a: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ARIMA с использованием дробных производных (и дробного интегрирования).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3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VAR</a:t>
            </a:r>
            <a:r>
              <a:rPr lang="en-US" altLang="en-US" sz="2000" b="1" dirty="0">
                <a:solidFill>
                  <a:srgbClr val="000000"/>
                </a:solidFill>
              </a:rPr>
              <a:t>, VMA, VARMA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>
                <a:solidFill>
                  <a:srgbClr val="000000"/>
                </a:solidFill>
              </a:rPr>
              <a:t>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одели</a:t>
            </a:r>
            <a:r>
              <a:rPr lang="ru-RU" altLang="en-US" sz="2000" dirty="0" smtClean="0">
                <a:solidFill>
                  <a:srgbClr val="000000"/>
                </a:solidFill>
              </a:rPr>
              <a:t> многомерных временных рядов</a:t>
            </a:r>
            <a:r>
              <a:rPr lang="en-US" altLang="en-US" sz="2000" dirty="0" smtClean="0">
                <a:solidFill>
                  <a:srgbClr val="000000"/>
                </a:solidFill>
              </a:rPr>
              <a:t>.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NAR</a:t>
            </a:r>
            <a:r>
              <a:rPr lang="en-US" altLang="en-US" sz="2000" b="1" dirty="0">
                <a:solidFill>
                  <a:srgbClr val="000000"/>
                </a:solidFill>
              </a:rPr>
              <a:t>, NARX,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NARMA</a:t>
            </a:r>
            <a:r>
              <a:rPr lang="ru-RU" altLang="en-US" sz="2000" b="1" dirty="0" smtClean="0">
                <a:solidFill>
                  <a:srgbClr val="000000"/>
                </a:solidFill>
              </a:rPr>
              <a:t>, </a:t>
            </a:r>
            <a:r>
              <a:rPr lang="en-US" altLang="en-US" sz="2000" b="1" dirty="0" err="1" smtClean="0">
                <a:solidFill>
                  <a:srgbClr val="000000"/>
                </a:solidFill>
              </a:rPr>
              <a:t>DeepAR</a:t>
            </a:r>
            <a:r>
              <a:rPr lang="en-US" altLang="en-US" sz="2000" dirty="0" smtClean="0">
                <a:solidFill>
                  <a:srgbClr val="000000"/>
                </a:solidFill>
              </a:rPr>
              <a:t> -</a:t>
            </a:r>
            <a:r>
              <a:rPr lang="ru-RU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Нелинейный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AR (NAR</a:t>
            </a:r>
            <a:r>
              <a:rPr lang="en-US" altLang="en-US" sz="2000" dirty="0" smtClean="0">
                <a:solidFill>
                  <a:srgbClr val="000000"/>
                </a:solidFill>
              </a:rPr>
              <a:t>), </a:t>
            </a:r>
            <a:r>
              <a:rPr lang="en-US" altLang="en-US" sz="2000" dirty="0">
                <a:solidFill>
                  <a:srgbClr val="000000"/>
                </a:solidFill>
              </a:rPr>
              <a:t>нелинейный ARMA (NARMA) и </a:t>
            </a:r>
            <a:r>
              <a:rPr lang="en-US" altLang="en-US" sz="2000" dirty="0" err="1">
                <a:solidFill>
                  <a:srgbClr val="000000"/>
                </a:solidFill>
              </a:rPr>
              <a:t>так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далее</a:t>
            </a:r>
            <a:r>
              <a:rPr lang="en-US" altLang="en-US" sz="2000" dirty="0" smtClean="0">
                <a:solidFill>
                  <a:srgbClr val="000000"/>
                </a:solidFill>
              </a:rPr>
              <a:t>.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модели нейронных сетей, вдохновлённые авторегрессий.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AR-NET</a:t>
            </a:r>
            <a:r>
              <a:rPr lang="en-US" altLang="en-US" sz="2000" dirty="0" smtClean="0">
                <a:solidFill>
                  <a:srgbClr val="000000"/>
                </a:solidFill>
              </a:rPr>
              <a:t>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модель авторегрессии с регуляризацией и решением методами градиентного спуска (как правило с не квадратичной функцией потерь и более устойчивые к неверному </a:t>
            </a:r>
            <a:r>
              <a:rPr lang="ru-RU" altLang="en-US" sz="2000" dirty="0" err="1" smtClean="0">
                <a:solidFill>
                  <a:srgbClr val="000000"/>
                </a:solidFill>
              </a:rPr>
              <a:t>выборпу</a:t>
            </a:r>
            <a:r>
              <a:rPr lang="ru-RU" altLang="en-US" sz="2000" dirty="0" smtClean="0">
                <a:solidFill>
                  <a:srgbClr val="000000"/>
                </a:solidFill>
              </a:rPr>
              <a:t> параметров моделей).</a:t>
            </a:r>
            <a:endParaRPr lang="ru-RU" altLang="en-US" sz="2000" b="1" dirty="0" smtClean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8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 err="1">
                <a:solidFill>
                  <a:srgbClr val="000000"/>
                </a:solidFill>
                <a:latin typeface="inherit"/>
              </a:rPr>
              <a:t>Экзогенны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е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inherit"/>
              </a:rPr>
              <a:t>фактор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ы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(SARIMAX)</a:t>
            </a:r>
            <a:endParaRPr lang="en-US" altLang="en-US" b="1" dirty="0">
              <a:solidFill>
                <a:srgbClr val="000000"/>
              </a:solidFill>
              <a:latin typeface="inheri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dirty="0" err="1"/>
                  <a:t>Экзогенны</a:t>
                </a:r>
                <a:r>
                  <a:rPr lang="ru-RU" dirty="0"/>
                  <a:t>е</a:t>
                </a:r>
                <a:r>
                  <a:rPr lang="en-US" dirty="0"/>
                  <a:t> </a:t>
                </a:r>
                <a:r>
                  <a:rPr lang="en-US" dirty="0" err="1"/>
                  <a:t>фактор</a:t>
                </a:r>
                <a:r>
                  <a:rPr lang="ru-RU" dirty="0"/>
                  <a:t>ы</a:t>
                </a:r>
                <a:r>
                  <a:rPr lang="en-US" dirty="0"/>
                  <a:t> (</a:t>
                </a:r>
                <a:r>
                  <a:rPr lang="en-US" dirty="0" err="1"/>
                  <a:t>exdogs</a:t>
                </a:r>
                <a:r>
                  <a:rPr lang="en-US" dirty="0"/>
                  <a:t>, экзогенные </a:t>
                </a:r>
                <a:r>
                  <a:rPr lang="en-US" b="1" dirty="0"/>
                  <a:t>ковариаты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или набор факторов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явля</a:t>
                </a:r>
                <a:r>
                  <a:rPr lang="ru-RU" dirty="0"/>
                  <a:t>ю</a:t>
                </a:r>
                <a:r>
                  <a:rPr lang="en-US" dirty="0" err="1"/>
                  <a:t>тся</a:t>
                </a:r>
                <a:r>
                  <a:rPr lang="en-US" dirty="0"/>
                  <a:t> </a:t>
                </a:r>
                <a:r>
                  <a:rPr lang="ru-RU" dirty="0"/>
                  <a:t>дополнительными</a:t>
                </a:r>
                <a:r>
                  <a:rPr lang="en-US" dirty="0"/>
                  <a:t> </a:t>
                </a:r>
                <a:r>
                  <a:rPr lang="en-US" dirty="0" err="1"/>
                  <a:t>факторам</a:t>
                </a:r>
                <a:r>
                  <a:rPr lang="en-US" dirty="0"/>
                  <a:t> </a:t>
                </a:r>
                <a:r>
                  <a:rPr lang="ru-RU" dirty="0"/>
                  <a:t>к </a:t>
                </a:r>
                <a:r>
                  <a:rPr lang="en-US" dirty="0" err="1"/>
                  <a:t>целевой</a:t>
                </a:r>
                <a:r>
                  <a:rPr lang="en-US" dirty="0"/>
                  <a:t> </a:t>
                </a:r>
                <a:r>
                  <a:rPr lang="en-US" dirty="0" err="1"/>
                  <a:t>переменной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которые статистически не зависят от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нее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влия</a:t>
                </a:r>
                <a:r>
                  <a:rPr lang="ru-RU" dirty="0"/>
                  <a:t>ют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ru-RU" dirty="0"/>
                  <a:t>нее</a:t>
                </a:r>
                <a:r>
                  <a:rPr lang="en-US" dirty="0"/>
                  <a:t>. </a:t>
                </a:r>
              </a:p>
              <a:p>
                <a:pPr algn="l" rtl="0" eaLnBrk="0" fontAlgn="base" hangingPunct="0">
                  <a:lnSpc>
                    <a:spcPct val="15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средняя</a:t>
                </a:r>
                <a:r>
                  <a:rPr lang="en-US" dirty="0"/>
                  <a:t> цена на нефть на предыдущей неделе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влияет на </a:t>
                </a:r>
                <a:r>
                  <a:rPr lang="en-US" dirty="0" err="1"/>
                  <a:t>обменный</a:t>
                </a:r>
                <a:r>
                  <a:rPr lang="en-US" dirty="0"/>
                  <a:t> </a:t>
                </a:r>
                <a:r>
                  <a:rPr lang="en-US" dirty="0" err="1"/>
                  <a:t>курс</a:t>
                </a:r>
                <a:r>
                  <a:rPr lang="ru-RU" dirty="0"/>
                  <a:t> валют</a:t>
                </a:r>
                <a:r>
                  <a:rPr lang="en-US" dirty="0"/>
                  <a:t> на этой неделе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algn="l" rtl="0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dirty="0"/>
                  <a:t>Вы можете использовать модель SARIMAX, чтобы проверить, влияет ли набор экзогенных переменных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ru-RU" dirty="0"/>
                  <a:t>основной</a:t>
                </a:r>
                <a:r>
                  <a:rPr lang="en-US" dirty="0"/>
                  <a:t> временной ряд. </a:t>
                </a:r>
                <a:endParaRPr lang="ru-RU" dirty="0"/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4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43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 err="1">
                <a:solidFill>
                  <a:srgbClr val="000000"/>
                </a:solidFill>
                <a:latin typeface="inherit"/>
              </a:rPr>
              <a:t>Экзогенны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е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inherit"/>
              </a:rPr>
              <a:t>фактор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ы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(SARIMAX)</a:t>
            </a:r>
            <a:endParaRPr lang="en-US" altLang="en-US" b="1" dirty="0">
              <a:solidFill>
                <a:srgbClr val="000000"/>
              </a:solidFill>
              <a:latin typeface="inheri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r>
              <a:rPr lang="ru-RU" b="1" dirty="0"/>
              <a:t>Экзогенная переменная</a:t>
            </a:r>
            <a:r>
              <a:rPr lang="ru-RU" dirty="0"/>
              <a:t> - это переменная, значение которой определяется вне модели и накладывается на нее. Здесь </a:t>
            </a:r>
            <a:r>
              <a:rPr lang="en" dirty="0"/>
              <a:t>X - </a:t>
            </a:r>
            <a:r>
              <a:rPr lang="ru-RU" dirty="0"/>
              <a:t>экзогенная переменная</a:t>
            </a:r>
          </a:p>
          <a:p>
            <a:r>
              <a:rPr lang="ru-RU" b="1" dirty="0"/>
              <a:t>Эндогенная переменная</a:t>
            </a:r>
            <a:r>
              <a:rPr lang="ru-RU" dirty="0"/>
              <a:t> - это переменная, значение которой определяется моделью. Здесь основной прогнозируемый ряд является эндогенной переменной.</a:t>
            </a:r>
          </a:p>
          <a:p>
            <a:r>
              <a:rPr lang="ru-RU" dirty="0"/>
              <a:t>Во временных рядах экзогенная переменная - это параллельные временные ряды, которые не моделируются напрямую, но используются в качестве взвешенных входных данных для модели.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3200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При этом значения экзогенных (внешних) факторов должны соответствовать выбранному временному промежутку.</a:t>
            </a: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280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dirty="0" err="1">
                <a:solidFill>
                  <a:srgbClr val="000000"/>
                </a:solidFill>
                <a:latin typeface="inherit"/>
              </a:rPr>
              <a:t>Экзогенны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е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inherit"/>
              </a:rPr>
              <a:t>фактор</a:t>
            </a:r>
            <a:r>
              <a:rPr lang="ru-RU" b="1" dirty="0">
                <a:solidFill>
                  <a:srgbClr val="000000"/>
                </a:solidFill>
                <a:latin typeface="inherit"/>
              </a:rPr>
              <a:t>ы</a:t>
            </a:r>
            <a:r>
              <a:rPr lang="en-US" b="1" dirty="0">
                <a:solidFill>
                  <a:srgbClr val="000000"/>
                </a:solidFill>
                <a:latin typeface="inherit"/>
              </a:rPr>
              <a:t> (SARIMAX)</a:t>
            </a:r>
            <a:endParaRPr lang="en-US" altLang="en-US" b="1" dirty="0">
              <a:solidFill>
                <a:srgbClr val="000000"/>
              </a:solidFill>
              <a:latin typeface="inheri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400" dirty="0" err="1"/>
                  <a:t>Для</a:t>
                </a:r>
                <a:r>
                  <a:rPr lang="en-US" sz="2400" dirty="0"/>
                  <a:t> ARMAX</a:t>
                </a:r>
                <a:r>
                  <a:rPr lang="ru-RU" sz="2400" dirty="0"/>
                  <a:t> экзогенные</a:t>
                </a:r>
                <a:r>
                  <a:rPr lang="en-US" sz="2400" dirty="0"/>
                  <a:t> </a:t>
                </a:r>
                <a:r>
                  <a:rPr lang="ru-RU" sz="2400" dirty="0"/>
                  <a:t>ф</a:t>
                </a:r>
                <a:r>
                  <a:rPr lang="en-US" sz="2400" dirty="0" err="1"/>
                  <a:t>акторы</a:t>
                </a:r>
                <a:r>
                  <a:rPr lang="en-US" sz="2400" dirty="0"/>
                  <a:t> могут </a:t>
                </a:r>
                <a:r>
                  <a:rPr lang="en-US" sz="2400" dirty="0" err="1"/>
                  <a:t>быть</a:t>
                </a:r>
                <a:r>
                  <a:rPr lang="en-US" sz="2400" dirty="0"/>
                  <a:t> </a:t>
                </a:r>
                <a:r>
                  <a:rPr lang="ru-RU" sz="2400" dirty="0"/>
                  <a:t>введены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algn="l" rtl="0"/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коэффициент при </a:t>
                </a:r>
                <a:r>
                  <a:rPr lang="en-US" sz="2400" dirty="0" err="1"/>
                  <a:t>exdogs</a:t>
                </a:r>
                <a:r>
                  <a:rPr lang="en-US" sz="2400" dirty="0"/>
                  <a:t> влиять;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400" dirty="0"/>
                  <a:t> являются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-</a:t>
                </a:r>
                <a:r>
                  <a:rPr lang="ru-RU" sz="2400" dirty="0" err="1"/>
                  <a:t>т</a:t>
                </a:r>
                <a:r>
                  <a:rPr lang="ru-RU" sz="2400" dirty="0"/>
                  <a:t>ое значение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-</a:t>
                </a:r>
                <a:r>
                  <a:rPr lang="ru-RU" sz="2400" dirty="0"/>
                  <a:t>того </a:t>
                </a:r>
                <a:r>
                  <a:rPr lang="en-US" sz="2400" dirty="0" err="1"/>
                  <a:t>экзогенн</a:t>
                </a:r>
                <a:r>
                  <a:rPr lang="ru-RU" sz="2400" dirty="0"/>
                  <a:t>ого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фактор</a:t>
                </a:r>
                <a:r>
                  <a:rPr lang="ru-RU" sz="2400" dirty="0"/>
                  <a:t>а</a:t>
                </a:r>
                <a:r>
                  <a:rPr lang="en-US" sz="2400" dirty="0"/>
                  <a:t>. </a:t>
                </a:r>
                <a:endParaRPr lang="ru-RU" sz="2400" dirty="0"/>
              </a:p>
              <a:p>
                <a:pPr algn="l" rtl="0"/>
                <a:r>
                  <a:rPr lang="en-US" sz="2400" dirty="0"/>
                  <a:t>В более обобщенном виде модель SARIMAX может быть представлена ​​как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𝛤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algn="l" rtl="0"/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𝛤</m:t>
                    </m:r>
                  </m:oMath>
                </a14:m>
                <a:r>
                  <a:rPr lang="en-US" sz="2400" dirty="0"/>
                  <a:t> - коэффициенты при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400" dirty="0"/>
                  <a:t>;</a:t>
                </a:r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вектор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400" dirty="0"/>
                  <a:t> для каждого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/>
                <a:r>
                  <a:rPr lang="ru-RU" sz="2400" dirty="0"/>
                  <a:t>Ф</a:t>
                </a:r>
                <a:r>
                  <a:rPr lang="en-US" sz="2400" dirty="0" err="1"/>
                  <a:t>акторы</a:t>
                </a:r>
                <a:r>
                  <a:rPr lang="en-US" sz="2400" dirty="0"/>
                  <a:t>, очевидно коррелирующие с </a:t>
                </a:r>
                <a:r>
                  <a:rPr lang="en-US" sz="2400" dirty="0" err="1"/>
                  <a:t>рядом</a:t>
                </a:r>
                <a:r>
                  <a:rPr lang="ru-RU" sz="2400" dirty="0"/>
                  <a:t>(входные)</a:t>
                </a:r>
                <a:r>
                  <a:rPr lang="en-US" sz="2400" dirty="0"/>
                  <a:t>, можно рассматривать как эндогенные (</a:t>
                </a:r>
                <a:r>
                  <a:rPr lang="en-US" sz="2400" dirty="0" err="1"/>
                  <a:t>эндоги</a:t>
                </a:r>
                <a:r>
                  <a:rPr lang="en-US" sz="2400" dirty="0"/>
                  <a:t>). </a:t>
                </a:r>
                <a:endParaRPr lang="ru-RU" sz="2400" dirty="0"/>
              </a:p>
              <a:p>
                <a:r>
                  <a:rPr lang="ru-RU" sz="2400" dirty="0"/>
                  <a:t>Факторы не имеющие линейной корреляции с временным рядом можно рассматривать как </a:t>
                </a:r>
                <a:r>
                  <a:rPr lang="en-US" sz="2400" dirty="0" err="1"/>
                  <a:t>экзогенны</a:t>
                </a:r>
                <a:r>
                  <a:rPr lang="ru-RU" sz="2400" dirty="0"/>
                  <a:t>е</a:t>
                </a:r>
                <a:endParaRPr lang="en-US" sz="2400" dirty="0"/>
              </a:p>
              <a:p>
                <a:r>
                  <a:rPr lang="en-US" sz="2400" dirty="0"/>
                  <a:t>Примером эндогенных факторов является влияние осадков на </a:t>
                </a:r>
                <a:r>
                  <a:rPr lang="en-US" sz="2400" dirty="0" err="1"/>
                  <a:t>рост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растений</a:t>
                </a:r>
                <a:r>
                  <a:rPr lang="ru-RU" sz="2400" dirty="0"/>
                  <a:t> -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факторов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коррелируют</a:t>
                </a:r>
                <a:r>
                  <a:rPr lang="en-US" sz="2400" dirty="0"/>
                  <a:t> и</a:t>
                </a:r>
                <a:r>
                  <a:rPr lang="ru-RU" sz="2400" dirty="0"/>
                  <a:t> их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изучают</a:t>
                </a:r>
                <a:r>
                  <a:rPr lang="en-US" sz="2400" dirty="0"/>
                  <a:t> </a:t>
                </a:r>
                <a:r>
                  <a:rPr lang="ru-RU" sz="2400" dirty="0"/>
                  <a:t>вместе</a:t>
                </a:r>
                <a:r>
                  <a:rPr lang="en-US" sz="2400" dirty="0"/>
                  <a:t>.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4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685" t="-1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531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2534</Words>
  <Application>Microsoft Office PowerPoint</Application>
  <PresentationFormat>Широкоэкранный</PresentationFormat>
  <Paragraphs>378</Paragraphs>
  <Slides>61</Slides>
  <Notes>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74" baseType="lpstr">
      <vt:lpstr>Arial</vt:lpstr>
      <vt:lpstr>Calibri</vt:lpstr>
      <vt:lpstr>Calibri Light</vt:lpstr>
      <vt:lpstr>Cambria</vt:lpstr>
      <vt:lpstr>Cambria Math</vt:lpstr>
      <vt:lpstr>Fira Sans</vt:lpstr>
      <vt:lpstr>Georgia</vt:lpstr>
      <vt:lpstr>Hack</vt:lpstr>
      <vt:lpstr>inherit</vt:lpstr>
      <vt:lpstr>MJXc-TeX-main-R</vt:lpstr>
      <vt:lpstr>Source Sans Pro</vt:lpstr>
      <vt:lpstr>Times New Roman</vt:lpstr>
      <vt:lpstr>Тема Office</vt:lpstr>
      <vt:lpstr>Модели авторегрессии  скользящего среднего </vt:lpstr>
      <vt:lpstr>Модели авторегресси - скользящего среднего (ARMA)</vt:lpstr>
      <vt:lpstr>Теорема Вольда</vt:lpstr>
      <vt:lpstr>Модели авторегресси - скользящего среднего (ARMA)</vt:lpstr>
      <vt:lpstr>Модели авторегресси - скользящего среднего (ARMA)</vt:lpstr>
      <vt:lpstr>ARMA  как фильтр!</vt:lpstr>
      <vt:lpstr>Модели авторегресси - скользящего среднего (ARMA)</vt:lpstr>
      <vt:lpstr>Модели авторегресси - скользящего среднего (ARMA)</vt:lpstr>
      <vt:lpstr>Выбор порядка ARMA</vt:lpstr>
      <vt:lpstr>Анализ невязок (остатков). Стационарность,  Частичная автокорреляция (PACF)</vt:lpstr>
      <vt:lpstr>Анализ невязок (остатков). Стационарность,  Частичная автокорреляция (PACF)</vt:lpstr>
      <vt:lpstr>Пример нестационарного ВР</vt:lpstr>
      <vt:lpstr>Пример где работать еще можно</vt:lpstr>
      <vt:lpstr>Пример ряда ARMA(1,2)</vt:lpstr>
      <vt:lpstr>Тестирование лагов на значимость Тестовая Q-статистика Льюинга-Бокса</vt:lpstr>
      <vt:lpstr>Дообучение ARMA коэффициентов</vt:lpstr>
      <vt:lpstr>Дообучение ARMA коэффициентов</vt:lpstr>
      <vt:lpstr>Дообучение ARMA коэффициентов</vt:lpstr>
      <vt:lpstr>Алгоритм ARMA модели</vt:lpstr>
      <vt:lpstr>Пример</vt:lpstr>
      <vt:lpstr>Примеры</vt:lpstr>
      <vt:lpstr>Пример</vt:lpstr>
      <vt:lpstr>Модели интегрированной авторегрессии  скользящего среднего ARIMA 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Производная</vt:lpstr>
      <vt:lpstr>Лаговая форма ARIMA</vt:lpstr>
      <vt:lpstr>Лаговая форма ARIMA</vt:lpstr>
      <vt:lpstr>Лаговая форма ARIMA</vt:lpstr>
      <vt:lpstr>Модель ARIMA</vt:lpstr>
      <vt:lpstr>О производных и тренде</vt:lpstr>
      <vt:lpstr>Стационарность ARIMA</vt:lpstr>
      <vt:lpstr>пример</vt:lpstr>
      <vt:lpstr>Презентация PowerPoint</vt:lpstr>
      <vt:lpstr>Презентация PowerPoint</vt:lpstr>
      <vt:lpstr>Модели SARIMAX  и другие</vt:lpstr>
      <vt:lpstr>Модель сезонной интегрированной авторегрессии  - скользящего среднего  (SARIMA).</vt:lpstr>
      <vt:lpstr>SARIMA Пример</vt:lpstr>
      <vt:lpstr>SARIMA Пример</vt:lpstr>
      <vt:lpstr>SARIMA Пример</vt:lpstr>
      <vt:lpstr>SARIMA Пример</vt:lpstr>
      <vt:lpstr>SARIMA Пример</vt:lpstr>
      <vt:lpstr>Алгоритм подбора модели SARIMA</vt:lpstr>
      <vt:lpstr>SARIMA Выбор порядка</vt:lpstr>
      <vt:lpstr>SARIMA Выбор порядка</vt:lpstr>
      <vt:lpstr>SARIMA Выбор порядка. Примечания</vt:lpstr>
      <vt:lpstr>SARIMA Выбор порядка. Примечания</vt:lpstr>
      <vt:lpstr>SARIMA Выбор порядка. Пример</vt:lpstr>
      <vt:lpstr>. Пример European retail trade data 1996 - 2011.</vt:lpstr>
      <vt:lpstr>SARIMA Выбор порядка. Пример</vt:lpstr>
      <vt:lpstr>SARIMA Выбор порядка. Пример</vt:lpstr>
      <vt:lpstr>Оценка коэффициента ARMA</vt:lpstr>
      <vt:lpstr>Пример оценки коэффициента ARMA</vt:lpstr>
      <vt:lpstr>Пример оценки коэффициента ARMA</vt:lpstr>
      <vt:lpstr>Пример оценки остаточной части ARMA для предыдущего слайда</vt:lpstr>
      <vt:lpstr>. Пример European retail trade data 1996 - 2011.</vt:lpstr>
      <vt:lpstr>Другие модели, подобные SARIMA</vt:lpstr>
      <vt:lpstr>Экзогенные факторы (SARIMAX)</vt:lpstr>
      <vt:lpstr>Экзогенные факторы (SARIMAX)</vt:lpstr>
      <vt:lpstr>Экзогенные факторы (SARIMAX)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143</cp:revision>
  <dcterms:created xsi:type="dcterms:W3CDTF">2021-10-31T10:57:36Z</dcterms:created>
  <dcterms:modified xsi:type="dcterms:W3CDTF">2025-07-21T11:19:12Z</dcterms:modified>
</cp:coreProperties>
</file>