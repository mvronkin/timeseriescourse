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5" r:id="rId6"/>
    <p:sldId id="264" r:id="rId7"/>
    <p:sldId id="266" r:id="rId8"/>
    <p:sldId id="267" r:id="rId9"/>
    <p:sldId id="262" r:id="rId10"/>
    <p:sldId id="259" r:id="rId11"/>
    <p:sldId id="263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0C974-C971-49AB-9DB3-26D8F572511A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04A68-FE9C-41D3-96AD-A1A68ED6C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Brent−0.8⋅Бензин−0.7⋅Дизель∼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(0)</a:t>
            </a:r>
          </a:p>
          <a:p>
            <a:r>
              <a:rPr lang="ru-RU" b="0" dirty="0" smtClean="0">
                <a:effectLst/>
              </a:rPr>
              <a:t>Это означает: маржа между нефтью и продуктами стабильна — возможен арбитраж.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22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0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2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48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63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57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18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9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0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7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00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04D8-B49B-4D86-A6B2-820C9FC8BA05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Многомерные временные ряды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0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Определение многомерных ВР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4" y="904876"/>
            <a:ext cx="11534775" cy="276224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sz="2400" b="1" dirty="0" smtClean="0"/>
              <a:t>Многомерный временной ряд</a:t>
            </a:r>
            <a:r>
              <a:rPr lang="en-US" sz="2400" b="1" dirty="0" smtClean="0"/>
              <a:t> </a:t>
            </a:r>
            <a:r>
              <a:rPr lang="ru-RU" sz="2400" b="1" dirty="0" smtClean="0"/>
              <a:t>(МВР)</a:t>
            </a:r>
            <a:r>
              <a:rPr lang="ru-RU" sz="2400" dirty="0" smtClean="0"/>
              <a:t> - это набор из одномерных временных рядов, наблюдаемых одновременно</a:t>
            </a:r>
            <a:r>
              <a:rPr lang="en-US" sz="2400" dirty="0" smtClean="0"/>
              <a:t> </a:t>
            </a:r>
            <a:r>
              <a:rPr lang="ru-RU" sz="2400" b="1" dirty="0" smtClean="0"/>
              <a:t>и имеющих общую информацию</a:t>
            </a:r>
            <a:r>
              <a:rPr lang="en-US" sz="2400" b="1" dirty="0" smtClean="0"/>
              <a:t>!</a:t>
            </a:r>
            <a:endParaRPr lang="ru-RU" altLang="ru-RU" sz="2400" b="1" dirty="0" smtClean="0"/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 smtClean="0"/>
              <a:t>Экономические </a:t>
            </a:r>
            <a:r>
              <a:rPr lang="ru-RU" altLang="ru-RU" sz="2400" dirty="0"/>
              <a:t>показатели: ВВП, инфляция, безработица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Финансовые данные: курсы валют, цены акций, процентные ставки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 err="1"/>
              <a:t>IoT</a:t>
            </a:r>
            <a:r>
              <a:rPr lang="ru-RU" altLang="ru-RU" sz="2400" dirty="0"/>
              <a:t> сенсоры: температура, влажность, давление, освещенность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Веб-аналитика: посещения, конверсия, время на сайте </a:t>
            </a:r>
            <a:endParaRPr lang="ru-RU" dirty="0"/>
          </a:p>
        </p:txBody>
      </p:sp>
      <p:sp>
        <p:nvSpPr>
          <p:cNvPr id="5" name="AutoShape 2" descr="Example of multivariate time series data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3572895"/>
            <a:ext cx="6738937" cy="305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9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3" y="250826"/>
            <a:ext cx="11153775" cy="768350"/>
          </a:xfrm>
        </p:spPr>
        <p:txBody>
          <a:bodyPr/>
          <a:lstStyle/>
          <a:p>
            <a:pPr algn="ctr"/>
            <a:r>
              <a:rPr lang="ru-RU" dirty="0" smtClean="0"/>
              <a:t>Типы ВР: Многомерные ВР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49" y="942976"/>
            <a:ext cx="10372726" cy="574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Определение многомерных ВР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697473"/>
              </p:ext>
            </p:extLst>
          </p:nvPr>
        </p:nvGraphicFramePr>
        <p:xfrm>
          <a:off x="142875" y="987425"/>
          <a:ext cx="11553825" cy="31051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72151">
                  <a:extLst>
                    <a:ext uri="{9D8B030D-6E8A-4147-A177-3AD203B41FA5}">
                      <a16:colId xmlns:a16="http://schemas.microsoft.com/office/drawing/2014/main" val="1609488883"/>
                    </a:ext>
                  </a:extLst>
                </a:gridCol>
                <a:gridCol w="5781674">
                  <a:extLst>
                    <a:ext uri="{9D8B030D-6E8A-4147-A177-3AD203B41FA5}">
                      <a16:colId xmlns:a16="http://schemas.microsoft.com/office/drawing/2014/main" val="499434099"/>
                    </a:ext>
                  </a:extLst>
                </a:gridCol>
              </a:tblGrid>
              <a:tr h="193665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Проблема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>
                          <a:effectLst/>
                        </a:rPr>
                        <a:t>Решение с помощью МВР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0299146"/>
                  </a:ext>
                </a:extLst>
              </a:tr>
              <a:tr h="3072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Одномерный ряд не улавливает влияние других </a:t>
                      </a:r>
                      <a:r>
                        <a:rPr lang="ru-RU" sz="2000" u="none" strike="noStrike" dirty="0" smtClean="0">
                          <a:effectLst/>
                        </a:rPr>
                        <a:t>связанных факторов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 smtClean="0">
                          <a:effectLst/>
                        </a:rPr>
                        <a:t>Учет взаимного</a:t>
                      </a:r>
                      <a:r>
                        <a:rPr lang="ru-RU" sz="2000" u="none" strike="noStrike" baseline="0" dirty="0" smtClean="0">
                          <a:effectLst/>
                        </a:rPr>
                        <a:t> влияния ВР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6143181"/>
                  </a:ext>
                </a:extLst>
              </a:tr>
              <a:tr h="155581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Глобальные экзогенные факторы не учитываются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учитываются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728713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Нет оценки причинно-следственных </a:t>
                      </a:r>
                      <a:r>
                        <a:rPr lang="ru-RU" sz="2000" u="none" strike="noStrike" dirty="0" smtClean="0">
                          <a:effectLst/>
                        </a:rPr>
                        <a:t>связей между</a:t>
                      </a:r>
                      <a:r>
                        <a:rPr lang="ru-RU" sz="2000" u="none" strike="noStrike" baseline="0" dirty="0" smtClean="0">
                          <a:effectLst/>
                        </a:rPr>
                        <a:t> всеми связанным переменными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Используем </a:t>
                      </a:r>
                      <a:r>
                        <a:rPr lang="en-US" sz="2000" u="none" strike="noStrike" dirty="0">
                          <a:effectLst/>
                        </a:rPr>
                        <a:t>Granger </a:t>
                      </a:r>
                      <a:r>
                        <a:rPr lang="en-US" sz="2000" u="none" strike="noStrike" dirty="0" smtClean="0">
                          <a:effectLst/>
                        </a:rPr>
                        <a:t>causality</a:t>
                      </a:r>
                      <a:r>
                        <a:rPr lang="ru-RU" sz="2000" u="none" strike="noStrike" dirty="0" smtClean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32579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 нестабильности при шоках внешних факторов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dirty="0" smtClean="0">
                          <a:effectLst/>
                        </a:rPr>
                        <a:t>МВР учитывает реакцию всей системы</a:t>
                      </a:r>
                      <a:endParaRPr lang="ru-RU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014944"/>
                  </a:ext>
                </a:extLst>
              </a:tr>
              <a:tr h="3814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Много похожих рядов (1000 </a:t>
                      </a:r>
                      <a:r>
                        <a:rPr lang="ru-RU" sz="2000" u="none" strike="noStrike" dirty="0" smtClean="0">
                          <a:effectLst/>
                        </a:rPr>
                        <a:t>датчиков температуры в техпроцессе) требуют</a:t>
                      </a:r>
                      <a:r>
                        <a:rPr lang="ru-RU" sz="2000" u="none" strike="noStrike" baseline="0" dirty="0" smtClean="0">
                          <a:effectLst/>
                        </a:rPr>
                        <a:t> настройки разных моделей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Глобальные модели + динамические факторы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201459"/>
                  </a:ext>
                </a:extLst>
              </a:tr>
            </a:tbl>
          </a:graphicData>
        </a:graphic>
      </p:graphicFrame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52425" y="4267199"/>
            <a:ext cx="11344275" cy="2295526"/>
          </a:xfrm>
        </p:spPr>
        <p:txBody>
          <a:bodyPr/>
          <a:lstStyle/>
          <a:p>
            <a:r>
              <a:rPr lang="ru-RU" dirty="0" smtClean="0"/>
              <a:t>Если единичные ВР – это описание только соответствующей переменной,</a:t>
            </a:r>
          </a:p>
          <a:p>
            <a:pPr lvl="1"/>
            <a:r>
              <a:rPr lang="ru-RU" dirty="0" smtClean="0"/>
              <a:t>ВР с экзогенными факторами – описание ВР и объясняющих его переменных</a:t>
            </a:r>
          </a:p>
          <a:p>
            <a:r>
              <a:rPr lang="ru-RU" dirty="0" smtClean="0"/>
              <a:t>То многомерные ВР (МВР) – это описание системы</a:t>
            </a:r>
          </a:p>
          <a:p>
            <a:pPr lvl="1"/>
            <a:r>
              <a:rPr lang="ru-RU" dirty="0" smtClean="0"/>
              <a:t>Включает как ВР, так и их связи – более полное описание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9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175" y="107951"/>
            <a:ext cx="11068050" cy="5969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Векторная авторегрессия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Если все ВР в МВР стационарны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и не коррелируют, то для каждого ВР можно ввести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b="0" i="0" dirty="0" smtClean="0">
                    <a:latin typeface="+mj-lt"/>
                  </a:rPr>
                  <a:t>число ВР.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>
                    <a:latin typeface="+mj-lt"/>
                  </a:rPr>
                  <a:t>Или в матричной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Где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 smtClean="0">
                    <a:latin typeface="+mj-lt"/>
                  </a:rPr>
                  <a:t>- </a:t>
                </a:r>
                <a:r>
                  <a:rPr lang="ru-RU" sz="2400" b="0" i="0" dirty="0" smtClean="0">
                    <a:latin typeface="+mj-lt"/>
                  </a:rPr>
                  <a:t>вектор наблюдений в момент </a:t>
                </a:r>
                <a:r>
                  <a:rPr lang="en-US" sz="2400" b="0" i="0" dirty="0" smtClean="0">
                    <a:latin typeface="+mj-lt"/>
                  </a:rPr>
                  <a:t>n;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 - </a:t>
                </a:r>
                <a:r>
                  <a:rPr lang="ru-RU" sz="2400" dirty="0" smtClean="0"/>
                  <a:t>вектор предсказаний в момент </a:t>
                </a:r>
                <a:r>
                  <a:rPr lang="en-US" sz="2400" dirty="0" smtClean="0"/>
                  <a:t>n+1,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 - </a:t>
                </a:r>
                <a:r>
                  <a:rPr lang="ru-RU" sz="2400" dirty="0" smtClean="0"/>
                  <a:t>вектор коэффициент</a:t>
                </a:r>
                <a:r>
                  <a:rPr lang="ru-RU" sz="2400" dirty="0"/>
                  <a:t>ы</a:t>
                </a:r>
                <a:r>
                  <a:rPr lang="ru-RU" sz="2400" dirty="0" smtClean="0"/>
                  <a:t> авторегрессии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 smtClean="0"/>
                  <a:t>Модель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 smtClean="0"/>
                  <a:t> - </a:t>
                </a:r>
                <a:r>
                  <a:rPr lang="ru-RU" sz="2400" b="1" dirty="0" smtClean="0"/>
                  <a:t>модель векторной авторегрессии - </a:t>
                </a:r>
                <a:r>
                  <a:rPr lang="en-US" sz="2400" b="1" dirty="0" smtClean="0"/>
                  <a:t>VAR</a:t>
                </a:r>
                <a:endParaRPr lang="en-US" sz="2400" b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 smtClean="0"/>
                  <a:t>Иногда вводят и более полные модели </a:t>
                </a:r>
                <a:r>
                  <a:rPr lang="en-US" sz="2400" i="1" dirty="0" smtClean="0"/>
                  <a:t>VARMA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 smtClean="0"/>
                  <a:t>	</a:t>
                </a:r>
                <a:r>
                  <a:rPr lang="ru-RU" sz="2000" i="1" dirty="0" smtClean="0"/>
                  <a:t>Если ВР не стационары, просто </a:t>
                </a:r>
                <a:r>
                  <a:rPr lang="en-US" sz="2000" i="1" dirty="0" smtClean="0"/>
                  <a:t>VARIMA </a:t>
                </a:r>
                <a:r>
                  <a:rPr lang="ru-RU" sz="2000" i="1" dirty="0" smtClean="0"/>
                  <a:t>может быть недостаточно! </a:t>
                </a:r>
                <a:endParaRPr lang="ru-RU" sz="2000" i="1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  <a:blipFill>
                <a:blip r:embed="rId2"/>
                <a:stretch>
                  <a:fillRect l="-775" t="-13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371974" y="6581777"/>
            <a:ext cx="82772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https://github.com/phdinds-aim/time_series_handbook/blob/main/03_VectorAutoregressiveModels/03_VectorAutoregressiveMethods.ipynb</a:t>
            </a:r>
          </a:p>
        </p:txBody>
      </p:sp>
    </p:spTree>
    <p:extLst>
      <p:ext uri="{BB962C8B-B14F-4D97-AF65-F5344CB8AC3E}">
        <p14:creationId xmlns:p14="http://schemas.microsoft.com/office/powerpoint/2010/main" val="28928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5" y="136526"/>
            <a:ext cx="11430000" cy="63499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Типы связей в МВР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b="1" dirty="0" smtClean="0"/>
                  <a:t>В МВР – </a:t>
                </a:r>
                <a:r>
                  <a:rPr lang="ru-RU" sz="2200" dirty="0" smtClean="0"/>
                  <a:t>отдельные</a:t>
                </a:r>
                <a:r>
                  <a:rPr lang="ru-RU" sz="2200" b="1" dirty="0" smtClean="0"/>
                  <a:t> </a:t>
                </a:r>
                <a:r>
                  <a:rPr lang="ru-RU" sz="2200" dirty="0" smtClean="0"/>
                  <a:t>ВР могут показать зависимость своих значений от других ВР в системе. То есть ВР связаны.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 smtClean="0"/>
                  <a:t>Корреляционная связь </a:t>
                </a:r>
                <a:r>
                  <a:rPr lang="ru-RU" sz="2200" dirty="0" smtClean="0"/>
                  <a:t>– ВР имеют линейную зависимость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 smtClean="0"/>
                  <a:t>Примеры: </a:t>
                </a:r>
                <a:r>
                  <a:rPr lang="ru-RU" sz="2200" dirty="0"/>
                  <a:t>Температура и </a:t>
                </a:r>
                <a:r>
                  <a:rPr lang="ru-RU" sz="2200" dirty="0" smtClean="0"/>
                  <a:t>давление </a:t>
                </a:r>
                <a:r>
                  <a:rPr lang="ru-RU" sz="2200" dirty="0"/>
                  <a:t>в </a:t>
                </a:r>
                <a:r>
                  <a:rPr lang="ru-RU" sz="2200" dirty="0" smtClean="0"/>
                  <a:t>баке.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000" b="1" dirty="0"/>
                  <a:t>Сезонная корреляция </a:t>
                </a:r>
                <a:r>
                  <a:rPr lang="ru-RU" sz="2000" dirty="0"/>
                  <a:t>– корреляция с лагом в сезон, </a:t>
                </a:r>
                <a:r>
                  <a:rPr lang="ru-RU" sz="2000" dirty="0" smtClean="0"/>
                  <a:t/>
                </a:r>
                <a:br>
                  <a:rPr lang="ru-RU" sz="2000" dirty="0" smtClean="0"/>
                </a:br>
                <a:r>
                  <a:rPr lang="ru-RU" sz="2100" dirty="0"/>
                  <a:t>например, закупка сырья</a:t>
                </a:r>
                <a:r>
                  <a:rPr lang="ru-RU" sz="2100" dirty="0"/>
                  <a:t> </a:t>
                </a:r>
                <a14:m>
                  <m:oMath xmlns:m="http://schemas.openxmlformats.org/officeDocument/2006/math">
                    <m:r>
                      <a:rPr lang="ru-RU" sz="2100"/>
                      <m:t>↔</m:t>
                    </m:r>
                  </m:oMath>
                </a14:m>
                <a:r>
                  <a:rPr lang="ru-RU" sz="2100" dirty="0"/>
                  <a:t> выпуск продукции, Летом выше температура и влажность (есть общий объясняющий фактор)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Казуальная связь </a:t>
                </a:r>
                <a:r>
                  <a:rPr lang="ru-RU" sz="2200" dirty="0"/>
                  <a:t>– один из ВР связан с последующими лагами другого ВР.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b="1" dirty="0"/>
                  <a:t>Примеры: </a:t>
                </a:r>
                <a:r>
                  <a:rPr lang="ru-RU" sz="2200" dirty="0"/>
                  <a:t>Процентные ставки → </a:t>
                </a:r>
                <a:r>
                  <a:rPr lang="ru-RU" sz="2200" dirty="0" smtClean="0"/>
                  <a:t>инфляция, направление ветра → изменение в погоде </a:t>
                </a:r>
                <a:br>
                  <a:rPr lang="ru-RU" sz="2200" dirty="0" smtClean="0"/>
                </a:br>
                <a:r>
                  <a:rPr lang="ru-RU" sz="2200" b="1" dirty="0" smtClean="0"/>
                  <a:t>(но не наоборот!)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 smtClean="0"/>
                  <a:t>В отличии от сезонной корреляции ВР в казуальности связь причинная (только опережающая), а не симметричная (характеристика динамики ВР). Например перед дождем падает давление (но нет связи наоборот).</a:t>
                </a:r>
                <a:endParaRPr lang="ru-RU" sz="2200" dirty="0"/>
              </a:p>
              <a:p>
                <a:pPr algn="just">
                  <a:lnSpc>
                    <a:spcPct val="110000"/>
                  </a:lnSpc>
                </a:pPr>
                <a:r>
                  <a:rPr lang="ru-RU" sz="2200" b="1" dirty="0" err="1" smtClean="0"/>
                  <a:t>Коинтеграционная</a:t>
                </a:r>
                <a:r>
                  <a:rPr lang="ru-RU" sz="2200" b="1" dirty="0" smtClean="0"/>
                  <a:t> связь </a:t>
                </a:r>
                <a:r>
                  <a:rPr lang="ru-RU" sz="2200" dirty="0" smtClean="0"/>
                  <a:t>– </a:t>
                </a:r>
                <a:r>
                  <a:rPr lang="ru-RU" sz="2200" dirty="0"/>
                  <a:t>Нестационарные ряды в долгосрочной перспективе "движутся вместе" — их линейная комбинация </a:t>
                </a:r>
                <a:r>
                  <a:rPr lang="ru-RU" sz="2200" dirty="0" smtClean="0"/>
                  <a:t>стационарна (</a:t>
                </a:r>
                <a:r>
                  <a:rPr lang="ru-RU" sz="2200" dirty="0" err="1" smtClean="0"/>
                  <a:t>коинтеграция</a:t>
                </a:r>
                <a:r>
                  <a:rPr lang="ru-RU" sz="2200" dirty="0" smtClean="0"/>
                  <a:t> 1го порядка).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 smtClean="0"/>
                  <a:t>система не стационарных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 smtClean="0"/>
                  <a:t> </a:t>
                </a:r>
                <a:r>
                  <a:rPr lang="ru-RU" sz="2200" dirty="0" smtClean="0"/>
                  <a:t>ВР составляет линейную комбинацию, имеющую не стационарность </a:t>
                </a:r>
                <a:r>
                  <a:rPr lang="ru-RU" sz="2200" dirty="0"/>
                  <a:t>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 smtClean="0"/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 smtClean="0"/>
                  <a:t>Пример: </a:t>
                </a:r>
                <a:r>
                  <a:rPr lang="ru-RU" sz="2200" dirty="0"/>
                  <a:t>Цены на сырую нефть и </a:t>
                </a:r>
                <a:r>
                  <a:rPr lang="ru-RU" sz="2200" dirty="0" smtClean="0"/>
                  <a:t>бензин (их разность (маржа) – стационарна)</a:t>
                </a:r>
                <a:endParaRPr lang="en-US" sz="2200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  <a:blipFill>
                <a:blip r:embed="rId2"/>
                <a:stretch>
                  <a:fillRect l="-570" t="-1138" r="-5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86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 smtClean="0"/>
              <a:t>Коинтегрированность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729" y="986972"/>
            <a:ext cx="1160054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Если два ВР X </a:t>
            </a:r>
            <a:r>
              <a:rPr lang="ru-RU" sz="2400" dirty="0"/>
              <a:t>и Y </a:t>
            </a:r>
            <a:r>
              <a:rPr lang="ru-RU" sz="2400" dirty="0" smtClean="0"/>
              <a:t>имеют стационарность разностей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ru-RU" sz="2400" dirty="0"/>
              <a:t>I(1) и если существует θ , такое, что Y− </a:t>
            </a:r>
            <a:r>
              <a:rPr lang="ru-RU" sz="2400" dirty="0" err="1"/>
              <a:t>θX</a:t>
            </a:r>
            <a:r>
              <a:rPr lang="ru-RU" sz="2400" dirty="0"/>
              <a:t> равно I(0) , то X и Y </a:t>
            </a:r>
            <a:r>
              <a:rPr lang="ru-RU" sz="2400" dirty="0" err="1" smtClean="0"/>
              <a:t>коинтегрированы</a:t>
            </a:r>
            <a:r>
              <a:rPr lang="ru-RU" sz="2400" dirty="0" smtClean="0"/>
              <a:t>. </a:t>
            </a:r>
            <a:r>
              <a:rPr lang="ru-RU" sz="2400" dirty="0"/>
              <a:t>Иными словами, </a:t>
            </a:r>
            <a:r>
              <a:rPr lang="ru-RU" sz="2400" dirty="0" smtClean="0"/>
              <a:t>X </a:t>
            </a:r>
            <a:r>
              <a:rPr lang="ru-RU" sz="2400" dirty="0"/>
              <a:t>и Y имеют одинаковый или общий стохастический тренд </a:t>
            </a:r>
            <a:r>
              <a:rPr lang="ru-RU" sz="2400" dirty="0" smtClean="0"/>
              <a:t>этот </a:t>
            </a:r>
            <a:r>
              <a:rPr lang="ru-RU" sz="2400" dirty="0"/>
              <a:t>тренд можно устранить, взяв </a:t>
            </a:r>
            <a:r>
              <a:rPr lang="ru-RU" sz="2400" dirty="0" smtClean="0"/>
              <a:t>разницу ВР.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Технически </a:t>
            </a:r>
            <a:r>
              <a:rPr lang="ru-RU" sz="2400" dirty="0" err="1" smtClean="0"/>
              <a:t>коинтеграция</a:t>
            </a:r>
            <a:r>
              <a:rPr lang="ru-RU" sz="2400" dirty="0" smtClean="0"/>
              <a:t> может быть и выше 1 порядка.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err="1" smtClean="0"/>
              <a:t>Коинтеграция</a:t>
            </a:r>
            <a:r>
              <a:rPr lang="ru-RU" sz="2400" dirty="0" smtClean="0"/>
              <a:t> может быть для нескольких рядов, не только для двух.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26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4" b="9332"/>
          <a:stretch/>
        </p:blipFill>
        <p:spPr bwMode="auto">
          <a:xfrm>
            <a:off x="7789506" y="3520077"/>
            <a:ext cx="4254521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55022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52" y="5623003"/>
            <a:ext cx="1199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Интуиция</a:t>
            </a:r>
            <a:r>
              <a:rPr lang="ru-RU" sz="2000" dirty="0" smtClean="0"/>
              <a:t>: если авторегрессия – это зависимость ВР </a:t>
            </a:r>
            <a:r>
              <a:rPr lang="en-US" sz="2000" dirty="0" smtClean="0"/>
              <a:t>Y</a:t>
            </a:r>
            <a:r>
              <a:rPr lang="ru-RU" sz="2000" dirty="0" smtClean="0"/>
              <a:t> от своих лагов, </a:t>
            </a:r>
            <a:br>
              <a:rPr lang="ru-RU" sz="2000" dirty="0" smtClean="0"/>
            </a:br>
            <a:r>
              <a:rPr lang="ru-RU" sz="2000" dirty="0" smtClean="0"/>
              <a:t>то </a:t>
            </a:r>
            <a:r>
              <a:rPr lang="ru-RU" sz="2000" dirty="0" err="1" smtClean="0"/>
              <a:t>коинтеграция</a:t>
            </a:r>
            <a:r>
              <a:rPr lang="ru-RU" sz="2000" dirty="0" smtClean="0"/>
              <a:t> – зависимость от ВР </a:t>
            </a:r>
            <a:r>
              <a:rPr lang="en-US" sz="2000" dirty="0" smtClean="0"/>
              <a:t>Y </a:t>
            </a:r>
            <a:r>
              <a:rPr lang="ru-RU" sz="2000" dirty="0" smtClean="0"/>
              <a:t>от лагов другого ВР</a:t>
            </a:r>
            <a:r>
              <a:rPr lang="en-US" sz="2000" dirty="0" smtClean="0"/>
              <a:t> X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 Например если </a:t>
            </a:r>
            <a:r>
              <a:rPr lang="en-US" sz="2000" dirty="0" smtClean="0"/>
              <a:t>e X </a:t>
            </a:r>
            <a:r>
              <a:rPr lang="ru-RU" sz="2000" dirty="0" smtClean="0"/>
              <a:t>и </a:t>
            </a:r>
            <a:r>
              <a:rPr lang="en-US" sz="2000" dirty="0" smtClean="0"/>
              <a:t>Y </a:t>
            </a:r>
            <a:r>
              <a:rPr lang="ru-RU" sz="2000" dirty="0" smtClean="0"/>
              <a:t>совместный тренд. 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71856"/>
            <a:ext cx="3763247" cy="244148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76250" y="6265530"/>
            <a:ext cx="11617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/>
              <a:t>Напр. Brent</a:t>
            </a:r>
            <a:r>
              <a:rPr lang="ru-RU" i="1" dirty="0"/>
              <a:t>−0.8⋅Бензин−0.7⋅Дизель∼</a:t>
            </a:r>
            <a:r>
              <a:rPr lang="ru-RU" i="1" dirty="0" smtClean="0"/>
              <a:t>I(0)</a:t>
            </a:r>
            <a:r>
              <a:rPr lang="en-US" i="1" dirty="0" smtClean="0"/>
              <a:t>-</a:t>
            </a:r>
            <a:r>
              <a:rPr lang="ru-RU" i="1" dirty="0" smtClean="0"/>
              <a:t> маржа </a:t>
            </a:r>
            <a:r>
              <a:rPr lang="ru-RU" i="1" dirty="0"/>
              <a:t>между нефтью и продуктами стабильна — возможен арбитраж.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069640" y="3071856"/>
            <a:ext cx="5081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 U.S. 3-month treasury bills, U.S. 10-years treasury bonds </a:t>
            </a:r>
            <a:endParaRPr lang="ru-RU" sz="1600" dirty="0"/>
          </a:p>
        </p:txBody>
      </p:sp>
      <p:pic>
        <p:nvPicPr>
          <p:cNvPr id="12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5" t="5782" r="32452" b="89203"/>
          <a:stretch/>
        </p:blipFill>
        <p:spPr bwMode="auto">
          <a:xfrm>
            <a:off x="8372474" y="3685579"/>
            <a:ext cx="1333501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21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7643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 smtClean="0"/>
              <a:t>Коинтегрированность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 smtClean="0"/>
                  <a:t>Если два ВР X </a:t>
                </a:r>
                <a:r>
                  <a:rPr lang="ru-RU" sz="2400" dirty="0"/>
                  <a:t>и Y </a:t>
                </a:r>
                <a:r>
                  <a:rPr lang="ru-RU" sz="2400" dirty="0" smtClean="0"/>
                  <a:t>имеют стационарность разностей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 </a:t>
                </a:r>
                <a:r>
                  <a:rPr lang="ru-RU" sz="2400" dirty="0"/>
                  <a:t>I(1) и если существует θ , такое, что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равно I(0) , то X и Y </a:t>
                </a:r>
                <a:r>
                  <a:rPr lang="ru-RU" sz="2400" dirty="0" err="1" smtClean="0"/>
                  <a:t>коинтегрированы</a:t>
                </a:r>
                <a:r>
                  <a:rPr lang="ru-RU" sz="2400" dirty="0" smtClean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 smtClean="0"/>
                  <a:t>Если θ известна, </a:t>
                </a:r>
                <a:r>
                  <a:rPr lang="ru-RU" sz="2400" dirty="0" err="1" smtClean="0"/>
                  <a:t>коинтеграция</a:t>
                </a:r>
                <a:r>
                  <a:rPr lang="ru-RU" sz="2400" dirty="0" smtClean="0"/>
                  <a:t> – проверка </a:t>
                </a:r>
                <a:r>
                  <a:rPr lang="ru-RU" sz="2400" dirty="0"/>
                  <a:t>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</a:t>
                </a:r>
                <a:r>
                  <a:rPr lang="ru-RU" sz="2400" dirty="0" smtClean="0"/>
                  <a:t> на стационарность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</a:t>
                </a:r>
                <a:r>
                  <a:rPr lang="ru-RU" sz="2400" dirty="0" smtClean="0"/>
                  <a:t>не известна, то можно оценить регрессией и проверить остатки </a:t>
                </a:r>
                <a:r>
                  <a:rPr lang="ru-RU" sz="2400" dirty="0"/>
                  <a:t>Y− </a:t>
                </a:r>
                <a:r>
                  <a:rPr lang="ru-RU" sz="2400" dirty="0" err="1"/>
                  <a:t>θX</a:t>
                </a:r>
                <a:r>
                  <a:rPr lang="ru-RU" sz="2400" dirty="0" smtClean="0"/>
                  <a:t>  на </a:t>
                </a:r>
                <a:r>
                  <a:rPr lang="ru-RU" sz="2400" dirty="0"/>
                  <a:t>стационарность </a:t>
                </a:r>
                <a:r>
                  <a:rPr lang="ru-RU" sz="2400" dirty="0" smtClean="0"/>
                  <a:t>(тест </a:t>
                </a:r>
                <a:r>
                  <a:rPr lang="ru-RU" sz="2400" dirty="0" err="1"/>
                  <a:t>Энгла</a:t>
                </a:r>
                <a:r>
                  <a:rPr lang="ru-RU" sz="2400" dirty="0"/>
                  <a:t>–</a:t>
                </a:r>
                <a:r>
                  <a:rPr lang="ru-RU" sz="2400" dirty="0" err="1"/>
                  <a:t>Грейнджера</a:t>
                </a:r>
                <a:r>
                  <a:rPr lang="ru-RU" sz="2400" dirty="0"/>
                  <a:t> (</a:t>
                </a:r>
                <a:r>
                  <a:rPr lang="en-US" sz="2400" dirty="0"/>
                  <a:t>Engle-Granger)</a:t>
                </a:r>
                <a:r>
                  <a:rPr lang="ru-RU" sz="24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 smtClean="0"/>
                  <a:t>Также можно оценить </a:t>
                </a:r>
                <a:r>
                  <a:rPr lang="ru-RU" sz="2400" dirty="0" err="1" smtClean="0"/>
                  <a:t>коинтеграцию</a:t>
                </a:r>
                <a:r>
                  <a:rPr lang="ru-RU" sz="2400" dirty="0" smtClean="0"/>
                  <a:t> как добавку к </a:t>
                </a:r>
                <a:r>
                  <a:rPr lang="en-US" sz="2400" dirty="0" smtClean="0"/>
                  <a:t>VAR:</a:t>
                </a:r>
              </a:p>
              <a:p>
                <a:pPr marL="914400" lvl="2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nary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1800" dirty="0" smtClean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 smtClean="0"/>
                  <a:t> - </a:t>
                </a:r>
                <a:r>
                  <a:rPr lang="en-US" dirty="0" smtClean="0"/>
                  <a:t>VAR,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/>
                  <a:t> – </a:t>
                </a:r>
                <a:r>
                  <a:rPr lang="ru-RU" b="1" dirty="0" smtClean="0"/>
                  <a:t>матрица </a:t>
                </a:r>
                <a:r>
                  <a:rPr lang="ru-RU" b="1" dirty="0" err="1" smtClean="0"/>
                  <a:t>коинтеграции</a:t>
                </a:r>
                <a:r>
                  <a:rPr lang="ru-RU" b="1" dirty="0" smtClean="0"/>
                  <a:t> ранга </a:t>
                </a:r>
                <a:r>
                  <a:rPr lang="en-US" b="1" dirty="0" smtClean="0"/>
                  <a:t>r</a:t>
                </a:r>
                <a:r>
                  <a:rPr lang="ru-RU" dirty="0" smtClean="0"/>
                  <a:t>.</a:t>
                </a:r>
                <a:r>
                  <a:rPr lang="en-US" dirty="0" smtClean="0"/>
                  <a:t> </a:t>
                </a:r>
                <a:r>
                  <a:rPr lang="ru-RU" dirty="0" smtClean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b="0" i="0" dirty="0" smtClean="0">
                    <a:latin typeface="+mj-lt"/>
                  </a:rPr>
                  <a:t>нет </a:t>
                </a:r>
                <a:r>
                  <a:rPr lang="ru-RU" b="0" i="0" dirty="0" err="1" smtClean="0">
                    <a:latin typeface="+mj-lt"/>
                  </a:rPr>
                  <a:t>коинтеграций</a:t>
                </a:r>
                <a:r>
                  <a:rPr lang="ru-RU" b="0" i="0" dirty="0" smtClean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(число ВР) – есть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sz="2000" dirty="0" err="1" smtClean="0"/>
                  <a:t>коинтеграций</a:t>
                </a:r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 smtClean="0"/>
                  <a:t> – </a:t>
                </a:r>
                <a:r>
                  <a:rPr lang="ru-RU" dirty="0" smtClean="0"/>
                  <a:t>все ВР стационарны (все и так I(0))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</a:t>
                </a:r>
                <a:r>
                  <a:rPr lang="ru-RU" i="1" dirty="0" smtClean="0"/>
                  <a:t>проверка статистик на </a:t>
                </a:r>
                <a:r>
                  <a:rPr lang="en-US" i="1" dirty="0" smtClean="0"/>
                  <a:t>r 2 </a:t>
                </a:r>
                <a:r>
                  <a:rPr lang="ru-RU" i="1" dirty="0" smtClean="0"/>
                  <a:t>особыми способами!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 smtClean="0"/>
                  <a:t>	Тест </a:t>
                </a:r>
                <a:r>
                  <a:rPr lang="ru-RU" dirty="0"/>
                  <a:t>матрицы </a:t>
                </a:r>
                <a:r>
                  <a:rPr lang="en-US" b="1" dirty="0"/>
                  <a:t>B</a:t>
                </a:r>
                <a:r>
                  <a:rPr lang="ru-RU" dirty="0"/>
                  <a:t> – </a:t>
                </a:r>
                <a:r>
                  <a:rPr lang="ru-RU" b="1" dirty="0"/>
                  <a:t>тест </a:t>
                </a:r>
                <a:r>
                  <a:rPr lang="ru-RU" b="1" dirty="0" err="1"/>
                  <a:t>Йохансена</a:t>
                </a:r>
                <a:r>
                  <a:rPr lang="ru-RU" b="1" dirty="0"/>
                  <a:t>.</a:t>
                </a:r>
                <a:endParaRPr lang="en-US" b="1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 smtClean="0"/>
                  <a:t>Модель </a:t>
                </a:r>
                <a:r>
                  <a:rPr lang="en-US" dirty="0" smtClean="0"/>
                  <a:t>VAR </a:t>
                </a:r>
                <a:r>
                  <a:rPr lang="ru-RU" dirty="0" smtClean="0"/>
                  <a:t>для </a:t>
                </a:r>
                <a:r>
                  <a:rPr lang="ru-RU" dirty="0" err="1" smtClean="0"/>
                  <a:t>коинтегрированных</a:t>
                </a:r>
                <a:r>
                  <a:rPr lang="ru-RU" dirty="0" smtClean="0"/>
                  <a:t> ВР - </a:t>
                </a:r>
                <a:r>
                  <a:rPr lang="es-ES" b="1" dirty="0"/>
                  <a:t>vector error correction model (VECM</a:t>
                </a:r>
                <a:r>
                  <a:rPr lang="es-ES" b="1" dirty="0" smtClean="0"/>
                  <a:t>)</a:t>
                </a:r>
                <a:endParaRPr lang="ru-RU" b="1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  <a:blipFill>
                <a:blip r:embed="rId3"/>
                <a:stretch>
                  <a:fillRect l="-780" t="-883" r="-989" b="-12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715704" y="6317873"/>
            <a:ext cx="43797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/>
              <a:t>https://www.numberanalytics.com/blog/cointegration-basics-time-series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13124" y="6613076"/>
            <a:ext cx="8848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https://eodhd.com/financial-academy/portfolio-performance-examples/benchmark-tracking-and-cointegration-analysis-with-python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122360" y="6082766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/>
              <a:t>https://www.econometrics-with-r.org/16.3-cointegration.html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28080" y="6170950"/>
            <a:ext cx="5125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Интуиция </a:t>
            </a:r>
            <a:r>
              <a:rPr lang="es-ES" b="1" dirty="0" smtClean="0"/>
              <a:t>VECM</a:t>
            </a:r>
            <a:r>
              <a:rPr lang="ru-RU" b="1" dirty="0" smtClean="0"/>
              <a:t> – это </a:t>
            </a:r>
            <a:r>
              <a:rPr lang="en-US" b="1" dirty="0" smtClean="0"/>
              <a:t>VARI</a:t>
            </a:r>
            <a:r>
              <a:rPr lang="ru-RU" b="1" dirty="0" smtClean="0"/>
              <a:t> </a:t>
            </a:r>
            <a:r>
              <a:rPr lang="en-US" b="1" dirty="0" smtClean="0"/>
              <a:t> + </a:t>
            </a:r>
            <a:r>
              <a:rPr lang="ru-RU" b="1" dirty="0" smtClean="0"/>
              <a:t>взаимные эффекты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257800" y="650535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/>
              <a:t>https://readmedium.com/unveiling-cointegration-johansen-test-explained-with-python-examples-db8385219f1f</a:t>
            </a:r>
          </a:p>
        </p:txBody>
      </p:sp>
    </p:spTree>
    <p:extLst>
      <p:ext uri="{BB962C8B-B14F-4D97-AF65-F5344CB8AC3E}">
        <p14:creationId xmlns:p14="http://schemas.microsoft.com/office/powerpoint/2010/main" val="361752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многомерных ВР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582924"/>
              </p:ext>
            </p:extLst>
          </p:nvPr>
        </p:nvGraphicFramePr>
        <p:xfrm>
          <a:off x="374649" y="1437483"/>
          <a:ext cx="11198225" cy="2486025"/>
        </p:xfrm>
        <a:graphic>
          <a:graphicData uri="http://schemas.openxmlformats.org/drawingml/2006/table">
            <a:tbl>
              <a:tblPr/>
              <a:tblGrid>
                <a:gridCol w="2435226">
                  <a:extLst>
                    <a:ext uri="{9D8B030D-6E8A-4147-A177-3AD203B41FA5}">
                      <a16:colId xmlns:a16="http://schemas.microsoft.com/office/drawing/2014/main" val="1298172271"/>
                    </a:ext>
                  </a:extLst>
                </a:gridCol>
                <a:gridCol w="5038725">
                  <a:extLst>
                    <a:ext uri="{9D8B030D-6E8A-4147-A177-3AD203B41FA5}">
                      <a16:colId xmlns:a16="http://schemas.microsoft.com/office/drawing/2014/main" val="2225433765"/>
                    </a:ext>
                  </a:extLst>
                </a:gridCol>
                <a:gridCol w="3724274">
                  <a:extLst>
                    <a:ext uri="{9D8B030D-6E8A-4147-A177-3AD203B41FA5}">
                      <a16:colId xmlns:a16="http://schemas.microsoft.com/office/drawing/2014/main" val="3005667624"/>
                    </a:ext>
                  </a:extLst>
                </a:gridCol>
              </a:tblGrid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Описание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Пример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36517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Связанные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Переменные влияют друг на друга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и давление в реакторе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01474"/>
                  </a:ext>
                </a:extLst>
              </a:tr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Многосерийные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 независимых рядов (одномерных)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Продажи по 100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96808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Пространственно-временные поля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Данные на сетке (</a:t>
                      </a:r>
                      <a:r>
                        <a:rPr lang="ru-R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гео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датчики)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по датчикам в цеху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687255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 иерархией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Ряды связаны иерархически (регион → магазин)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Общие продажи → по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7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5" y="2016125"/>
            <a:ext cx="77628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smtClean="0"/>
              <a:t>Преимущества МВР:</a:t>
            </a:r>
            <a:endParaRPr lang="ru-RU" dirty="0" smtClean="0"/>
          </a:p>
          <a:p>
            <a:r>
              <a:rPr lang="ru-RU" dirty="0" smtClean="0"/>
              <a:t>Учет взаимосвязей между переменными </a:t>
            </a:r>
          </a:p>
          <a:p>
            <a:pPr lvl="1"/>
            <a:r>
              <a:rPr lang="ru-RU" dirty="0" smtClean="0"/>
              <a:t>Анализ причинно-следственных связей</a:t>
            </a:r>
          </a:p>
          <a:p>
            <a:pPr lvl="1"/>
            <a:r>
              <a:rPr lang="ru-RU" dirty="0" smtClean="0"/>
              <a:t>Обнаружение общих трендов и циклов</a:t>
            </a:r>
          </a:p>
          <a:p>
            <a:r>
              <a:rPr lang="ru-RU" dirty="0" smtClean="0"/>
              <a:t>Возможность создания глобальных моделей – одна модель для группы ВР</a:t>
            </a:r>
          </a:p>
          <a:p>
            <a:pPr marL="0" indent="0">
              <a:buNone/>
            </a:pPr>
            <a:r>
              <a:rPr lang="ru-RU" b="1" dirty="0" smtClean="0"/>
              <a:t>Проблемы МВР:</a:t>
            </a:r>
            <a:endParaRPr lang="ru-RU" dirty="0" smtClean="0"/>
          </a:p>
          <a:p>
            <a:r>
              <a:rPr lang="ru-RU" dirty="0" smtClean="0"/>
              <a:t>Усложнение интерпретации</a:t>
            </a:r>
          </a:p>
          <a:p>
            <a:r>
              <a:rPr lang="ru-RU" dirty="0" smtClean="0"/>
              <a:t>Усложнение подбора </a:t>
            </a:r>
            <a:r>
              <a:rPr lang="ru-RU" dirty="0" err="1" smtClean="0"/>
              <a:t>гиперпараметров</a:t>
            </a:r>
            <a:r>
              <a:rPr lang="ru-RU" dirty="0" smtClean="0"/>
              <a:t> глобальных моделей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95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650" y="365125"/>
            <a:ext cx="11106150" cy="815975"/>
          </a:xfrm>
        </p:spPr>
        <p:txBody>
          <a:bodyPr/>
          <a:lstStyle/>
          <a:p>
            <a:r>
              <a:rPr lang="ru-RU" dirty="0" smtClean="0"/>
              <a:t>Особенности предварительного анализа МВР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649" y="1181100"/>
            <a:ext cx="11553825" cy="5286375"/>
          </a:xfrm>
        </p:spPr>
        <p:txBody>
          <a:bodyPr/>
          <a:lstStyle/>
          <a:p>
            <a:r>
              <a:rPr lang="ru-RU" dirty="0" smtClean="0"/>
              <a:t>При МВР важно чтобы каждый ряд </a:t>
            </a:r>
            <a:r>
              <a:rPr lang="ru-RU" dirty="0" err="1" smtClean="0"/>
              <a:t>небыл</a:t>
            </a:r>
            <a:r>
              <a:rPr lang="ru-RU" dirty="0" smtClean="0"/>
              <a:t> сдвинутой копией другого. </a:t>
            </a:r>
          </a:p>
          <a:p>
            <a:pPr lvl="1"/>
            <a:r>
              <a:rPr lang="ru-RU" smtClean="0"/>
              <a:t>Все </a:t>
            </a:r>
            <a:r>
              <a:rPr lang="ru-RU" dirty="0" smtClean="0"/>
              <a:t>ВР должны быть </a:t>
            </a:r>
            <a:r>
              <a:rPr lang="ru-RU" smtClean="0"/>
              <a:t>независимы.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17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608</Words>
  <Application>Microsoft Office PowerPoint</Application>
  <PresentationFormat>Широкоэкранный</PresentationFormat>
  <Paragraphs>101</Paragraphs>
  <Slides>11</Slides>
  <Notes>2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Source Sans Pro</vt:lpstr>
      <vt:lpstr>Тема Office</vt:lpstr>
      <vt:lpstr>Многомерные временные ряды</vt:lpstr>
      <vt:lpstr>Определение многомерных ВР</vt:lpstr>
      <vt:lpstr>Типы ВР: Многомерные ВР</vt:lpstr>
      <vt:lpstr>Определение многомерных ВР</vt:lpstr>
      <vt:lpstr>Векторная авторегрессия</vt:lpstr>
      <vt:lpstr>Типы связей в МВР</vt:lpstr>
      <vt:lpstr>Коинтегрированность</vt:lpstr>
      <vt:lpstr>Коинтегрированность</vt:lpstr>
      <vt:lpstr>Типы многомерных ВР</vt:lpstr>
      <vt:lpstr>Презентация PowerPoint</vt:lpstr>
      <vt:lpstr>Особенности предварительного анализа МВР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Многомерные временные ряды</dc:title>
  <dc:creator>Ронкин Михаил Владимирович</dc:creator>
  <cp:lastModifiedBy>Ронкин Михаил Владимирович</cp:lastModifiedBy>
  <cp:revision>27</cp:revision>
  <dcterms:created xsi:type="dcterms:W3CDTF">2025-08-05T06:08:07Z</dcterms:created>
  <dcterms:modified xsi:type="dcterms:W3CDTF">2025-08-07T13:50:29Z</dcterms:modified>
</cp:coreProperties>
</file>