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94" r:id="rId4"/>
    <p:sldId id="371" r:id="rId5"/>
    <p:sldId id="372" r:id="rId6"/>
    <p:sldId id="373" r:id="rId7"/>
    <p:sldId id="374" r:id="rId8"/>
    <p:sldId id="338" r:id="rId9"/>
    <p:sldId id="280" r:id="rId10"/>
    <p:sldId id="274" r:id="rId11"/>
    <p:sldId id="278" r:id="rId12"/>
    <p:sldId id="295" r:id="rId13"/>
    <p:sldId id="352" r:id="rId14"/>
    <p:sldId id="340" r:id="rId15"/>
    <p:sldId id="343" r:id="rId16"/>
    <p:sldId id="349" r:id="rId17"/>
    <p:sldId id="376" r:id="rId18"/>
    <p:sldId id="301" r:id="rId19"/>
    <p:sldId id="350" r:id="rId20"/>
    <p:sldId id="368" r:id="rId21"/>
    <p:sldId id="369" r:id="rId22"/>
    <p:sldId id="370" r:id="rId23"/>
    <p:sldId id="297" r:id="rId24"/>
    <p:sldId id="296" r:id="rId25"/>
    <p:sldId id="298" r:id="rId26"/>
    <p:sldId id="299" r:id="rId27"/>
    <p:sldId id="304" r:id="rId28"/>
    <p:sldId id="305" r:id="rId29"/>
    <p:sldId id="375" r:id="rId30"/>
    <p:sldId id="266" r:id="rId31"/>
    <p:sldId id="262" r:id="rId32"/>
    <p:sldId id="263" r:id="rId33"/>
    <p:sldId id="264" r:id="rId34"/>
    <p:sldId id="265" r:id="rId35"/>
    <p:sldId id="268" r:id="rId36"/>
    <p:sldId id="270" r:id="rId37"/>
    <p:sldId id="346" r:id="rId38"/>
    <p:sldId id="347" r:id="rId39"/>
    <p:sldId id="348" r:id="rId40"/>
    <p:sldId id="267" r:id="rId41"/>
    <p:sldId id="269" r:id="rId42"/>
    <p:sldId id="353" r:id="rId43"/>
    <p:sldId id="354" r:id="rId44"/>
    <p:sldId id="355" r:id="rId45"/>
    <p:sldId id="356" r:id="rId46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  <p:sldId id="365" r:id="rId55"/>
    <p:sldId id="366" r:id="rId56"/>
    <p:sldId id="36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89" autoAdjust="0"/>
    <p:restoredTop sz="96301"/>
  </p:normalViewPr>
  <p:slideViewPr>
    <p:cSldViewPr snapToGrid="0">
      <p:cViewPr varScale="1">
        <p:scale>
          <a:sx n="118" d="100"/>
          <a:sy n="118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ropBox\Dropbox\Dropbox\&#1047;&#1072;&#1085;&#1103;&#1090;&#1080;&#1103;!\&#1090;&#1077;&#1086;&#1088;.%20&#1086;&#1089;&#1085;&#1086;&#1074;&#1099;%20&#1088;&#1072;&#1076;&#1080;&#1086;&#1090;&#1077;&#1093;&#1085;&#1080;&#1082;&#1080;\&#1089;&#1080;&#1075;&#1085;&#1072;&#1083;&#109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ropBox\Dropbox\Dropbox\&#1047;&#1072;&#1085;&#1103;&#1090;&#1080;&#1103;!\&#1090;&#1077;&#1086;&#1088;.%20&#1086;&#1089;&#1085;&#1086;&#1074;&#1099;%20&#1088;&#1072;&#1076;&#1080;&#1086;&#1090;&#1077;&#1093;&#1085;&#1080;&#1082;&#1080;\&#1089;&#1080;&#1075;&#1085;&#1072;&#1083;&#1099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ropBox\Dropbox\Dropbox\&#1047;&#1072;&#1085;&#1103;&#1090;&#1080;&#1103;!\&#1090;&#1077;&#1086;&#1088;.%20&#1086;&#1089;&#1085;&#1086;&#1074;&#1099;%20&#1088;&#1072;&#1076;&#1080;&#1086;&#1090;&#1077;&#1093;&#1085;&#1080;&#1082;&#1080;\&#1089;&#1080;&#1075;&#1085;&#1072;&#1083;&#1099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Лист1!$A$1:$A$225</c:f>
              <c:numCache>
                <c:formatCode>General</c:formatCode>
                <c:ptCount val="2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</c:numCache>
            </c:numRef>
          </c:xVal>
          <c:yVal>
            <c:numRef>
              <c:f>Лист1!$C$1:$C$225</c:f>
              <c:numCache>
                <c:formatCode>General</c:formatCode>
                <c:ptCount val="2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0.31037990967204165</c:v>
                </c:pt>
                <c:pt idx="16">
                  <c:v>0.12684997771773018</c:v>
                </c:pt>
                <c:pt idx="17">
                  <c:v>-6.1169136320886407E-2</c:v>
                </c:pt>
                <c:pt idx="18">
                  <c:v>-0.24702349325173872</c:v>
                </c:pt>
                <c:pt idx="19">
                  <c:v>-0.42413576397761199</c:v>
                </c:pt>
                <c:pt idx="20">
                  <c:v>-0.58623799917002739</c:v>
                </c:pt>
                <c:pt idx="21">
                  <c:v>-0.72759345008732734</c:v>
                </c:pt>
                <c:pt idx="22">
                  <c:v>-0.8431995903657401</c:v>
                </c:pt>
                <c:pt idx="23">
                  <c:v>-0.92896515390407308</c:v>
                </c:pt>
                <c:pt idx="24">
                  <c:v>-0.98185492352520309</c:v>
                </c:pt>
                <c:pt idx="25">
                  <c:v>-0.99999714638771797</c:v>
                </c:pt>
                <c:pt idx="26">
                  <c:v>-0.98274977474900693</c:v>
                </c:pt>
                <c:pt idx="27">
                  <c:v>-0.93072318783936181</c:v>
                </c:pt>
                <c:pt idx="28">
                  <c:v>-0.84575859072688309</c:v>
                </c:pt>
                <c:pt idx="29">
                  <c:v>-0.7308628546307856</c:v>
                </c:pt>
                <c:pt idx="30">
                  <c:v>-0.59010210466457547</c:v>
                </c:pt>
                <c:pt idx="31">
                  <c:v>-0.42845782090645784</c:v>
                </c:pt>
                <c:pt idx="32">
                  <c:v>-0.25165054533628128</c:v>
                </c:pt>
                <c:pt idx="33">
                  <c:v>-6.5937433596838804E-2</c:v>
                </c:pt>
                <c:pt idx="34">
                  <c:v>0.12210918383896871</c:v>
                </c:pt>
                <c:pt idx="35">
                  <c:v>0.30583439444221983</c:v>
                </c:pt>
                <c:pt idx="36">
                  <c:v>0.47873621895588381</c:v>
                </c:pt>
                <c:pt idx="37">
                  <c:v>0.63469571446081241</c:v>
                </c:pt>
                <c:pt idx="38">
                  <c:v>0.76819352190235801</c:v>
                </c:pt>
                <c:pt idx="39">
                  <c:v>0.87450519452662145</c:v>
                </c:pt>
                <c:pt idx="40">
                  <c:v>0.94986839461243189</c:v>
                </c:pt>
                <c:pt idx="41">
                  <c:v>0.99161604145762205</c:v>
                </c:pt>
                <c:pt idx="42">
                  <c:v>0.99827069855292994</c:v>
                </c:pt>
                <c:pt idx="43">
                  <c:v>0.96959685961016384</c:v>
                </c:pt>
                <c:pt idx="44">
                  <c:v>0.90660928305802935</c:v>
                </c:pt>
                <c:pt idx="45">
                  <c:v>0.81153708005033909</c:v>
                </c:pt>
                <c:pt idx="46">
                  <c:v>0.68774482690107286</c:v>
                </c:pt>
                <c:pt idx="47">
                  <c:v>0.53961349375316181</c:v>
                </c:pt>
                <c:pt idx="48">
                  <c:v>0.37238540337919879</c:v>
                </c:pt>
                <c:pt idx="49">
                  <c:v>0.19197870697483524</c:v>
                </c:pt>
                <c:pt idx="50">
                  <c:v>4.7779425901285115E-3</c:v>
                </c:pt>
                <c:pt idx="51">
                  <c:v>-0.18259191172791187</c:v>
                </c:pt>
                <c:pt idx="52">
                  <c:v>-0.36349989389101833</c:v>
                </c:pt>
                <c:pt idx="53">
                  <c:v>-0.53154372549878515</c:v>
                </c:pt>
                <c:pt idx="54">
                  <c:v>-0.6807763865216917</c:v>
                </c:pt>
                <c:pt idx="55">
                  <c:v>-0.80591657852902043</c:v>
                </c:pt>
                <c:pt idx="56">
                  <c:v>-0.90253562823210998</c:v>
                </c:pt>
                <c:pt idx="57">
                  <c:v>-0.96721421688346465</c:v>
                </c:pt>
                <c:pt idx="58">
                  <c:v>-0.9976633889260087</c:v>
                </c:pt>
                <c:pt idx="59">
                  <c:v>-0.99280555743324361</c:v>
                </c:pt>
                <c:pt idx="60">
                  <c:v>-0.95281263958243911</c:v>
                </c:pt>
                <c:pt idx="61">
                  <c:v>-0.87909997255807826</c:v>
                </c:pt>
                <c:pt idx="62">
                  <c:v>-0.77427622519988915</c:v>
                </c:pt>
                <c:pt idx="63">
                  <c:v>-0.64205107800696293</c:v>
                </c:pt>
                <c:pt idx="64">
                  <c:v>-0.48710393867454077</c:v>
                </c:pt>
                <c:pt idx="65">
                  <c:v>-0.31491833928059709</c:v>
                </c:pt>
                <c:pt idx="66">
                  <c:v>-0.13158787575538922</c:v>
                </c:pt>
                <c:pt idx="67">
                  <c:v>5.6399442622936058E-2</c:v>
                </c:pt>
                <c:pt idx="68">
                  <c:v>0.24239080190104881</c:v>
                </c:pt>
                <c:pt idx="69">
                  <c:v>0.41980402451037863</c:v>
                </c:pt>
                <c:pt idx="70">
                  <c:v>0.58236051052693893</c:v>
                </c:pt>
                <c:pt idx="71">
                  <c:v>0.7243074354107234</c:v>
                </c:pt>
                <c:pt idx="72">
                  <c:v>0.84062134071440398</c:v>
                </c:pt>
                <c:pt idx="73">
                  <c:v>0.92718591274806106</c:v>
                </c:pt>
                <c:pt idx="74">
                  <c:v>0.9809376576672294</c:v>
                </c:pt>
                <c:pt idx="75">
                  <c:v>0.99997431758717892</c:v>
                </c:pt>
                <c:pt idx="76">
                  <c:v>0.98362219091020187</c:v>
                </c:pt>
                <c:pt idx="77">
                  <c:v>0.93245997442000639</c:v>
                </c:pt>
                <c:pt idx="78">
                  <c:v>0.84829828337875746</c:v>
                </c:pt>
                <c:pt idx="79">
                  <c:v>0.73411557440430186</c:v>
                </c:pt>
                <c:pt idx="80">
                  <c:v>0.59395273879743615</c:v>
                </c:pt>
                <c:pt idx="81">
                  <c:v>0.43277009662926019</c:v>
                </c:pt>
                <c:pt idx="82">
                  <c:v>0.25627185252432555</c:v>
                </c:pt>
                <c:pt idx="83">
                  <c:v>7.0704225595976514E-2</c:v>
                </c:pt>
                <c:pt idx="84">
                  <c:v>-0.11736560234604884</c:v>
                </c:pt>
                <c:pt idx="85">
                  <c:v>-0.30128189736008287</c:v>
                </c:pt>
                <c:pt idx="86">
                  <c:v>-0.47453591776998744</c:v>
                </c:pt>
                <c:pt idx="87">
                  <c:v>-0.63099625655108604</c:v>
                </c:pt>
                <c:pt idx="88">
                  <c:v>-0.76512582995770662</c:v>
                </c:pt>
                <c:pt idx="89">
                  <c:v>-0.87217783323082321</c:v>
                </c:pt>
                <c:pt idx="90">
                  <c:v>-0.94836372857303797</c:v>
                </c:pt>
                <c:pt idx="91">
                  <c:v>-0.99098732034757975</c:v>
                </c:pt>
                <c:pt idx="92">
                  <c:v>-0.99854017262087214</c:v>
                </c:pt>
                <c:pt idx="93">
                  <c:v>-0.97075499225088302</c:v>
                </c:pt>
                <c:pt idx="94">
                  <c:v>-0.90861508831003457</c:v>
                </c:pt>
                <c:pt idx="95">
                  <c:v>-0.8143195730765499</c:v>
                </c:pt>
                <c:pt idx="96">
                  <c:v>-0.6912055361205921</c:v>
                </c:pt>
                <c:pt idx="97">
                  <c:v>-0.54362994572053025</c:v>
                </c:pt>
                <c:pt idx="98">
                  <c:v>-0.37681545708233893</c:v>
                </c:pt>
                <c:pt idx="99">
                  <c:v>-0.19666558416219299</c:v>
                </c:pt>
                <c:pt idx="100">
                  <c:v>-9.5557761052473874E-3</c:v>
                </c:pt>
                <c:pt idx="101">
                  <c:v>0.1778922079582306</c:v>
                </c:pt>
                <c:pt idx="102">
                  <c:v>0.35904464095208399</c:v>
                </c:pt>
                <c:pt idx="103">
                  <c:v>0.52749059343542937</c:v>
                </c:pt>
                <c:pt idx="104">
                  <c:v>0.67726881444341924</c:v>
                </c:pt>
                <c:pt idx="105">
                  <c:v>0.80307869834358481</c:v>
                </c:pt>
                <c:pt idx="106">
                  <c:v>0.90046787165511621</c:v>
                </c:pt>
                <c:pt idx="107">
                  <c:v>0.96598976119051538</c:v>
                </c:pt>
                <c:pt idx="108">
                  <c:v>0.99732556723121957</c:v>
                </c:pt>
                <c:pt idx="109">
                  <c:v>0.99336632514352285</c:v>
                </c:pt>
                <c:pt idx="110">
                  <c:v>0.95425215129927887</c:v>
                </c:pt>
                <c:pt idx="111">
                  <c:v>0.8813672844001661</c:v>
                </c:pt>
                <c:pt idx="112">
                  <c:v>0.77729109769155336</c:v>
                </c:pt>
                <c:pt idx="113">
                  <c:v>0.6457068157287833</c:v>
                </c:pt>
                <c:pt idx="114">
                  <c:v>0.49127116618175037</c:v>
                </c:pt>
                <c:pt idx="115">
                  <c:v>0.31944957966067744</c:v>
                </c:pt>
                <c:pt idx="116">
                  <c:v>0.13632276979110527</c:v>
                </c:pt>
                <c:pt idx="117">
                  <c:v>-5.1628461389682329E-2</c:v>
                </c:pt>
                <c:pt idx="118">
                  <c:v>-0.23775257704330149</c:v>
                </c:pt>
                <c:pt idx="119">
                  <c:v>-0.41546270139345415</c:v>
                </c:pt>
                <c:pt idx="120">
                  <c:v>-0.57846972725397283</c:v>
                </c:pt>
                <c:pt idx="121">
                  <c:v>-0.72100488561696352</c:v>
                </c:pt>
                <c:pt idx="122">
                  <c:v>-0.83802390063139154</c:v>
                </c:pt>
                <c:pt idx="123">
                  <c:v>-0.92538550498938354</c:v>
                </c:pt>
                <c:pt idx="124">
                  <c:v>-0.97999799811522403</c:v>
                </c:pt>
                <c:pt idx="125">
                  <c:v>-0.99992866050725626</c:v>
                </c:pt>
                <c:pt idx="126">
                  <c:v>-0.98447215209251715</c:v>
                </c:pt>
                <c:pt idx="127">
                  <c:v>-0.93417547399713807</c:v>
                </c:pt>
                <c:pt idx="128">
                  <c:v>-0.85081861034305983</c:v>
                </c:pt>
                <c:pt idx="129">
                  <c:v>-0.73735153515197305</c:v>
                </c:pt>
                <c:pt idx="130">
                  <c:v>-0.59778981366300377</c:v>
                </c:pt>
                <c:pt idx="131">
                  <c:v>-0.43707249270165383</c:v>
                </c:pt>
                <c:pt idx="132">
                  <c:v>-0.26088730931666998</c:v>
                </c:pt>
                <c:pt idx="133">
                  <c:v>-7.5469403497843049E-2</c:v>
                </c:pt>
                <c:pt idx="134">
                  <c:v>0.11261934152955799</c:v>
                </c:pt>
                <c:pt idx="135">
                  <c:v>0.29672252235398144</c:v>
                </c:pt>
                <c:pt idx="136">
                  <c:v>0.47032478346736301</c:v>
                </c:pt>
                <c:pt idx="137">
                  <c:v>0.62728239371257455</c:v>
                </c:pt>
                <c:pt idx="138">
                  <c:v>0.76204067105825368</c:v>
                </c:pt>
                <c:pt idx="139">
                  <c:v>0.86983056110441759</c:v>
                </c:pt>
                <c:pt idx="140">
                  <c:v>0.94683741246546471</c:v>
                </c:pt>
                <c:pt idx="141">
                  <c:v>0.99033597612110635</c:v>
                </c:pt>
                <c:pt idx="142">
                  <c:v>0.99878685114933363</c:v>
                </c:pt>
                <c:pt idx="143">
                  <c:v>0.97189096365627337</c:v>
                </c:pt>
                <c:pt idx="144">
                  <c:v>0.91060015091023194</c:v>
                </c:pt>
                <c:pt idx="145">
                  <c:v>0.81708347611060539</c:v>
                </c:pt>
                <c:pt idx="146">
                  <c:v>0.69465046590176482</c:v>
                </c:pt>
                <c:pt idx="147">
                  <c:v>0.54763398723288015</c:v>
                </c:pt>
                <c:pt idx="148">
                  <c:v>0.38123690851602177</c:v>
                </c:pt>
                <c:pt idx="149">
                  <c:v>0.20134797169734869</c:v>
                </c:pt>
                <c:pt idx="150">
                  <c:v>1.4333391472835277E-2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024-46AC-8D53-CACC0FB9E966}"/>
            </c:ext>
          </c:extLst>
        </c:ser>
        <c:ser>
          <c:idx val="1"/>
          <c:order val="1"/>
          <c:spPr>
            <a:ln w="571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Лист1!$A$1:$A$225</c:f>
              <c:numCache>
                <c:formatCode>General</c:formatCode>
                <c:ptCount val="2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</c:numCache>
            </c:numRef>
          </c:xVal>
          <c:yVal>
            <c:numRef>
              <c:f>Лист1!$E$1:$E$225</c:f>
              <c:numCache>
                <c:formatCode>General</c:formatCode>
                <c:ptCount val="2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024-46AC-8D53-CACC0FB9E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7888"/>
        <c:axId val="120611968"/>
      </c:scatterChart>
      <c:valAx>
        <c:axId val="120597888"/>
        <c:scaling>
          <c:orientation val="minMax"/>
          <c:max val="200"/>
        </c:scaling>
        <c:delete val="1"/>
        <c:axPos val="b"/>
        <c:numFmt formatCode="General" sourceLinked="1"/>
        <c:majorTickMark val="none"/>
        <c:minorTickMark val="none"/>
        <c:tickLblPos val="nextTo"/>
        <c:crossAx val="120611968"/>
        <c:crosses val="autoZero"/>
        <c:crossBetween val="midCat"/>
      </c:valAx>
      <c:valAx>
        <c:axId val="120611968"/>
        <c:scaling>
          <c:orientation val="minMax"/>
          <c:max val="1"/>
          <c:min val="-1"/>
        </c:scaling>
        <c:delete val="1"/>
        <c:axPos val="l"/>
        <c:numFmt formatCode="General" sourceLinked="1"/>
        <c:majorTickMark val="none"/>
        <c:minorTickMark val="none"/>
        <c:tickLblPos val="nextTo"/>
        <c:crossAx val="120597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spPr>
            <a:ln w="571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Лист1!$A$1:$A$225</c:f>
              <c:numCache>
                <c:formatCode>General</c:formatCode>
                <c:ptCount val="2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</c:numCache>
            </c:numRef>
          </c:xVal>
          <c:yVal>
            <c:numRef>
              <c:f>Лист1!$E$1:$E$225</c:f>
              <c:numCache>
                <c:formatCode>General</c:formatCode>
                <c:ptCount val="2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91-4F43-90E2-E9413BC9F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628352"/>
        <c:axId val="120629888"/>
      </c:scatterChart>
      <c:valAx>
        <c:axId val="120628352"/>
        <c:scaling>
          <c:orientation val="minMax"/>
          <c:max val="200"/>
        </c:scaling>
        <c:delete val="1"/>
        <c:axPos val="b"/>
        <c:numFmt formatCode="General" sourceLinked="1"/>
        <c:majorTickMark val="none"/>
        <c:minorTickMark val="none"/>
        <c:tickLblPos val="nextTo"/>
        <c:crossAx val="120629888"/>
        <c:crosses val="autoZero"/>
        <c:crossBetween val="midCat"/>
      </c:valAx>
      <c:valAx>
        <c:axId val="120629888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06283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398696742684991E-2"/>
          <c:y val="6.7632826853669573E-2"/>
          <c:w val="0.92882534409291162"/>
          <c:h val="0.86473434629266088"/>
        </c:manualLayout>
      </c:layout>
      <c:scatterChart>
        <c:scatterStyle val="lineMarker"/>
        <c:varyColors val="0"/>
        <c:ser>
          <c:idx val="1"/>
          <c:order val="0"/>
          <c:spPr>
            <a:ln w="412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Лист1!$A$1:$A$225</c:f>
              <c:numCache>
                <c:formatCode>General</c:formatCode>
                <c:ptCount val="2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</c:numCache>
            </c:numRef>
          </c:xVal>
          <c:yVal>
            <c:numRef>
              <c:f>Лист1!$D$1:$D$225</c:f>
              <c:numCache>
                <c:formatCode>General</c:formatCode>
                <c:ptCount val="2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-0.31559265358979322</c:v>
                </c:pt>
                <c:pt idx="16">
                  <c:v>-0.12719265358979306</c:v>
                </c:pt>
                <c:pt idx="17">
                  <c:v>6.1207346410207072E-2</c:v>
                </c:pt>
                <c:pt idx="18">
                  <c:v>0.24960734641020674</c:v>
                </c:pt>
                <c:pt idx="19">
                  <c:v>0.43800734641020728</c:v>
                </c:pt>
                <c:pt idx="20">
                  <c:v>0.62640734641020701</c:v>
                </c:pt>
                <c:pt idx="21">
                  <c:v>0.81480734641020669</c:v>
                </c:pt>
                <c:pt idx="22">
                  <c:v>1.0032073464102067</c:v>
                </c:pt>
                <c:pt idx="23">
                  <c:v>1.1916073464102064</c:v>
                </c:pt>
                <c:pt idx="24">
                  <c:v>1.3800073464102061</c:v>
                </c:pt>
                <c:pt idx="25">
                  <c:v>1.5684073464102066</c:v>
                </c:pt>
                <c:pt idx="26">
                  <c:v>-1.3847853071795859</c:v>
                </c:pt>
                <c:pt idx="27">
                  <c:v>-1.1963853071795862</c:v>
                </c:pt>
                <c:pt idx="28">
                  <c:v>-1.0079853071795866</c:v>
                </c:pt>
                <c:pt idx="29">
                  <c:v>-0.81958530717958611</c:v>
                </c:pt>
                <c:pt idx="30">
                  <c:v>-0.63118530717958632</c:v>
                </c:pt>
                <c:pt idx="31">
                  <c:v>-0.4427853071795867</c:v>
                </c:pt>
                <c:pt idx="32">
                  <c:v>-0.25438530717958607</c:v>
                </c:pt>
                <c:pt idx="33">
                  <c:v>-6.5985307179586422E-2</c:v>
                </c:pt>
                <c:pt idx="34">
                  <c:v>0.12241469282041416</c:v>
                </c:pt>
                <c:pt idx="35">
                  <c:v>0.31081469282041468</c:v>
                </c:pt>
                <c:pt idx="36">
                  <c:v>0.49921469282041353</c:v>
                </c:pt>
                <c:pt idx="37">
                  <c:v>0.68761469282041399</c:v>
                </c:pt>
                <c:pt idx="38">
                  <c:v>0.87601469282041455</c:v>
                </c:pt>
                <c:pt idx="39">
                  <c:v>1.0644146928204135</c:v>
                </c:pt>
                <c:pt idx="40">
                  <c:v>1.252814692820414</c:v>
                </c:pt>
                <c:pt idx="41">
                  <c:v>1.4412146928204137</c:v>
                </c:pt>
                <c:pt idx="42">
                  <c:v>-1.51197796076938</c:v>
                </c:pt>
                <c:pt idx="43">
                  <c:v>-1.3235779607693794</c:v>
                </c:pt>
                <c:pt idx="44">
                  <c:v>-1.1351779607693797</c:v>
                </c:pt>
                <c:pt idx="45">
                  <c:v>-0.94677796076937815</c:v>
                </c:pt>
                <c:pt idx="46">
                  <c:v>-0.75837796076938024</c:v>
                </c:pt>
                <c:pt idx="47">
                  <c:v>-0.56997796076937879</c:v>
                </c:pt>
                <c:pt idx="48">
                  <c:v>-0.38157796076938094</c:v>
                </c:pt>
                <c:pt idx="49">
                  <c:v>-0.19317796076937946</c:v>
                </c:pt>
                <c:pt idx="50">
                  <c:v>-4.7779607693797868E-3</c:v>
                </c:pt>
                <c:pt idx="51">
                  <c:v>0.18362203923062165</c:v>
                </c:pt>
                <c:pt idx="52">
                  <c:v>0.37202203923062133</c:v>
                </c:pt>
                <c:pt idx="53">
                  <c:v>0.56042203923062106</c:v>
                </c:pt>
                <c:pt idx="54">
                  <c:v>0.74882203923062074</c:v>
                </c:pt>
                <c:pt idx="55">
                  <c:v>0.93722203923062042</c:v>
                </c:pt>
                <c:pt idx="56">
                  <c:v>1.12562203923062</c:v>
                </c:pt>
                <c:pt idx="57">
                  <c:v>1.3140220392306214</c:v>
                </c:pt>
                <c:pt idx="58">
                  <c:v>1.5024220392306211</c:v>
                </c:pt>
                <c:pt idx="59">
                  <c:v>-1.4507706143591705</c:v>
                </c:pt>
                <c:pt idx="60">
                  <c:v>-1.2623706143591726</c:v>
                </c:pt>
                <c:pt idx="61">
                  <c:v>-1.0739706143591712</c:v>
                </c:pt>
                <c:pt idx="62">
                  <c:v>-0.88557061435917328</c:v>
                </c:pt>
                <c:pt idx="63">
                  <c:v>-0.69717061435917183</c:v>
                </c:pt>
                <c:pt idx="64">
                  <c:v>-0.50877061435917215</c:v>
                </c:pt>
                <c:pt idx="65">
                  <c:v>-0.3203706143591743</c:v>
                </c:pt>
                <c:pt idx="66">
                  <c:v>-0.13197061435917279</c:v>
                </c:pt>
                <c:pt idx="67">
                  <c:v>5.6429385640826842E-2</c:v>
                </c:pt>
                <c:pt idx="68">
                  <c:v>0.24482938564082829</c:v>
                </c:pt>
                <c:pt idx="69">
                  <c:v>0.43322938564082797</c:v>
                </c:pt>
                <c:pt idx="70">
                  <c:v>0.62162938564082937</c:v>
                </c:pt>
                <c:pt idx="71">
                  <c:v>0.81002938564082561</c:v>
                </c:pt>
                <c:pt idx="72">
                  <c:v>0.99842938564082706</c:v>
                </c:pt>
                <c:pt idx="73">
                  <c:v>1.1868293856408267</c:v>
                </c:pt>
                <c:pt idx="74">
                  <c:v>1.3752293856408282</c:v>
                </c:pt>
                <c:pt idx="75">
                  <c:v>1.5636293856408279</c:v>
                </c:pt>
                <c:pt idx="76">
                  <c:v>-1.389563267948964</c:v>
                </c:pt>
                <c:pt idx="77">
                  <c:v>-1.2011632679489661</c:v>
                </c:pt>
                <c:pt idx="78">
                  <c:v>-1.0127632679489664</c:v>
                </c:pt>
                <c:pt idx="79">
                  <c:v>-0.82436326794896497</c:v>
                </c:pt>
                <c:pt idx="80">
                  <c:v>-0.63596326794896518</c:v>
                </c:pt>
                <c:pt idx="81">
                  <c:v>-0.44756326794896734</c:v>
                </c:pt>
                <c:pt idx="82">
                  <c:v>-0.25916326794896588</c:v>
                </c:pt>
                <c:pt idx="83">
                  <c:v>-7.0763267948966202E-2</c:v>
                </c:pt>
                <c:pt idx="84">
                  <c:v>0.11763673205103348</c:v>
                </c:pt>
                <c:pt idx="85">
                  <c:v>0.30603673205103316</c:v>
                </c:pt>
                <c:pt idx="86">
                  <c:v>0.49443673205103461</c:v>
                </c:pt>
                <c:pt idx="87">
                  <c:v>0.68283673205103257</c:v>
                </c:pt>
                <c:pt idx="88">
                  <c:v>0.87123673205103402</c:v>
                </c:pt>
                <c:pt idx="89">
                  <c:v>1.0596367320510354</c:v>
                </c:pt>
                <c:pt idx="90">
                  <c:v>1.2480367320510368</c:v>
                </c:pt>
                <c:pt idx="91">
                  <c:v>1.4364367320510347</c:v>
                </c:pt>
                <c:pt idx="92">
                  <c:v>-1.5167559215387605</c:v>
                </c:pt>
                <c:pt idx="93">
                  <c:v>-1.3283559215387555</c:v>
                </c:pt>
                <c:pt idx="94">
                  <c:v>-1.1399559215387576</c:v>
                </c:pt>
                <c:pt idx="95">
                  <c:v>-0.95155592153875623</c:v>
                </c:pt>
                <c:pt idx="96">
                  <c:v>-0.76315592153876188</c:v>
                </c:pt>
                <c:pt idx="97">
                  <c:v>-0.57475592153876032</c:v>
                </c:pt>
                <c:pt idx="98">
                  <c:v>-0.38635592153875897</c:v>
                </c:pt>
                <c:pt idx="99">
                  <c:v>-0.19795592153875749</c:v>
                </c:pt>
                <c:pt idx="100">
                  <c:v>-9.5559215387595719E-3</c:v>
                </c:pt>
                <c:pt idx="101">
                  <c:v>0.17884407846123831</c:v>
                </c:pt>
                <c:pt idx="102">
                  <c:v>0.36724407846124335</c:v>
                </c:pt>
                <c:pt idx="103">
                  <c:v>0.5556440784612412</c:v>
                </c:pt>
                <c:pt idx="104">
                  <c:v>0.74404407846124276</c:v>
                </c:pt>
                <c:pt idx="105">
                  <c:v>0.93244407846123711</c:v>
                </c:pt>
                <c:pt idx="106">
                  <c:v>1.1208440784612421</c:v>
                </c:pt>
                <c:pt idx="107">
                  <c:v>1.30924407846124</c:v>
                </c:pt>
                <c:pt idx="108">
                  <c:v>1.4976440784612415</c:v>
                </c:pt>
                <c:pt idx="109">
                  <c:v>-1.455548575128554</c:v>
                </c:pt>
                <c:pt idx="110">
                  <c:v>-1.2671485751285525</c:v>
                </c:pt>
                <c:pt idx="111">
                  <c:v>-1.078748575128551</c:v>
                </c:pt>
                <c:pt idx="112">
                  <c:v>-0.89034857512855314</c:v>
                </c:pt>
                <c:pt idx="113">
                  <c:v>-0.70194857512855158</c:v>
                </c:pt>
                <c:pt idx="114">
                  <c:v>-0.51354857512855023</c:v>
                </c:pt>
                <c:pt idx="115">
                  <c:v>-0.32514857512854878</c:v>
                </c:pt>
                <c:pt idx="116">
                  <c:v>-0.13674857512855085</c:v>
                </c:pt>
                <c:pt idx="117">
                  <c:v>5.1651424871443509E-2</c:v>
                </c:pt>
                <c:pt idx="118">
                  <c:v>0.24005142487145209</c:v>
                </c:pt>
                <c:pt idx="119">
                  <c:v>0.42845142487144644</c:v>
                </c:pt>
                <c:pt idx="120">
                  <c:v>0.61685142487144784</c:v>
                </c:pt>
                <c:pt idx="121">
                  <c:v>0.80525142487144574</c:v>
                </c:pt>
                <c:pt idx="122">
                  <c:v>0.99365142487145075</c:v>
                </c:pt>
                <c:pt idx="123">
                  <c:v>1.1820514248714487</c:v>
                </c:pt>
                <c:pt idx="124">
                  <c:v>1.3704514248714466</c:v>
                </c:pt>
                <c:pt idx="125">
                  <c:v>1.558851424871448</c:v>
                </c:pt>
                <c:pt idx="126">
                  <c:v>-1.3943412287183437</c:v>
                </c:pt>
                <c:pt idx="127">
                  <c:v>-1.2059412287183422</c:v>
                </c:pt>
                <c:pt idx="128">
                  <c:v>-1.0175412287183443</c:v>
                </c:pt>
                <c:pt idx="129">
                  <c:v>-0.82914122871834295</c:v>
                </c:pt>
                <c:pt idx="130">
                  <c:v>-0.6407412287183486</c:v>
                </c:pt>
                <c:pt idx="131">
                  <c:v>-0.45234122871834709</c:v>
                </c:pt>
                <c:pt idx="132">
                  <c:v>-0.26394122871834569</c:v>
                </c:pt>
                <c:pt idx="133">
                  <c:v>-7.5541228718344205E-2</c:v>
                </c:pt>
                <c:pt idx="134">
                  <c:v>0.11285877128165368</c:v>
                </c:pt>
                <c:pt idx="135">
                  <c:v>0.30125877128165512</c:v>
                </c:pt>
                <c:pt idx="136">
                  <c:v>0.48965877128165658</c:v>
                </c:pt>
                <c:pt idx="137">
                  <c:v>0.67805877128165448</c:v>
                </c:pt>
                <c:pt idx="138">
                  <c:v>0.86645877128165605</c:v>
                </c:pt>
                <c:pt idx="139">
                  <c:v>1.0548587712816575</c:v>
                </c:pt>
                <c:pt idx="140">
                  <c:v>1.243258771281659</c:v>
                </c:pt>
                <c:pt idx="141">
                  <c:v>1.4316587712816533</c:v>
                </c:pt>
                <c:pt idx="142">
                  <c:v>-1.5215338823081421</c:v>
                </c:pt>
                <c:pt idx="143">
                  <c:v>-1.3331338823081371</c:v>
                </c:pt>
                <c:pt idx="144">
                  <c:v>-1.1447338823081392</c:v>
                </c:pt>
                <c:pt idx="145">
                  <c:v>-0.95633388230813776</c:v>
                </c:pt>
                <c:pt idx="146">
                  <c:v>-0.76793388230813986</c:v>
                </c:pt>
                <c:pt idx="147">
                  <c:v>-0.57953388230813485</c:v>
                </c:pt>
                <c:pt idx="148">
                  <c:v>-0.39113388230813695</c:v>
                </c:pt>
                <c:pt idx="149">
                  <c:v>-0.20273388230813902</c:v>
                </c:pt>
                <c:pt idx="150">
                  <c:v>-1.4333882308137584E-2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58-47D3-8344-7E9E5F3CB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342656"/>
        <c:axId val="128348544"/>
      </c:scatterChart>
      <c:valAx>
        <c:axId val="128342656"/>
        <c:scaling>
          <c:orientation val="minMax"/>
          <c:max val="200"/>
        </c:scaling>
        <c:delete val="1"/>
        <c:axPos val="b"/>
        <c:numFmt formatCode="General" sourceLinked="1"/>
        <c:majorTickMark val="none"/>
        <c:minorTickMark val="none"/>
        <c:tickLblPos val="nextTo"/>
        <c:crossAx val="128348544"/>
        <c:crosses val="autoZero"/>
        <c:crossBetween val="midCat"/>
      </c:valAx>
      <c:valAx>
        <c:axId val="128348544"/>
        <c:scaling>
          <c:orientation val="minMax"/>
          <c:min val="-1.5"/>
        </c:scaling>
        <c:delete val="1"/>
        <c:axPos val="l"/>
        <c:numFmt formatCode="General" sourceLinked="1"/>
        <c:majorTickMark val="out"/>
        <c:minorTickMark val="none"/>
        <c:tickLblPos val="nextTo"/>
        <c:crossAx val="1283426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12.01.2025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20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1/12/25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png"/><Relationship Id="rId4" Type="http://schemas.openxmlformats.org/officeDocument/2006/relationships/image" Target="../media/image4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760934"/>
          </a:xfrm>
        </p:spPr>
        <p:txBody>
          <a:bodyPr>
            <a:normAutofit/>
          </a:bodyPr>
          <a:lstStyle/>
          <a:p>
            <a:r>
              <a:rPr lang="ru-RU" sz="8000" dirty="0"/>
              <a:t>Спектральное представление временных рядов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59E8D-527B-C032-C33B-28AFC08D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3216"/>
            <a:ext cx="11114314" cy="734332"/>
          </a:xfrm>
        </p:spPr>
        <p:txBody>
          <a:bodyPr/>
          <a:lstStyle/>
          <a:p>
            <a:r>
              <a:rPr lang="ru-RU" dirty="0"/>
              <a:t>О преобразовании и рядах Фурье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3D7E0-E68F-A448-E7B9-48CEE3F0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0" y="827548"/>
            <a:ext cx="11568794" cy="5077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Анализ Фурье, также известный как гармонический анализ/частотный </a:t>
            </a:r>
            <a:r>
              <a:rPr lang="ru-RU" dirty="0" err="1"/>
              <a:t>анлиз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sz="2400" dirty="0"/>
              <a:t>Ряд Фурье разлагает любую периодическую функцию (или сигнал) в (возможно) бесконечную сумму набора простых синусоидальных и </a:t>
            </a:r>
            <a:r>
              <a:rPr lang="ru-RU" sz="2400" dirty="0" err="1"/>
              <a:t>косинусоидальных</a:t>
            </a:r>
            <a:r>
              <a:rPr lang="ru-RU" sz="2400" dirty="0"/>
              <a:t> функций или, что эквивалентно, комплексных экспонент.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400" dirty="0"/>
              <a:t>Преобразование Фурье является инструментом для разложения функций, зависящих от пространства или времени, на функции, зависящие от их компонентной пространственной или временной частоты.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EDC4F-A26E-C30C-5F08-EAEC8B5CE305}"/>
              </a:ext>
            </a:extLst>
          </p:cNvPr>
          <p:cNvSpPr txBox="1"/>
          <p:nvPr/>
        </p:nvSpPr>
        <p:spPr>
          <a:xfrm>
            <a:off x="78920" y="6169708"/>
            <a:ext cx="8673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en.wikipedia.org</a:t>
            </a:r>
            <a:r>
              <a:rPr lang="en" dirty="0"/>
              <a:t>/wiki/</a:t>
            </a:r>
            <a:r>
              <a:rPr lang="en" dirty="0" err="1"/>
              <a:t>Fourier_series#Definition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A8D3BD-21A2-8088-D42D-358B9EEE5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16624"/>
            <a:ext cx="6379029" cy="8662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84A414-E16E-D457-4B77-62695F872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976" y="2794800"/>
            <a:ext cx="36449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9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319" y="93560"/>
            <a:ext cx="7886700" cy="80644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Преобразование Фурье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0157" y="729737"/>
                <a:ext cx="10576744" cy="528637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100" dirty="0"/>
                  <a:t>Фурье спектр ВР (Преобразование Фурье)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sz="21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sz="21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	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sz="2100" dirty="0"/>
                  <a:t> - спектр ВР;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sz="2100" dirty="0"/>
                  <a:t> - комплексный множитель свертки</a:t>
                </a:r>
                <a:r>
                  <a:rPr lang="en-US" sz="2100" dirty="0"/>
                  <a:t>; </a:t>
                </a:r>
                <a:br>
                  <a:rPr lang="ru-RU" sz="2100" dirty="0"/>
                </a:br>
                <a:r>
                  <a:rPr lang="ru-RU" sz="21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100" dirty="0"/>
                  <a:t> - </a:t>
                </a:r>
                <a:r>
                  <a:rPr lang="ru-RU" sz="2100" dirty="0"/>
                  <a:t>амплитудный спектр;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	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𝑎𝑟𝑔𝑆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ru-RU" sz="2100" i="1" dirty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100" dirty="0"/>
                  <a:t> фазовый спектр.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Обратное преобразование Фурье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i="1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1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ru-RU" sz="2100" dirty="0"/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Преобразование Фурье позволяет описать ВР как суперпозицию его частотных составляющих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157" y="729737"/>
                <a:ext cx="10576744" cy="5286374"/>
              </a:xfrm>
              <a:blipFill>
                <a:blip r:embed="rId2"/>
                <a:stretch>
                  <a:fillRect l="-600" t="-18705" b="-3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19384" y="5060867"/>
            <a:ext cx="28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Временное представление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8669" y="5012490"/>
            <a:ext cx="780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Частотное представление – одна гармоника </a:t>
            </a:r>
            <a:r>
              <a:rPr lang="en-US" dirty="0"/>
              <a:t>f=1/T</a:t>
            </a:r>
            <a:r>
              <a:rPr lang="ru-RU" dirty="0"/>
              <a:t> (амплитудный спектр)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84" y="5381822"/>
            <a:ext cx="6067781" cy="142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8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2143" y="317993"/>
            <a:ext cx="10172624" cy="694417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О дискретизации и оцифровке сигналов</a:t>
            </a:r>
            <a:br>
              <a:rPr lang="ru-RU" sz="3200" dirty="0"/>
            </a:br>
            <a:r>
              <a:rPr lang="ru-RU" sz="3200" dirty="0"/>
              <a:t>Теорема Котельникова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511629" y="1059543"/>
                <a:ext cx="11680371" cy="53848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:r>
                  <a:rPr lang="ru-RU" sz="2200" b="1" dirty="0"/>
                  <a:t>Теорема Котельникова (теорема Котельникова – Найквиста – Шеннона): </a:t>
                </a:r>
                <a:r>
                  <a:rPr lang="ru-RU" sz="2200" dirty="0"/>
                  <a:t>любой сигнал может быть полностью восстановлен в цифровом виде (после дискретизации), если его частота дискретизации минимум в два раза больше максимальной частоты в спектре сигнала.</a:t>
                </a:r>
              </a:p>
              <a:p>
                <a:pPr lvl="1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ru-RU" sz="2200" dirty="0"/>
                  <a:t>Таким образом, при оцифровке сигналов следует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&gt;2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200" i="1">
                            <a:latin typeface="Cambria Math"/>
                          </a:rPr>
                          <m:t>в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lvl="2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ru-RU" sz="2200" dirty="0"/>
                  <a:t>На практике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20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200">
                        <a:latin typeface="Cambria Math"/>
                      </a:rPr>
                      <m:t>&gt;</m:t>
                    </m:r>
                    <m:r>
                      <a:rPr lang="ru-RU" sz="2200">
                        <a:latin typeface="Cambria Math"/>
                      </a:rPr>
                      <m:t>4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200" i="1">
                            <a:latin typeface="Cambria Math"/>
                          </a:rPr>
                          <m:t>в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914400" lvl="2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:r>
                  <a:rPr lang="ru-RU" sz="2200" dirty="0"/>
                  <a:t>Где:</a:t>
                </a:r>
              </a:p>
              <a:p>
                <a:pPr lvl="2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ru-RU" sz="2200" dirty="0"/>
                  <a:t> - частота дискретизации </a:t>
                </a:r>
                <a:br>
                  <a:rPr lang="ru-RU" sz="2200" dirty="0"/>
                </a:br>
                <a:r>
                  <a:rPr lang="ru-RU" sz="2200" dirty="0"/>
                  <a:t>(частота Найквиста, частота Найквиста-Шеннона);  </a:t>
                </a:r>
              </a:p>
              <a:p>
                <a:pPr lvl="2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200" i="1">
                            <a:latin typeface="Cambria Math"/>
                          </a:rPr>
                          <m:t>в</m:t>
                        </m:r>
                      </m:sub>
                    </m:sSub>
                  </m:oMath>
                </a14:m>
                <a:r>
                  <a:rPr lang="ru-RU" sz="2200" dirty="0"/>
                  <a:t> - верхняя частота  сигнала.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059543"/>
                <a:ext cx="11680371" cy="5384800"/>
              </a:xfrm>
              <a:blipFill>
                <a:blip r:embed="rId2"/>
                <a:stretch>
                  <a:fillRect l="-651" r="-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6658AC-48D7-A85E-6BDC-C72CA67A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455" y="5475513"/>
            <a:ext cx="4417914" cy="114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7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4286" y="365127"/>
            <a:ext cx="8536214" cy="694417"/>
          </a:xfrm>
        </p:spPr>
        <p:txBody>
          <a:bodyPr>
            <a:noAutofit/>
          </a:bodyPr>
          <a:lstStyle/>
          <a:p>
            <a:r>
              <a:rPr lang="ru-RU" sz="3600" dirty="0"/>
              <a:t>О дискретизации и оцифровке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14286" y="1059543"/>
                <a:ext cx="8536214" cy="5384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100" dirty="0"/>
                  <a:t>Дискретный </a:t>
                </a:r>
                <a:r>
                  <a:rPr lang="ru-RU" sz="2100" dirty="0" err="1"/>
                  <a:t>моногармонический</a:t>
                </a:r>
                <a:r>
                  <a:rPr lang="ru-RU" sz="2100" dirty="0"/>
                  <a:t> сигнал может быть представлен как: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1900" dirty="0"/>
                  <a:t>где</a:t>
                </a:r>
                <a:endParaRPr lang="en-US" sz="19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900" dirty="0"/>
                  <a:t> – </a:t>
                </a:r>
                <a:r>
                  <a:rPr lang="ru-RU" sz="1900" dirty="0"/>
                  <a:t>дискеты времени (отсчеты)</a:t>
                </a:r>
                <a:endParaRPr lang="en-US" sz="19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900" dirty="0"/>
                  <a:t> – </a:t>
                </a:r>
                <a:r>
                  <a:rPr lang="ru-RU" sz="1900" dirty="0"/>
                  <a:t>частота сигнала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1900" dirty="0"/>
                  <a:t>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900" dirty="0"/>
                  <a:t> - </a:t>
                </a:r>
                <a:r>
                  <a:rPr lang="ru-RU" sz="1900" dirty="0"/>
                  <a:t>выборка оцифрованного сигнала </a:t>
                </a:r>
                <a:r>
                  <a:rPr lang="en-US" sz="1900" dirty="0"/>
                  <a:t>(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9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;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sz="21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100" dirty="0"/>
                  <a:t> - </a:t>
                </a:r>
                <a:r>
                  <a:rPr lang="ru-RU" sz="2100" dirty="0"/>
                  <a:t>частота дискретизации;</a:t>
                </a:r>
                <a:endParaRPr lang="en-US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4286" y="1059543"/>
                <a:ext cx="8536214" cy="5384800"/>
              </a:xfrm>
              <a:blipFill>
                <a:blip r:embed="rId2"/>
                <a:stretch>
                  <a:fillRect l="-743" t="-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F23516-3190-724B-C93E-80E8058DF9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435"/>
          <a:stretch/>
        </p:blipFill>
        <p:spPr>
          <a:xfrm>
            <a:off x="405494" y="4054586"/>
            <a:ext cx="4645478" cy="23897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EF4FB1-76E8-78B5-2FAB-E3BB70498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488" y="4995611"/>
            <a:ext cx="6176624" cy="160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129268"/>
            <a:ext cx="10039350" cy="939801"/>
          </a:xfrm>
        </p:spPr>
        <p:txBody>
          <a:bodyPr>
            <a:normAutofit/>
          </a:bodyPr>
          <a:lstStyle/>
          <a:p>
            <a:r>
              <a:rPr lang="ru-RU" sz="4000" dirty="0"/>
              <a:t>Дискретное 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38150" y="925286"/>
                <a:ext cx="10039350" cy="56351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Без учета эффектов квантования спектр дискретного (цифрового) сигнал</a:t>
                </a:r>
                <a:r>
                  <a:rPr lang="en-US" sz="2100" dirty="0"/>
                  <a:t> </a:t>
                </a:r>
                <a:r>
                  <a:rPr lang="ru-RU" sz="2100" dirty="0"/>
                  <a:t>(Дискретное преобразование Фурье):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ru-RU" sz="2100" dirty="0"/>
                  <a:t>	</a:t>
                </a:r>
                <a:endParaRPr lang="en-US" sz="21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1900" dirty="0"/>
                  <a:t>где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900" dirty="0"/>
                  <a:t> – </a:t>
                </a:r>
                <a:r>
                  <a:rPr lang="ru-RU" sz="1900" dirty="0" err="1"/>
                  <a:t>дискреты</a:t>
                </a:r>
                <a:r>
                  <a:rPr lang="ru-RU" sz="1900" dirty="0"/>
                  <a:t> частоты;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100" dirty="0"/>
                  <a:t>k = 0,…,N</a:t>
                </a:r>
                <a:endParaRPr lang="ru-RU" sz="2100" dirty="0"/>
              </a:p>
              <a:p>
                <a:pPr marL="228600" lvl="2">
                  <a:lnSpc>
                    <a:spcPct val="100000"/>
                  </a:lnSpc>
                </a:pPr>
                <a:r>
                  <a:rPr lang="ru-RU" sz="2100" dirty="0"/>
                  <a:t>Особенность дискретного преобразования Фурье – максимальная частота в спектре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ru-RU" sz="21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ru-RU" sz="2100" dirty="0"/>
                  <a:t> – дальше спектр повторяется.</a:t>
                </a:r>
              </a:p>
              <a:p>
                <a:pPr marL="228600" lvl="2">
                  <a:lnSpc>
                    <a:spcPct val="100000"/>
                  </a:lnSpc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925286"/>
                <a:ext cx="10039350" cy="5635173"/>
              </a:xfrm>
              <a:blipFill>
                <a:blip r:embed="rId2"/>
                <a:stretch>
                  <a:fillRect l="-607" t="-649" r="-10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14286" y="6029263"/>
                <a:ext cx="5950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Участок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/2 −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повторяет участок спектра  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ru-RU" dirty="0"/>
                  <a:t> 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− 0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286" y="6029263"/>
                <a:ext cx="5950732" cy="369332"/>
              </a:xfrm>
              <a:prstGeom prst="rect">
                <a:avLst/>
              </a:prstGeom>
              <a:blipFill>
                <a:blip r:embed="rId3"/>
                <a:stretch>
                  <a:fillRect l="-1066" t="-6452" b="-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480" y="4191000"/>
            <a:ext cx="7685678" cy="192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8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13321" y="315966"/>
            <a:ext cx="7886700" cy="694417"/>
          </a:xfrm>
        </p:spPr>
        <p:txBody>
          <a:bodyPr>
            <a:normAutofit/>
          </a:bodyPr>
          <a:lstStyle/>
          <a:p>
            <a:r>
              <a:rPr lang="ru-RU" sz="3600" dirty="0"/>
              <a:t>О спектрах оцифрованных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42257" y="1059544"/>
                <a:ext cx="9835243" cy="550091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Дискретное преобразование Фурье: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~</m:t>
                      </m:r>
                      <m:nary>
                        <m:naryPr>
                          <m:chr m:val="∑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1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ru-RU" sz="2100" dirty="0"/>
                  <a:t>где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1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𝜋</m:t>
                        </m:r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ru-RU" sz="2100" dirty="0"/>
                  <a:t> - набор известных заранее коэффициентов</a:t>
                </a:r>
                <a:endParaRPr lang="en-US" sz="2100" dirty="0"/>
              </a:p>
              <a:p>
                <a:pPr marL="228600" lvl="2">
                  <a:lnSpc>
                    <a:spcPct val="100000"/>
                  </a:lnSpc>
                </a:pPr>
                <a:r>
                  <a:rPr lang="ru-RU" sz="2100" dirty="0"/>
                  <a:t>Сложность вычисления такого спектра </a:t>
                </a:r>
                <a:r>
                  <a:rPr lang="ru-RU" sz="2100" b="1" dirty="0"/>
                  <a:t>напрямую</a:t>
                </a:r>
                <a:r>
                  <a:rPr lang="ru-RU" sz="2100" dirty="0"/>
                  <a:t> порядка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операций сложения + умножения.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7" y="1059544"/>
                <a:ext cx="9835243" cy="5500915"/>
              </a:xfrm>
              <a:blipFill>
                <a:blip r:embed="rId2"/>
                <a:stretch>
                  <a:fillRect l="-515" t="-12442" r="-10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06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771" y="141514"/>
            <a:ext cx="11353800" cy="113110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О спектрах оцифрованных сигналов. </a:t>
            </a:r>
            <a:br>
              <a:rPr lang="ru-RU" sz="4000" dirty="0"/>
            </a:br>
            <a:r>
              <a:rPr lang="ru-RU" sz="4000" dirty="0"/>
              <a:t>Быстрое 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566057" y="1556657"/>
                <a:ext cx="11190514" cy="5003802"/>
              </a:xfrm>
            </p:spPr>
            <p:txBody>
              <a:bodyPr>
                <a:normAutofit/>
              </a:bodyPr>
              <a:lstStyle/>
              <a:p>
                <a:pPr marL="228600" lvl="2">
                  <a:lnSpc>
                    <a:spcPct val="100000"/>
                  </a:lnSpc>
                </a:pPr>
                <a:r>
                  <a:rPr lang="ru-RU" sz="2100" dirty="0"/>
                  <a:t>Если разбить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ru-RU" sz="2100" dirty="0"/>
                  <a:t> на четную и нечетную части, то </a:t>
                </a:r>
              </a:p>
              <a:p>
                <a:pPr marL="0" lvl="2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nary>
                      <m:naryPr>
                        <m:chr m:val="∑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100" dirty="0"/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nary>
                  </m:oMath>
                </a14:m>
                <a:endParaRPr lang="en-US" sz="2100" dirty="0"/>
              </a:p>
              <a:p>
                <a:pPr marL="228600" lvl="2">
                  <a:lnSpc>
                    <a:spcPct val="100000"/>
                  </a:lnSpc>
                </a:pPr>
                <a:r>
                  <a:rPr lang="ru-RU" sz="2100" dirty="0"/>
                  <a:t>Если</a:t>
                </a:r>
                <a:r>
                  <a:rPr lang="en-US" sz="2100" dirty="0"/>
                  <a:t> </a:t>
                </a:r>
                <a:r>
                  <a:rPr lang="ru-RU" sz="2100" dirty="0"/>
                  <a:t>предложить такое разбиение и 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ru-RU" sz="2100" dirty="0"/>
                  <a:t> (степень двух), то преобразование Фурье будет распараллелено в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2100" dirty="0"/>
                  <a:t> раз.</a:t>
                </a:r>
              </a:p>
              <a:p>
                <a:pPr marL="228600" lvl="2">
                  <a:lnSpc>
                    <a:spcPct val="100000"/>
                  </a:lnSpc>
                </a:pPr>
                <a:r>
                  <a:rPr lang="ru-RU" sz="2100" dirty="0"/>
                  <a:t>Сложность вычисления таким алгоритмом имеет порядок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операций сложения + умножения</a:t>
                </a:r>
                <a:endParaRPr lang="en-US" sz="2100" dirty="0"/>
              </a:p>
              <a:p>
                <a:pPr marL="685800" lvl="3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ru-RU" sz="2100" dirty="0"/>
                  <a:t>Такой алгоритм называется </a:t>
                </a:r>
                <a:r>
                  <a:rPr lang="ru-RU" sz="2100" b="1" dirty="0"/>
                  <a:t>Быстрое преобразование Фурье</a:t>
                </a:r>
                <a:r>
                  <a:rPr lang="en-US" sz="2100" b="1" dirty="0"/>
                  <a:t> </a:t>
                </a:r>
                <a:r>
                  <a:rPr lang="ru-RU" sz="2100" b="1" dirty="0"/>
                  <a:t>(БПФ)</a:t>
                </a:r>
              </a:p>
              <a:p>
                <a:pPr marL="1143000" lvl="4">
                  <a:lnSpc>
                    <a:spcPct val="100000"/>
                  </a:lnSpc>
                </a:pPr>
                <a:r>
                  <a:rPr lang="ru-RU" sz="2100" dirty="0"/>
                  <a:t>Напр. Для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БПФ вычисляется быстрее чем напрямую в 10,24 раз, Для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sz="2100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32768</m:t>
                    </m:r>
                  </m:oMath>
                </a14:m>
                <a:r>
                  <a:rPr lang="ru-RU" sz="2100" dirty="0"/>
                  <a:t> БПФ быстрее в 2184 раз</a:t>
                </a:r>
                <a:r>
                  <a:rPr lang="en-US" sz="2100" dirty="0"/>
                  <a:t> </a:t>
                </a:r>
                <a:r>
                  <a:rPr lang="ru-RU" sz="21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057" y="1556657"/>
                <a:ext cx="11190514" cy="5003802"/>
              </a:xfrm>
              <a:blipFill>
                <a:blip r:embed="rId2"/>
                <a:stretch>
                  <a:fillRect l="-567" t="-10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50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86" y="142053"/>
            <a:ext cx="11723914" cy="806447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О временном и частотном представлении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4118" y="824753"/>
                <a:ext cx="11842376" cy="581643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Любой ВР может быть представлен как функция от времени или от частоты (или от их комбинации).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Представление ВР как зависимость его фазы и амплитуды от частоты – спектр сигнала.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В узком смысле спектр сигнала – т.н. Фурье спектр (гармонический спектр) – представление сигнала как суперпозиции комплексных </a:t>
                </a:r>
                <a:r>
                  <a:rPr lang="ru-RU" sz="2100" dirty="0" err="1"/>
                  <a:t>моногармоник</a:t>
                </a:r>
                <a:r>
                  <a:rPr lang="en-US" sz="2100" dirty="0"/>
                  <a:t> </a:t>
                </a:r>
                <a:r>
                  <a:rPr lang="ru-RU" sz="2100" dirty="0"/>
                  <a:t>(</a:t>
                </a:r>
                <a:r>
                  <a:rPr lang="ru-RU" sz="2100" b="1" dirty="0"/>
                  <a:t>преобразование Фурье</a:t>
                </a:r>
                <a:r>
                  <a:rPr lang="ru-RU" sz="2100" dirty="0"/>
                  <a:t>):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sz="21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𝑖𝑎𝑟𝑔𝑆</m:t>
                          </m:r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) </m:t>
                          </m:r>
                        </m:sup>
                      </m:sSup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sz="2100" dirty="0"/>
              </a:p>
              <a:p>
                <a:pPr>
                  <a:lnSpc>
                    <a:spcPct val="100000"/>
                  </a:lnSpc>
                </a:pPr>
                <a:endParaRPr lang="en-US" sz="2100" dirty="0"/>
              </a:p>
              <a:p>
                <a:pPr>
                  <a:lnSpc>
                    <a:spcPct val="100000"/>
                  </a:lnSpc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118" y="824753"/>
                <a:ext cx="11842376" cy="5816437"/>
              </a:xfrm>
              <a:blipFill>
                <a:blip r:embed="rId2"/>
                <a:stretch>
                  <a:fillRect l="-515" t="-629" r="-5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7118" y="3794845"/>
            <a:ext cx="28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Временное представление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2517" y="3502779"/>
            <a:ext cx="5077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Частотное представление – одна гармоника </a:t>
            </a:r>
            <a:r>
              <a:rPr lang="en-US" dirty="0"/>
              <a:t>f=1/T</a:t>
            </a:r>
          </a:p>
          <a:p>
            <a:r>
              <a:rPr lang="en-US" dirty="0"/>
              <a:t> </a:t>
            </a:r>
            <a:r>
              <a:rPr lang="ru-RU" dirty="0"/>
              <a:t>(амплитудный спектр)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C15BC13-969B-4FB5-9FEE-FD88B62D0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40" y="4164177"/>
            <a:ext cx="9072965" cy="251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9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889" y="393700"/>
            <a:ext cx="11604171" cy="7207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Модель воспроизводимых сигналов/стационарных ВР</a:t>
            </a:r>
            <a:br>
              <a:rPr lang="ru-RU" dirty="0"/>
            </a:br>
            <a:r>
              <a:rPr lang="ru-RU" dirty="0"/>
              <a:t>Гармонический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5943" y="1390650"/>
                <a:ext cx="11886329" cy="5191125"/>
              </a:xfrm>
            </p:spPr>
            <p:txBody>
              <a:bodyPr>
                <a:normAutofit/>
              </a:bodyPr>
              <a:lstStyle/>
              <a:p>
                <a:r>
                  <a:rPr lang="ru-RU" sz="2100" dirty="0"/>
                  <a:t>Наиболее простым является </a:t>
                </a:r>
                <a:r>
                  <a:rPr lang="ru-RU" sz="2100" dirty="0" err="1"/>
                  <a:t>моногармонический</a:t>
                </a:r>
                <a:r>
                  <a:rPr lang="ru-RU" sz="2100" dirty="0"/>
                  <a:t> ВР – то есть ряд с одной сезонной </a:t>
                </a:r>
                <a:r>
                  <a:rPr lang="ru-RU" sz="2100" dirty="0" err="1"/>
                  <a:t>компонетой</a:t>
                </a:r>
                <a:endParaRPr lang="ru-RU" sz="2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𝑈</m:t>
                          </m:r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Где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– </a:t>
                </a:r>
                <a:r>
                  <a:rPr lang="ru-RU" sz="2100" dirty="0"/>
                  <a:t>гармонический ВР;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sz="2100" dirty="0"/>
                  <a:t> – амплитуда ВР;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100" dirty="0"/>
                  <a:t> – циклическая (круговая) несущая частота</a:t>
                </a:r>
                <a:r>
                  <a:rPr lang="en-US" sz="2100" dirty="0"/>
                  <a:t>; </a:t>
                </a:r>
                <a:endParaRPr lang="ru-RU" sz="2100" dirty="0"/>
              </a:p>
              <a:p>
                <a:pPr lvl="1"/>
                <a:r>
                  <a:rPr lang="ru-RU" sz="2100" dirty="0"/>
                  <a:t>	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sz="2100" dirty="0"/>
                  <a:t> – несущая частота;</a:t>
                </a:r>
              </a:p>
              <a:p>
                <a:pPr lvl="1"/>
                <a:r>
                  <a:rPr lang="ru-RU" sz="2100" dirty="0"/>
                  <a:t>	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100" dirty="0"/>
                  <a:t> – </a:t>
                </a:r>
                <a:r>
                  <a:rPr lang="ru-RU" sz="2100" dirty="0"/>
                  <a:t>период сигнала;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100" dirty="0"/>
                  <a:t> - </a:t>
                </a:r>
                <a:r>
                  <a:rPr lang="ru-RU" sz="2100" dirty="0"/>
                  <a:t>начальная фаза;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=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1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100" dirty="0"/>
                  <a:t> - мгновенная (полная) фаза.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3" y="1390650"/>
                <a:ext cx="11886329" cy="5191125"/>
              </a:xfrm>
              <a:blipFill>
                <a:blip r:embed="rId2"/>
                <a:stretch>
                  <a:fillRect l="-427" t="-14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15BC13-969B-4FB5-9FEE-FD88B62D0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977" y="4735967"/>
            <a:ext cx="7649634" cy="21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11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183" y="103869"/>
            <a:ext cx="11691257" cy="720724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ре</a:t>
            </a:r>
            <a:r>
              <a:rPr lang="ru-RU" sz="4000" dirty="0" err="1"/>
              <a:t>гулярных</a:t>
            </a:r>
            <a:r>
              <a:rPr lang="ru-RU" sz="4000" dirty="0"/>
              <a:t> сигналов/стационарных ВР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74183" y="710293"/>
                <a:ext cx="11324537" cy="558028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В общем случае любой стационарный ВР также может быть представлен как сумма </a:t>
                </a:r>
                <a:r>
                  <a:rPr lang="ru-RU" sz="2000" dirty="0" err="1"/>
                  <a:t>моногармоник</a:t>
                </a:r>
                <a:r>
                  <a:rPr lang="ru-RU" sz="2000" dirty="0"/>
                  <a:t> (в общем случае бесконечная)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/>
                  <a:t>	</a:t>
                </a:r>
                <a:r>
                  <a:rPr lang="ru-RU" sz="2000" dirty="0"/>
                  <a:t>где </a:t>
                </a:r>
              </a:p>
              <a:p>
                <a:pPr marL="1343025" lvl="3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/>
                  <a:t> - амплитуда (зависимость амплитуды от времени)</a:t>
                </a:r>
              </a:p>
              <a:p>
                <a:pPr marL="1343025" lvl="3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/>
                  <a:t> - зависимость фазы от времени</a:t>
                </a:r>
              </a:p>
              <a:p>
                <a:pPr marL="1343025" lvl="3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- начальная фаза сигнала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183" y="710293"/>
                <a:ext cx="11324537" cy="5580289"/>
              </a:xfrm>
              <a:blipFill>
                <a:blip r:embed="rId2"/>
                <a:stretch>
                  <a:fillRect l="-484" t="-6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9" y="3860799"/>
            <a:ext cx="4819391" cy="294102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258" y="3693038"/>
            <a:ext cx="4765004" cy="285316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944611" y="6529445"/>
            <a:ext cx="6039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https://web.stanford.edu/class/earthsys214/notes/series.html</a:t>
            </a:r>
          </a:p>
        </p:txBody>
      </p:sp>
      <p:pic>
        <p:nvPicPr>
          <p:cNvPr id="8" name="Picture 6" descr="What Is the Fourier Transform? - Technical Articl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760" y="1454717"/>
            <a:ext cx="3271131" cy="210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80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100" y="222252"/>
            <a:ext cx="8543925" cy="835023"/>
          </a:xfrm>
        </p:spPr>
        <p:txBody>
          <a:bodyPr>
            <a:normAutofit/>
          </a:bodyPr>
          <a:lstStyle/>
          <a:p>
            <a:r>
              <a:rPr lang="ru-RU" sz="4000" dirty="0"/>
              <a:t>Геометрический смысл спектра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92175"/>
                <a:ext cx="11696700" cy="570547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Геометрически спектр является представление сигнала как точки с координатами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в базисе, представленном линейно-независимыми функциями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sz="2400" dirty="0"/>
                  <a:t> 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сумма координат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в базисе функций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2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400" dirty="0"/>
                  <a:t>Если, например, в сигнале одна гармоника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на частоте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то остальные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=0.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400" dirty="0"/>
                  <a:t>В общем случае базисными функциями могут быть любые линейно-независимые функции.</a:t>
                </a:r>
              </a:p>
              <a:p>
                <a:pPr marL="685800" lvl="2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ru-RU" dirty="0"/>
                  <a:t>Особенность Базиса Фурье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то, </a:t>
                </a:r>
                <a:br>
                  <a:rPr lang="en-US" dirty="0"/>
                </a:br>
                <a:r>
                  <a:rPr lang="ru-RU" dirty="0"/>
                  <a:t>что данный базис имеет физическое обоснование.</a:t>
                </a:r>
              </a:p>
              <a:p>
                <a:pPr>
                  <a:lnSpc>
                    <a:spcPct val="100000"/>
                  </a:lnSpc>
                </a:pPr>
                <a:endParaRPr lang="ru-RU" sz="2100" dirty="0"/>
              </a:p>
              <a:p>
                <a:pPr>
                  <a:lnSpc>
                    <a:spcPct val="100000"/>
                  </a:lnSpc>
                </a:pPr>
                <a:endParaRPr lang="en-US" sz="2100" dirty="0"/>
              </a:p>
              <a:p>
                <a:pPr lvl="2">
                  <a:lnSpc>
                    <a:spcPct val="100000"/>
                  </a:lnSpc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92175"/>
                <a:ext cx="11696700" cy="5705475"/>
              </a:xfrm>
              <a:blipFill>
                <a:blip r:embed="rId2"/>
                <a:stretch>
                  <a:fillRect l="-677" t="-6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4929817"/>
            <a:ext cx="3133725" cy="183293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307" y="3644900"/>
            <a:ext cx="5327811" cy="295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2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7F7B-EF89-BD61-B6DA-801A247C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D82BA-6768-428C-CC4F-BB28A8287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" y="364005"/>
            <a:ext cx="11604171" cy="7207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Модель воспроизводимых сигналов/стационарных ВР</a:t>
            </a:r>
            <a:br>
              <a:rPr lang="ru-RU" dirty="0"/>
            </a:br>
            <a:r>
              <a:rPr lang="ru-RU" dirty="0"/>
              <a:t>Гармонический ВР с огибающей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812B24-D415-8C71-87FE-0381F0779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118" y="1084730"/>
                <a:ext cx="11858154" cy="5497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Если гармонический ВР имеет переменную амплитуду, то ее называют огибающей. Такая модель соответствует мультипликативному тренду и сезонности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sz="21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100" dirty="0"/>
                  <a:t>Где 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– </a:t>
                </a:r>
                <a:r>
                  <a:rPr lang="ru-RU" sz="2100" dirty="0"/>
                  <a:t>гармонический ВР; 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– огибающая (мультипликативный тренд) ВР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=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1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100" dirty="0"/>
                  <a:t> - мгновенная (полная) фаза.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812B24-D415-8C71-87FE-0381F0779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118" y="1084730"/>
                <a:ext cx="11858154" cy="5497046"/>
              </a:xfrm>
              <a:blipFill>
                <a:blip r:embed="rId2"/>
                <a:stretch>
                  <a:fillRect l="-514" t="-6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Meaning of `envelope` in context of time series - Stack Overflow">
            <a:extLst>
              <a:ext uri="{FF2B5EF4-FFF2-40B4-BE49-F238E27FC236}">
                <a16:creationId xmlns:a16="http://schemas.microsoft.com/office/drawing/2014/main" id="{7BAC77A0-18D2-8927-CDE6-9590F80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34" y="3622933"/>
            <a:ext cx="4068233" cy="305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BE9821-1E3A-643F-9251-3545F441DE76}"/>
              </a:ext>
            </a:extLst>
          </p:cNvPr>
          <p:cNvSpPr txBox="1"/>
          <p:nvPr/>
        </p:nvSpPr>
        <p:spPr>
          <a:xfrm>
            <a:off x="353568" y="63971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se.mathworks.com</a:t>
            </a:r>
            <a:r>
              <a:rPr lang="ru-RU" dirty="0"/>
              <a:t>/</a:t>
            </a:r>
            <a:r>
              <a:rPr lang="ru-RU" dirty="0" err="1"/>
              <a:t>help</a:t>
            </a:r>
            <a:r>
              <a:rPr lang="ru-RU" dirty="0"/>
              <a:t>/</a:t>
            </a:r>
            <a:r>
              <a:rPr lang="ru-RU" dirty="0" err="1"/>
              <a:t>signal</a:t>
            </a:r>
            <a:r>
              <a:rPr lang="ru-RU" dirty="0"/>
              <a:t>/</a:t>
            </a:r>
            <a:r>
              <a:rPr lang="ru-RU" dirty="0" err="1"/>
              <a:t>ref</a:t>
            </a:r>
            <a:r>
              <a:rPr lang="ru-RU" dirty="0"/>
              <a:t>/</a:t>
            </a:r>
            <a:r>
              <a:rPr lang="ru-RU" dirty="0" err="1"/>
              <a:t>envelope.html</a:t>
            </a:r>
            <a:endParaRPr lang="ru-RU" dirty="0"/>
          </a:p>
        </p:txBody>
      </p:sp>
      <p:pic>
        <p:nvPicPr>
          <p:cNvPr id="2050" name="Picture 2" descr="Decomposition of a complex sound in fine structure and envelope | Download  Scientific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321307"/>
            <a:ext cx="495300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082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855" y="216354"/>
            <a:ext cx="11987895" cy="815974"/>
          </a:xfrm>
        </p:spPr>
        <p:txBody>
          <a:bodyPr>
            <a:noAutofit/>
          </a:bodyPr>
          <a:lstStyle/>
          <a:p>
            <a:r>
              <a:rPr lang="ru-RU" sz="3200" dirty="0"/>
              <a:t>Фильтрация ВР фильтрами с конечной импульсной характеристикой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33373" y="912864"/>
                <a:ext cx="11538857" cy="562927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000" dirty="0"/>
                  <a:t>П</a:t>
                </a:r>
                <a:r>
                  <a:rPr lang="en-US" sz="2000" dirty="0" err="1"/>
                  <a:t>у</a:t>
                </a:r>
                <a:r>
                  <a:rPr lang="ru-RU" sz="2000" dirty="0" err="1"/>
                  <a:t>сть</a:t>
                </a:r>
                <a:r>
                  <a:rPr lang="ru-RU" sz="2000" dirty="0"/>
                  <a:t> выходной  сигнал можно представить как скользящее среднее входного сигнала: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000" dirty="0"/>
                  <a:t>Тогда процесс будет называться фильтрацией с конечной импульсной характеристикой.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000" dirty="0"/>
                  <a:t>Результат работы любого такого фильтра можно представить как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→ОБПФ(БПФ</m:t>
                      </m:r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БПФ</m:t>
                      </m:r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447675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ВР на выходе фильтра,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спектр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ru-RU" sz="2000" dirty="0"/>
                  <a:t> - </a:t>
                </a:r>
                <a:r>
                  <a:rPr lang="ru-RU" sz="2000" dirty="0" err="1"/>
                  <a:t>комлпексная</a:t>
                </a:r>
                <a:r>
                  <a:rPr lang="ru-RU" sz="2000" dirty="0"/>
                  <a:t> частотная характеристика </a:t>
                </a:r>
                <a:br>
                  <a:rPr lang="en-US" sz="2000" dirty="0"/>
                </a:br>
                <a:r>
                  <a:rPr lang="ru-RU" sz="2000" dirty="0"/>
                  <a:t>(КЧХ) фильтра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, </a:t>
                </a:r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интеграл является обратным преобразованием </a:t>
                </a:r>
                <a:br>
                  <a:rPr lang="en-US" sz="2000" dirty="0"/>
                </a:br>
                <a:r>
                  <a:rPr lang="ru-RU" sz="2000" dirty="0"/>
                  <a:t>Фурье (преобразованием из спектральной области </a:t>
                </a:r>
                <a:br>
                  <a:rPr lang="en-US" sz="2000" dirty="0"/>
                </a:br>
                <a:r>
                  <a:rPr lang="ru-RU" sz="2000" dirty="0"/>
                  <a:t>во временную).</a:t>
                </a:r>
              </a:p>
              <a:p>
                <a:pPr marL="342900" indent="-342900">
                  <a:lnSpc>
                    <a:spcPct val="100000"/>
                  </a:lnSpc>
                </a:pPr>
                <a:r>
                  <a:rPr lang="ru-RU" sz="2000" dirty="0"/>
                  <a:t>Таким образом результат работы фильтра </a:t>
                </a:r>
                <a:br>
                  <a:rPr lang="en-US" sz="2000" dirty="0"/>
                </a:br>
                <a:r>
                  <a:rPr lang="ru-RU" sz="2000" dirty="0"/>
                  <a:t>это свертка входного сигнала с КЧХ фильтра.</a:t>
                </a:r>
              </a:p>
              <a:p>
                <a:pPr marL="342900" indent="-342900">
                  <a:lnSpc>
                    <a:spcPct val="10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373" y="912864"/>
                <a:ext cx="11538857" cy="5629275"/>
              </a:xfrm>
              <a:blipFill>
                <a:blip r:embed="rId2"/>
                <a:stretch>
                  <a:fillRect l="-475" t="-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bookdown.org/rdpeng/timeseriesbook/index_files/figure-html/unnamed-chunk-61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483" y="3289922"/>
            <a:ext cx="4902917" cy="350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8853" y="6542139"/>
            <a:ext cx="8824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https://bookdown.org/rdpeng/timeseriesbook/filtering-time-series.html</a:t>
            </a:r>
          </a:p>
        </p:txBody>
      </p:sp>
    </p:spTree>
    <p:extLst>
      <p:ext uri="{BB962C8B-B14F-4D97-AF65-F5344CB8AC3E}">
        <p14:creationId xmlns:p14="http://schemas.microsoft.com/office/powerpoint/2010/main" val="253475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33D5-C08C-8C13-A488-A32FF167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B348-4A82-076C-3B5D-F331472E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5" y="216354"/>
            <a:ext cx="11538857" cy="815974"/>
          </a:xfrm>
        </p:spPr>
        <p:txBody>
          <a:bodyPr>
            <a:noAutofit/>
          </a:bodyPr>
          <a:lstStyle/>
          <a:p>
            <a:r>
              <a:rPr lang="ru-RU" sz="2800" dirty="0"/>
              <a:t>Фильтрация ВР фильтрами с бесконечной импульсной характеристикой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9355FC-A354-D4D6-9315-FDA5B8DF0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55" y="959756"/>
                <a:ext cx="11729357" cy="562927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000" dirty="0"/>
                  <a:t>П</a:t>
                </a:r>
                <a:r>
                  <a:rPr lang="en-US" sz="2000" dirty="0" err="1"/>
                  <a:t>у</a:t>
                </a:r>
                <a:r>
                  <a:rPr lang="ru-RU" sz="2000" dirty="0" err="1"/>
                  <a:t>сть</a:t>
                </a:r>
                <a:r>
                  <a:rPr lang="ru-RU" sz="2000" dirty="0"/>
                  <a:t> выходной  сигнал можно представить как скользящее среднее входного сигнала: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000" dirty="0"/>
                  <a:t>Результат работы любого фильтра можно представить как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ОБПФ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ОБПФ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447675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спектры от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/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КЧХ фильтра с </a:t>
                </a:r>
                <a:r>
                  <a:rPr lang="ru-RU" sz="2000" dirty="0" err="1"/>
                  <a:t>бескоенчной</a:t>
                </a:r>
                <a:r>
                  <a:rPr lang="ru-RU" sz="2000" dirty="0"/>
                  <a:t> импульсной характеристикой.</a:t>
                </a:r>
                <a:endParaRPr lang="en-US" sz="2000" dirty="0"/>
              </a:p>
              <a:p>
                <a:pPr marL="342900" indent="-342900">
                  <a:lnSpc>
                    <a:spcPct val="100000"/>
                  </a:lnSpc>
                </a:pPr>
                <a:r>
                  <a:rPr lang="ru-RU" sz="2000" dirty="0"/>
                  <a:t>Таким образом результат работы фильтра это свертка входного сигнала с КЧХ фильтра.</a:t>
                </a:r>
              </a:p>
              <a:p>
                <a:pPr marL="342900" indent="-342900">
                  <a:lnSpc>
                    <a:spcPct val="10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9355FC-A354-D4D6-9315-FDA5B8DF0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55" y="959756"/>
                <a:ext cx="11729357" cy="5629275"/>
              </a:xfrm>
              <a:blipFill>
                <a:blip r:embed="rId2"/>
                <a:stretch>
                  <a:fillRect l="-468" t="-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2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ECBDC-5125-5C3C-4A3F-615834DD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891"/>
            <a:ext cx="11081657" cy="708410"/>
          </a:xfrm>
        </p:spPr>
        <p:txBody>
          <a:bodyPr/>
          <a:lstStyle/>
          <a:p>
            <a:r>
              <a:rPr lang="en-US" dirty="0" err="1"/>
              <a:t>При</a:t>
            </a:r>
            <a:r>
              <a:rPr lang="ru-RU" dirty="0"/>
              <a:t>меры частотного представления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822B4-0791-36C5-460C-55F8D129C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figure 1">
            <a:extLst>
              <a:ext uri="{FF2B5EF4-FFF2-40B4-BE49-F238E27FC236}">
                <a16:creationId xmlns:a16="http://schemas.microsoft.com/office/drawing/2014/main" id="{9DC24D10-3FE5-D381-9727-185F6297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089099"/>
            <a:ext cx="6302979" cy="505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744A3A-1DAE-10C9-3ED6-43BC79D21E3E}"/>
              </a:ext>
            </a:extLst>
          </p:cNvPr>
          <p:cNvSpPr txBox="1"/>
          <p:nvPr/>
        </p:nvSpPr>
        <p:spPr>
          <a:xfrm>
            <a:off x="-1" y="6389761"/>
            <a:ext cx="7108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link.springer.com</a:t>
            </a:r>
            <a:r>
              <a:rPr lang="ru-RU" dirty="0"/>
              <a:t>/</a:t>
            </a:r>
            <a:r>
              <a:rPr lang="ru-RU" dirty="0" err="1"/>
              <a:t>chapter</a:t>
            </a:r>
            <a:r>
              <a:rPr lang="ru-RU" dirty="0"/>
              <a:t>/10.1007/978-981-13-9113-2_6</a:t>
            </a:r>
          </a:p>
        </p:txBody>
      </p:sp>
      <p:pic>
        <p:nvPicPr>
          <p:cNvPr id="5124" name="Picture 4" descr="figure 2">
            <a:extLst>
              <a:ext uri="{FF2B5EF4-FFF2-40B4-BE49-F238E27FC236}">
                <a16:creationId xmlns:a16="http://schemas.microsoft.com/office/drawing/2014/main" id="{BE079529-8E3B-31AF-3622-95C8447BA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885" y="1125225"/>
            <a:ext cx="5361015" cy="552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727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F088C-5CB5-6FC7-68B0-176F0C5B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0" y="362212"/>
            <a:ext cx="11097768" cy="793115"/>
          </a:xfrm>
        </p:spPr>
        <p:txBody>
          <a:bodyPr/>
          <a:lstStyle/>
          <a:p>
            <a:r>
              <a:rPr lang="ru-RU" dirty="0"/>
              <a:t>Не гармонический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DA9A5-4F22-90D9-EAC3-F5768C733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280160"/>
            <a:ext cx="3744762" cy="5215628"/>
          </a:xfrm>
        </p:spPr>
        <p:txBody>
          <a:bodyPr/>
          <a:lstStyle/>
          <a:p>
            <a:r>
              <a:rPr lang="ru-RU" dirty="0"/>
              <a:t>Тренд преобладает</a:t>
            </a:r>
          </a:p>
          <a:p>
            <a:r>
              <a:rPr lang="ru-RU" dirty="0" err="1"/>
              <a:t>Нестационарность</a:t>
            </a:r>
            <a:r>
              <a:rPr lang="ru-RU" dirty="0"/>
              <a:t> сезонности</a:t>
            </a:r>
          </a:p>
          <a:p>
            <a:r>
              <a:rPr lang="ru-RU" dirty="0"/>
              <a:t>Тренд с резкими переходами</a:t>
            </a:r>
          </a:p>
          <a:p>
            <a:r>
              <a:rPr lang="ru-RU" dirty="0"/>
              <a:t>М</a:t>
            </a:r>
            <a:r>
              <a:rPr lang="en-US" dirty="0" err="1"/>
              <a:t>н</a:t>
            </a:r>
            <a:r>
              <a:rPr lang="ru-RU" dirty="0"/>
              <a:t>ого выбросов</a:t>
            </a:r>
          </a:p>
          <a:p>
            <a:r>
              <a:rPr lang="ru-RU" dirty="0"/>
              <a:t>ВР - Отдельные события (нарушение теоремы Котельникова)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9218" name="Picture 2" descr="Time series">
            <a:extLst>
              <a:ext uri="{FF2B5EF4-FFF2-40B4-BE49-F238E27FC236}">
                <a16:creationId xmlns:a16="http://schemas.microsoft.com/office/drawing/2014/main" id="{F6262C89-7C4A-8837-37AE-E698FD7AD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794" y="1155327"/>
            <a:ext cx="3608243" cy="303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ow to Decompose Time Series Data into Trend and Seasonality -  MachineLearningMastery.com">
            <a:extLst>
              <a:ext uri="{FF2B5EF4-FFF2-40B4-BE49-F238E27FC236}">
                <a16:creationId xmlns:a16="http://schemas.microsoft.com/office/drawing/2014/main" id="{84ED59A7-5C81-C910-7D44-E4908FBE6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222" y="0"/>
            <a:ext cx="4980746" cy="373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37D8BE0-73BB-E21F-B98A-66AF651EEE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04" t="72617"/>
          <a:stretch/>
        </p:blipFill>
        <p:spPr bwMode="auto">
          <a:xfrm>
            <a:off x="4771178" y="3440912"/>
            <a:ext cx="3085193" cy="187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7B7F72F-E99C-AC91-F067-698E13F7FD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5" t="-2132" r="-1291" b="74749"/>
          <a:stretch/>
        </p:blipFill>
        <p:spPr bwMode="auto">
          <a:xfrm>
            <a:off x="8474725" y="3585832"/>
            <a:ext cx="3085193" cy="187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0E4E1D-EAF6-BFD6-ED77-0ABB6E2FAC57}"/>
              </a:ext>
            </a:extLst>
          </p:cNvPr>
          <p:cNvSpPr txBox="1"/>
          <p:nvPr/>
        </p:nvSpPr>
        <p:spPr>
          <a:xfrm>
            <a:off x="3722914" y="5736055"/>
            <a:ext cx="8058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Часто </a:t>
            </a:r>
            <a:r>
              <a:rPr lang="ru-RU" dirty="0" err="1"/>
              <a:t>негармоничность</a:t>
            </a:r>
            <a:r>
              <a:rPr lang="ru-RU" dirty="0"/>
              <a:t> можно компенсировать и свести ряд к гармоническому</a:t>
            </a:r>
          </a:p>
        </p:txBody>
      </p:sp>
    </p:spTree>
    <p:extLst>
      <p:ext uri="{BB962C8B-B14F-4D97-AF65-F5344CB8AC3E}">
        <p14:creationId xmlns:p14="http://schemas.microsoft.com/office/powerpoint/2010/main" val="368381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30626"/>
            <a:ext cx="12094029" cy="806447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О гармонических сигналах с нестационарным периодом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9486" y="786493"/>
            <a:ext cx="10091057" cy="52850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100" dirty="0"/>
              <a:t>Смысл спектрального представления сигналов – исследование интенсивности каждой возможной гармоники ВР </a:t>
            </a:r>
          </a:p>
          <a:p>
            <a:pPr lvl="1">
              <a:lnSpc>
                <a:spcPct val="100000"/>
              </a:lnSpc>
            </a:pPr>
            <a:r>
              <a:rPr lang="ru-RU" sz="2100" dirty="0"/>
              <a:t>Другими словами интенсивность на каждой частоте.</a:t>
            </a:r>
          </a:p>
          <a:p>
            <a:pPr lvl="2">
              <a:lnSpc>
                <a:spcPct val="100000"/>
              </a:lnSpc>
            </a:pPr>
            <a:r>
              <a:rPr lang="ru-RU" dirty="0"/>
              <a:t>Если у ВР нет гармоник на какой-то частоте, то там будет 0.</a:t>
            </a:r>
          </a:p>
          <a:p>
            <a:pPr>
              <a:lnSpc>
                <a:spcPct val="100000"/>
              </a:lnSpc>
            </a:pPr>
            <a:endParaRPr lang="ru-RU" sz="100" dirty="0"/>
          </a:p>
          <a:p>
            <a:pPr>
              <a:lnSpc>
                <a:spcPct val="100000"/>
              </a:lnSpc>
            </a:pPr>
            <a:r>
              <a:rPr lang="ru-RU" sz="2100" dirty="0"/>
              <a:t>Спектральное и временное представления ортогональны – каждое из них полностью описывает ВР.</a:t>
            </a:r>
          </a:p>
          <a:p>
            <a:pPr lvl="1">
              <a:lnSpc>
                <a:spcPct val="100000"/>
              </a:lnSpc>
            </a:pPr>
            <a:r>
              <a:rPr lang="ru-RU" sz="1700" dirty="0"/>
              <a:t>Их комбинация – время-частотное представление ВР – набор спектров, полученных в определенные промежутки времени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60" y="3788229"/>
            <a:ext cx="9615211" cy="29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5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F9DBA-EA33-A7DD-2376-B199F1FD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49" y="128170"/>
            <a:ext cx="11157857" cy="67201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время-частотного представления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6918F-E436-2066-F329-FE0162383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 descr="figure 8">
            <a:extLst>
              <a:ext uri="{FF2B5EF4-FFF2-40B4-BE49-F238E27FC236}">
                <a16:creationId xmlns:a16="http://schemas.microsoft.com/office/drawing/2014/main" id="{97654F71-33CB-04A7-3F4B-A7659D60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766314"/>
            <a:ext cx="5976257" cy="556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B8AEDF-883C-38BB-DBA6-CED1910EAF11}"/>
              </a:ext>
            </a:extLst>
          </p:cNvPr>
          <p:cNvSpPr txBox="1"/>
          <p:nvPr/>
        </p:nvSpPr>
        <p:spPr>
          <a:xfrm>
            <a:off x="285750" y="6488668"/>
            <a:ext cx="6822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link.springer.com</a:t>
            </a:r>
            <a:r>
              <a:rPr lang="ru-RU" dirty="0"/>
              <a:t>/</a:t>
            </a:r>
            <a:r>
              <a:rPr lang="ru-RU" dirty="0" err="1"/>
              <a:t>chapter</a:t>
            </a:r>
            <a:r>
              <a:rPr lang="ru-RU" dirty="0"/>
              <a:t>/10.1007/978-981-13-9113-2_6</a:t>
            </a:r>
          </a:p>
        </p:txBody>
      </p:sp>
      <p:pic>
        <p:nvPicPr>
          <p:cNvPr id="6148" name="Picture 4" descr="figure 9">
            <a:extLst>
              <a:ext uri="{FF2B5EF4-FFF2-40B4-BE49-F238E27FC236}">
                <a16:creationId xmlns:a16="http://schemas.microsoft.com/office/drawing/2014/main" id="{07C20D86-4B61-BE7A-D2C4-470EAC05E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724454"/>
            <a:ext cx="5181600" cy="583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405031" y="6459854"/>
            <a:ext cx="5786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https://dibsmethodsmeetings.github.io/fourier-transforms/</a:t>
            </a:r>
          </a:p>
        </p:txBody>
      </p:sp>
    </p:spTree>
    <p:extLst>
      <p:ext uri="{BB962C8B-B14F-4D97-AF65-F5344CB8AC3E}">
        <p14:creationId xmlns:p14="http://schemas.microsoft.com/office/powerpoint/2010/main" val="3541903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2250" y="0"/>
            <a:ext cx="7886700" cy="813225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Время-частотное 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571238" y="721151"/>
                <a:ext cx="11620762" cy="53167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В случае не стационарности сигнала или поиска каких-либо временных особенностей сигнала используется время-частотной преобразование Фурье: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1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𝜔𝜏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100" dirty="0"/>
                  <a:t> - время-частотное преобразование Фурье;</a:t>
                </a:r>
                <a:br>
                  <a:rPr lang="ru-RU" sz="2100" dirty="0"/>
                </a:br>
                <a:r>
                  <a:rPr lang="ru-RU" sz="2100" dirty="0"/>
                  <a:t>      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– прямоугольное временное окно: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≤ 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&gt; </m:t>
                              </m:r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ru-RU" sz="2100" dirty="0"/>
                  <a:t> - временная ширена Окна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238" y="721151"/>
                <a:ext cx="11620762" cy="5316716"/>
              </a:xfrm>
              <a:blipFill>
                <a:blip r:embed="rId2"/>
                <a:stretch>
                  <a:fillRect l="-472" t="-5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s://helpiks.org/helpiksorg/baza7/410257024825.files/image34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" t="4713" r="51059" b="1035"/>
          <a:stretch/>
        </p:blipFill>
        <p:spPr bwMode="auto">
          <a:xfrm>
            <a:off x="7315200" y="3283395"/>
            <a:ext cx="4655833" cy="3527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2250" y="3884721"/>
            <a:ext cx="3110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время-частотного преобразование Фурье</a:t>
            </a:r>
          </a:p>
        </p:txBody>
      </p:sp>
    </p:spTree>
    <p:extLst>
      <p:ext uri="{BB962C8B-B14F-4D97-AF65-F5344CB8AC3E}">
        <p14:creationId xmlns:p14="http://schemas.microsoft.com/office/powerpoint/2010/main" val="831274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450" y="0"/>
            <a:ext cx="7886700" cy="813225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Оконное преобразование Фурье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9900" y="813225"/>
            <a:ext cx="11112500" cy="568184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100" dirty="0"/>
              <a:t>Недостаток время-частотного преобразования Фурье с прямоугольным окном – ухудшение как временного, так и частотного разрешения.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ru-RU" sz="2100" dirty="0"/>
              <a:t>Чем уже временное окон – тем шире пик спектра и больше влияние боковых лепестков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ru-RU" sz="2100" dirty="0"/>
              <a:t>боковые лепестки могут не позволить разрешить сигналы, совпадающие с ними по частоте.</a:t>
            </a:r>
          </a:p>
          <a:p>
            <a:pPr>
              <a:lnSpc>
                <a:spcPct val="100000"/>
              </a:lnSpc>
            </a:pP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18" y="3606501"/>
            <a:ext cx="5398550" cy="27502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50" y="3606501"/>
            <a:ext cx="5574807" cy="2545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657" y="2986552"/>
            <a:ext cx="3839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«плохого» временного окна </a:t>
            </a:r>
          </a:p>
          <a:p>
            <a:r>
              <a:rPr lang="ru-RU" dirty="0"/>
              <a:t>– </a:t>
            </a:r>
            <a:r>
              <a:rPr lang="ru-RU" dirty="0" err="1"/>
              <a:t>неразрешаемые</a:t>
            </a:r>
            <a:r>
              <a:rPr lang="ru-RU" dirty="0"/>
              <a:t> сигналы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8617" y="3125051"/>
            <a:ext cx="682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«хорошего» временного окна – разрешаемые сигналы</a:t>
            </a:r>
          </a:p>
        </p:txBody>
      </p:sp>
    </p:spTree>
    <p:extLst>
      <p:ext uri="{BB962C8B-B14F-4D97-AF65-F5344CB8AC3E}">
        <p14:creationId xmlns:p14="http://schemas.microsoft.com/office/powerpoint/2010/main" val="12653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7614" y="17669"/>
            <a:ext cx="7886700" cy="605100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Оконное 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8300" y="584454"/>
                <a:ext cx="11226800" cy="565681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Попытка решения проблем с боковыми лепестками – использование специальных окон.</a:t>
                </a:r>
                <a:endParaRPr lang="en-US" sz="21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100" dirty="0"/>
                  <a:t>Окно Хемминга: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0.53836 – 0.46164(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sz="2100" i="1" dirty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1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100" dirty="0"/>
                  <a:t>Окно </a:t>
                </a:r>
                <a:r>
                  <a:rPr lang="ru-RU" sz="2100" dirty="0" err="1"/>
                  <a:t>Блекмана</a:t>
                </a:r>
                <a:r>
                  <a:rPr lang="ru-RU" sz="2100" dirty="0"/>
                  <a:t>: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1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num>
                      <m:den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sz="2100" i="1" dirty="0">
                        <a:latin typeface="Cambria Math" panose="02040503050406030204" pitchFamily="18" charset="0"/>
                      </a:rPr>
                      <m:t> –</m:t>
                    </m:r>
                    <m:f>
                      <m:f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 dirty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ru-RU" sz="21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100" dirty="0"/>
                  <a:t>Окно Гаусса:        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u-RU" sz="21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300" y="584454"/>
                <a:ext cx="11226800" cy="5656815"/>
              </a:xfrm>
              <a:blipFill>
                <a:blip r:embed="rId2"/>
                <a:stretch>
                  <a:fillRect l="-651" t="-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34" y="2893910"/>
            <a:ext cx="3287469" cy="12719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083" y="2731030"/>
            <a:ext cx="3750768" cy="136366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872" y="4499565"/>
            <a:ext cx="3617665" cy="141513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34" y="4633255"/>
            <a:ext cx="3744290" cy="13007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114300" y="6078634"/>
            <a:ext cx="1230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Недостаток оконных преобразований – уширение основного лепестка, по сравнению с прямоугольным окном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675" y="2493301"/>
            <a:ext cx="2245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Прямоугольное окон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0364" y="2317637"/>
            <a:ext cx="171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Окон Хемминга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93" y="4208804"/>
            <a:ext cx="170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Окон </a:t>
            </a:r>
            <a:r>
              <a:rPr lang="ru-RU" dirty="0" err="1"/>
              <a:t>Блекмана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030364" y="4097887"/>
            <a:ext cx="13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Окон Гаусса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60237" y="6427232"/>
            <a:ext cx="9512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/>
              <a:t>Большая таблица окон: </a:t>
            </a:r>
            <a:r>
              <a:rPr lang="en-US" dirty="0"/>
              <a:t>http://www.dsplib.ru/content/winadd/win.html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863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126" y="136528"/>
            <a:ext cx="8743949" cy="739773"/>
          </a:xfrm>
        </p:spPr>
        <p:txBody>
          <a:bodyPr>
            <a:normAutofit/>
          </a:bodyPr>
          <a:lstStyle/>
          <a:p>
            <a:pPr algn="ctr"/>
            <a:r>
              <a:rPr lang="ru-RU" sz="3400" dirty="0"/>
              <a:t>Разложение сигнала в произвольном базисе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79400" y="876301"/>
                <a:ext cx="11607800" cy="579119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Обобщенное преобразование Фурье – разложение сигнала в произвольном </a:t>
                </a:r>
                <a:r>
                  <a:rPr lang="ru-RU" sz="2100" dirty="0" err="1"/>
                  <a:t>бази</a:t>
                </a:r>
                <a:r>
                  <a:rPr lang="en-US" sz="2100" dirty="0"/>
                  <a:t>c</a:t>
                </a:r>
                <a:r>
                  <a:rPr lang="ru-RU" sz="2100" dirty="0"/>
                  <a:t>е: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ru-RU" sz="21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nary>
                      <m:naryPr>
                        <m:chr m:val="∑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100" dirty="0"/>
                  <a:t>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100" dirty="0"/>
                  <a:t>	где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– базисная функция.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100" dirty="0"/>
                  <a:t>	Требование к базисным функциям – они должны быть </a:t>
                </a:r>
                <a:r>
                  <a:rPr lang="ru-RU" sz="2100" dirty="0" err="1"/>
                  <a:t>ортонормировны</a:t>
                </a:r>
                <a:r>
                  <a:rPr lang="ru-RU" sz="2100" dirty="0"/>
                  <a:t> – то есть </a:t>
                </a:r>
                <a:r>
                  <a:rPr lang="en-US" sz="2100" dirty="0"/>
                  <a:t>	</a:t>
                </a:r>
                <a:r>
                  <a:rPr lang="ru-RU" sz="2100" dirty="0"/>
                  <a:t>ортогональны и их Эвклидова норма (сумма квадратов) равна 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100" dirty="0"/>
                  <a:t>	Примеры: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Тригонометрические функции на участке </a:t>
                </a:r>
                <a:r>
                  <a:rPr lang="en-US" sz="2100" dirty="0"/>
                  <a:t>[0,T]</a:t>
                </a:r>
                <a:r>
                  <a:rPr lang="ru-RU" sz="2100" dirty="0"/>
                  <a:t>: </a:t>
                </a:r>
                <a:endParaRPr lang="en-US" sz="2100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1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1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func>
                    <m:r>
                      <a:rPr lang="en-US" sz="21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func>
                    <m:r>
                      <a:rPr lang="en-US" sz="2100" i="1">
                        <a:latin typeface="Cambria Math" panose="02040503050406030204" pitchFamily="18" charset="0"/>
                      </a:rPr>
                      <m:t>;…,</m:t>
                    </m:r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r>
                        <a:rPr lang="en-US" sz="2100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100" dirty="0"/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Полиномиальные функции Чебышева: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100"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100">
                        <a:latin typeface="Cambria Math"/>
                      </a:rPr>
                      <m:t>=1;…;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10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10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100">
                            <a:latin typeface="Cambria Math"/>
                          </a:rPr>
                          <m:t>1−</m:t>
                        </m:r>
                        <m:r>
                          <a:rPr lang="en-US" sz="2100">
                            <a:latin typeface="Cambria Math"/>
                          </a:rPr>
                          <m:t>𝑛</m:t>
                        </m:r>
                      </m:sup>
                    </m:sSup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100">
                                <a:latin typeface="Cambria Math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100">
                                    <a:latin typeface="Cambria Math"/>
                                  </a:rPr>
                                  <m:t>arccos</m:t>
                                </m:r>
                              </m:fName>
                              <m:e>
                                <m:r>
                                  <a:rPr lang="en-US" sz="2100">
                                    <a:latin typeface="Cambria Math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en-US" sz="2100">
                                <a:latin typeface="Cambria Math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sz="2100" dirty="0"/>
              </a:p>
              <a:p>
                <a:pPr>
                  <a:lnSpc>
                    <a:spcPct val="100000"/>
                  </a:lnSpc>
                </a:pPr>
                <a:r>
                  <a:rPr lang="ru-RU" sz="2100" dirty="0"/>
                  <a:t>Функции Фурье: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sz="210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876301"/>
                <a:ext cx="11607800" cy="5791199"/>
              </a:xfrm>
              <a:blipFill>
                <a:blip r:embed="rId2"/>
                <a:stretch>
                  <a:fillRect l="-525" t="-2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136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4024" y="211138"/>
            <a:ext cx="8743949" cy="83502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Базис </a:t>
            </a:r>
            <a:r>
              <a:rPr lang="ru-RU" sz="4000" dirty="0" err="1"/>
              <a:t>Уолша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85925" y="962026"/>
                <a:ext cx="8820149" cy="556259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1800" dirty="0"/>
                  <a:t>В цифровой связи большое внимание уделяют ортонормированной системе функций </a:t>
                </a:r>
                <a:r>
                  <a:rPr lang="ru-RU" sz="1800" dirty="0" err="1"/>
                  <a:t>Уолша</a:t>
                </a:r>
                <a:r>
                  <a:rPr lang="ru-RU" sz="1800" dirty="0"/>
                  <a:t>, которые на отрезке своего существования [— </a:t>
                </a:r>
                <a:r>
                  <a:rPr lang="en-US" sz="1800" dirty="0"/>
                  <a:t>T</a:t>
                </a:r>
                <a:r>
                  <a:rPr lang="ru-RU" sz="1800" dirty="0"/>
                  <a:t>/2, </a:t>
                </a:r>
                <a:r>
                  <a:rPr lang="en-US" sz="1800" dirty="0"/>
                  <a:t>T</a:t>
                </a:r>
                <a:r>
                  <a:rPr lang="ru-RU" sz="1800" dirty="0"/>
                  <a:t>/2] принимают лишь значения +1</a:t>
                </a:r>
                <a:r>
                  <a:rPr lang="en-US" sz="1800" dirty="0"/>
                  <a:t> </a:t>
                </a:r>
                <a:r>
                  <a:rPr lang="ru-RU" sz="1800" dirty="0"/>
                  <a:t>и -1. 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1800" dirty="0"/>
                  <a:t>Функции </a:t>
                </a:r>
                <a:r>
                  <a:rPr lang="ru-RU" sz="1800" dirty="0" err="1"/>
                  <a:t>Уолша</a:t>
                </a:r>
                <a:r>
                  <a:rPr lang="ru-RU" sz="1800" dirty="0"/>
                  <a:t> определяются через функции </a:t>
                </a:r>
                <a:r>
                  <a:rPr lang="ru-RU" sz="1800" dirty="0" err="1"/>
                  <a:t>Радемахера</a:t>
                </a:r>
                <a:r>
                  <a:rPr lang="ru-RU" sz="18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=1;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	</a:t>
                </a:r>
                <a:r>
                  <a:rPr lang="ru-RU" sz="1800" dirty="0"/>
                  <a:t>где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C</a:t>
                </a:r>
                <a:r>
                  <a:rPr lang="ru-RU" sz="1800" dirty="0" err="1"/>
                  <a:t>истема</a:t>
                </a:r>
                <a:r>
                  <a:rPr lang="ru-RU" sz="1800" dirty="0"/>
                  <a:t> функций </a:t>
                </a:r>
                <a:r>
                  <a:rPr lang="ru-RU" sz="1800" dirty="0" err="1"/>
                  <a:t>Уолша</a:t>
                </a:r>
                <a:r>
                  <a:rPr lang="en-US" sz="1800" dirty="0"/>
                  <a:t> – </a:t>
                </a:r>
                <a:r>
                  <a:rPr lang="ru-RU" sz="1800" dirty="0"/>
                  <a:t>это система функций </a:t>
                </a:r>
                <a:r>
                  <a:rPr lang="ru-RU" sz="1800" dirty="0" err="1"/>
                  <a:t>Радемахера</a:t>
                </a:r>
                <a:r>
                  <a:rPr lang="ru-RU" sz="1800" dirty="0"/>
                  <a:t>, в которой функции упорядочены по числу пересечений ими нулевого уровня: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𝑤𝑎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=1;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𝑤𝑎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  <m:sup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sup>
                          </m:sSubSup>
                        </m:sup>
                      </m:sSup>
                    </m:oMath>
                  </m:oMathPara>
                </a14:m>
                <a:endParaRPr lang="ru-RU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1800" dirty="0"/>
                  <a:t>	где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𝑤𝑎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функция </a:t>
                </a:r>
                <a:r>
                  <a:rPr lang="ru-RU" sz="1800" dirty="0" err="1"/>
                  <a:t>Уолша</a:t>
                </a:r>
                <a:r>
                  <a:rPr lang="ru-RU" sz="1800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</m:oMath>
                </a14:m>
                <a:r>
                  <a:rPr lang="ru-RU" sz="1800" dirty="0"/>
                  <a:t> - значение j -го разряда в записи номера функции 	i в коде Грея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Г</m:t>
                          </m:r>
                        </m:sup>
                      </m:sSub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5925" y="962026"/>
                <a:ext cx="8820149" cy="5562599"/>
              </a:xfrm>
              <a:blipFill>
                <a:blip r:embed="rId2"/>
                <a:stretch>
                  <a:fillRect l="-431" t="-456" r="-10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ÐÐ°ÑÑÐ¸Ð½ÐºÐ¸ Ð¿Ð¾ Ð·Ð°Ð¿ÑÐ¾ÑÑ ÐºÐ¾Ð´ Ð³ÑÐµÑ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5197066"/>
            <a:ext cx="3994150" cy="166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43601" y="5776192"/>
            <a:ext cx="2081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кодов Грея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8527133" y="5415988"/>
                <a:ext cx="1978940" cy="421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Е</m:t>
                    </m:r>
                  </m:oMath>
                </a14:m>
                <a:r>
                  <a:rPr lang="ru-RU" dirty="0"/>
                  <a:t>сли </a:t>
                </a:r>
                <a:r>
                  <a:rPr lang="en-US" dirty="0"/>
                  <a:t>i=5; j=3,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</m:oMath>
                </a14:m>
                <a:r>
                  <a:rPr lang="en-US" dirty="0"/>
                  <a:t>=1 </a:t>
                </a:r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33" y="5415988"/>
                <a:ext cx="1978940" cy="421397"/>
              </a:xfrm>
              <a:prstGeom prst="rect">
                <a:avLst/>
              </a:prstGeom>
              <a:blipFill>
                <a:blip r:embed="rId4"/>
                <a:stretch>
                  <a:fillRect r="-1274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8540962" y="5847660"/>
                <a:ext cx="1978940" cy="421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Е</m:t>
                    </m:r>
                  </m:oMath>
                </a14:m>
                <a:r>
                  <a:rPr lang="ru-RU" dirty="0"/>
                  <a:t>сли </a:t>
                </a:r>
                <a:r>
                  <a:rPr lang="en-US" dirty="0" err="1"/>
                  <a:t>i</a:t>
                </a:r>
                <a:r>
                  <a:rPr lang="en-US" dirty="0"/>
                  <a:t>=7; j=3,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</m:oMath>
                </a14:m>
                <a:r>
                  <a:rPr lang="en-US" dirty="0"/>
                  <a:t>=0 </a:t>
                </a:r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962" y="5847660"/>
                <a:ext cx="1978940" cy="421397"/>
              </a:xfrm>
              <a:prstGeom prst="rect">
                <a:avLst/>
              </a:prstGeom>
              <a:blipFill>
                <a:blip r:embed="rId5"/>
                <a:stretch>
                  <a:fillRect r="-1274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8527133" y="6231012"/>
                <a:ext cx="1978940" cy="421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Е</m:t>
                    </m:r>
                  </m:oMath>
                </a14:m>
                <a:r>
                  <a:rPr lang="ru-RU" dirty="0"/>
                  <a:t>сли </a:t>
                </a:r>
                <a:r>
                  <a:rPr lang="en-US" dirty="0"/>
                  <a:t>i=9; j=2,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</m:oMath>
                </a14:m>
                <a:r>
                  <a:rPr lang="en-US" dirty="0"/>
                  <a:t>=0 </a:t>
                </a:r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33" y="6231012"/>
                <a:ext cx="1978940" cy="421397"/>
              </a:xfrm>
              <a:prstGeom prst="rect">
                <a:avLst/>
              </a:prstGeom>
              <a:blipFill>
                <a:blip r:embed="rId6"/>
                <a:stretch>
                  <a:fillRect r="-1274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695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4026" y="365128"/>
            <a:ext cx="8743949" cy="83502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Базис </a:t>
            </a:r>
            <a:r>
              <a:rPr lang="ru-RU" sz="4000" dirty="0" err="1"/>
              <a:t>Уолша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85925" y="962026"/>
            <a:ext cx="8820149" cy="55625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/>
              <a:t>Функции </a:t>
            </a:r>
            <a:r>
              <a:rPr lang="ru-RU" sz="1800" dirty="0" err="1"/>
              <a:t>Уолша</a:t>
            </a:r>
            <a:r>
              <a:rPr lang="ru-RU" sz="1800" dirty="0"/>
              <a:t> – это ступеньки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Достоинство </a:t>
            </a:r>
            <a:r>
              <a:rPr lang="ru-RU" sz="1800" dirty="0" err="1"/>
              <a:t>фунций</a:t>
            </a:r>
            <a:r>
              <a:rPr lang="ru-RU" sz="1800" dirty="0"/>
              <a:t> </a:t>
            </a:r>
            <a:r>
              <a:rPr lang="ru-RU" sz="1800" dirty="0" err="1"/>
              <a:t>Уолша</a:t>
            </a:r>
            <a:r>
              <a:rPr lang="ru-RU" sz="1800" dirty="0"/>
              <a:t> – простота </a:t>
            </a:r>
            <a:br>
              <a:rPr lang="ru-RU" sz="1800" dirty="0"/>
            </a:br>
            <a:r>
              <a:rPr lang="ru-RU" sz="1800" dirty="0"/>
              <a:t>работы (только сложения и вычитания)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Недостатки: сложность интерпретации </a:t>
            </a:r>
            <a:br>
              <a:rPr lang="ru-RU" sz="1800" dirty="0"/>
            </a:br>
            <a:r>
              <a:rPr lang="ru-RU" sz="1800" dirty="0"/>
              <a:t>спектра, отсутствие физической интерпретации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Возможны различные варианты функций </a:t>
            </a:r>
            <a:r>
              <a:rPr lang="ru-RU" sz="1800" dirty="0" err="1"/>
              <a:t>Уолша</a:t>
            </a:r>
            <a:r>
              <a:rPr lang="ru-RU" sz="1800" dirty="0"/>
              <a:t>.</a:t>
            </a:r>
            <a:br>
              <a:rPr lang="ru-RU" sz="1800" dirty="0"/>
            </a:br>
            <a:endParaRPr lang="ru-RU" sz="1800" dirty="0"/>
          </a:p>
        </p:txBody>
      </p:sp>
      <p:pic>
        <p:nvPicPr>
          <p:cNvPr id="4098" name="Picture 2" descr="https://commons.bmstu.wiki/images/e/ef/Walsh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597" y="1099784"/>
            <a:ext cx="2878754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stu.sernam.ru/archive/arch.php?path=../htm/book_g_rts/files.book&amp;file=g_rts_155.files/image1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899" y="5114925"/>
            <a:ext cx="26193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66462" y="4546313"/>
            <a:ext cx="4203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Спектр прямоугольных видеоимпульсов </a:t>
            </a:r>
          </a:p>
          <a:p>
            <a:r>
              <a:rPr lang="ru-RU" dirty="0"/>
              <a:t>в базисе </a:t>
            </a:r>
            <a:r>
              <a:rPr lang="ru-RU" dirty="0" err="1"/>
              <a:t>Уолша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/>
          <a:srcRect t="2" b="72421"/>
          <a:stretch/>
        </p:blipFill>
        <p:spPr>
          <a:xfrm>
            <a:off x="1826851" y="5192644"/>
            <a:ext cx="2747674" cy="14923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6852" y="4546313"/>
            <a:ext cx="2508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Спектр </a:t>
            </a:r>
            <a:r>
              <a:rPr lang="ru-RU" dirty="0" err="1"/>
              <a:t>моногармоники</a:t>
            </a:r>
            <a:endParaRPr lang="ru-RU" dirty="0"/>
          </a:p>
          <a:p>
            <a:r>
              <a:rPr lang="ru-RU" dirty="0"/>
              <a:t>в базисе </a:t>
            </a:r>
            <a:r>
              <a:rPr lang="ru-RU" dirty="0" err="1"/>
              <a:t>Уолша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5160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4024" y="127003"/>
            <a:ext cx="8743949" cy="740264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/>
              <a:t>Вейвлет</a:t>
            </a:r>
            <a:r>
              <a:rPr lang="ru-RU" sz="4000" dirty="0"/>
              <a:t> базисы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0629" y="867268"/>
                <a:ext cx="11669485" cy="565735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Проблема спектрального (частотного) разрешения сигналов  в оконном преобразование Фурье – увеличение влияния боковых лепестков.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100" dirty="0"/>
                  <a:t>Решение проблемы – использование адоптированного базиса функций.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100" dirty="0"/>
                  <a:t>Сигналы адоптированные к задаче (форме исследуемого сигнала, требуемому временному и частотному разрешению) – </a:t>
                </a:r>
                <a:r>
                  <a:rPr lang="ru-RU" sz="2100" dirty="0" err="1"/>
                  <a:t>вейвлет</a:t>
                </a:r>
                <a:r>
                  <a:rPr lang="ru-RU" sz="2100" dirty="0"/>
                  <a:t> сигналы.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100" dirty="0" err="1"/>
                  <a:t>Вейвлеты</a:t>
                </a:r>
                <a:r>
                  <a:rPr lang="ru-RU" sz="2100" dirty="0"/>
                  <a:t> </a:t>
                </a:r>
                <a:r>
                  <a:rPr lang="en-US" sz="2100" dirty="0"/>
                  <a:t>(wavelet)</a:t>
                </a:r>
                <a:r>
                  <a:rPr lang="ru-RU" sz="2100" dirty="0"/>
                  <a:t> – ограниченные во времени ортонормированные сигналы, адоптированные под конкретную задачу.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100" dirty="0"/>
                  <a:t>Примеры: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100" dirty="0"/>
                  <a:t>«Мексиканская шляпа»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endParaRPr lang="ru-RU" sz="2100" dirty="0"/>
              </a:p>
              <a:p>
                <a:pPr lvl="1">
                  <a:lnSpc>
                    <a:spcPct val="100000"/>
                  </a:lnSpc>
                </a:pPr>
                <a:endParaRPr lang="en-US" sz="21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100" dirty="0" err="1"/>
                  <a:t>Морлет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100">
                        <a:latin typeface="Cambria Math"/>
                      </a:rPr>
                      <m:t>Ψ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10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100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1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100">
                            <a:latin typeface="Cambria Math"/>
                          </a:rPr>
                          <m:t>/2</m:t>
                        </m:r>
                      </m:sup>
                    </m:sSup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0629" y="867268"/>
                <a:ext cx="11669485" cy="5657357"/>
              </a:xfrm>
              <a:blipFill>
                <a:blip r:embed="rId2"/>
                <a:stretch>
                  <a:fillRect l="-543" t="-673" r="-1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515" y="3067394"/>
            <a:ext cx="3280664" cy="17180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494" y="4785430"/>
            <a:ext cx="3514742" cy="19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25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4024" y="127003"/>
            <a:ext cx="8743949" cy="740264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/>
              <a:t>Вейвлет</a:t>
            </a:r>
            <a:r>
              <a:rPr lang="ru-RU" sz="4000" dirty="0"/>
              <a:t> базисы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85925" y="867268"/>
                <a:ext cx="8820149" cy="583519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Основные требования к </a:t>
                </a:r>
                <a:r>
                  <a:rPr lang="ru-RU" sz="2100" dirty="0" err="1"/>
                  <a:t>Вейвлетам</a:t>
                </a:r>
                <a:r>
                  <a:rPr lang="ru-RU" sz="2100" dirty="0"/>
                  <a:t>:</a:t>
                </a:r>
                <a:endParaRPr lang="en-US" sz="2100" dirty="0"/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:r>
                  <a:rPr lang="ru-RU" sz="2100" dirty="0"/>
                  <a:t>Подобие. Все функции каждого семейства </a:t>
                </a:r>
                <a:r>
                  <a:rPr lang="ru-RU" sz="2100" dirty="0" err="1"/>
                  <a:t>вейвлетов</a:t>
                </a:r>
                <a:r>
                  <a:rPr lang="ru-RU" sz="2100" dirty="0"/>
                  <a:t> получаются из анализирующего </a:t>
                </a:r>
                <a:r>
                  <a:rPr lang="ru-RU" sz="2100" dirty="0" err="1"/>
                  <a:t>вейвлета</a:t>
                </a:r>
                <a:r>
                  <a:rPr lang="ru-RU" sz="2100" dirty="0"/>
                  <a:t> путем масштабного преобразования и сдвига: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0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1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1700" dirty="0"/>
                  <a:t>Таким образом получается двухпараметрическое семейство функций: </a:t>
                </a:r>
                <a:br>
                  <a:rPr lang="en-US" sz="1700" dirty="0"/>
                </a:br>
                <a:r>
                  <a:rPr lang="ru-RU" sz="1700" dirty="0"/>
                  <a:t>параметр </a:t>
                </a:r>
                <a:r>
                  <a:rPr lang="en-US" sz="1700" b="1" i="1" dirty="0">
                    <a:latin typeface="+mj-lt"/>
                  </a:rPr>
                  <a:t>a</a:t>
                </a:r>
                <a:r>
                  <a:rPr lang="ru-RU" sz="1700" dirty="0"/>
                  <a:t> – масштаб (растяжение) функции, параметр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700" dirty="0"/>
                  <a:t> – положение (сдвиг) функции. </a:t>
                </a:r>
              </a:p>
              <a:p>
                <a:pPr marL="457200" indent="-457200">
                  <a:lnSpc>
                    <a:spcPct val="100000"/>
                  </a:lnSpc>
                  <a:buAutoNum type="arabicPeriod" startAt="2"/>
                </a:pPr>
                <a:r>
                  <a:rPr lang="ru-RU" sz="2000" dirty="0"/>
                  <a:t>Обратимость. Существование обратного преобразования, однозначно восстанавливающее исходную функцию по ее </a:t>
                </a:r>
                <a:r>
                  <a:rPr lang="ru-RU" sz="2000" dirty="0" err="1"/>
                  <a:t>вейвлетпреобразованию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457200" indent="-457200">
                  <a:lnSpc>
                    <a:spcPct val="100000"/>
                  </a:lnSpc>
                  <a:buAutoNum type="arabicPeriod" startAt="2"/>
                </a:pPr>
                <a:r>
                  <a:rPr lang="ru-RU" sz="2100" dirty="0"/>
                  <a:t> Регулярность. Функция </a:t>
                </a:r>
                <a14:m>
                  <m:oMath xmlns:m="http://schemas.openxmlformats.org/officeDocument/2006/math">
                    <m:r>
                      <a:rPr lang="ru-RU" sz="21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должна быть хорошо локализована и в физическом пространстве и в пространстве Фурье.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100" b="1" dirty="0"/>
                  <a:t>Достоинства </a:t>
                </a:r>
                <a:r>
                  <a:rPr lang="ru-RU" sz="2100" b="1" dirty="0" err="1"/>
                  <a:t>Вейвлетов</a:t>
                </a:r>
                <a:r>
                  <a:rPr lang="ru-RU" sz="2100" dirty="0"/>
                  <a:t>: Возможность достижения лучшей разрешающий способности, чем оконное Фурье преобразование.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100" b="1" dirty="0"/>
                  <a:t>Недостатки </a:t>
                </a:r>
                <a:r>
                  <a:rPr lang="ru-RU" sz="2100" dirty="0"/>
                  <a:t>: Сложность выбора </a:t>
                </a:r>
                <a:r>
                  <a:rPr lang="ru-RU" sz="2100" dirty="0" err="1"/>
                  <a:t>вейвлета</a:t>
                </a:r>
                <a:r>
                  <a:rPr lang="ru-RU" sz="2100" dirty="0"/>
                  <a:t>, увеличение вычислительной сложности, необходимость адаптации </a:t>
                </a:r>
                <a:r>
                  <a:rPr lang="ru-RU" sz="2100" dirty="0" err="1"/>
                  <a:t>вейвлетов</a:t>
                </a:r>
                <a:r>
                  <a:rPr lang="ru-RU" sz="2100" dirty="0"/>
                  <a:t> к задачи.</a:t>
                </a:r>
              </a:p>
              <a:p>
                <a:pPr marL="457200" indent="-457200">
                  <a:lnSpc>
                    <a:spcPct val="100000"/>
                  </a:lnSpc>
                  <a:buAutoNum type="arabicPeriod" startAt="2"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5925" y="867268"/>
                <a:ext cx="8820149" cy="5835191"/>
              </a:xfrm>
              <a:blipFill>
                <a:blip r:embed="rId2"/>
                <a:stretch>
                  <a:fillRect l="-862" t="-652" r="-718" b="-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64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4024" y="127003"/>
            <a:ext cx="8743949" cy="74026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000" dirty="0" err="1"/>
              <a:t>Вейвлет</a:t>
            </a:r>
            <a:r>
              <a:rPr lang="ru-RU" sz="4000" dirty="0"/>
              <a:t>-преобразование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85925" y="763573"/>
                <a:ext cx="8820149" cy="565735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100" dirty="0"/>
                  <a:t>Непрерывное </a:t>
                </a:r>
                <a:r>
                  <a:rPr lang="ru-RU" sz="2100" dirty="0" err="1"/>
                  <a:t>Вейвлет</a:t>
                </a:r>
                <a:r>
                  <a:rPr lang="ru-RU" sz="2100" dirty="0"/>
                  <a:t>-преобразование: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1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1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ru-RU" sz="2100" dirty="0"/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sz="2100" dirty="0"/>
                  <a:t> - результат </a:t>
                </a:r>
                <a:r>
                  <a:rPr lang="ru-RU" sz="2100" dirty="0" err="1"/>
                  <a:t>Вейвлет</a:t>
                </a:r>
                <a:r>
                  <a:rPr lang="ru-RU" sz="2100" dirty="0"/>
                  <a:t>-преобразования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100" dirty="0"/>
                  <a:t>	</a:t>
                </a:r>
                <a:r>
                  <a:rPr lang="ru-RU" sz="2100" dirty="0"/>
                  <a:t>результатом преобразования является двухмерной зависимостью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000" b="1" dirty="0"/>
                  <a:t>На практике </a:t>
                </a:r>
                <a:r>
                  <a:rPr lang="ru-RU" sz="2000" dirty="0"/>
                  <a:t> при выделении в сигналах хорошо локализованных разномасштабных процессов можно рассматривать только те масштабные уровни разложения, которые представляют интерес.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000" b="1" dirty="0"/>
                  <a:t>Часто</a:t>
                </a:r>
                <a:r>
                  <a:rPr lang="ru-RU" sz="2000" dirty="0"/>
                  <a:t> выделяют только два случая: большой масштаб и малый масштаб.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5925" y="763573"/>
                <a:ext cx="8820149" cy="5657357"/>
              </a:xfrm>
              <a:blipFill>
                <a:blip r:embed="rId2"/>
                <a:stretch>
                  <a:fillRect l="-575" t="-174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77" y="5320755"/>
            <a:ext cx="1817834" cy="123394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11" y="5228238"/>
            <a:ext cx="2289162" cy="13565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00075" y="4533843"/>
            <a:ext cx="5040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/>
              <a:t>Вейвлет</a:t>
            </a:r>
            <a:r>
              <a:rPr lang="ru-RU" dirty="0"/>
              <a:t> преобразование </a:t>
            </a:r>
            <a:br>
              <a:rPr lang="ru-RU" dirty="0"/>
            </a:br>
            <a:r>
              <a:rPr lang="ru-RU" dirty="0"/>
              <a:t>линейно-частотно-модулированного сигнала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924" y="5320755"/>
            <a:ext cx="1918448" cy="1265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6750" y="4335745"/>
            <a:ext cx="3423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/>
              <a:t>Вейвлет</a:t>
            </a:r>
            <a:r>
              <a:rPr lang="ru-RU" dirty="0"/>
              <a:t> преобразование </a:t>
            </a:r>
            <a:br>
              <a:rPr lang="ru-RU" dirty="0"/>
            </a:br>
            <a:r>
              <a:rPr lang="ru-RU" dirty="0"/>
              <a:t>двух сигналов с разной частотой</a:t>
            </a:r>
          </a:p>
          <a:p>
            <a:pPr algn="ctr"/>
            <a:r>
              <a:rPr lang="ru-RU" dirty="0"/>
              <a:t>(</a:t>
            </a:r>
            <a:r>
              <a:rPr lang="ru-RU"/>
              <a:t>частотно-кодовая манипуляция)</a:t>
            </a:r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880" y="5164371"/>
            <a:ext cx="2610076" cy="1546712"/>
          </a:xfrm>
          <a:prstGeom prst="rect">
            <a:avLst/>
          </a:prstGeom>
        </p:spPr>
      </p:pic>
      <p:cxnSp>
        <p:nvCxnSpPr>
          <p:cNvPr id="16" name="Прямая соединительная линия 15"/>
          <p:cNvCxnSpPr/>
          <p:nvPr/>
        </p:nvCxnSpPr>
        <p:spPr>
          <a:xfrm>
            <a:off x="8636000" y="5906508"/>
            <a:ext cx="1416050" cy="3355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785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792" y="307748"/>
            <a:ext cx="11604172" cy="72072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Модель регулярных ВР </a:t>
            </a:r>
            <a:br>
              <a:rPr lang="ru-RU" dirty="0"/>
            </a:br>
            <a:r>
              <a:rPr lang="ru-RU" dirty="0"/>
              <a:t>как суперпозиции </a:t>
            </a:r>
            <a:r>
              <a:rPr lang="ru-RU" dirty="0" err="1"/>
              <a:t>Intr</a:t>
            </a:r>
            <a:r>
              <a:rPr lang="en-US" dirty="0" err="1"/>
              <a:t>insic</a:t>
            </a:r>
            <a:r>
              <a:rPr lang="en-US" dirty="0"/>
              <a:t> mode functions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8792" y="1188355"/>
                <a:ext cx="11808136" cy="5584826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Любой ВР может быть описан как </a:t>
                </a:r>
                <a:r>
                  <a:rPr lang="ru-RU" sz="2000" dirty="0" err="1"/>
                  <a:t>амплитудно</a:t>
                </a:r>
                <a:r>
                  <a:rPr lang="en-US" sz="2000" dirty="0"/>
                  <a:t>-</a:t>
                </a:r>
                <a:r>
                  <a:rPr lang="ru-RU" sz="2000" dirty="0"/>
                  <a:t>модулированная суперпозиция(смесь) гармонических сигналов</a:t>
                </a:r>
                <a:r>
                  <a:rPr lang="en-US" sz="2000" dirty="0"/>
                  <a:t> </a:t>
                </a:r>
                <a:r>
                  <a:rPr lang="ru-RU" sz="2000" dirty="0"/>
                  <a:t>вида: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где </a:t>
                </a:r>
              </a:p>
              <a:p>
                <a:pPr marL="88900" lvl="3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число гармоник в сигнале</a:t>
                </a:r>
              </a:p>
              <a:p>
                <a:pPr marL="88900" lvl="3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/>
                  <a:t> - амплитуда (зависимость амплитуды </a:t>
                </a:r>
                <a:br>
                  <a:rPr lang="ru-RU" sz="2000" dirty="0"/>
                </a:br>
                <a:r>
                  <a:rPr lang="ru-RU" sz="2000" dirty="0"/>
                  <a:t>от времени)</a:t>
                </a:r>
              </a:p>
              <a:p>
                <a:pPr marL="88900" lvl="3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/>
                  <a:t> - зависимость фазы от времени</a:t>
                </a:r>
              </a:p>
              <a:p>
                <a:pPr marL="88900" lvl="3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- начальная фаза сигнала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ru-RU" sz="2000" dirty="0"/>
              </a:p>
              <a:p>
                <a:pPr marL="88900" lvl="3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В данном случае каждая составляющая – </a:t>
                </a:r>
                <a:br>
                  <a:rPr lang="ru-RU" sz="2000" dirty="0"/>
                </a:br>
                <a:r>
                  <a:rPr lang="ru-RU" sz="2000" dirty="0"/>
                  <a:t>это не </a:t>
                </a:r>
                <a:r>
                  <a:rPr lang="ru-RU" sz="2000" dirty="0" err="1"/>
                  <a:t>моногармоника</a:t>
                </a:r>
                <a:r>
                  <a:rPr lang="ru-RU" sz="2000" dirty="0"/>
                  <a:t>, то есть частота </a:t>
                </a:r>
                <a:br>
                  <a:rPr lang="ru-RU" sz="2000" dirty="0"/>
                </a:br>
                <a:r>
                  <a:rPr lang="ru-RU" sz="2000" dirty="0"/>
                  <a:t>и амплитуда сами являются функциями </a:t>
                </a:r>
                <a:br>
                  <a:rPr lang="ru-RU" sz="2000" dirty="0"/>
                </a:br>
                <a:r>
                  <a:rPr lang="ru-RU" sz="2000" dirty="0"/>
                  <a:t>от времени.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792" y="1188355"/>
                <a:ext cx="11808136" cy="5584826"/>
              </a:xfrm>
              <a:blipFill>
                <a:blip r:embed="rId3"/>
                <a:stretch>
                  <a:fillRect l="-568" t="-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A7D817F6-7F9C-5630-6D55-70663EF1A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2558421"/>
            <a:ext cx="6446265" cy="410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470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3BFC6-E9CB-0342-A45A-F7865FE6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Фильтрация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02F9B-7E18-A3F5-BEF5-E8311E6F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806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BA54A-4CBC-7DF8-F477-97FEF66D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Вейвлет-преобразование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928693-D03A-77B9-A8EF-5BBAA06C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032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92D71-6798-CF07-79B9-0B2933AB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Поблемы</a:t>
            </a:r>
            <a:r>
              <a:rPr lang="ru-RU" dirty="0"/>
              <a:t> вейвлетов и их </a:t>
            </a:r>
            <a:r>
              <a:rPr lang="ru-RU" dirty="0" err="1"/>
              <a:t>приемущества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100509-C0F7-C3A3-F66F-195FA4D5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084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CBE37-F438-0F8C-076F-6B961FA4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Псевдоспекральные</a:t>
            </a:r>
            <a:r>
              <a:rPr lang="ru-RU" dirty="0"/>
              <a:t> разложения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1707A1-86A4-684D-D4B8-E7C18D0C9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159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6A672-BBE1-93E8-6AFC-5CE18E76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365125"/>
            <a:ext cx="11157857" cy="1325563"/>
          </a:xfrm>
        </p:spPr>
        <p:txBody>
          <a:bodyPr/>
          <a:lstStyle/>
          <a:p>
            <a:r>
              <a:rPr lang="ru-RU" dirty="0" err="1"/>
              <a:t>Сигнулярное</a:t>
            </a:r>
            <a:r>
              <a:rPr lang="ru-RU" dirty="0"/>
              <a:t> разложение нестационарных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CD17BA-69EE-A0B3-419C-5FBDA5160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825625"/>
            <a:ext cx="11081657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178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0F9F8-B2A7-BB26-EE7E-0FD3CD00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Внутренние моды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73057-1F93-4278-E9DE-C8AE62B3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657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9C01A-8279-9868-378A-0AFF73DE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8694"/>
            <a:ext cx="11266714" cy="933677"/>
          </a:xfrm>
        </p:spPr>
        <p:txBody>
          <a:bodyPr>
            <a:normAutofit/>
          </a:bodyPr>
          <a:lstStyle/>
          <a:p>
            <a:r>
              <a:rPr lang="ru-RU" sz="4000" dirty="0"/>
              <a:t>Связь частотного представления и других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DE679D-3A41-BF35-A7B0-B653A661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925286"/>
            <a:ext cx="11353800" cy="562791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2663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16733-1265-7A3B-1642-200603FE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D90CD-995C-B459-FAD4-C05F51C8B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time to frequency domain">
            <a:extLst>
              <a:ext uri="{FF2B5EF4-FFF2-40B4-BE49-F238E27FC236}">
                <a16:creationId xmlns:a16="http://schemas.microsoft.com/office/drawing/2014/main" id="{5DB0E1F3-24B1-FD62-DA50-A75D8079F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1352550"/>
            <a:ext cx="59817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CDB83C-32FD-18B9-C7E8-F00982D0BC32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github.com</a:t>
            </a:r>
            <a:r>
              <a:rPr lang="ru-RU" dirty="0"/>
              <a:t>/</a:t>
            </a:r>
            <a:r>
              <a:rPr lang="ru-RU" dirty="0" err="1"/>
              <a:t>phylypo</a:t>
            </a:r>
            <a:r>
              <a:rPr lang="ru-RU" dirty="0"/>
              <a:t>/</a:t>
            </a:r>
            <a:r>
              <a:rPr lang="ru-RU" dirty="0" err="1"/>
              <a:t>TimeSeriesPrediction</a:t>
            </a:r>
            <a:r>
              <a:rPr lang="ru-RU" dirty="0"/>
              <a:t>/</a:t>
            </a:r>
            <a:r>
              <a:rPr lang="ru-RU" dirty="0" err="1"/>
              <a:t>blob</a:t>
            </a:r>
            <a:r>
              <a:rPr lang="ru-RU" dirty="0"/>
              <a:t>/</a:t>
            </a:r>
            <a:r>
              <a:rPr lang="ru-RU" dirty="0" err="1"/>
              <a:t>main</a:t>
            </a:r>
            <a:r>
              <a:rPr lang="ru-RU" dirty="0"/>
              <a:t>/</a:t>
            </a:r>
            <a:r>
              <a:rPr lang="ru-RU" dirty="0" err="1"/>
              <a:t>Time_Series_FFT.ipynb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97592-E5C2-ABCC-4FAE-B391061A2770}"/>
              </a:ext>
            </a:extLst>
          </p:cNvPr>
          <p:cNvSpPr txBox="1"/>
          <p:nvPr/>
        </p:nvSpPr>
        <p:spPr>
          <a:xfrm>
            <a:off x="947056" y="6348516"/>
            <a:ext cx="1010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github.com</a:t>
            </a:r>
            <a:r>
              <a:rPr lang="ru-RU" dirty="0"/>
              <a:t>/</a:t>
            </a:r>
            <a:r>
              <a:rPr lang="ru-RU" dirty="0" err="1"/>
              <a:t>phylypo</a:t>
            </a:r>
            <a:r>
              <a:rPr lang="ru-RU" dirty="0"/>
              <a:t>/</a:t>
            </a:r>
            <a:r>
              <a:rPr lang="ru-RU" dirty="0" err="1"/>
              <a:t>TimeSeriesPrediction</a:t>
            </a:r>
            <a:r>
              <a:rPr lang="ru-RU" dirty="0"/>
              <a:t>/</a:t>
            </a:r>
            <a:r>
              <a:rPr lang="ru-RU" dirty="0" err="1"/>
              <a:t>blob</a:t>
            </a:r>
            <a:r>
              <a:rPr lang="ru-RU" dirty="0"/>
              <a:t>/</a:t>
            </a:r>
            <a:r>
              <a:rPr lang="ru-RU" dirty="0" err="1"/>
              <a:t>main</a:t>
            </a:r>
            <a:r>
              <a:rPr lang="ru-RU" dirty="0"/>
              <a:t>/</a:t>
            </a:r>
            <a:r>
              <a:rPr lang="ru-RU" dirty="0" err="1"/>
              <a:t>Time_Series_FFT.ipynb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2338E-49E6-D89A-04C6-F4E6898E8A11}"/>
              </a:ext>
            </a:extLst>
          </p:cNvPr>
          <p:cNvSpPr txBox="1"/>
          <p:nvPr/>
        </p:nvSpPr>
        <p:spPr>
          <a:xfrm>
            <a:off x="4952999" y="53891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github.com</a:t>
            </a:r>
            <a:r>
              <a:rPr lang="ru-RU" dirty="0"/>
              <a:t>/</a:t>
            </a:r>
            <a:r>
              <a:rPr lang="ru-RU" dirty="0" err="1"/>
              <a:t>phylypo</a:t>
            </a:r>
            <a:r>
              <a:rPr lang="ru-RU" dirty="0"/>
              <a:t>/</a:t>
            </a:r>
            <a:r>
              <a:rPr lang="ru-RU" dirty="0" err="1"/>
              <a:t>TimeSeriesPrediction</a:t>
            </a:r>
            <a:r>
              <a:rPr lang="ru-RU" dirty="0"/>
              <a:t>/</a:t>
            </a:r>
            <a:r>
              <a:rPr lang="ru-RU" dirty="0" err="1"/>
              <a:t>blob</a:t>
            </a:r>
            <a:r>
              <a:rPr lang="ru-RU" dirty="0"/>
              <a:t>/</a:t>
            </a:r>
            <a:r>
              <a:rPr lang="ru-RU" dirty="0" err="1"/>
              <a:t>main</a:t>
            </a:r>
            <a:r>
              <a:rPr lang="ru-RU" dirty="0"/>
              <a:t>/</a:t>
            </a:r>
            <a:r>
              <a:rPr lang="ru-RU" dirty="0" err="1"/>
              <a:t>Time_Series_StateSpace.ipynb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0709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79D54-4E19-7B3D-4353-6425B55D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FFD68EA-B0F5-355E-1171-27A2EA8BB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350" y="3512344"/>
            <a:ext cx="7099300" cy="977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C5ECB4-8A21-AF8E-4268-DB6A28B07980}"/>
              </a:ext>
            </a:extLst>
          </p:cNvPr>
          <p:cNvSpPr txBox="1"/>
          <p:nvPr/>
        </p:nvSpPr>
        <p:spPr>
          <a:xfrm>
            <a:off x="4506685" y="583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en.wikipedia.org</a:t>
            </a:r>
            <a:r>
              <a:rPr lang="ru-RU" dirty="0"/>
              <a:t>/</a:t>
            </a:r>
            <a:r>
              <a:rPr lang="ru-RU" dirty="0" err="1"/>
              <a:t>wiki</a:t>
            </a:r>
            <a:r>
              <a:rPr lang="ru-RU" dirty="0"/>
              <a:t>/</a:t>
            </a:r>
            <a:r>
              <a:rPr lang="ru-RU" dirty="0" err="1"/>
              <a:t>Infinite_impulse_response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DAB427-7EDE-9A0E-97C1-591193C8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878" y="1632744"/>
            <a:ext cx="53975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79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AEC3C-0185-133D-BF18-A7FEB994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196075-3F08-C444-D939-D9EB8634F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0AA3F2-100E-631A-EB67-99933BDA9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65" y="1185863"/>
            <a:ext cx="6692900" cy="4991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9893CA-408F-6895-AA59-B4D8641A8407}"/>
              </a:ext>
            </a:extLst>
          </p:cNvPr>
          <p:cNvSpPr txBox="1"/>
          <p:nvPr/>
        </p:nvSpPr>
        <p:spPr>
          <a:xfrm>
            <a:off x="631372" y="6311900"/>
            <a:ext cx="7903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courses.grainger.illinois.edu</a:t>
            </a:r>
            <a:r>
              <a:rPr lang="ru-RU" dirty="0"/>
              <a:t>/ECE401/fa2022/</a:t>
            </a:r>
            <a:r>
              <a:rPr lang="ru-RU" dirty="0" err="1"/>
              <a:t>lectures</a:t>
            </a:r>
            <a:r>
              <a:rPr lang="ru-RU" dirty="0"/>
              <a:t>/lec28.pdf</a:t>
            </a:r>
          </a:p>
        </p:txBody>
      </p:sp>
    </p:spTree>
    <p:extLst>
      <p:ext uri="{BB962C8B-B14F-4D97-AF65-F5344CB8AC3E}">
        <p14:creationId xmlns:p14="http://schemas.microsoft.com/office/powerpoint/2010/main" val="1801577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EB5D2-A780-5313-8E16-1B6C68B2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Частотные признаки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97EDF9-E188-1292-496F-1C5DB4CB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329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34657-CE61-A4E5-F0E7-657BF202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11747-B710-101D-B9FF-A006362DC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760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743" y="97971"/>
            <a:ext cx="10883187" cy="768804"/>
          </a:xfrm>
        </p:spPr>
        <p:txBody>
          <a:bodyPr>
            <a:normAutofit/>
          </a:bodyPr>
          <a:lstStyle/>
          <a:p>
            <a:r>
              <a:rPr lang="ru-RU" dirty="0"/>
              <a:t>О представлении гармонического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9486" y="866776"/>
                <a:ext cx="11375571" cy="5791200"/>
              </a:xfrm>
            </p:spPr>
            <p:txBody>
              <a:bodyPr>
                <a:noAutofit/>
              </a:bodyPr>
              <a:lstStyle/>
              <a:p>
                <a:r>
                  <a:rPr lang="ru-RU" sz="2100" b="1" dirty="0"/>
                  <a:t>Комплексно-</a:t>
                </a:r>
                <a:r>
                  <a:rPr lang="ru-RU" sz="2100" b="1" dirty="0" err="1"/>
                  <a:t>значный</a:t>
                </a:r>
                <a:r>
                  <a:rPr lang="ru-RU" sz="2100" b="1" dirty="0"/>
                  <a:t> гармонический ВР </a:t>
                </a:r>
                <a:r>
                  <a:rPr lang="ru-RU" sz="2100" dirty="0"/>
                  <a:t>– это общая модель гармонического ВР: </a:t>
                </a:r>
                <a:endParaRPr lang="en-US" sz="21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𝐴𝑒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1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)</a:t>
                </a:r>
              </a:p>
              <a:p>
                <a:r>
                  <a:rPr lang="ru-RU" sz="2100" b="1" dirty="0"/>
                  <a:t>Действительно-</a:t>
                </a:r>
                <a:r>
                  <a:rPr lang="ru-RU" sz="2100" b="1" dirty="0" err="1"/>
                  <a:t>значный</a:t>
                </a:r>
                <a:r>
                  <a:rPr lang="ru-RU" sz="2100" b="1" dirty="0"/>
                  <a:t> ВР</a:t>
                </a:r>
                <a:r>
                  <a:rPr lang="ru-RU" sz="2100" dirty="0"/>
                  <a:t>(синус, косинус) – часть комплексного ВР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100" i="1">
                        <a:latin typeface="Cambria Math" panose="02040503050406030204" pitchFamily="18" charset="0"/>
                      </a:rPr>
                      <m:t>; 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ru-RU" sz="2100" dirty="0"/>
              </a:p>
              <a:p>
                <a:r>
                  <a:rPr lang="ru-RU" sz="2100" b="1" dirty="0"/>
                  <a:t>Аналитический ВР </a:t>
                </a:r>
                <a:r>
                  <a:rPr lang="ru-RU" sz="2100" dirty="0"/>
                  <a:t>– метод формирования комплексного ВР из действительно-</a:t>
                </a:r>
                <a:r>
                  <a:rPr lang="ru-RU" sz="2100" dirty="0" err="1"/>
                  <a:t>значного</a:t>
                </a:r>
                <a:r>
                  <a:rPr lang="ru-RU" sz="2100" dirty="0"/>
                  <a:t>:</a:t>
                </a:r>
                <a:endParaRPr lang="en-US" sz="2100" dirty="0"/>
              </a:p>
              <a:p>
                <a:pPr marL="447675" lvl="1"/>
                <a:r>
                  <a:rPr lang="en-US" sz="2100" b="1" dirty="0"/>
                  <a:t>QI </a:t>
                </a:r>
                <a:r>
                  <a:rPr lang="ru-RU" sz="2100" b="1" dirty="0"/>
                  <a:t>квадратуры</a:t>
                </a:r>
                <a:r>
                  <a:rPr lang="ru-RU" sz="2100" dirty="0"/>
                  <a:t> ВР:</a:t>
                </a:r>
              </a:p>
              <a:p>
                <a:pPr marL="904875" lvl="3"/>
                <a:r>
                  <a:rPr lang="en-US" sz="2100" dirty="0"/>
                  <a:t>Q</a:t>
                </a:r>
                <a:r>
                  <a:rPr lang="ru-RU" sz="2100" dirty="0"/>
                  <a:t> квадратура</a:t>
                </a:r>
                <a:r>
                  <a:rPr lang="en-US" sz="2100" dirty="0"/>
                  <a:t>: 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100" dirty="0"/>
              </a:p>
              <a:p>
                <a:pPr marL="904875" lvl="3"/>
                <a:r>
                  <a:rPr lang="en-US" sz="2100" dirty="0"/>
                  <a:t>I </a:t>
                </a:r>
                <a:r>
                  <a:rPr lang="ru-RU" sz="2100" dirty="0"/>
                  <a:t>квадратура: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100" dirty="0"/>
              </a:p>
              <a:p>
                <a:pPr marL="447675" lvl="1"/>
                <a:r>
                  <a:rPr lang="ru-RU" sz="2100" dirty="0"/>
                  <a:t>Аналитический ВР:</a:t>
                </a:r>
                <a:endParaRPr lang="en-US" sz="2100" dirty="0"/>
              </a:p>
              <a:p>
                <a:pPr marL="904875" lvl="3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100" dirty="0"/>
                  <a:t>  </a:t>
                </a:r>
                <a:endParaRPr lang="en-US" sz="2100" dirty="0"/>
              </a:p>
              <a:p>
                <a:pPr marL="447675" lvl="2"/>
                <a:r>
                  <a:rPr lang="ru-RU" sz="2100" dirty="0"/>
                  <a:t>Квадратуры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могут быть получены:</a:t>
                </a:r>
              </a:p>
              <a:p>
                <a:pPr marL="904875" lvl="4"/>
                <a:r>
                  <a:rPr lang="ru-RU" sz="2000" dirty="0" err="1"/>
                  <a:t>Гетеродинирование</a:t>
                </a:r>
                <a:r>
                  <a:rPr lang="ru-RU" sz="2000" dirty="0"/>
                  <a:t> (перемножение) действительно-</a:t>
                </a:r>
                <a:r>
                  <a:rPr lang="ru-RU" sz="2000" dirty="0" err="1"/>
                  <a:t>значного</a:t>
                </a:r>
                <a:r>
                  <a:rPr lang="ru-RU" sz="2000" dirty="0"/>
                  <a:t> ВР с опорными синус и косинус сигналами </a:t>
                </a:r>
                <a:r>
                  <a:rPr lang="en-US" sz="2000" dirty="0"/>
                  <a:t>(QI </a:t>
                </a:r>
                <a:r>
                  <a:rPr lang="ru-RU" sz="2000" dirty="0"/>
                  <a:t>гетеродин – смеситель)</a:t>
                </a:r>
              </a:p>
              <a:p>
                <a:pPr marL="904875" lvl="4"/>
                <a:r>
                  <a:rPr lang="ru-RU" sz="2000" dirty="0"/>
                  <a:t>Фильтрация Гильберта (цифровой фильтр Гильберта) – особый прием  получения мнимой части для действительно-</a:t>
                </a:r>
                <a:r>
                  <a:rPr lang="ru-RU" sz="2000" dirty="0" err="1"/>
                  <a:t>значного</a:t>
                </a:r>
                <a:r>
                  <a:rPr lang="ru-RU" sz="2000" dirty="0"/>
                  <a:t> ВР	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486" y="866776"/>
                <a:ext cx="11375571" cy="5791200"/>
              </a:xfrm>
              <a:blipFill>
                <a:blip r:embed="rId2"/>
                <a:stretch>
                  <a:fillRect l="-446" t="-1313" r="-2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751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199" y="365127"/>
            <a:ext cx="11310257" cy="501648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аналитического ВР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5943" y="866776"/>
                <a:ext cx="11745686" cy="5791199"/>
              </a:xfrm>
            </p:spPr>
            <p:txBody>
              <a:bodyPr>
                <a:noAutofit/>
              </a:bodyPr>
              <a:lstStyle/>
              <a:p>
                <a:pPr marL="266700" lvl="3">
                  <a:lnSpc>
                    <a:spcPct val="100000"/>
                  </a:lnSpc>
                </a:pPr>
                <a:r>
                  <a:rPr lang="ru-RU" sz="2100" dirty="0"/>
                  <a:t>Аналитический ВР представляет собой виртуальное объединение его двух составляющих:</a:t>
                </a:r>
              </a:p>
              <a:p>
                <a:pPr marL="904875" lvl="3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100" dirty="0"/>
                  <a:t>  </a:t>
                </a:r>
              </a:p>
              <a:p>
                <a:pPr marL="447675" lvl="2">
                  <a:lnSpc>
                    <a:spcPct val="100000"/>
                  </a:lnSpc>
                </a:pPr>
                <a:r>
                  <a:rPr lang="ru-RU" sz="2100" dirty="0"/>
                  <a:t>Аналитический ВР может быть представлен как комплексный:</a:t>
                </a:r>
              </a:p>
              <a:p>
                <a:pPr marL="219075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10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ru-RU" sz="2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2100" dirty="0"/>
              </a:p>
              <a:p>
                <a:pPr marL="219075" lvl="2" indent="0">
                  <a:lnSpc>
                    <a:spcPct val="100000"/>
                  </a:lnSpc>
                  <a:buNone/>
                </a:pPr>
                <a:r>
                  <a:rPr lang="ru-RU" sz="2100" dirty="0"/>
                  <a:t>где </a:t>
                </a:r>
                <a:endParaRPr lang="en-US" sz="2100" dirty="0"/>
              </a:p>
              <a:p>
                <a:pPr marL="561975" lvl="2" indent="-3429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sz="21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100" i="1" dirty="0">
                        <a:latin typeface="Cambria Math"/>
                      </a:rPr>
                      <m:t> 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b="1" dirty="0">
                    <a:latin typeface="+mj-lt"/>
                  </a:rPr>
                  <a:t> огибающая ВР</a:t>
                </a:r>
                <a:r>
                  <a:rPr lang="en-US" sz="2100" b="1" dirty="0">
                    <a:latin typeface="+mj-lt"/>
                  </a:rPr>
                  <a:t> (</a:t>
                </a:r>
                <a:r>
                  <a:rPr lang="ru-RU" sz="2100" b="1" dirty="0">
                    <a:latin typeface="+mj-lt"/>
                  </a:rPr>
                  <a:t>его мультипликативный тренд)</a:t>
                </a:r>
                <a:endParaRPr lang="ru-RU" sz="2100" b="1" dirty="0"/>
              </a:p>
              <a:p>
                <a:pPr marL="561975" lvl="2" indent="-3429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 </a:t>
                </a:r>
                <a:r>
                  <a:rPr lang="ru-RU" sz="2100" b="1" dirty="0"/>
                  <a:t>фаза (аргумент) сигнала</a:t>
                </a:r>
              </a:p>
              <a:p>
                <a:pPr marL="1019175" lvl="3" indent="-342900">
                  <a:lnSpc>
                    <a:spcPct val="100000"/>
                  </a:lnSpc>
                </a:pPr>
                <a:r>
                  <a:rPr lang="ru-RU" sz="19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900" dirty="0"/>
                  <a:t>,  </a:t>
                </a:r>
                <a:r>
                  <a:rPr lang="ru-RU" sz="1900" dirty="0"/>
                  <a:t>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- </a:t>
                </a:r>
                <a:r>
                  <a:rPr lang="ru-RU" sz="1900" dirty="0"/>
                  <a:t>называется комплексная огибающая сигнала.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3" y="866776"/>
                <a:ext cx="11745686" cy="5791199"/>
              </a:xfrm>
              <a:blipFill>
                <a:blip r:embed="rId2"/>
                <a:stretch>
                  <a:fillRect l="-216" t="-6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69273" y="4816409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Огибающая ВР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701" y="453995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6ACFEE77-C037-44B2-976B-7F974329B067}"/>
              </a:ext>
            </a:extLst>
          </p:cNvPr>
          <p:cNvGraphicFramePr>
            <a:graphicFrameLocks/>
          </p:cNvGraphicFramePr>
          <p:nvPr/>
        </p:nvGraphicFramePr>
        <p:xfrm>
          <a:off x="3462044" y="4916998"/>
          <a:ext cx="2927981" cy="1680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3873E469-AA7B-409C-95DE-14892C9DC995}"/>
              </a:ext>
            </a:extLst>
          </p:cNvPr>
          <p:cNvGraphicFramePr>
            <a:graphicFrameLocks/>
          </p:cNvGraphicFramePr>
          <p:nvPr/>
        </p:nvGraphicFramePr>
        <p:xfrm>
          <a:off x="195943" y="5166177"/>
          <a:ext cx="3146357" cy="1326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B92DE6C0-E5A9-4A77-BB2C-681F943493CC}"/>
              </a:ext>
            </a:extLst>
          </p:cNvPr>
          <p:cNvGraphicFramePr>
            <a:graphicFrameLocks/>
          </p:cNvGraphicFramePr>
          <p:nvPr/>
        </p:nvGraphicFramePr>
        <p:xfrm>
          <a:off x="6311233" y="4724622"/>
          <a:ext cx="2560316" cy="2065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C9554E7-5AF0-4560-B0FF-353C22A7297B}"/>
              </a:ext>
            </a:extLst>
          </p:cNvPr>
          <p:cNvSpPr txBox="1"/>
          <p:nvPr/>
        </p:nvSpPr>
        <p:spPr>
          <a:xfrm>
            <a:off x="6622456" y="457792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Фаза ВР</a:t>
            </a:r>
          </a:p>
        </p:txBody>
      </p:sp>
      <p:pic>
        <p:nvPicPr>
          <p:cNvPr id="3074" name="Picture 2" descr="Envelope (waves) - Wikipedia">
            <a:extLst>
              <a:ext uri="{FF2B5EF4-FFF2-40B4-BE49-F238E27FC236}">
                <a16:creationId xmlns:a16="http://schemas.microsoft.com/office/drawing/2014/main" id="{EF31974D-7667-FC8C-8A47-6A9715990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865" y="4724622"/>
            <a:ext cx="3380265" cy="212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3199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BFB445-E5A6-4512-9E13-C8FF23C8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320841" y="5226308"/>
            <a:ext cx="1326661" cy="133305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971" y="365128"/>
            <a:ext cx="9941379" cy="80644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Спектр Огибающей и гармонического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7971" y="1304925"/>
                <a:ext cx="10439400" cy="52863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Спектр ВР  –спектра  произведения видеоимпульса на сигнал </a:t>
                </a:r>
                <a:r>
                  <a:rPr lang="ru-RU" sz="2000" dirty="0" err="1"/>
                  <a:t>моногармонику</a:t>
                </a:r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В сравнение со спектром бесконечной </a:t>
                </a:r>
                <a:r>
                  <a:rPr lang="ru-RU" sz="2000" dirty="0" err="1"/>
                  <a:t>моногармоники</a:t>
                </a:r>
                <a:r>
                  <a:rPr lang="ru-RU" sz="2000" dirty="0"/>
                  <a:t> спектр радиоимпульса имеет конечную ширину основного пика </a:t>
                </a:r>
                <a:r>
                  <a:rPr lang="en-US" sz="2000" dirty="0"/>
                  <a:t>~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и</m:t>
                        </m:r>
                      </m:sub>
                    </m:sSub>
                  </m:oMath>
                </a14:m>
                <a:r>
                  <a:rPr lang="ru-RU" sz="1900" dirty="0"/>
                  <a:t> и боковые лепестки.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1800" dirty="0"/>
                  <a:t>Боковые лепестки – утечки энергии на не основной частоте, они связаны с конечной длиной спектра.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1800" dirty="0"/>
                  <a:t>Чем уже импульс, тем шире его пик и наоборот.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971" y="1304925"/>
                <a:ext cx="10439400" cy="5286374"/>
              </a:xfrm>
              <a:blipFill>
                <a:blip r:embed="rId3"/>
                <a:stretch>
                  <a:fillRect l="-486" t="-4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43" y="4371143"/>
            <a:ext cx="2732694" cy="11819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86649" y="4012893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Сигнал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162" y="4145379"/>
            <a:ext cx="2620134" cy="1315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10060" y="3893463"/>
                <a:ext cx="3729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Спектр, ширина основного пика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𝜏</m:t>
                        </m:r>
                      </m:e>
                      <m:sub>
                        <m:r>
                          <a:rPr lang="ru-RU" i="1" dirty="0">
                            <a:latin typeface="Cambria Math"/>
                          </a:rPr>
                          <m:t>и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060" y="3893463"/>
                <a:ext cx="3729291" cy="369332"/>
              </a:xfrm>
              <a:prstGeom prst="rect">
                <a:avLst/>
              </a:prstGeom>
              <a:blipFill>
                <a:blip r:embed="rId6"/>
                <a:stretch>
                  <a:fillRect l="-1356" t="-6667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3478CD6-2DC3-4358-A9CC-2ABA3FCCD008}"/>
              </a:ext>
            </a:extLst>
          </p:cNvPr>
          <p:cNvSpPr txBox="1"/>
          <p:nvPr/>
        </p:nvSpPr>
        <p:spPr>
          <a:xfrm>
            <a:off x="1743075" y="4618460"/>
            <a:ext cx="1454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радиоимпульс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2FA81-E4C8-47CF-9742-C6A0304E600B}"/>
              </a:ext>
            </a:extLst>
          </p:cNvPr>
          <p:cNvSpPr txBox="1"/>
          <p:nvPr/>
        </p:nvSpPr>
        <p:spPr>
          <a:xfrm>
            <a:off x="1743075" y="5671564"/>
            <a:ext cx="145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err="1"/>
              <a:t>видиоимпульс</a:t>
            </a:r>
            <a:endParaRPr lang="ru-RU" sz="16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88990A3-B10D-4F24-9340-5AADB890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43" y="5460875"/>
            <a:ext cx="2732694" cy="118193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4E94E7-1100-41DD-9792-76F996D3368E}"/>
              </a:ext>
            </a:extLst>
          </p:cNvPr>
          <p:cNvSpPr/>
          <p:nvPr/>
        </p:nvSpPr>
        <p:spPr>
          <a:xfrm>
            <a:off x="6520744" y="5396753"/>
            <a:ext cx="96963" cy="109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89DF84D-66E9-49FD-98D3-D29F08497A26}"/>
              </a:ext>
            </a:extLst>
          </p:cNvPr>
          <p:cNvCxnSpPr/>
          <p:nvPr/>
        </p:nvCxnSpPr>
        <p:spPr>
          <a:xfrm flipV="1">
            <a:off x="7745506" y="5553076"/>
            <a:ext cx="0" cy="874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3E9DCB5-564B-4369-B58B-8B1F1A047445}"/>
              </a:ext>
            </a:extLst>
          </p:cNvPr>
          <p:cNvSpPr/>
          <p:nvPr/>
        </p:nvSpPr>
        <p:spPr>
          <a:xfrm>
            <a:off x="7580401" y="6473720"/>
            <a:ext cx="355170" cy="190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22B17B-3B18-4526-AFA4-5B35FA8EAEB5}"/>
              </a:ext>
            </a:extLst>
          </p:cNvPr>
          <p:cNvSpPr txBox="1"/>
          <p:nvPr/>
        </p:nvSpPr>
        <p:spPr>
          <a:xfrm>
            <a:off x="7597732" y="643385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77435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694417"/>
          </a:xfrm>
        </p:spPr>
        <p:txBody>
          <a:bodyPr>
            <a:normAutofit fontScale="90000"/>
          </a:bodyPr>
          <a:lstStyle/>
          <a:p>
            <a:r>
              <a:rPr lang="ru-RU" dirty="0"/>
              <a:t>Свойства спектров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14286" y="1175658"/>
                <a:ext cx="8225064" cy="5384800"/>
              </a:xfrm>
            </p:spPr>
            <p:txBody>
              <a:bodyPr>
                <a:normAutofit/>
              </a:bodyPr>
              <a:lstStyle/>
              <a:p>
                <a:r>
                  <a:rPr lang="ru-RU" sz="2100" dirty="0"/>
                  <a:t>1. Линейность: </a:t>
                </a:r>
              </a:p>
              <a:p>
                <a:pPr marL="0" indent="0">
                  <a:buNone/>
                </a:pPr>
                <a:r>
                  <a:rPr lang="ru-RU" sz="2100" dirty="0"/>
                  <a:t>	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100" dirty="0"/>
                  <a:t> 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dirty="0"/>
                  <a:t>	то 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100" dirty="0"/>
              </a:p>
              <a:p>
                <a:pPr marL="0" indent="0">
                  <a:buNone/>
                </a:pPr>
                <a:r>
                  <a:rPr lang="ru-RU" sz="2100" dirty="0"/>
                  <a:t>	и</a:t>
                </a:r>
              </a:p>
              <a:p>
                <a:pPr marL="0" indent="0">
                  <a:buNone/>
                </a:pPr>
                <a:r>
                  <a:rPr lang="ru-RU" sz="2100" dirty="0"/>
                  <a:t>	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𝑎𝑠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где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2100" dirty="0"/>
                  <a:t>=</a:t>
                </a:r>
                <a:r>
                  <a:rPr lang="en-US" sz="2100" dirty="0" err="1"/>
                  <a:t>const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dirty="0"/>
                  <a:t>	то 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𝑎𝑠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ru-RU" sz="2100" dirty="0"/>
              </a:p>
              <a:p>
                <a:pPr marL="0" indent="0">
                  <a:buNone/>
                </a:pPr>
                <a:r>
                  <a:rPr lang="en-US" sz="2100" dirty="0"/>
                  <a:t> </a:t>
                </a:r>
                <a:r>
                  <a:rPr lang="ru-RU" sz="2100" dirty="0"/>
                  <a:t>	Таким образом спектр любой линейной комбинации сигналов 	равен линейной комбинации спектров этих сигналов.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4286" y="1175658"/>
                <a:ext cx="8225064" cy="5384800"/>
              </a:xfrm>
              <a:blipFill>
                <a:blip r:embed="rId2"/>
                <a:stretch>
                  <a:fillRect l="-772" t="-1412" r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65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694417"/>
          </a:xfrm>
        </p:spPr>
        <p:txBody>
          <a:bodyPr>
            <a:normAutofit fontScale="90000"/>
          </a:bodyPr>
          <a:lstStyle/>
          <a:p>
            <a:r>
              <a:rPr lang="ru-RU" dirty="0"/>
              <a:t>Свойства спектров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14286" y="1175658"/>
                <a:ext cx="8225064" cy="5384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100" dirty="0"/>
                  <a:t>2. Спектр умножение сигналов</a:t>
                </a:r>
              </a:p>
              <a:p>
                <a:pPr marL="457200" lvl="1" indent="0">
                  <a:buNone/>
                </a:pPr>
                <a:r>
                  <a:rPr lang="ru-RU" sz="2100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100" dirty="0"/>
                  <a:t> </a:t>
                </a:r>
                <a:endParaRPr lang="ru-RU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	то</a:t>
                </a:r>
                <a:endParaRPr lang="en-US" sz="2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1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[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ru-RU" sz="2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nary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Где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nary>
                  </m:oMath>
                </a14:m>
                <a:r>
                  <a:rPr lang="ru-RU" sz="2100" dirty="0"/>
                  <a:t>- обратное преобразование Фурье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100" dirty="0"/>
                  <a:t>, </a:t>
                </a:r>
                <a:r>
                  <a:rPr lang="ru-RU" sz="2100" dirty="0"/>
                  <a:t>тогда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ru-RU" sz="2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ru-RU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1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d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nary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1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nary>
                    </m:oMath>
                  </m:oMathPara>
                </a14:m>
                <a:endParaRPr lang="en-US" sz="21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	Таким образом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21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2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nary>
                    <m:r>
                      <a:rPr lang="ru-RU" sz="2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)∗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	</a:t>
                </a:r>
                <a:r>
                  <a:rPr lang="ru-RU" sz="2400" b="1" dirty="0"/>
                  <a:t>Спектр умножения сигналов равен свертке спектров сигналов</a:t>
                </a:r>
                <a:endParaRPr lang="ru-RU" sz="2100" b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100" dirty="0"/>
                  <a:t>3. Свертка сигналов и умножение спектров сигналов</a:t>
                </a:r>
              </a:p>
              <a:p>
                <a:pPr marL="457200" lvl="1" indent="0">
                  <a:buNone/>
                </a:pPr>
                <a:r>
                  <a:rPr lang="ru-RU" sz="2100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100" dirty="0"/>
                  <a:t> </a:t>
                </a:r>
                <a:endParaRPr lang="ru-RU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	то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pPr marL="457200" lvl="1" indent="0">
                  <a:buNone/>
                </a:pPr>
                <a:r>
                  <a:rPr lang="ru-RU" sz="2100" b="1" dirty="0"/>
                  <a:t>Свертка сигналов равно умножению их спектров.</a:t>
                </a:r>
                <a:endParaRPr lang="en-US" sz="2100" b="1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4286" y="1175658"/>
                <a:ext cx="8225064" cy="5384800"/>
              </a:xfrm>
              <a:blipFill>
                <a:blip r:embed="rId2"/>
                <a:stretch>
                  <a:fillRect l="-772" t="-8471" r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8133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80644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Свертка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98852" y="1171574"/>
                <a:ext cx="8794296" cy="52863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ru-RU" sz="2100" dirty="0"/>
                  <a:t>7. Свертка сигналов  - операция свертки – перемножения сигналов со сдвигом – одна из наиболее частых операций в обработки радиотехнических сигналов.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700" dirty="0"/>
                  <a:t>Пример использования свертки – фильтрация сигналов.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ru-RU" sz="21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100" dirty="0"/>
                  <a:t> </a:t>
                </a:r>
                <a:r>
                  <a:rPr lang="ru-RU" sz="2100" dirty="0"/>
                  <a:t>	где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100" dirty="0"/>
                  <a:t> </a:t>
                </a:r>
                <a:r>
                  <a:rPr lang="ru-RU" sz="2100" dirty="0"/>
                  <a:t>результат свертки сигналов;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100" i="1" dirty="0">
                    <a:latin typeface="Cambria Math" panose="02040503050406030204" pitchFamily="18" charset="0"/>
                  </a:rPr>
                  <a:t> - </a:t>
                </a:r>
                <a:r>
                  <a:rPr lang="ru-RU" sz="2100" dirty="0"/>
                  <a:t>исходный сигнал и 	ядро свертки (напр. Импульсная характеристика фильтра)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100" dirty="0"/>
                  <a:t>Из определений взаимно корреляционной функции и свертки: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ru-RU" sz="2100" dirty="0"/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1700" dirty="0"/>
                  <a:t>	 	</a:t>
                </a:r>
                <a:endParaRPr lang="ru-RU" sz="17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98852" y="1171574"/>
                <a:ext cx="8794296" cy="5286374"/>
              </a:xfrm>
              <a:blipFill>
                <a:blip r:embed="rId2"/>
                <a:stretch>
                  <a:fillRect l="-576" t="-1679" r="-2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059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8"/>
            <a:ext cx="7886700" cy="80644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Разрешение гармоник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1514" y="1171574"/>
                <a:ext cx="11756572" cy="548375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100" dirty="0"/>
                  <a:t>Разрешение ВР – способностью разделить гармоники (напр., чтобы отфильтровать полезную составляющую от помеховых). 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100" dirty="0"/>
                  <a:t>Если гармонические </a:t>
                </a:r>
                <a:r>
                  <a:rPr lang="ru-RU" sz="2100" dirty="0" err="1"/>
                  <a:t>составлящие</a:t>
                </a:r>
                <a:r>
                  <a:rPr lang="ru-RU" sz="2100" dirty="0"/>
                  <a:t> линейно независимы, то они разрешаются (на практике если </a:t>
                </a:r>
                <a14:m>
                  <m:oMath xmlns:m="http://schemas.openxmlformats.org/officeDocument/2006/math">
                    <m:r>
                      <a:rPr lang="ru-RU" sz="2100" b="0" i="0" smtClean="0">
                        <a:latin typeface="Cambria Math" panose="02040503050406030204" pitchFamily="18" charset="0"/>
                      </a:rPr>
                      <m:t>коэффициент корреляции </m:t>
                    </m:r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&gt;0.5)</m:t>
                    </m:r>
                  </m:oMath>
                </a14:m>
                <a:r>
                  <a:rPr lang="ru-RU" sz="2100" dirty="0"/>
                  <a:t>.</a:t>
                </a:r>
                <a:endParaRPr lang="en-US" sz="2100" dirty="0"/>
              </a:p>
              <a:p>
                <a:pPr marL="536575">
                  <a:lnSpc>
                    <a:spcPct val="100000"/>
                  </a:lnSpc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514" y="1171574"/>
                <a:ext cx="11756572" cy="5483750"/>
              </a:xfrm>
              <a:blipFill>
                <a:blip r:embed="rId2"/>
                <a:stretch>
                  <a:fillRect l="-540" t="-693" r="-9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1" y="3742041"/>
            <a:ext cx="8111283" cy="27728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2817" y="3418875"/>
            <a:ext cx="3835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Сигналы, </a:t>
            </a:r>
          </a:p>
          <a:p>
            <a:r>
              <a:rPr lang="ru-RU" dirty="0"/>
              <a:t>разрешенные во временной области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544" y="3418875"/>
            <a:ext cx="35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Сигналы, </a:t>
            </a:r>
          </a:p>
          <a:p>
            <a:r>
              <a:rPr lang="ru-RU" dirty="0"/>
              <a:t>разрешенные в частотной области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1436" y="6079201"/>
            <a:ext cx="8868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u="sng" dirty="0"/>
              <a:t>Чем короче сигналы, тем лучше они разрешены во временной области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u="sng" dirty="0"/>
              <a:t>Чем длиннее сигналы, тем лучше они разрешены в частотной области (уже спектр)</a:t>
            </a:r>
          </a:p>
        </p:txBody>
      </p:sp>
    </p:spTree>
    <p:extLst>
      <p:ext uri="{BB962C8B-B14F-4D97-AF65-F5344CB8AC3E}">
        <p14:creationId xmlns:p14="http://schemas.microsoft.com/office/powerpoint/2010/main" val="2145215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061" y="4496471"/>
            <a:ext cx="46005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261433"/>
            <a:ext cx="7886700" cy="596407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Функция неопределенности гармоник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37457" y="933254"/>
                <a:ext cx="10151434" cy="567493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Функция неопределенности сигнала (ФН) – двухмерная авто-корреляционная функция вида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100" b="1" dirty="0"/>
                  <a:t>Функция неопределённости показывает возможность разрешения сигналом его копии, имеющей сдвиг по времени </a:t>
                </a:r>
                <a14:m>
                  <m:oMath xmlns:m="http://schemas.openxmlformats.org/officeDocument/2006/math">
                    <m:r>
                      <a:rPr lang="en-US" sz="2100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ru-RU" sz="2100" b="1" dirty="0"/>
                  <a:t> и по частоте </a:t>
                </a:r>
                <a14:m>
                  <m:oMath xmlns:m="http://schemas.openxmlformats.org/officeDocument/2006/math">
                    <m:r>
                      <a:rPr lang="en-US" sz="2100" b="1" i="1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ru-RU" sz="2100" b="1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Для любых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𝛀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В идеальном случае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457" y="933254"/>
                <a:ext cx="10151434" cy="5674936"/>
              </a:xfrm>
              <a:blipFill>
                <a:blip r:embed="rId3"/>
                <a:stretch>
                  <a:fillRect l="-499" t="-10938" r="-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315269" y="4284668"/>
            <a:ext cx="5592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Функция неопределенности прямоугольного импульса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9526" y="6445405"/>
                <a:ext cx="8192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/>
                  <a:t>В случае наличия шумов функция будет более размытой </a:t>
                </a:r>
                <a14:m>
                  <m:oMath xmlns:m="http://schemas.openxmlformats.org/officeDocument/2006/math">
                    <m:r>
                      <a:rPr lang="ru-RU" b="1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разрешение упадет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526" y="6445405"/>
                <a:ext cx="8192948" cy="369332"/>
              </a:xfrm>
              <a:prstGeom prst="rect">
                <a:avLst/>
              </a:prstGeom>
              <a:blipFill>
                <a:blip r:embed="rId4"/>
                <a:stretch>
                  <a:fillRect l="-619" t="-6667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163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261432"/>
            <a:ext cx="7886700" cy="832078"/>
          </a:xfrm>
        </p:spPr>
        <p:txBody>
          <a:bodyPr>
            <a:noAutofit/>
          </a:bodyPr>
          <a:lstStyle/>
          <a:p>
            <a:pPr algn="ctr"/>
            <a:r>
              <a:rPr lang="ru-RU" sz="3200" dirty="0"/>
              <a:t>Связь корреляции и разрешения сигналов – Функция неопределенности сигналов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03109" y="1131218"/>
                <a:ext cx="8785782" cy="547697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Взаимная корреляция сигналов показывает возможность их разрешения 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Два сигнала, имеющие задержку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000" dirty="0"/>
                  <a:t>  могут быть разрешены, если</a:t>
                </a:r>
                <a:br>
                  <a:rPr lang="ru-RU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Sup>
                          <m:sSub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endParaRPr lang="ru-RU" sz="16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Аналогично в частотной области два сигнала, имеющие разность частот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могут быть разрешены, если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ru-RU" sz="16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в</a:t>
                </a:r>
                <a:r>
                  <a:rPr lang="en-US" sz="2000" dirty="0"/>
                  <a:t> </a:t>
                </a:r>
                <a:r>
                  <a:rPr lang="ru-RU" sz="2000" dirty="0"/>
                  <a:t>силу теоремы о сдвиге спектра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Функция неопределенности сигнала – двухмерная авто-корреляционная функция вида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100" b="1" dirty="0"/>
                  <a:t> </a:t>
                </a:r>
                <a:r>
                  <a:rPr lang="ru-RU" sz="2100" b="1" dirty="0"/>
                  <a:t>Функция неопределённости показывает возможность разрешения сигналом его копии, имеющей сдвиг по времени </a:t>
                </a:r>
                <a14:m>
                  <m:oMath xmlns:m="http://schemas.openxmlformats.org/officeDocument/2006/math">
                    <m:r>
                      <a:rPr lang="en-US" sz="2100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ru-RU" sz="2100" b="1" dirty="0"/>
                  <a:t> и по частоте </a:t>
                </a:r>
                <a14:m>
                  <m:oMath xmlns:m="http://schemas.openxmlformats.org/officeDocument/2006/math">
                    <m:r>
                      <a:rPr lang="en-US" sz="2100" b="1" i="1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ru-RU" sz="21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109" y="1131218"/>
                <a:ext cx="8785782" cy="5476972"/>
              </a:xfrm>
              <a:blipFill>
                <a:blip r:embed="rId2"/>
                <a:stretch>
                  <a:fillRect l="-432" t="-9259" b="-19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3736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815974"/>
          </a:xfrm>
        </p:spPr>
        <p:txBody>
          <a:bodyPr>
            <a:normAutofit/>
          </a:bodyPr>
          <a:lstStyle/>
          <a:p>
            <a:r>
              <a:rPr lang="ru-RU" dirty="0"/>
              <a:t>Оптимальная фильтрация БГШ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1102"/>
                <a:ext cx="11615057" cy="54387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Согласованный фильтр – это фильтр составляющих ВР, целью которого является обеспечение максимального отношения сигнал/шум на выходе при условии, что на входе имеется аддитивная смесь полезного ВР и белого Гауссова шума.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ru-RU" sz="2000" dirty="0"/>
                  <a:t>Результат работы любого фильтра можно представить как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447675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0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000" dirty="0"/>
                  <a:t> сигнал на выходе фильтра, </a:t>
                </a:r>
                <a:endParaRPr lang="en-US" sz="2000" dirty="0"/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2000" dirty="0"/>
                  <a:t> - сигнал на входе,</a:t>
                </a:r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белый гауссов шум (БГШ)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 marL="790575" indent="-3429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полезный сигнал.</a:t>
                </a:r>
              </a:p>
              <a:p>
                <a:pPr marL="342900" indent="-342900">
                  <a:lnSpc>
                    <a:spcPct val="100000"/>
                  </a:lnSpc>
                </a:pPr>
                <a:r>
                  <a:rPr lang="ru-RU" sz="2000" dirty="0"/>
                  <a:t>В силу некоррелированности полезного сигнала и шума результат работы оптимального фильтра – максимальная фильтрация шума.</a:t>
                </a:r>
              </a:p>
              <a:p>
                <a:pPr marL="342900" indent="-342900">
                  <a:lnSpc>
                    <a:spcPct val="10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1102"/>
                <a:ext cx="11615057" cy="5438773"/>
              </a:xfrm>
              <a:blipFill>
                <a:blip r:embed="rId2"/>
                <a:stretch>
                  <a:fillRect l="-437" t="-6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2024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7FD0B-FC2C-9932-291E-6A03F5BB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56016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В</a:t>
            </a:r>
            <a:r>
              <a:rPr lang="en-US" dirty="0"/>
              <a:t> </a:t>
            </a:r>
            <a:r>
              <a:rPr lang="ru-RU" dirty="0"/>
              <a:t> целом о рядах Фурье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A0820D-DBFA-F148-8287-9FBB0118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6FFE68-948E-159F-AAC1-B847EBF4F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085"/>
            <a:ext cx="7126906" cy="5493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EEABC-202A-3E8B-896B-759E9406A53E}"/>
              </a:ext>
            </a:extLst>
          </p:cNvPr>
          <p:cNvSpPr txBox="1"/>
          <p:nvPr/>
        </p:nvSpPr>
        <p:spPr>
          <a:xfrm>
            <a:off x="228600" y="6492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habr.com</a:t>
            </a:r>
            <a:r>
              <a:rPr lang="ru-RU" dirty="0"/>
              <a:t>/</a:t>
            </a:r>
            <a:r>
              <a:rPr lang="ru-RU" dirty="0" err="1"/>
              <a:t>ru</a:t>
            </a:r>
            <a:r>
              <a:rPr lang="ru-RU" dirty="0"/>
              <a:t>/</a:t>
            </a:r>
            <a:r>
              <a:rPr lang="ru-RU" dirty="0" err="1"/>
              <a:t>companies</a:t>
            </a:r>
            <a:r>
              <a:rPr lang="ru-RU" dirty="0"/>
              <a:t>/</a:t>
            </a:r>
            <a:r>
              <a:rPr lang="ru-RU" dirty="0" err="1"/>
              <a:t>glowbyte</a:t>
            </a:r>
            <a:r>
              <a:rPr lang="ru-RU" dirty="0"/>
              <a:t>/</a:t>
            </a:r>
            <a:r>
              <a:rPr lang="ru-RU" dirty="0" err="1"/>
              <a:t>articles</a:t>
            </a:r>
            <a:r>
              <a:rPr lang="ru-RU" dirty="0"/>
              <a:t>/542940/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C28226-1C26-75B4-DCC6-2418F3FC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4" y="158297"/>
            <a:ext cx="6220157" cy="479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07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006CD-E6F9-2814-7838-36BE0683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119743"/>
            <a:ext cx="11146971" cy="482599"/>
          </a:xfrm>
        </p:spPr>
        <p:txBody>
          <a:bodyPr>
            <a:normAutofit fontScale="90000"/>
          </a:bodyPr>
          <a:lstStyle/>
          <a:p>
            <a:r>
              <a:rPr lang="ru-RU" dirty="0"/>
              <a:t>В целом о рядах Фурье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550ED-82CE-2DC6-3660-75F47E21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5DDB6D-898E-6546-F329-E7B4A77E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342"/>
            <a:ext cx="7338138" cy="602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581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3076" y="365128"/>
            <a:ext cx="8296275" cy="80644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Спектр бесконечной </a:t>
            </a:r>
            <a:r>
              <a:rPr lang="ru-RU" dirty="0" err="1"/>
              <a:t>моногармоники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В комплексном виде сигнал имеет вид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ru-RU" sz="18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Спектр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dirty="0"/>
                  <a:t>	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𝑈</m:t>
                        </m:r>
                        <m:sSup>
                          <m:sSup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90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ru-RU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ru-RU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e>
                    </m:nary>
                    <m:sSup>
                      <m:sSup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9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f>
                      <m:fPr>
                        <m:ctrlPr>
                          <a:rPr lang="ru-RU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9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sz="19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9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den>
                    </m:f>
                    <m:sSubSup>
                      <m:sSubSupPr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900">
                                <a:latin typeface="Cambria Math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en-US" sz="19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sz="19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ru-RU" sz="19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1600" dirty="0"/>
                  <a:t>Где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∞ 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1600" dirty="0"/>
                  <a:t> - </a:t>
                </a:r>
                <a:r>
                  <a:rPr lang="ru-RU" sz="1600" dirty="0"/>
                  <a:t>дельта функция Дирака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1600" dirty="0"/>
                  <a:t>Энергия бесконечного сигнала бесконечна на частоте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/>
                  <a:t> и 0 на других частотах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  <a:blipFill>
                <a:blip r:embed="rId2"/>
                <a:stretch>
                  <a:fillRect l="-577" t="-4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743076" y="4191598"/>
            <a:ext cx="28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Временное представление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44" y="4114288"/>
            <a:ext cx="5077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Частотное представление – одна гармоника </a:t>
            </a:r>
            <a:r>
              <a:rPr lang="en-US" dirty="0"/>
              <a:t>f=1/T</a:t>
            </a:r>
          </a:p>
          <a:p>
            <a:r>
              <a:rPr lang="en-US" dirty="0"/>
              <a:t> </a:t>
            </a:r>
            <a:r>
              <a:rPr lang="ru-RU" dirty="0"/>
              <a:t>(амплитудный спектр)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347" y="4570805"/>
            <a:ext cx="7283600" cy="202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00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3076" y="365128"/>
            <a:ext cx="8296275" cy="80644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Спектр бесконечной </a:t>
            </a:r>
            <a:r>
              <a:rPr lang="ru-RU" dirty="0" err="1"/>
              <a:t>моногармоники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Действительная часть сигнала имеет вид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Спектр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/>
                  <a:t>)</a:t>
                </a:r>
                <a:endParaRPr lang="ru-RU" sz="19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1600" dirty="0"/>
                  <a:t>Спектр действительной части сигнала симметричен на частотах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 и</m:t>
                    </m:r>
                  </m:oMath>
                </a14:m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  <a:blipFill>
                <a:blip r:embed="rId2"/>
                <a:stretch>
                  <a:fillRect l="-577" t="-4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831976" y="3948112"/>
            <a:ext cx="28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Временное представление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4495" y="3938787"/>
            <a:ext cx="5078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Частотное представление – одна действительная </a:t>
            </a:r>
            <a:br>
              <a:rPr lang="ru-RU" dirty="0"/>
            </a:br>
            <a:r>
              <a:rPr lang="ru-RU" dirty="0"/>
              <a:t>гармоника </a:t>
            </a:r>
            <a:r>
              <a:rPr lang="en-US" dirty="0"/>
              <a:t>f=1/T </a:t>
            </a:r>
            <a:r>
              <a:rPr lang="ru-RU" dirty="0"/>
              <a:t>(амплитудный спектр)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326" y="4718469"/>
            <a:ext cx="7693025" cy="177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294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3076" y="365128"/>
            <a:ext cx="8296275" cy="80644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Спектр бесконечной </a:t>
            </a:r>
            <a:r>
              <a:rPr lang="ru-RU" dirty="0" err="1"/>
              <a:t>моногармоники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Мнимая часть сигнала имеет вид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𝑖𝑈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𝑖𝑈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Спектр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/>
                  <a:t>)</a:t>
                </a:r>
                <a:endParaRPr lang="ru-RU" sz="19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1600" dirty="0"/>
                  <a:t>Спектр мнимой части сигнала асимметричен на частотах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 и</m:t>
                    </m:r>
                  </m:oMath>
                </a14:m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a:rPr lang="ru-RU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075" y="1304925"/>
                <a:ext cx="8794296" cy="5286374"/>
              </a:xfrm>
              <a:blipFill>
                <a:blip r:embed="rId2"/>
                <a:stretch>
                  <a:fillRect l="-577" t="-4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743076" y="3694112"/>
            <a:ext cx="28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Временное представление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5595" y="3684787"/>
            <a:ext cx="5078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Частотное представление – одна действительная </a:t>
            </a:r>
            <a:br>
              <a:rPr lang="ru-RU" dirty="0"/>
            </a:br>
            <a:r>
              <a:rPr lang="ru-RU" dirty="0"/>
              <a:t>гармоника </a:t>
            </a:r>
            <a:r>
              <a:rPr lang="en-US" dirty="0"/>
              <a:t>f=1/T </a:t>
            </a:r>
            <a:r>
              <a:rPr lang="ru-RU" dirty="0"/>
              <a:t>(амплитудный спектр)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424" y="4253405"/>
            <a:ext cx="6526877" cy="1692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20224" y="6012418"/>
            <a:ext cx="63199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Можно заметить, что сумма спектров действительной </a:t>
            </a:r>
          </a:p>
          <a:p>
            <a:r>
              <a:rPr lang="ru-RU" sz="2000" b="1" dirty="0"/>
              <a:t>и мнимой частей дает спектр комплексного сигнала</a:t>
            </a:r>
          </a:p>
        </p:txBody>
      </p:sp>
    </p:spTree>
    <p:extLst>
      <p:ext uri="{BB962C8B-B14F-4D97-AF65-F5344CB8AC3E}">
        <p14:creationId xmlns:p14="http://schemas.microsoft.com/office/powerpoint/2010/main" val="1134465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3532</Words>
  <Application>Microsoft Macintosh PowerPoint</Application>
  <PresentationFormat>Широкоэкранный</PresentationFormat>
  <Paragraphs>380</Paragraphs>
  <Slides>56</Slides>
  <Notes>1</Notes>
  <HiddenSlides>15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Тема Office</vt:lpstr>
      <vt:lpstr>Спектральное представление временных рядов</vt:lpstr>
      <vt:lpstr>О преобразовании и рядах Фурье</vt:lpstr>
      <vt:lpstr>Преобразование Фурье</vt:lpstr>
      <vt:lpstr>О дискретизации и оцифровке сигналов Теорема Котельникова</vt:lpstr>
      <vt:lpstr>О дискретизации и оцифровке сигналов</vt:lpstr>
      <vt:lpstr>Дискретное преобразование Фурье</vt:lpstr>
      <vt:lpstr>О спектрах оцифрованных сигналов</vt:lpstr>
      <vt:lpstr>О спектрах оцифрованных сигналов.  Быстрое преобразование Фурье</vt:lpstr>
      <vt:lpstr>О временном и частотном представлении ВР</vt:lpstr>
      <vt:lpstr>Модель воспроизводимых сигналов/стационарных ВР Гармонический ВР</vt:lpstr>
      <vt:lpstr>Модель регулярных сигналов/стационарных ВР</vt:lpstr>
      <vt:lpstr>Геометрический смысл спектра Фурье</vt:lpstr>
      <vt:lpstr>Модель воспроизводимых сигналов/стационарных ВР Гармонический ВР с огибающей</vt:lpstr>
      <vt:lpstr>Фильтрация ВР фильтрами с конечной импульсной характеристикой</vt:lpstr>
      <vt:lpstr>Фильтрация ВР фильтрами с бесконечной импульсной характеристикой</vt:lpstr>
      <vt:lpstr>Примеры частотного представления ВР</vt:lpstr>
      <vt:lpstr>Не гармонический ВР</vt:lpstr>
      <vt:lpstr>О гармонических сигналах с нестационарным периодом</vt:lpstr>
      <vt:lpstr>Примеры время-частотного представления</vt:lpstr>
      <vt:lpstr>Время-частотное преобразование Фурье</vt:lpstr>
      <vt:lpstr>Оконное преобразование Фурье</vt:lpstr>
      <vt:lpstr>Оконное преобразование Фурье</vt:lpstr>
      <vt:lpstr>Разложение сигнала в произвольном базисе</vt:lpstr>
      <vt:lpstr>Базис Уолша</vt:lpstr>
      <vt:lpstr>Базис Уолша</vt:lpstr>
      <vt:lpstr>Вейвлет базисы</vt:lpstr>
      <vt:lpstr>Вейвлет базисы</vt:lpstr>
      <vt:lpstr>Вейвлет-преобразование</vt:lpstr>
      <vt:lpstr>Модель регулярных ВР  как суперпозиции Intrinsic mode functions</vt:lpstr>
      <vt:lpstr>Фильтрация ВР</vt:lpstr>
      <vt:lpstr>Вейвлет-преобразование</vt:lpstr>
      <vt:lpstr>Поблемы вейвлетов и их приемущества</vt:lpstr>
      <vt:lpstr>Псевдоспекральные разложения</vt:lpstr>
      <vt:lpstr>Сигнулярное разложение нестационарных ВР</vt:lpstr>
      <vt:lpstr>Внутренние моды ВР</vt:lpstr>
      <vt:lpstr>Связь частотного представления и других методов</vt:lpstr>
      <vt:lpstr>Презентация PowerPoint</vt:lpstr>
      <vt:lpstr>Презентация PowerPoint</vt:lpstr>
      <vt:lpstr>Презентация PowerPoint</vt:lpstr>
      <vt:lpstr>Частотные признаки ВР</vt:lpstr>
      <vt:lpstr>Классификация ВР</vt:lpstr>
      <vt:lpstr>О представлении гармонического ВР</vt:lpstr>
      <vt:lpstr>Модель аналитического ВР </vt:lpstr>
      <vt:lpstr>Спектр Огибающей и гармонического ВР</vt:lpstr>
      <vt:lpstr>Свойства спектров сигналов</vt:lpstr>
      <vt:lpstr>Свойства спектров сигналов</vt:lpstr>
      <vt:lpstr>Свертка сигналов</vt:lpstr>
      <vt:lpstr>Разрешение гармоник ВР</vt:lpstr>
      <vt:lpstr>Функция неопределенности гармоник ВР</vt:lpstr>
      <vt:lpstr>Связь корреляции и разрешения сигналов – Функция неопределенности сигналов</vt:lpstr>
      <vt:lpstr>Оптимальная фильтрация БГШ </vt:lpstr>
      <vt:lpstr>В  целом о рядах Фурье</vt:lpstr>
      <vt:lpstr>В целом о рядах Фурье</vt:lpstr>
      <vt:lpstr>Спектр бесконечной моногармоники</vt:lpstr>
      <vt:lpstr>Спектр бесконечной моногармоники</vt:lpstr>
      <vt:lpstr>Спектр бесконечной моногармоники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90</cp:revision>
  <dcterms:created xsi:type="dcterms:W3CDTF">2021-10-31T10:57:36Z</dcterms:created>
  <dcterms:modified xsi:type="dcterms:W3CDTF">2025-01-12T14:12:59Z</dcterms:modified>
</cp:coreProperties>
</file>