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0"/>
  </p:notesMasterIdLst>
  <p:sldIdLst>
    <p:sldId id="338" r:id="rId2"/>
    <p:sldId id="387" r:id="rId3"/>
    <p:sldId id="382" r:id="rId4"/>
    <p:sldId id="390" r:id="rId5"/>
    <p:sldId id="393" r:id="rId6"/>
    <p:sldId id="388" r:id="rId7"/>
    <p:sldId id="391" r:id="rId8"/>
    <p:sldId id="392" r:id="rId9"/>
    <p:sldId id="395" r:id="rId10"/>
    <p:sldId id="401" r:id="rId11"/>
    <p:sldId id="447" r:id="rId12"/>
    <p:sldId id="450" r:id="rId13"/>
    <p:sldId id="402" r:id="rId14"/>
    <p:sldId id="451" r:id="rId15"/>
    <p:sldId id="348" r:id="rId16"/>
    <p:sldId id="394" r:id="rId17"/>
    <p:sldId id="351" r:id="rId18"/>
    <p:sldId id="396" r:id="rId19"/>
    <p:sldId id="350" r:id="rId20"/>
    <p:sldId id="352" r:id="rId21"/>
    <p:sldId id="353" r:id="rId22"/>
    <p:sldId id="409" r:id="rId23"/>
    <p:sldId id="397" r:id="rId24"/>
    <p:sldId id="399" r:id="rId25"/>
    <p:sldId id="452" r:id="rId26"/>
    <p:sldId id="454" r:id="rId27"/>
    <p:sldId id="455" r:id="rId28"/>
    <p:sldId id="456" r:id="rId29"/>
    <p:sldId id="457" r:id="rId30"/>
    <p:sldId id="458" r:id="rId31"/>
    <p:sldId id="459" r:id="rId32"/>
    <p:sldId id="460" r:id="rId33"/>
    <p:sldId id="461" r:id="rId34"/>
    <p:sldId id="462" r:id="rId35"/>
    <p:sldId id="463" r:id="rId36"/>
    <p:sldId id="464" r:id="rId37"/>
    <p:sldId id="465" r:id="rId38"/>
    <p:sldId id="466" r:id="rId39"/>
    <p:sldId id="467" r:id="rId40"/>
    <p:sldId id="468" r:id="rId41"/>
    <p:sldId id="469" r:id="rId42"/>
    <p:sldId id="470" r:id="rId43"/>
    <p:sldId id="471" r:id="rId44"/>
    <p:sldId id="472" r:id="rId45"/>
    <p:sldId id="473" r:id="rId46"/>
    <p:sldId id="474" r:id="rId47"/>
    <p:sldId id="475" r:id="rId48"/>
    <p:sldId id="453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 autoAdjust="0"/>
    <p:restoredTop sz="83973" autoAdjust="0"/>
  </p:normalViewPr>
  <p:slideViewPr>
    <p:cSldViewPr snapToGrid="0">
      <p:cViewPr varScale="1">
        <p:scale>
          <a:sx n="110" d="100"/>
          <a:sy n="110" d="100"/>
        </p:scale>
        <p:origin x="8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A96C9A-3213-B245-BC64-7E419D14BD9D}" type="datetimeFigureOut">
              <a:rPr lang="ru-RU" smtClean="0"/>
              <a:t>23.07.2025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1EE30-E435-D745-B23A-FF31C83176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1195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4664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6147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17016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61788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66878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D18BA-D680-7B96-02F9-861C902A4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46B88F9-A535-B316-A9F8-13B986774D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7998119-CE33-144F-7234-9811AEC1C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="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657A107-06D5-30F3-A29E-2711A90B0B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29907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156D06-6B42-419D-A61C-F7AD45031849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828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01351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63774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55294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https://huggingface.co/spaces/Salesforce/GIFT-Eval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4401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66712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56241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01606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65EDB-29AD-A6EA-7DBD-86547287F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7ADD6A5-D3D6-4A70-AF6A-A6CBCEB263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5CFE5A9-91E7-A266-B827-688E615DC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ADF6AE-A657-7E28-E060-6391DA636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5380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214BE-636D-8A45-BCA6-8B7ED77AA124}" type="datetime1">
              <a:rPr lang="ru-RU" smtClean="0"/>
              <a:t>23.07.2025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012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A339-F8AE-5C45-BEAE-07EF9DC78B60}" type="datetime1">
              <a:rPr lang="ru-RU" smtClean="0"/>
              <a:t>23.07.2025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126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6FDE4-97E0-CE4A-988C-F30B221290A7}" type="datetime1">
              <a:rPr lang="ru-RU" smtClean="0"/>
              <a:t>23.07.2025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783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ECE8B-8DEC-154E-9F03-047C8DDA20DC}" type="datetime1">
              <a:rPr lang="ru-RU" smtClean="0"/>
              <a:t>23.07.2025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29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816D5-BDB8-B34B-8ACA-ECBDD12E7321}" type="datetime1">
              <a:rPr lang="ru-RU" smtClean="0"/>
              <a:t>23.07.2025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999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589A-5627-764C-AF96-C1E2F9A00A4D}" type="datetime1">
              <a:rPr lang="ru-RU" smtClean="0"/>
              <a:t>23.07.2025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977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EE0D0-1696-6D4F-B917-4AFB24A74E8B}" type="datetime1">
              <a:rPr lang="ru-RU" smtClean="0"/>
              <a:t>23.07.2025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11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8A91E-B09B-2240-9AA3-B1D4BCC6296E}" type="datetime1">
              <a:rPr lang="ru-RU" smtClean="0"/>
              <a:t>23.07.2025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922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9760E-DA8D-6747-B31E-62858C8727B8}" type="datetime1">
              <a:rPr lang="ru-RU" smtClean="0"/>
              <a:t>23.07.2025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940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5274A-4ED4-0146-A3E9-88EF200B5196}" type="datetime1">
              <a:rPr lang="ru-RU" smtClean="0"/>
              <a:t>23.07.2025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1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8DFF1-9FDC-144B-973E-B4B4609709DF}" type="datetime1">
              <a:rPr lang="ru-RU" smtClean="0"/>
              <a:t>23.07.2025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24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305DF-F750-CC43-967D-51A20925EE94}" type="datetime1">
              <a:rPr lang="ru-RU" smtClean="0"/>
              <a:t>23.07.2025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56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0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0169207024001079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Makridakis_Competitions" TargetMode="External"/><Relationship Id="rId5" Type="http://schemas.openxmlformats.org/officeDocument/2006/relationships/hyperlink" Target="https://statmodeling.stat.columbia.edu/wp-content/uploads/2021/10/M5_accuracy_competition.pdf" TargetMode="External"/><Relationship Id="rId4" Type="http://schemas.openxmlformats.org/officeDocument/2006/relationships/hyperlink" Target="https://m-e-gorelli.medium.com/how-i-won-6-000-in-the-m6-forecasting-competition-888df68bf132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eeksforgeeks.org/python/time-series-decomposition-techniques/" TargetMode="External"/><Relationship Id="rId3" Type="http://schemas.openxmlformats.org/officeDocument/2006/relationships/hyperlink" Target="https://otexts.com/fpp2/classical-decomposition.html" TargetMode="External"/><Relationship Id="rId7" Type="http://schemas.openxmlformats.org/officeDocument/2006/relationships/image" Target="../media/image44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hyperlink" Target="http://www.gardner.fyi/blog/STL-Part-II/" TargetMode="External"/><Relationship Id="rId10" Type="http://schemas.openxmlformats.org/officeDocument/2006/relationships/image" Target="../media/image46.png"/><Relationship Id="rId4" Type="http://schemas.openxmlformats.org/officeDocument/2006/relationships/hyperlink" Target="https://www.openforecast.org/adam/classical-seasonal-decomposition.html" TargetMode="External"/><Relationship Id="rId9" Type="http://schemas.openxmlformats.org/officeDocument/2006/relationships/image" Target="../media/image4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7320" y="1224565"/>
            <a:ext cx="9144000" cy="2387600"/>
          </a:xfrm>
        </p:spPr>
        <p:txBody>
          <a:bodyPr>
            <a:noAutofit/>
          </a:bodyPr>
          <a:lstStyle/>
          <a:p>
            <a:r>
              <a:rPr lang="ru-RU" b="1" dirty="0"/>
              <a:t>Статистический подход к анализу </a:t>
            </a:r>
            <a:br>
              <a:rPr lang="ru-RU" b="1" dirty="0"/>
            </a:br>
            <a:r>
              <a:rPr lang="ru-RU" b="1" dirty="0"/>
              <a:t>временных рядов.</a:t>
            </a:r>
            <a:endParaRPr lang="en-US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9A19EF5-ACCD-EF26-C88D-A3ED3DC99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843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B0BEDB-9774-4E17-9A6B-DBCF6A1F5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070" y="197786"/>
            <a:ext cx="9849485" cy="708799"/>
          </a:xfrm>
        </p:spPr>
        <p:txBody>
          <a:bodyPr>
            <a:normAutofit/>
          </a:bodyPr>
          <a:lstStyle/>
          <a:p>
            <a:r>
              <a:rPr lang="ru-RU" b="1" dirty="0"/>
              <a:t>Модели временных рядов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CDB8E57-5CA8-497C-990E-C304F4FBE7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6104" y="810561"/>
                <a:ext cx="11525249" cy="5545789"/>
              </a:xfrm>
            </p:spPr>
            <p:txBody>
              <a:bodyPr>
                <a:normAutofit/>
              </a:bodyPr>
              <a:lstStyle/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en-US" sz="2400" dirty="0"/>
                  <a:t>Часто  вводится аддитивная модель ВР</a:t>
                </a:r>
              </a:p>
              <a:p>
                <a:pPr marL="0" indent="0"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trend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) +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seasonal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) + 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noise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altLang="en-US" sz="2400" dirty="0"/>
                  <a:t>). </a:t>
                </a: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None/>
                </a:pPr>
                <a:r>
                  <a:rPr lang="ru-RU" altLang="en-US" sz="2000" dirty="0"/>
                  <a:t>где</a:t>
                </a:r>
                <a14:m>
                  <m:oMath xmlns:m="http://schemas.openxmlformats.org/officeDocument/2006/math">
                    <m:r>
                      <a:rPr lang="ru-RU" altLang="en-US" sz="20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en-US" sz="2000" i="0" dirty="0" smtClean="0">
                        <a:latin typeface="Cambria Math" panose="02040503050406030204" pitchFamily="18" charset="0"/>
                      </a:rPr>
                      <m:t>trend</m:t>
                    </m:r>
                    <m:d>
                      <m:d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00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ru-RU" altLang="en-US" sz="2000" dirty="0">
                    <a:latin typeface="Cambria Math" panose="02040503050406030204" pitchFamily="18" charset="0"/>
                  </a:rPr>
                  <a:t> - тренд ВР, </a:t>
                </a:r>
                <a14:m>
                  <m:oMath xmlns:m="http://schemas.openxmlformats.org/officeDocument/2006/math">
                    <m:r>
                      <a:rPr lang="ru-RU" altLang="en-US" sz="20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en-US" sz="2000" i="0" dirty="0" smtClean="0">
                        <a:latin typeface="Cambria Math" panose="02040503050406030204" pitchFamily="18" charset="0"/>
                      </a:rPr>
                      <m:t>seasonal</m:t>
                    </m:r>
                    <m:d>
                      <m:d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00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ru-RU" altLang="en-US" sz="2000" b="0" i="0" dirty="0" smtClean="0">
                        <a:latin typeface="Cambria Math" panose="02040503050406030204" pitchFamily="18" charset="0"/>
                      </a:rPr>
                      <m:t> −сезонность ВР</m:t>
                    </m:r>
                  </m:oMath>
                </a14:m>
                <a:r>
                  <a:rPr lang="ru-RU" altLang="en-US" sz="2000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000" i="0" dirty="0" smtClean="0">
                        <a:latin typeface="Cambria Math" panose="02040503050406030204" pitchFamily="18" charset="0"/>
                      </a:rPr>
                      <m:t>noise</m:t>
                    </m:r>
                    <m:r>
                      <a:rPr lang="en-US" altLang="en-US" sz="200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000" i="0" dirty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altLang="en-US" sz="2000" dirty="0"/>
                  <a:t>)</a:t>
                </a:r>
                <a:r>
                  <a:rPr lang="ru-RU" altLang="en-US" sz="2000" dirty="0"/>
                  <a:t> – остаточная часть ВР</a:t>
                </a:r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US" altLang="en-US" sz="2400" dirty="0"/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en-US" sz="2400" dirty="0"/>
                  <a:t>Иногда также разделяют тренд на уровень, тренд и цикличность:</a:t>
                </a:r>
              </a:p>
              <a:p>
                <a:pPr marL="0" indent="0"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y</m:t>
                    </m:r>
                    <m:d>
                      <m:dPr>
                        <m:ctrlPr>
                          <a:rPr lang="en-US" alt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40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sz="2400" b="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en-US" sz="2400" b="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en-US" sz="2400" b="0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tren</m:t>
                    </m:r>
                    <m:sSup>
                      <m:sSupPr>
                        <m:ctrlP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en-US" sz="2400" i="0" dirty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p>
                        <m:r>
                          <a:rPr lang="en-US" altLang="en-US" sz="2400" b="0" i="0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40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altLang="en-US" sz="2400" b="0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en-US" sz="2400" b="0" i="0" dirty="0" smtClean="0">
                        <a:latin typeface="Cambria Math" panose="02040503050406030204" pitchFamily="18" charset="0"/>
                      </a:rPr>
                      <m:t>cyclic</m:t>
                    </m:r>
                    <m:r>
                      <a:rPr lang="en-US" altLang="en-US" sz="2400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400" b="0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en-US" sz="2400" b="0" i="0" dirty="0" smtClean="0">
                        <a:latin typeface="Cambria Math" panose="02040503050406030204" pitchFamily="18" charset="0"/>
                      </a:rPr>
                      <m:t>) +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seasonal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) + 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noise</m:t>
                    </m:r>
                    <m:r>
                      <a:rPr lang="en-US" altLang="en-US" sz="240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400" i="0" dirty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altLang="en-US" sz="2400" dirty="0"/>
                  <a:t>). </a:t>
                </a:r>
              </a:p>
              <a:p>
                <a:pPr marL="457200" lvl="1" indent="0" algn="just" eaLnBrk="0" fontAlgn="base" hangingPunct="0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None/>
                </a:pPr>
                <a:r>
                  <a:rPr lang="ru-RU" altLang="en-US" sz="20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sz="200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en-US" sz="200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altLang="en-US" sz="2000" dirty="0"/>
                  <a:t>- постоянная составляющая,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000" i="0" dirty="0" smtClean="0">
                        <a:latin typeface="Cambria Math" panose="02040503050406030204" pitchFamily="18" charset="0"/>
                      </a:rPr>
                      <m:t>cyclic</m:t>
                    </m:r>
                    <m:r>
                      <a:rPr lang="en-US" altLang="en-US" sz="200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000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en-US" sz="2000" i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altLang="en-US" sz="2000" dirty="0"/>
                  <a:t> – цикличность ВР,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000" i="0" dirty="0" smtClean="0">
                        <a:latin typeface="Cambria Math" panose="02040503050406030204" pitchFamily="18" charset="0"/>
                      </a:rPr>
                      <m:t>tren</m:t>
                    </m:r>
                    <m:sSup>
                      <m:sSup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en-US" sz="2000" i="0" dirty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p>
                        <m:r>
                          <a:rPr lang="en-US" altLang="en-US" sz="2000" i="0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00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ru-RU" altLang="en-US" sz="2000" dirty="0"/>
                  <a:t>-остальной тренд</a:t>
                </a:r>
                <a:endParaRPr lang="ru-RU" altLang="en-US" sz="2400" dirty="0"/>
              </a:p>
              <a:p>
                <a:pPr marL="898525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en-US" sz="2000" dirty="0"/>
                  <a:t>напр. если выделяют уровень экономики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sz="200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en-US" sz="200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altLang="en-US" sz="2000" dirty="0"/>
                  <a:t>, </a:t>
                </a:r>
                <a:endParaRPr lang="en-US" altLang="en-US" sz="2000" dirty="0"/>
              </a:p>
              <a:p>
                <a:pPr marL="1241425" indent="-3429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en-US" sz="2000" dirty="0"/>
                  <a:t>цикличность кризисов,</a:t>
                </a:r>
                <a:endParaRPr lang="en-US" altLang="en-US" sz="2000" dirty="0"/>
              </a:p>
              <a:p>
                <a:pPr marL="1241425" indent="-3429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en-US" sz="2000" b="1" dirty="0"/>
                  <a:t>тренд</a:t>
                </a:r>
                <a:r>
                  <a:rPr lang="ru-RU" altLang="en-US" sz="2000" dirty="0"/>
                  <a:t> экономики</a:t>
                </a:r>
                <a:endParaRPr lang="en-US" altLang="en-US" sz="2000" dirty="0"/>
              </a:p>
              <a:p>
                <a:pPr marL="1241425" indent="-3429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en-US" sz="2000" b="1" dirty="0"/>
                  <a:t>сезонные факторы ( год, неделя и </a:t>
                </a:r>
                <a:r>
                  <a:rPr lang="ru-RU" altLang="en-US" sz="2000" b="1" dirty="0" err="1"/>
                  <a:t>тд</a:t>
                </a:r>
                <a:r>
                  <a:rPr lang="ru-RU" altLang="en-US" sz="2000" b="1" dirty="0"/>
                  <a:t>)</a:t>
                </a:r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en-US" sz="20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CDB8E57-5CA8-497C-990E-C304F4FBE7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6104" y="810561"/>
                <a:ext cx="11525249" cy="5545789"/>
              </a:xfrm>
              <a:blipFill>
                <a:blip r:embed="rId2"/>
                <a:stretch>
                  <a:fillRect l="-770" t="-6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7EF2B8-3D80-AB22-FA4B-F0655B9EA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</a:t>
            </a:fld>
            <a:endParaRPr lang="en-US"/>
          </a:p>
        </p:txBody>
      </p:sp>
      <p:sp>
        <p:nvSpPr>
          <p:cNvPr id="5" name="Rectangle 231">
            <a:extLst>
              <a:ext uri="{FF2B5EF4-FFF2-40B4-BE49-F238E27FC236}">
                <a16:creationId xmlns:a16="http://schemas.microsoft.com/office/drawing/2014/main" id="{57F50B8E-A23A-4154-9A0C-994DE115A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756" y="4477386"/>
            <a:ext cx="52071" cy="1079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 sz="1351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6C52228-8C94-4CF2-AD63-BA9617333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3999" y="124999"/>
            <a:ext cx="18473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  <a:t/>
            </a:r>
            <a:b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CA1DAD-475E-4D0B-A20A-17535DDD4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3999" y="43935"/>
            <a:ext cx="65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712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795C2-7E07-1469-9870-10731979E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F3757B-A658-84DA-AF87-09AF2C0BB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636" y="197786"/>
            <a:ext cx="9477263" cy="880808"/>
          </a:xfrm>
        </p:spPr>
        <p:txBody>
          <a:bodyPr>
            <a:noAutofit/>
          </a:bodyPr>
          <a:lstStyle/>
          <a:p>
            <a:pPr algn="ctr"/>
            <a:r>
              <a:rPr lang="ru-RU" sz="4000" b="1" dirty="0"/>
              <a:t>Особенности модели временных рядов</a:t>
            </a:r>
            <a:endParaRPr lang="en-US" sz="40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BAE69D-36D8-D04E-E425-5890F7443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037" y="870413"/>
            <a:ext cx="11386458" cy="5460318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ru-RU" sz="2100" dirty="0"/>
              <a:t>Как правило тренд и сезонность объяснить частично можно (это структура ВР)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700" dirty="0"/>
              <a:t>можно разложить ВР на тренд и  сезонность известного типа. То что останется – мы считаем шумом (случайные колебания).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ru-RU" sz="2100" dirty="0"/>
              <a:t>Шум создает неопределенность или смещение в результатах предсказаний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ru-RU" sz="2100" dirty="0"/>
              <a:t>Данные с шумом можно описать статистически (ввести статистические гипотезы о данных)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ru-RU" sz="2100" dirty="0"/>
              <a:t>При статистическом анализе ВР введем стат. Характеристики ВР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46DBD4B-2A5F-824E-0852-1F4588667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</a:t>
            </a:fld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9E2F553-27F1-A9E4-3E80-186B4C2D8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3999" y="124999"/>
            <a:ext cx="18473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  <a:t/>
            </a:r>
            <a:b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0299A3-CABC-57D4-2339-DB1A2A6F0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3999" y="43935"/>
            <a:ext cx="65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FBF2AC38-DF2F-3DB7-8C04-C58B060D8E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4B08EDCE-CC97-1B6E-4FFB-7098941108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/>
          </a:p>
        </p:txBody>
      </p:sp>
      <p:pic>
        <p:nvPicPr>
          <p:cNvPr id="9" name="Picture 10" descr="fisher-ld generator network">
            <a:extLst>
              <a:ext uri="{FF2B5EF4-FFF2-40B4-BE49-F238E27FC236}">
                <a16:creationId xmlns:a16="http://schemas.microsoft.com/office/drawing/2014/main" id="{094FD0F3-3C45-1831-7A8D-5AD1DF9523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1268"/>
          <a:stretch>
            <a:fillRect/>
          </a:stretch>
        </p:blipFill>
        <p:spPr bwMode="auto">
          <a:xfrm>
            <a:off x="7010547" y="3340005"/>
            <a:ext cx="3690915" cy="2072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CAD22B5-69D6-B86B-8A88-593EC56D043C}"/>
              </a:ext>
            </a:extLst>
          </p:cNvPr>
          <p:cNvSpPr txBox="1"/>
          <p:nvPr/>
        </p:nvSpPr>
        <p:spPr>
          <a:xfrm>
            <a:off x="6400800" y="6452732"/>
            <a:ext cx="45775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www.mdpi.com</a:t>
            </a:r>
            <a:r>
              <a:rPr lang="ru-RU" sz="1200" dirty="0"/>
              <a:t>/2571-9394/5/4/37</a:t>
            </a:r>
          </a:p>
        </p:txBody>
      </p:sp>
      <p:pic>
        <p:nvPicPr>
          <p:cNvPr id="2052" name="Picture 4" descr="Forecasting 05 00037 g004">
            <a:extLst>
              <a:ext uri="{FF2B5EF4-FFF2-40B4-BE49-F238E27FC236}">
                <a16:creationId xmlns:a16="http://schemas.microsoft.com/office/drawing/2014/main" id="{BA41271C-0AFA-C211-2BE4-34C7CC0477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8" t="-1725" r="-6328" b="4206"/>
          <a:stretch>
            <a:fillRect/>
          </a:stretch>
        </p:blipFill>
        <p:spPr bwMode="auto">
          <a:xfrm>
            <a:off x="7403218" y="3443143"/>
            <a:ext cx="4486067" cy="2168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6869C0B-7131-A294-EB92-B57B16945595}"/>
              </a:ext>
            </a:extLst>
          </p:cNvPr>
          <p:cNvSpPr txBox="1"/>
          <p:nvPr/>
        </p:nvSpPr>
        <p:spPr>
          <a:xfrm>
            <a:off x="60579" y="5090821"/>
            <a:ext cx="688635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2"/>
            <a:r>
              <a:rPr lang="ru-RU" sz="2100" b="1" dirty="0"/>
              <a:t>Остаточная часть может содержать информацию, необъясненную моделью!</a:t>
            </a:r>
            <a:endParaRPr lang="ru-RU" sz="2100" dirty="0"/>
          </a:p>
        </p:txBody>
      </p:sp>
      <p:pic>
        <p:nvPicPr>
          <p:cNvPr id="2050" name="Picture 2" descr="Forecasting 05 00037 g002">
            <a:extLst>
              <a:ext uri="{FF2B5EF4-FFF2-40B4-BE49-F238E27FC236}">
                <a16:creationId xmlns:a16="http://schemas.microsoft.com/office/drawing/2014/main" id="{8A8EFD81-5807-BED2-93C4-70EFE43831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02" r="37620" b="4330"/>
          <a:stretch>
            <a:fillRect/>
          </a:stretch>
        </p:blipFill>
        <p:spPr bwMode="auto">
          <a:xfrm>
            <a:off x="6793471" y="3146214"/>
            <a:ext cx="4834467" cy="3350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DF10E1-0017-BDF5-41D6-ECD9FB8B0037}"/>
              </a:ext>
            </a:extLst>
          </p:cNvPr>
          <p:cNvSpPr txBox="1"/>
          <p:nvPr/>
        </p:nvSpPr>
        <p:spPr>
          <a:xfrm>
            <a:off x="241270" y="2838406"/>
            <a:ext cx="685912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Пример 1</a:t>
            </a:r>
            <a:br>
              <a:rPr lang="ru-RU" b="1" dirty="0"/>
            </a:br>
            <a:r>
              <a:rPr lang="ru-RU" b="1" dirty="0"/>
              <a:t>Прогнозирование спроса в баре:</a:t>
            </a:r>
            <a:endParaRPr lang="ru-RU" dirty="0"/>
          </a:p>
          <a:p>
            <a:r>
              <a:rPr lang="ru-RU" b="1" dirty="0"/>
              <a:t>Структура:</a:t>
            </a:r>
            <a:endParaRPr lang="ru-RU" dirty="0"/>
          </a:p>
          <a:p>
            <a:pPr lvl="1"/>
            <a:r>
              <a:rPr lang="ru-RU" dirty="0"/>
              <a:t>Повышенные продажи по пятницам (</a:t>
            </a:r>
            <a:r>
              <a:rPr lang="ru-RU" dirty="0" err="1"/>
              <a:t>holiday</a:t>
            </a:r>
            <a:r>
              <a:rPr lang="en-US" dirty="0"/>
              <a:t>s effect)</a:t>
            </a:r>
            <a:r>
              <a:rPr lang="ru-RU" dirty="0"/>
              <a:t>.</a:t>
            </a:r>
          </a:p>
          <a:p>
            <a:pPr lvl="1"/>
            <a:r>
              <a:rPr lang="ru-RU" dirty="0"/>
              <a:t>Рост выручки летом (сезонность).</a:t>
            </a:r>
          </a:p>
          <a:p>
            <a:pPr lvl="1"/>
            <a:r>
              <a:rPr lang="ru-RU" dirty="0"/>
              <a:t>Влияние футбольных матчей (календарные эффекты).</a:t>
            </a:r>
          </a:p>
          <a:p>
            <a:r>
              <a:rPr lang="ru-RU" b="1" dirty="0"/>
              <a:t>Шум:</a:t>
            </a:r>
            <a:endParaRPr lang="ru-RU" dirty="0"/>
          </a:p>
          <a:p>
            <a:pPr lvl="1"/>
            <a:r>
              <a:rPr lang="ru-RU" dirty="0"/>
              <a:t>Изменение числа посетителей по пятницам (или другим дням)</a:t>
            </a:r>
          </a:p>
          <a:p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4BD40F-2444-22EE-0F3C-A35F292D5B5A}"/>
              </a:ext>
            </a:extLst>
          </p:cNvPr>
          <p:cNvSpPr txBox="1"/>
          <p:nvPr/>
        </p:nvSpPr>
        <p:spPr>
          <a:xfrm>
            <a:off x="6793470" y="2725644"/>
            <a:ext cx="4707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Пример 2 </a:t>
            </a:r>
            <a:r>
              <a:rPr lang="en" dirty="0"/>
              <a:t>Electricity Transformer Temperature</a:t>
            </a:r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D35081-F0C8-5927-0982-2E8D3316FBF4}"/>
              </a:ext>
            </a:extLst>
          </p:cNvPr>
          <p:cNvSpPr txBox="1"/>
          <p:nvPr/>
        </p:nvSpPr>
        <p:spPr>
          <a:xfrm>
            <a:off x="142389" y="5787944"/>
            <a:ext cx="6858000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None/>
            </a:pPr>
            <a:r>
              <a:rPr lang="ru-RU" b="1" i="0" dirty="0">
                <a:solidFill>
                  <a:srgbClr val="404040"/>
                </a:solidFill>
                <a:effectLst/>
                <a:latin typeface="quote-cjk-patch"/>
              </a:rPr>
              <a:t>Вопрос аудитории:</a:t>
            </a:r>
            <a:r>
              <a:rPr lang="ru-RU" b="0" i="0" dirty="0">
                <a:solidFill>
                  <a:srgbClr val="404040"/>
                </a:solidFill>
                <a:effectLst/>
                <a:latin typeface="quote-cjk-patch"/>
              </a:rPr>
              <a:t/>
            </a:r>
            <a:br>
              <a:rPr lang="ru-RU" b="0" i="0" dirty="0">
                <a:solidFill>
                  <a:srgbClr val="404040"/>
                </a:solidFill>
                <a:effectLst/>
                <a:latin typeface="quote-cjk-patch"/>
              </a:rPr>
            </a:br>
            <a:r>
              <a:rPr lang="ru-RU" b="0" i="1" dirty="0">
                <a:solidFill>
                  <a:srgbClr val="404040"/>
                </a:solidFill>
                <a:effectLst/>
                <a:latin typeface="quote-cjk-patch"/>
              </a:rPr>
              <a:t>"Можно ли полностью устранить шум? Что произойдет, если игнорировать его при планировании запасов?"</a:t>
            </a:r>
            <a:endParaRPr lang="ru-RU" b="0" i="0" dirty="0">
              <a:solidFill>
                <a:srgbClr val="404040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537850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3E599-491E-9D0B-A873-0682219DE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3CE594-68EE-E093-BE0F-46EF13444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857" y="204181"/>
            <a:ext cx="9081887" cy="701675"/>
          </a:xfrm>
        </p:spPr>
        <p:txBody>
          <a:bodyPr>
            <a:normAutofit/>
          </a:bodyPr>
          <a:lstStyle/>
          <a:p>
            <a:r>
              <a:rPr lang="ru-RU" dirty="0"/>
              <a:t>Белый Гауссов шум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C90446D-96A9-C6F8-8B18-B82CB93585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1353" y="853161"/>
                <a:ext cx="11644829" cy="285952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000" dirty="0"/>
                  <a:t>В идеале остаточная часть не содержит информации, равномерно распределена и все ее значения независимы друг от друга (</a:t>
                </a:r>
                <a:r>
                  <a:rPr lang="en-US" sz="2000" dirty="0"/>
                  <a:t>identical independent distribution - </a:t>
                </a:r>
                <a:r>
                  <a:rPr lang="ru-RU" sz="2000" dirty="0" err="1"/>
                  <a:t>i.i.d</a:t>
                </a:r>
                <a:r>
                  <a:rPr lang="ru-RU" sz="2000" dirty="0"/>
                  <a:t>) – такая остаточная часть называется Белый Гауссов Шум</a:t>
                </a:r>
                <a:r>
                  <a:rPr lang="en-US" sz="2000" dirty="0"/>
                  <a:t> (White Gaussian Noises)</a:t>
                </a:r>
                <a:r>
                  <a:rPr lang="ru-RU" sz="2000" dirty="0"/>
                  <a:t>. 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000" dirty="0"/>
                  <a:t>Обратите внимание, что WGN имеет так называемое нормальное распределение с нулевым средним.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𝑤𝑔𝑛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𝑠𝑡𝑑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𝑤𝑔𝑛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  <m:rad>
                            <m:radPr>
                              <m:degHide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𝑤𝑔𝑛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𝑠𝑡𝑑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𝑤𝑔𝑛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000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𝑤𝑔𝑛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распределние</a:t>
                </a:r>
                <a:r>
                  <a:rPr lang="en-US" sz="2000" dirty="0"/>
                  <a:t>.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C90446D-96A9-C6F8-8B18-B82CB93585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1353" y="853161"/>
                <a:ext cx="11644829" cy="2859523"/>
              </a:xfrm>
              <a:blipFill>
                <a:blip r:embed="rId2"/>
                <a:stretch>
                  <a:fillRect l="-6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069AA6E-94FF-7413-7F65-A38504D68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4</a:t>
            </a:fld>
            <a:endParaRPr lang="en-US"/>
          </a:p>
        </p:txBody>
      </p:sp>
      <p:pic>
        <p:nvPicPr>
          <p:cNvPr id="11268" name="Picture 4" descr="image.png">
            <a:extLst>
              <a:ext uri="{FF2B5EF4-FFF2-40B4-BE49-F238E27FC236}">
                <a16:creationId xmlns:a16="http://schemas.microsoft.com/office/drawing/2014/main" id="{C419EEAC-D406-406E-6A2C-FC0E31293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7987" y="4182627"/>
            <a:ext cx="2877379" cy="2103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E3E8B28-40F1-2361-FCA5-36112D783949}"/>
              </a:ext>
            </a:extLst>
          </p:cNvPr>
          <p:cNvSpPr/>
          <p:nvPr/>
        </p:nvSpPr>
        <p:spPr>
          <a:xfrm>
            <a:off x="1035586" y="3712684"/>
            <a:ext cx="1106093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Пример </a:t>
            </a:r>
            <a:r>
              <a:rPr lang="ru-RU" sz="2000" dirty="0" err="1"/>
              <a:t>wgn</a:t>
            </a:r>
            <a:r>
              <a:rPr lang="ru-RU" sz="2000" dirty="0"/>
              <a:t> - это когда вы выключаете антенну с телевизора и увидеть так называемый «снег» </a:t>
            </a:r>
          </a:p>
        </p:txBody>
      </p:sp>
      <p:pic>
        <p:nvPicPr>
          <p:cNvPr id="11270" name="Picture 6" descr="image.png">
            <a:extLst>
              <a:ext uri="{FF2B5EF4-FFF2-40B4-BE49-F238E27FC236}">
                <a16:creationId xmlns:a16="http://schemas.microsoft.com/office/drawing/2014/main" id="{FBD4E4E1-2D94-2347-F1CB-D2A319423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634" y="4147264"/>
            <a:ext cx="6047009" cy="2424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797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17BA2-14D3-0EBD-7F01-4E0E161D0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83E797-F1C9-9C7F-FF67-4AB807548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857" y="204181"/>
            <a:ext cx="9081887" cy="701675"/>
          </a:xfrm>
        </p:spPr>
        <p:txBody>
          <a:bodyPr>
            <a:normAutofit/>
          </a:bodyPr>
          <a:lstStyle/>
          <a:p>
            <a:r>
              <a:rPr lang="ru-RU" dirty="0"/>
              <a:t>Статистические </a:t>
            </a:r>
            <a:r>
              <a:rPr lang="ru-RU" dirty="0" err="1"/>
              <a:t>сво</a:t>
            </a:r>
            <a:r>
              <a:rPr lang="ru-RU" dirty="0"/>
              <a:t>	</a:t>
            </a:r>
            <a:r>
              <a:rPr lang="ru-RU" dirty="0" err="1"/>
              <a:t>йства</a:t>
            </a:r>
            <a:r>
              <a:rPr lang="ru-RU" dirty="0"/>
              <a:t> ВР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C2C294-7A96-5E70-2A21-B81587DAE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585" y="875278"/>
            <a:ext cx="11644829" cy="5982722"/>
          </a:xfrm>
        </p:spPr>
        <p:txBody>
          <a:bodyPr>
            <a:noAutofit/>
          </a:bodyPr>
          <a:lstStyle/>
          <a:p>
            <a:r>
              <a:rPr lang="en-US" sz="2200" dirty="0" err="1"/>
              <a:t>Е</a:t>
            </a:r>
            <a:r>
              <a:rPr lang="ru-RU" sz="2200" dirty="0" err="1"/>
              <a:t>сли</a:t>
            </a:r>
            <a:r>
              <a:rPr lang="ru-RU" sz="2200" dirty="0"/>
              <a:t> временной ряд не является белым гауссовым шумом и не нарушает принципов оцифровки ВР, то каждый его отсчет зависим от предыдущих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200" dirty="0"/>
              <a:t>Введем для такого ряда статистические свойства: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200" b="1" dirty="0"/>
              <a:t>Автокорреляция (АКФ) </a:t>
            </a:r>
            <a:r>
              <a:rPr lang="ru-RU" sz="2200" dirty="0"/>
              <a:t>– зависимость каждого значения ВР от его предыдущих значений (бывает полная и частичная АКФ). 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200" b="1" dirty="0"/>
              <a:t>Стационарность</a:t>
            </a:r>
            <a:r>
              <a:rPr lang="ru-RU" sz="2200" dirty="0"/>
              <a:t> – свойства сохранности основных статистических значений независимо от момента взятия выборки ВР (сильная и слабая стационарность</a:t>
            </a:r>
            <a:r>
              <a:rPr lang="ru-RU" dirty="0"/>
              <a:t>)</a:t>
            </a:r>
            <a:endParaRPr lang="ru-RU" sz="12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Могут быть и другие статистические показатели, например: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ru-RU" b="1" dirty="0"/>
              <a:t>Гомоскедастичность</a:t>
            </a:r>
            <a:r>
              <a:rPr lang="ru-RU" dirty="0"/>
              <a:t> – свойство ВР сохранять дисперсию во времени. </a:t>
            </a:r>
            <a:r>
              <a:rPr lang="ru-RU" b="1" dirty="0" err="1"/>
              <a:t>Гетероскедастичность</a:t>
            </a:r>
            <a:r>
              <a:rPr lang="ru-RU" dirty="0"/>
              <a:t> (</a:t>
            </a:r>
            <a:r>
              <a:rPr lang="en" dirty="0"/>
              <a:t>Heteroskedasticity)</a:t>
            </a:r>
            <a:r>
              <a:rPr lang="ru-RU" dirty="0"/>
              <a:t> – волатильность ВР 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ru-RU" b="1" dirty="0"/>
              <a:t>Окрашенность шума </a:t>
            </a:r>
            <a:r>
              <a:rPr lang="ru-RU" dirty="0"/>
              <a:t>– наличие в шуме автокорреляционных свойств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ru-RU" b="1" dirty="0"/>
              <a:t>Долговременная связанность </a:t>
            </a:r>
            <a:r>
              <a:rPr lang="ru-RU" dirty="0"/>
              <a:t>(показатель Херста) – долговременная зависимость  ВР от своих лагов (напр. Тренд)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ru-RU" b="1" dirty="0"/>
              <a:t>Нелинейность ВР</a:t>
            </a:r>
            <a:r>
              <a:rPr lang="ru-RU" dirty="0"/>
              <a:t> – компоненты связаны сложными зависимостями (напр. Модуляция)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ru-RU" b="1" dirty="0"/>
              <a:t>Структурные разрывы </a:t>
            </a:r>
            <a:r>
              <a:rPr lang="ru-RU" dirty="0"/>
              <a:t>(ряд с новизной или точками перегиба)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313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8AA7BF-8316-D890-B7B7-600FCCA16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895" y="150379"/>
            <a:ext cx="10968210" cy="703511"/>
          </a:xfrm>
        </p:spPr>
        <p:txBody>
          <a:bodyPr/>
          <a:lstStyle/>
          <a:p>
            <a:pPr algn="ctr"/>
            <a:r>
              <a:rPr lang="en-US" dirty="0" err="1"/>
              <a:t>Авто</a:t>
            </a:r>
            <a:r>
              <a:rPr lang="ru-RU" dirty="0"/>
              <a:t>корреляция ВР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93D9483-0912-FC98-5071-FB3F2E1816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1906" y="835163"/>
                <a:ext cx="9098068" cy="5108327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dirty="0"/>
                  <a:t>Получим численную оценку степени влияния значения 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" sz="2200" dirty="0"/>
                  <a:t>​ </a:t>
                </a:r>
                <a:r>
                  <a:rPr lang="ru-RU" sz="2200" dirty="0"/>
                  <a:t>на значение 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r>
                      <a:rPr lang="ru-RU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sz="2200" dirty="0"/>
                  <a:t>​</a:t>
                </a:r>
                <a:r>
                  <a:rPr lang="ru-RU" sz="2200" dirty="0"/>
                  <a:t> (оценки корреляции) в виде коэффициента корреляции Пирсона для ВР с самим собой со сдвигом на </a:t>
                </a:r>
                <a:r>
                  <a:rPr lang="el-GR" sz="2200" i="1" dirty="0"/>
                  <a:t>τ</a:t>
                </a:r>
                <a:r>
                  <a:rPr lang="ru-RU" sz="2200" i="1" dirty="0"/>
                  <a:t> – автокорреляцию ВР (АКФ)</a:t>
                </a:r>
                <a:r>
                  <a:rPr lang="el-GR" sz="2200" dirty="0"/>
                  <a:t>. </a:t>
                </a:r>
                <a:endParaRPr lang="ru-RU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93D9483-0912-FC98-5071-FB3F2E1816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1906" y="835163"/>
                <a:ext cx="9098068" cy="5108327"/>
              </a:xfrm>
              <a:blipFill>
                <a:blip r:embed="rId3"/>
                <a:stretch>
                  <a:fillRect l="-837" t="-7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E9BF6D1-54CF-35BD-E4B5-79CA80A49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6A7C23-B4C9-1379-DEDE-66289A5EDAC3}"/>
                  </a:ext>
                </a:extLst>
              </p:cNvPr>
              <p:cNvSpPr txBox="1"/>
              <p:nvPr/>
            </p:nvSpPr>
            <p:spPr>
              <a:xfrm>
                <a:off x="1181026" y="2218404"/>
                <a:ext cx="6097836" cy="9255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𝑐𝑜𝑟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nary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𝑒𝑣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ru-RU" sz="24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𝑒𝑣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𝑣𝑎𝑟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6A7C23-B4C9-1379-DEDE-66289A5ED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026" y="2218404"/>
                <a:ext cx="6097836" cy="925574"/>
              </a:xfrm>
              <a:prstGeom prst="rect">
                <a:avLst/>
              </a:prstGeom>
              <a:blipFill>
                <a:blip r:embed="rId4"/>
                <a:stretch>
                  <a:fillRect t="-59459" b="-5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363DC12-0338-EE14-31B0-8390E944A4C0}"/>
                  </a:ext>
                </a:extLst>
              </p:cNvPr>
              <p:cNvSpPr txBox="1"/>
              <p:nvPr/>
            </p:nvSpPr>
            <p:spPr>
              <a:xfrm>
                <a:off x="281906" y="3240547"/>
                <a:ext cx="8959469" cy="1720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800" dirty="0"/>
                  <a:t>Где среднее значений (или ожидаемое значение),</a:t>
                </a:r>
                <a:r>
                  <a:rPr lang="ru-RU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𝑒𝑣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18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sz="1800" i="1" dirty="0">
                        <a:latin typeface="Cambria Math" panose="02040503050406030204" pitchFamily="18" charset="0"/>
                      </a:rPr>
                      <m:t> теор. формула 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𝑒𝑣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 =</m:t>
                    </m:r>
                    <m:nary>
                      <m:naryPr>
                        <m:chr m:val="∑"/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sz="1800" dirty="0"/>
              </a:p>
              <a:p>
                <a:r>
                  <a:rPr lang="ru-RU" sz="1800" dirty="0"/>
                  <a:t>где y - выборки размера N,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8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sz="1800" dirty="0">
                        <a:latin typeface="Cambria Math" panose="02040503050406030204" pitchFamily="18" charset="0"/>
                      </a:rPr>
                      <m:t>распределение значений величины</m:t>
                    </m:r>
                  </m:oMath>
                </a14:m>
                <a:r>
                  <a:rPr lang="ru-RU" sz="1800" dirty="0"/>
                  <a:t> </a:t>
                </a:r>
                <a:r>
                  <a:rPr lang="ru-RU" i="1" dirty="0">
                    <a:latin typeface="Cambria Math" panose="02040503050406030204" pitchFamily="18" charset="0"/>
                  </a:rPr>
                  <a:t/>
                </a:r>
                <a:br>
                  <a:rPr lang="ru-RU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𝑣𝑎𝑟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p>
                          <m:sSupPr>
                            <m:ctrlPr>
                              <a:rPr lang="en-US" i="1" dirty="0" err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err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 dirty="0" err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 dirty="0" err="1">
                                    <a:latin typeface="Cambria Math" panose="02040503050406030204" pitchFamily="18" charset="0"/>
                                  </a:rPr>
                                  <m:t>𝑒𝑣</m:t>
                                </m:r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i="1" dirty="0">
                        <a:latin typeface="Cambria Math" panose="02040503050406030204" pitchFamily="18" charset="0"/>
                      </a:rPr>
                      <m:t>;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𝑠𝑡𝑑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</m:t>
                    </m:r>
                    <m:rad>
                      <m:radPr>
                        <m:degHide m:val="on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𝑣𝑎𝑟</m:t>
                        </m:r>
                      </m:e>
                    </m:rad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ru-RU" dirty="0"/>
                  <a:t>где </a:t>
                </a:r>
                <a:r>
                  <a:rPr lang="ru-RU" dirty="0" err="1"/>
                  <a:t>var</a:t>
                </a:r>
                <a:r>
                  <a:rPr lang="ru-RU" dirty="0"/>
                  <a:t> - дисперсия; </a:t>
                </a:r>
                <a:r>
                  <a:rPr lang="ru-RU" dirty="0" err="1"/>
                  <a:t>std</a:t>
                </a:r>
                <a:r>
                  <a:rPr lang="ru-RU" dirty="0"/>
                  <a:t> - стандартное отклонение</a:t>
                </a:r>
                <a:endParaRPr lang="en-US" dirty="0"/>
              </a:p>
              <a:p>
                <a:endParaRPr lang="ru-RU" sz="1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363DC12-0338-EE14-31B0-8390E944A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06" y="3240547"/>
                <a:ext cx="8959469" cy="1720920"/>
              </a:xfrm>
              <a:prstGeom prst="rect">
                <a:avLst/>
              </a:prstGeom>
              <a:blipFill>
                <a:blip r:embed="rId5"/>
                <a:stretch>
                  <a:fillRect l="-3541" t="-22059" b="-1691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EAE15FCB-CB7C-BA1A-51AD-54785DA7748B}"/>
              </a:ext>
            </a:extLst>
          </p:cNvPr>
          <p:cNvSpPr txBox="1"/>
          <p:nvPr/>
        </p:nvSpPr>
        <p:spPr>
          <a:xfrm>
            <a:off x="298402" y="4930470"/>
            <a:ext cx="53911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323232"/>
                </a:solidFill>
                <a:effectLst/>
                <a:latin typeface="__YSText_10659f"/>
              </a:rPr>
              <a:t>Например, если мы хотим оценить степень влияния сегодняшней температуры на завтрашнюю, то посчитаем коэффициент корреляции исходного ряда и его</a:t>
            </a:r>
            <a:r>
              <a:rPr lang="en-US" b="0" i="0" dirty="0">
                <a:solidFill>
                  <a:srgbClr val="323232"/>
                </a:solidFill>
                <a:effectLst/>
                <a:latin typeface="__YSText_10659f"/>
              </a:rPr>
              <a:t> </a:t>
            </a:r>
            <a:r>
              <a:rPr lang="en-US" b="0" i="0" dirty="0" err="1">
                <a:solidFill>
                  <a:srgbClr val="323232"/>
                </a:solidFill>
                <a:effectLst/>
                <a:latin typeface="__YSText_10659f"/>
              </a:rPr>
              <a:t>же</a:t>
            </a:r>
            <a:r>
              <a:rPr lang="ru-RU" b="0" i="0" dirty="0">
                <a:solidFill>
                  <a:srgbClr val="323232"/>
                </a:solidFill>
                <a:effectLst/>
                <a:latin typeface="__YSText_10659f"/>
              </a:rPr>
              <a:t>, сдвинутым на 1 день.</a:t>
            </a:r>
            <a:endParaRPr lang="ru-RU" dirty="0"/>
          </a:p>
        </p:txBody>
      </p:sp>
      <p:pic>
        <p:nvPicPr>
          <p:cNvPr id="1026" name="Picture 2" descr="2.6.1 Взаимная и автокорреляционные функции сигнала">
            <a:extLst>
              <a:ext uri="{FF2B5EF4-FFF2-40B4-BE49-F238E27FC236}">
                <a16:creationId xmlns:a16="http://schemas.microsoft.com/office/drawing/2014/main" id="{54264BB7-C97E-AA39-943C-3D1F85AC6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9974" y="502134"/>
            <a:ext cx="2530059" cy="4027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ACF of monthly Australian antidiabetic drug sales.">
            <a:extLst>
              <a:ext uri="{FF2B5EF4-FFF2-40B4-BE49-F238E27FC236}">
                <a16:creationId xmlns:a16="http://schemas.microsoft.com/office/drawing/2014/main" id="{A05E2094-6729-56A7-F169-31F127E0F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9600" y="4625950"/>
            <a:ext cx="6367450" cy="1909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86B5F1B-9791-B173-52B5-AF455F6A693C}"/>
              </a:ext>
            </a:extLst>
          </p:cNvPr>
          <p:cNvSpPr txBox="1"/>
          <p:nvPr/>
        </p:nvSpPr>
        <p:spPr>
          <a:xfrm>
            <a:off x="298402" y="6351908"/>
            <a:ext cx="6115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/fpp3/</a:t>
            </a:r>
            <a:r>
              <a:rPr lang="ru-RU" dirty="0" err="1"/>
              <a:t>acf.html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21770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3ED5BB-127A-7415-8A44-D4E77DF70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776" y="200518"/>
            <a:ext cx="10847024" cy="725545"/>
          </a:xfrm>
        </p:spPr>
        <p:txBody>
          <a:bodyPr/>
          <a:lstStyle/>
          <a:p>
            <a:pPr algn="ctr"/>
            <a:r>
              <a:rPr lang="ru-RU" dirty="0"/>
              <a:t>З</a:t>
            </a:r>
            <a:r>
              <a:rPr lang="en-US" dirty="0" err="1"/>
              <a:t>амеч</a:t>
            </a:r>
            <a:r>
              <a:rPr lang="ru-RU" dirty="0" err="1"/>
              <a:t>ания</a:t>
            </a:r>
            <a:r>
              <a:rPr lang="ru-RU" dirty="0"/>
              <a:t> </a:t>
            </a:r>
            <a:r>
              <a:rPr lang="ru-RU" dirty="0" smtClean="0"/>
              <a:t>к автокорреляции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3E3889A-0244-8314-4FF6-4AEB15AC90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5166" y="773426"/>
                <a:ext cx="11655846" cy="5086293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𝑐𝑜𝑟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l-GR" sz="2400" dirty="0"/>
                  <a:t>&gt;0 – </a:t>
                </a:r>
                <a:r>
                  <a:rPr lang="ru-RU" sz="2400" dirty="0"/>
                  <a:t>положительная корреляция, то есть чем </a:t>
                </a:r>
                <a:r>
                  <a:rPr lang="ru-RU" sz="2400" i="1" dirty="0"/>
                  <a:t>больше</a:t>
                </a:r>
                <a:r>
                  <a:rPr lang="ru-RU" sz="2400" dirty="0"/>
                  <a:t> было значение вчера, тем оно будет </a:t>
                </a:r>
                <a:r>
                  <a:rPr lang="ru-RU" sz="2400" i="1" dirty="0"/>
                  <a:t>больше</a:t>
                </a:r>
                <a:r>
                  <a:rPr lang="ru-RU" sz="2400" dirty="0"/>
                  <a:t> сегодня;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𝑐𝑜𝑟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l-GR" sz="2400" dirty="0"/>
                  <a:t>​&lt;0 – </a:t>
                </a:r>
                <a:r>
                  <a:rPr lang="ru-RU" sz="2400" dirty="0"/>
                  <a:t>отрицательная корреляция, то есть чем </a:t>
                </a:r>
                <a:r>
                  <a:rPr lang="ru-RU" sz="2400" i="1" dirty="0"/>
                  <a:t>больше</a:t>
                </a:r>
                <a:r>
                  <a:rPr lang="ru-RU" sz="2400" dirty="0"/>
                  <a:t> было значение вчера, тем оно будет </a:t>
                </a:r>
                <a:r>
                  <a:rPr lang="ru-RU" sz="2400" i="1" dirty="0"/>
                  <a:t>меньше</a:t>
                </a:r>
                <a:r>
                  <a:rPr lang="ru-RU" sz="2400" dirty="0"/>
                  <a:t> сегодня;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" sz="2400" dirty="0"/>
                      <m:t>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𝑐𝑜𝑟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m:rPr>
                        <m:nor/>
                      </m:rPr>
                      <a:rPr lang="el-GR" sz="2400" dirty="0"/>
                      <m:t>​∣⩽1;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𝑐𝑜𝑟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l-GR" sz="2400" dirty="0"/>
                  <a:t>=1 </a:t>
                </a:r>
                <a:r>
                  <a:rPr lang="ru-RU" sz="2400" dirty="0"/>
                  <a:t>означает строгую линейную зависимость.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" sz="2400" dirty="0"/>
                      <m:t>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𝑐𝑜𝑟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l-GR" sz="2400" dirty="0"/>
                      <m:t>​∣⩽</m:t>
                    </m:r>
                    <m:r>
                      <m:rPr>
                        <m:nor/>
                      </m:rPr>
                      <a:rPr lang="ru-RU" sz="2400" b="0" i="0" dirty="0" smtClean="0"/>
                      <m:t>0.05 (0.01) может колебаться из за шума</m:t>
                    </m:r>
                  </m:oMath>
                </a14:m>
                <a:endParaRPr lang="ru-RU" sz="2400" b="0" dirty="0"/>
              </a:p>
              <a:p>
                <a:r>
                  <a:rPr lang="ru-RU" sz="2400" dirty="0"/>
                  <a:t>Значимые корреляции проверяются отельными</a:t>
                </a:r>
                <a:br>
                  <a:rPr lang="ru-RU" sz="2400" dirty="0"/>
                </a:br>
                <a:r>
                  <a:rPr lang="ru-RU" sz="2400" dirty="0"/>
                  <a:t> стат. тестами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3E3889A-0244-8314-4FF6-4AEB15AC90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5166" y="773426"/>
                <a:ext cx="11655846" cy="5086293"/>
              </a:xfrm>
              <a:blipFill>
                <a:blip r:embed="rId2"/>
                <a:stretch>
                  <a:fillRect l="-653" t="-1244" r="-97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0DB019B-3104-A600-AEB2-42CB0E2A7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7</a:t>
            </a:fld>
            <a:endParaRPr lang="en-US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61474F1-1290-7EF6-E2E4-2A58FE82A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84" y="4898985"/>
            <a:ext cx="4982760" cy="1454427"/>
          </a:xfrm>
          <a:prstGeom prst="rect">
            <a:avLst/>
          </a:prstGeom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7E8AF36A-0838-C3AB-9A29-306D244FB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205" y="2679878"/>
            <a:ext cx="4655171" cy="3179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999D0E-571B-F326-BDB2-26FF2D54EFBE}"/>
              </a:ext>
            </a:extLst>
          </p:cNvPr>
          <p:cNvSpPr txBox="1"/>
          <p:nvPr/>
        </p:nvSpPr>
        <p:spPr>
          <a:xfrm>
            <a:off x="6136434" y="5707081"/>
            <a:ext cx="574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Четыре различных набора данных, коэффициент корреляции на которых равен 0.81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2B4922-0E0E-77D6-DC87-7ED5B07D70E3}"/>
              </a:ext>
            </a:extLst>
          </p:cNvPr>
          <p:cNvSpPr txBox="1"/>
          <p:nvPr/>
        </p:nvSpPr>
        <p:spPr>
          <a:xfrm>
            <a:off x="478090" y="6247588"/>
            <a:ext cx="51353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education.yandex.ru</a:t>
            </a:r>
            <a:r>
              <a:rPr lang="ru-RU" sz="1200" dirty="0"/>
              <a:t>/</a:t>
            </a:r>
            <a:r>
              <a:rPr lang="ru-RU" sz="1200" dirty="0" err="1"/>
              <a:t>handbook</a:t>
            </a:r>
            <a:r>
              <a:rPr lang="ru-RU" sz="1200" dirty="0"/>
              <a:t>/</a:t>
            </a:r>
            <a:r>
              <a:rPr lang="ru-RU" sz="1200" dirty="0" err="1"/>
              <a:t>ml</a:t>
            </a:r>
            <a:r>
              <a:rPr lang="ru-RU" sz="1200" dirty="0"/>
              <a:t>/</a:t>
            </a:r>
            <a:r>
              <a:rPr lang="ru-RU" sz="1200" dirty="0" err="1"/>
              <a:t>article</a:t>
            </a:r>
            <a:r>
              <a:rPr lang="ru-RU" sz="1200" dirty="0"/>
              <a:t>/</a:t>
            </a:r>
            <a:r>
              <a:rPr lang="ru-RU" sz="1200" dirty="0" err="1"/>
              <a:t>analitika-vremennyh-ryadov</a:t>
            </a:r>
            <a:endParaRPr lang="ru-RU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1EC631-2FAB-3BE2-13B0-4F9C3AF0E2A7}"/>
              </a:ext>
            </a:extLst>
          </p:cNvPr>
          <p:cNvSpPr txBox="1"/>
          <p:nvPr/>
        </p:nvSpPr>
        <p:spPr>
          <a:xfrm>
            <a:off x="5759374" y="6280875"/>
            <a:ext cx="62520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</a:t>
            </a:r>
            <a:r>
              <a:rPr lang="ru-RU" sz="1200" dirty="0"/>
              <a:t>://</a:t>
            </a:r>
            <a:r>
              <a:rPr lang="ru-RU" sz="1200" dirty="0" err="1"/>
              <a:t>www.machinelearning.ru</a:t>
            </a:r>
            <a:r>
              <a:rPr lang="ru-RU" sz="1200" dirty="0"/>
              <a:t>/</a:t>
            </a:r>
            <a:r>
              <a:rPr lang="ru-RU" sz="1200" dirty="0" err="1"/>
              <a:t>wiki</a:t>
            </a:r>
            <a:r>
              <a:rPr lang="ru-RU" sz="1200" dirty="0"/>
              <a:t>/</a:t>
            </a:r>
            <a:r>
              <a:rPr lang="ru-RU" sz="1200" dirty="0" err="1"/>
              <a:t>index.php?title</a:t>
            </a:r>
            <a:r>
              <a:rPr lang="ru-RU" sz="1200" dirty="0"/>
              <a:t>= </a:t>
            </a:r>
            <a:r>
              <a:rPr lang="ru-RU" sz="1200" dirty="0" err="1"/>
              <a:t>Коэффициент_корреляции_Пирсона</a:t>
            </a:r>
            <a:endParaRPr lang="ru-RU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DF8012A-2CB8-72E3-3F96-4D182E87DB07}"/>
                  </a:ext>
                </a:extLst>
              </p:cNvPr>
              <p:cNvSpPr txBox="1"/>
              <p:nvPr/>
            </p:nvSpPr>
            <p:spPr>
              <a:xfrm>
                <a:off x="839769" y="4201000"/>
                <a:ext cx="609783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𝑐𝑜𝑟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l-GR" sz="1800" dirty="0"/>
                  <a:t>=0 – </a:t>
                </a:r>
                <a:r>
                  <a:rPr lang="ru-RU" sz="1800" dirty="0"/>
                  <a:t>отсутствие автокорреляции, при этом значения могут быть зависимыми;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DF8012A-2CB8-72E3-3F96-4D182E87D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769" y="4201000"/>
                <a:ext cx="6097836" cy="646331"/>
              </a:xfrm>
              <a:prstGeom prst="rect">
                <a:avLst/>
              </a:prstGeom>
              <a:blipFill>
                <a:blip r:embed="rId5"/>
                <a:stretch>
                  <a:fillRect l="-1040" t="-3846" b="-1346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99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808D33-ED14-B6CA-1D53-1B9E7F3C7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154" y="251842"/>
            <a:ext cx="11023294" cy="1067067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 дорожно-транспортных происшествий за 14 лет с дискретностью 1 месяц,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0EB80A-8708-FE17-1283-675B44B1F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60" y="1290544"/>
            <a:ext cx="6409987" cy="5567456"/>
          </a:xfrm>
        </p:spPr>
        <p:txBody>
          <a:bodyPr>
            <a:normAutofit/>
          </a:bodyPr>
          <a:lstStyle/>
          <a:p>
            <a:r>
              <a:rPr lang="ru-RU" sz="2000" dirty="0"/>
              <a:t>Видна годовая сезонность.</a:t>
            </a:r>
          </a:p>
          <a:p>
            <a:r>
              <a:rPr lang="ru-RU" sz="2000" dirty="0"/>
              <a:t>На графике АКФ видны максимуму на 12 лагах</a:t>
            </a:r>
          </a:p>
          <a:p>
            <a:r>
              <a:rPr lang="en" sz="2000" i="1" dirty="0"/>
              <a:t>r</a:t>
            </a:r>
            <a:r>
              <a:rPr lang="en" sz="2000" baseline="-25000" dirty="0"/>
              <a:t>12</a:t>
            </a:r>
            <a:r>
              <a:rPr lang="en" sz="2000" dirty="0"/>
              <a:t>​ </a:t>
            </a:r>
            <a:r>
              <a:rPr lang="ru-RU" sz="2000" dirty="0"/>
              <a:t>является локальным максимумом, что означает высокую положительную корреляцию значения ряда за текущий месяц с аналогичным значением год назад. </a:t>
            </a:r>
          </a:p>
          <a:p>
            <a:r>
              <a:rPr lang="ru-RU" sz="2200" dirty="0"/>
              <a:t>Закрашенная область визуализирует границу незначимой автокорреляции, то есть тех значений автокорреляции, для которых не выявлена статистически значимое отличие от 0 (иначе говоря, доверительный интервал пересекает 0).</a:t>
            </a:r>
          </a:p>
          <a:p>
            <a:r>
              <a:rPr lang="ru-RU" sz="2200" dirty="0"/>
              <a:t>Значимые лаги: 1, 2, 6, 12, 24 – именно эти лаги связаны и на них имеет смысл строить прогноз (0 лаг не считается!)</a:t>
            </a:r>
            <a:endParaRPr lang="ru-RU" sz="13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5077126-4ACD-5BB7-D444-3F25CEA34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8</a:t>
            </a:fld>
            <a:endParaRPr lang="en-US"/>
          </a:p>
        </p:txBody>
      </p:sp>
      <p:pic>
        <p:nvPicPr>
          <p:cNvPr id="2050" name="Picture 2" descr="ex">
            <a:extLst>
              <a:ext uri="{FF2B5EF4-FFF2-40B4-BE49-F238E27FC236}">
                <a16:creationId xmlns:a16="http://schemas.microsoft.com/office/drawing/2014/main" id="{E80B7204-5939-A61A-3D66-4CB8D9AE8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9200" y="1230123"/>
            <a:ext cx="5562294" cy="2374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ex">
            <a:extLst>
              <a:ext uri="{FF2B5EF4-FFF2-40B4-BE49-F238E27FC236}">
                <a16:creationId xmlns:a16="http://schemas.microsoft.com/office/drawing/2014/main" id="{7F87FE3F-E8B0-649D-36C2-1720B14307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8122" y="4049782"/>
            <a:ext cx="5420299" cy="240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FE1161-304E-9255-4C0B-8F9D8EADCD32}"/>
              </a:ext>
            </a:extLst>
          </p:cNvPr>
          <p:cNvSpPr txBox="1"/>
          <p:nvPr/>
        </p:nvSpPr>
        <p:spPr>
          <a:xfrm>
            <a:off x="3581401" y="6452782"/>
            <a:ext cx="84967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 err="1"/>
              <a:t>https</a:t>
            </a:r>
            <a:r>
              <a:rPr lang="ru-RU" sz="1600" dirty="0"/>
              <a:t>://</a:t>
            </a:r>
            <a:r>
              <a:rPr lang="ru-RU" sz="1600" dirty="0" err="1"/>
              <a:t>education.yandex.ru</a:t>
            </a:r>
            <a:r>
              <a:rPr lang="ru-RU" sz="1600" dirty="0"/>
              <a:t>/</a:t>
            </a:r>
            <a:r>
              <a:rPr lang="ru-RU" sz="1600" dirty="0" err="1"/>
              <a:t>handbook</a:t>
            </a:r>
            <a:r>
              <a:rPr lang="ru-RU" sz="1600" dirty="0"/>
              <a:t>/</a:t>
            </a:r>
            <a:r>
              <a:rPr lang="ru-RU" sz="1600" dirty="0" err="1"/>
              <a:t>ml</a:t>
            </a:r>
            <a:r>
              <a:rPr lang="ru-RU" sz="1600" dirty="0"/>
              <a:t>/</a:t>
            </a:r>
            <a:r>
              <a:rPr lang="ru-RU" sz="1600" dirty="0" err="1"/>
              <a:t>article</a:t>
            </a:r>
            <a:r>
              <a:rPr lang="ru-RU" sz="1600" dirty="0"/>
              <a:t>/</a:t>
            </a:r>
            <a:r>
              <a:rPr lang="ru-RU" sz="1600" dirty="0" err="1"/>
              <a:t>analitika-vremennyh-ryadov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357885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44C83-235B-4AAE-B0A4-C9FB77FCA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A33933-0FF6-28B2-7970-86106396A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4120"/>
            <a:ext cx="10515600" cy="782357"/>
          </a:xfrm>
        </p:spPr>
        <p:txBody>
          <a:bodyPr/>
          <a:lstStyle/>
          <a:p>
            <a:pPr algn="ctr"/>
            <a:r>
              <a:rPr lang="ru-RU" b="1" dirty="0"/>
              <a:t>Корреляция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E6DD14-17BE-1876-BA26-EDBFF92FB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926" y="1010958"/>
            <a:ext cx="11293973" cy="57105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/>
              <a:t>Пример ACF. Синяя линия показывает уверенность  согласно тексту Бокса-</a:t>
            </a:r>
            <a:r>
              <a:rPr lang="ru-RU" sz="2200" dirty="0" err="1"/>
              <a:t>Льюнга</a:t>
            </a:r>
            <a:r>
              <a:rPr lang="ru-RU" sz="2200" dirty="0"/>
              <a:t> по уровню </a:t>
            </a:r>
            <a:r>
              <a:rPr lang="en-US" sz="2200" dirty="0"/>
              <a:t>p</a:t>
            </a:r>
            <a:r>
              <a:rPr lang="ru-RU" sz="2200" dirty="0"/>
              <a:t>-</a:t>
            </a:r>
            <a:r>
              <a:rPr lang="en-US" sz="2200" dirty="0"/>
              <a:t>value</a:t>
            </a:r>
            <a:r>
              <a:rPr lang="ru-RU" sz="2200" dirty="0"/>
              <a:t> 0,05(корреляции ниже – случайные).</a:t>
            </a:r>
          </a:p>
          <a:p>
            <a:pPr marL="0" indent="0">
              <a:buNone/>
            </a:pPr>
            <a:r>
              <a:rPr lang="ru-RU" sz="2200" dirty="0"/>
              <a:t>ВР не имеет тренда и сезонности, каждое следующее значение связано с 3мя предыдущими</a:t>
            </a:r>
            <a:endParaRPr lang="en-US" sz="22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896886C-6E73-E8AD-E5D2-2AF8B4037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9</a:t>
            </a:fld>
            <a:endParaRPr lang="en-US"/>
          </a:p>
        </p:txBody>
      </p:sp>
      <p:pic>
        <p:nvPicPr>
          <p:cNvPr id="6146" name="Picture 2" descr="image.png">
            <a:extLst>
              <a:ext uri="{FF2B5EF4-FFF2-40B4-BE49-F238E27FC236}">
                <a16:creationId xmlns:a16="http://schemas.microsoft.com/office/drawing/2014/main" id="{363BC3FD-33D8-EDAB-9F86-38F046F0E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94109"/>
            <a:ext cx="10515599" cy="310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D22872-326F-18EB-8E85-45286CF14BA9}"/>
              </a:ext>
            </a:extLst>
          </p:cNvPr>
          <p:cNvSpPr txBox="1"/>
          <p:nvPr/>
        </p:nvSpPr>
        <p:spPr>
          <a:xfrm>
            <a:off x="6604000" y="602376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library.altspu.ru</a:t>
            </a:r>
            <a:r>
              <a:rPr lang="ru-RU" dirty="0"/>
              <a:t>/</a:t>
            </a:r>
            <a:r>
              <a:rPr lang="ru-RU" dirty="0" err="1"/>
              <a:t>dc</a:t>
            </a:r>
            <a:r>
              <a:rPr lang="ru-RU" dirty="0"/>
              <a:t>/</a:t>
            </a:r>
            <a:r>
              <a:rPr lang="ru-RU" dirty="0" err="1"/>
              <a:t>pdf</a:t>
            </a:r>
            <a:r>
              <a:rPr lang="ru-RU" dirty="0"/>
              <a:t>/</a:t>
            </a:r>
            <a:r>
              <a:rPr lang="ru-RU" dirty="0" err="1"/>
              <a:t>kizbikenov.pdf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9557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383EC4-8F67-20B6-5BB9-4FD4C80D2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655" y="136525"/>
            <a:ext cx="11035145" cy="909493"/>
          </a:xfrm>
        </p:spPr>
        <p:txBody>
          <a:bodyPr/>
          <a:lstStyle/>
          <a:p>
            <a:pPr algn="ctr"/>
            <a:r>
              <a:rPr lang="ru-RU" dirty="0"/>
              <a:t>Замечания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8746E5-8498-3604-B42B-E7AF22FB2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878" y="861218"/>
            <a:ext cx="11631468" cy="4993482"/>
          </a:xfrm>
        </p:spPr>
        <p:txBody>
          <a:bodyPr>
            <a:normAutofit/>
          </a:bodyPr>
          <a:lstStyle/>
          <a:p>
            <a:r>
              <a:rPr lang="ru-RU" sz="2200" b="1" dirty="0"/>
              <a:t>ВР имеет тренд –&gt; </a:t>
            </a:r>
            <a:r>
              <a:rPr lang="ru-RU" sz="2200" dirty="0"/>
              <a:t>АКФ для небольших лагов, как правило, большие и положительные, поскольку наблюдения, близкие по времени, также близки по значению. </a:t>
            </a:r>
          </a:p>
          <a:p>
            <a:pPr lvl="1"/>
            <a:r>
              <a:rPr lang="ru-RU" sz="2200" dirty="0"/>
              <a:t>Таким образом, </a:t>
            </a:r>
            <a:r>
              <a:rPr lang="en" sz="2200" dirty="0"/>
              <a:t>ACF </a:t>
            </a:r>
            <a:r>
              <a:rPr lang="ru-RU" sz="2200" dirty="0"/>
              <a:t>трендового временного ряда, как правило, имеет положительные значения, которые медленно уменьшаются по мере увеличения лагов.</a:t>
            </a:r>
          </a:p>
          <a:p>
            <a:r>
              <a:rPr lang="ru-RU" sz="2200" b="1" dirty="0"/>
              <a:t>Если данные сезонные</a:t>
            </a:r>
            <a:r>
              <a:rPr lang="ru-RU" sz="2200" dirty="0"/>
              <a:t>, автокорреляции будут больше для сезонных лагов (кратных сезонному периоду), чем для других лагов.</a:t>
            </a:r>
          </a:p>
          <a:p>
            <a:r>
              <a:rPr lang="ru-RU" sz="2200" b="1" dirty="0"/>
              <a:t>Данные являются как трендовыми, так и сезонными</a:t>
            </a:r>
            <a:r>
              <a:rPr lang="ru-RU" sz="2200" dirty="0"/>
              <a:t>, будет иметь место комбинация этих эффектов</a:t>
            </a:r>
            <a:r>
              <a:rPr lang="en-US" sz="2200" dirty="0"/>
              <a:t> (</a:t>
            </a:r>
            <a:r>
              <a:rPr lang="en-US" sz="2200" dirty="0" err="1"/>
              <a:t>см</a:t>
            </a:r>
            <a:r>
              <a:rPr lang="ru-RU" sz="2200" dirty="0"/>
              <a:t>. ниже).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10439D6-FBAC-9105-9726-C0D57B538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10</a:t>
            </a:fld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AE7FECC-00BF-3EB6-BCFE-927426B08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978" y="3946948"/>
            <a:ext cx="4112343" cy="2591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886AD531-2C9B-BB91-4CEE-1902E77A9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6836" y="3960387"/>
            <a:ext cx="4304291" cy="2712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29B540-6FFC-6740-2DA4-DE2C2AF66693}"/>
              </a:ext>
            </a:extLst>
          </p:cNvPr>
          <p:cNvSpPr txBox="1"/>
          <p:nvPr/>
        </p:nvSpPr>
        <p:spPr>
          <a:xfrm>
            <a:off x="2597727" y="6488668"/>
            <a:ext cx="6137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</a:t>
            </a:r>
            <a:r>
              <a:rPr lang="ru-RU" dirty="0" err="1"/>
              <a:t>fpppy</a:t>
            </a:r>
            <a:r>
              <a:rPr lang="ru-RU" dirty="0"/>
              <a:t>/</a:t>
            </a:r>
            <a:r>
              <a:rPr lang="ru-RU" dirty="0" err="1"/>
              <a:t>nbs</a:t>
            </a:r>
            <a:r>
              <a:rPr lang="ru-RU" dirty="0"/>
              <a:t>/02-graphics.html</a:t>
            </a:r>
          </a:p>
        </p:txBody>
      </p:sp>
    </p:spTree>
    <p:extLst>
      <p:ext uri="{BB962C8B-B14F-4D97-AF65-F5344CB8AC3E}">
        <p14:creationId xmlns:p14="http://schemas.microsoft.com/office/powerpoint/2010/main" val="1917184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321867-E96A-0A79-4583-D97552637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317501"/>
            <a:ext cx="11480800" cy="723900"/>
          </a:xfrm>
        </p:spPr>
        <p:txBody>
          <a:bodyPr>
            <a:normAutofit/>
          </a:bodyPr>
          <a:lstStyle/>
          <a:p>
            <a:r>
              <a:rPr lang="ru-RU" dirty="0"/>
              <a:t>Частичная автокорреляция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619FC89-5133-BB8B-A9FF-1295B4C4D4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2900" y="1041402"/>
                <a:ext cx="11480800" cy="5135562"/>
              </a:xfrm>
            </p:spPr>
            <p:txBody>
              <a:bodyPr>
                <a:normAutofit/>
              </a:bodyPr>
              <a:lstStyle/>
              <a:p>
                <a:r>
                  <a:rPr lang="ru-RU" sz="2100" dirty="0"/>
                  <a:t>Фактически АКФ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𝑐𝑜𝑟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100" dirty="0"/>
                  <a:t> показывает связанность ВР  и всех сдвинутых его копий до значения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ru-RU" sz="2100" dirty="0"/>
                  <a:t>. </a:t>
                </a:r>
              </a:p>
              <a:p>
                <a:pPr lvl="1"/>
                <a:r>
                  <a:rPr lang="ru-RU" sz="2100" dirty="0"/>
                  <a:t>Иногда это мешает понять связанность конкретно с лагом</a:t>
                </a:r>
                <a:r>
                  <a:rPr lang="en-US" sz="2100" dirty="0"/>
                  <a:t>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ru-RU" sz="2100" dirty="0"/>
                  <a:t>. Для компенсации этого используют </a:t>
                </a:r>
                <a:r>
                  <a:rPr lang="ru-RU" sz="2100" b="1" dirty="0"/>
                  <a:t>Частичную АКФ (ЧАКФ,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 sz="2100" dirty="0"/>
                      <m:t>PACF</m:t>
                    </m:r>
                    <m:r>
                      <m:rPr>
                        <m:nor/>
                      </m:rPr>
                      <a:rPr lang="ru-RU" sz="2100" dirty="0"/>
                      <m:t>):</m:t>
                    </m:r>
                  </m:oMath>
                </a14:m>
                <a:endParaRPr lang="en-US" sz="21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 panose="02040503050406030204" pitchFamily="18" charset="0"/>
                        </a:rPr>
                        <m:t>𝑃𝐴𝐶𝐹</m:t>
                      </m:r>
                      <m:d>
                        <m:d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𝑐𝑜𝑟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100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sz="21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100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sz="2100" i="1">
                          <a:latin typeface="Cambria Math" panose="02040503050406030204" pitchFamily="18" charset="0"/>
                        </a:rPr>
                        <m:t>);</m:t>
                      </m:r>
                    </m:oMath>
                  </m:oMathPara>
                </a14:m>
                <a:endParaRPr lang="en-US" sz="2100" dirty="0"/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 sz="2100" dirty="0"/>
                      <m:t>где</m:t>
                    </m:r>
                    <m:r>
                      <m:rPr>
                        <m:nor/>
                      </m:rPr>
                      <a:rPr lang="en-US" sz="2100" dirty="0"/>
                      <m:t> </m:t>
                    </m:r>
                    <m:sSubSup>
                      <m:sSubSup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m:rPr>
                        <m:nor/>
                      </m:rPr>
                      <a:rPr lang="en-US" sz="2100" dirty="0"/>
                      <m:t> −</m:t>
                    </m:r>
                    <m:r>
                      <m:rPr>
                        <m:nor/>
                      </m:rPr>
                      <a:rPr lang="ru-RU" sz="2100" dirty="0"/>
                      <m:t> значение, предсказанное как результат линейной регрессии </m:t>
                    </m:r>
                    <m:r>
                      <m:rPr>
                        <m:nor/>
                      </m:rPr>
                      <a:rPr lang="en-US" sz="2100" dirty="0"/>
                      <m:t> </m:t>
                    </m:r>
                    <m:r>
                      <m:rPr>
                        <m:nor/>
                      </m:rPr>
                      <a:rPr lang="ru-RU" sz="2100" dirty="0"/>
                      <m:t>по лагам 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21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100" dirty="0"/>
                      <m:t> 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21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21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100" dirty="0"/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 sz="2100" dirty="0"/>
                      <m:t>Частичная корреляция снимает (</m:t>
                    </m:r>
                    <m:r>
                      <m:rPr>
                        <m:nor/>
                      </m:rPr>
                      <a:rPr lang="ru-RU" sz="2100" dirty="0" err="1"/>
                      <m:t>устр</m:t>
                    </m:r>
                    <m:r>
                      <m:rPr>
                        <m:nor/>
                      </m:rPr>
                      <a:rPr lang="ru-RU" sz="2100" b="0" i="0" dirty="0" smtClean="0"/>
                      <m:t>о</m:t>
                    </m:r>
                    <m:r>
                      <m:rPr>
                        <m:nor/>
                      </m:rPr>
                      <a:rPr lang="ru-RU" sz="2100" dirty="0" err="1"/>
                      <m:t>няте</m:t>
                    </m:r>
                    <m:r>
                      <m:rPr>
                        <m:nor/>
                      </m:rPr>
                      <a:rPr lang="ru-RU" sz="2100" dirty="0"/>
                      <m:t>) линейную зависимость от промежуточных лагов</m:t>
                    </m:r>
                  </m:oMath>
                </a14:m>
                <a:endParaRPr lang="en-US" sz="2100" dirty="0"/>
              </a:p>
              <a:p>
                <a:pPr marL="457200" lvl="1" indent="0">
                  <a:buNone/>
                </a:pPr>
                <a:r>
                  <a:rPr lang="ru-RU" sz="2100" dirty="0"/>
                  <a:t>Например, если мы регрессируем переменную </a:t>
                </a:r>
                <a:r>
                  <a:rPr lang="ru-RU" sz="2100" dirty="0" err="1"/>
                  <a:t>Y</a:t>
                </a:r>
                <a:r>
                  <a:rPr lang="ru-RU" sz="2100" dirty="0"/>
                  <a:t> по переменным X1, X2 и X3, частичная корреляция между </a:t>
                </a:r>
                <a:r>
                  <a:rPr lang="ru-RU" sz="2100" dirty="0" err="1"/>
                  <a:t>Y</a:t>
                </a:r>
                <a:r>
                  <a:rPr lang="ru-RU" sz="2100" dirty="0"/>
                  <a:t> и X3 - это степень корреляции между </a:t>
                </a:r>
                <a:r>
                  <a:rPr lang="ru-RU" sz="2100" dirty="0" err="1"/>
                  <a:t>Y</a:t>
                </a:r>
                <a:r>
                  <a:rPr lang="ru-RU" sz="2100" dirty="0"/>
                  <a:t> и X3, которая не объясняется их общими корреляциями с X1 и X2. </a:t>
                </a:r>
                <a:endParaRPr lang="en-US" sz="2100" dirty="0"/>
              </a:p>
              <a:p>
                <a:pPr marL="457200" lvl="1" indent="0">
                  <a:buNone/>
                </a:pPr>
                <a:r>
                  <a:rPr lang="ru-RU" b="1" dirty="0"/>
                  <a:t>	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619FC89-5133-BB8B-A9FF-1295B4C4D4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2900" y="1041402"/>
                <a:ext cx="11480800" cy="5135562"/>
              </a:xfrm>
              <a:blipFill>
                <a:blip r:embed="rId3"/>
                <a:stretch>
                  <a:fillRect l="-442" t="-14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B60B919-B531-0487-B565-BBFBD78DE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11</a:t>
            </a:fld>
            <a:endParaRPr lang="en-US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A70EA36A-6C6A-569D-0A4F-2A8F1F86D2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z</a:t>
            </a:r>
            <a:endParaRPr lang="ru-RU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5E3123F7-B5BC-000D-9F1B-D13A79BF0E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F34EC4F-1B05-05D3-3E1D-CF9CAB6A5F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0000"/>
          <a:stretch>
            <a:fillRect/>
          </a:stretch>
        </p:blipFill>
        <p:spPr>
          <a:xfrm>
            <a:off x="696423" y="4365012"/>
            <a:ext cx="4535358" cy="175755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268194A-4251-58E0-17CF-7ED2E36299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60" t="47448" r="-3360" b="2552"/>
          <a:stretch>
            <a:fillRect/>
          </a:stretch>
        </p:blipFill>
        <p:spPr>
          <a:xfrm>
            <a:off x="6342921" y="4285595"/>
            <a:ext cx="4535358" cy="17575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843FAA-D681-989C-D7DB-7844E3AC3F6C}"/>
              </a:ext>
            </a:extLst>
          </p:cNvPr>
          <p:cNvSpPr txBox="1"/>
          <p:nvPr/>
        </p:nvSpPr>
        <p:spPr>
          <a:xfrm>
            <a:off x="5419493" y="6059206"/>
            <a:ext cx="3878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</a:t>
            </a:r>
            <a:r>
              <a:rPr lang="en-US" dirty="0" err="1"/>
              <a:t>а</a:t>
            </a:r>
            <a:r>
              <a:rPr lang="ru-RU" dirty="0"/>
              <a:t> ЧАКФ видны сезонные колебания </a:t>
            </a:r>
          </a:p>
        </p:txBody>
      </p:sp>
    </p:spTree>
    <p:extLst>
      <p:ext uri="{BB962C8B-B14F-4D97-AF65-F5344CB8AC3E}">
        <p14:creationId xmlns:p14="http://schemas.microsoft.com/office/powerpoint/2010/main" val="4076568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AFBC2-18F6-B6F1-089D-7DA695D3C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78F64A-909A-8502-663F-7CEF36850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317501"/>
            <a:ext cx="11480800" cy="723900"/>
          </a:xfrm>
        </p:spPr>
        <p:txBody>
          <a:bodyPr>
            <a:normAutofit/>
          </a:bodyPr>
          <a:lstStyle/>
          <a:p>
            <a:r>
              <a:rPr lang="ru-RU" dirty="0"/>
              <a:t>Частичная автокорреляция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89A096-BA9C-B641-5BB5-6DD59D4EC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041402"/>
            <a:ext cx="11480800" cy="5135562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ru-RU" b="1" dirty="0"/>
              <a:t>	пример: В индустрии: </a:t>
            </a:r>
            <a:r>
              <a:rPr lang="ru-RU" dirty="0"/>
              <a:t>отделение сигнала поломки оборудования по вибрации от регулярных вибраций</a:t>
            </a:r>
          </a:p>
          <a:p>
            <a:pPr marL="457200" lvl="1" indent="0">
              <a:buNone/>
            </a:pPr>
            <a:r>
              <a:rPr lang="ru-RU" b="1" dirty="0"/>
              <a:t>в гидрологии </a:t>
            </a:r>
            <a:r>
              <a:rPr lang="en" dirty="0"/>
              <a:t>PACF </a:t>
            </a:r>
            <a:r>
              <a:rPr lang="ru-RU" dirty="0"/>
              <a:t>отделяет влияние непосредственных предшествующих наблюдений от сезонных эффектов</a:t>
            </a:r>
          </a:p>
          <a:p>
            <a:pPr marL="457200" lvl="1" indent="0">
              <a:buNone/>
            </a:pPr>
            <a:r>
              <a:rPr lang="ru-RU" b="1" dirty="0"/>
              <a:t>		в машинном обучении: </a:t>
            </a:r>
            <a:r>
              <a:rPr lang="ru-RU" dirty="0"/>
              <a:t>формирование признаков только из нужных лагов без избыточности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DF9A2F-EC74-30BC-44D8-4BFE998E4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403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5CF265-69E0-6399-718A-1D16E8BCA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585B36-63FB-AB66-D543-F65C6C5EF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79CF1A6-BD6F-867B-185F-2E2BC4BD7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13</a:t>
            </a:fld>
            <a:endParaRPr lang="en-US"/>
          </a:p>
        </p:txBody>
      </p:sp>
      <p:pic>
        <p:nvPicPr>
          <p:cNvPr id="7170" name="Picture 2" descr="Different forms of dependence and their Pearson's r values">
            <a:extLst>
              <a:ext uri="{FF2B5EF4-FFF2-40B4-BE49-F238E27FC236}">
                <a16:creationId xmlns:a16="http://schemas.microsoft.com/office/drawing/2014/main" id="{9C640715-FCEC-9E02-C24B-446D96F52E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4590" y="2274671"/>
            <a:ext cx="7568756" cy="3453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1D615A-AB23-F639-C63B-32D2BB310067}"/>
              </a:ext>
            </a:extLst>
          </p:cNvPr>
          <p:cNvSpPr txBox="1"/>
          <p:nvPr/>
        </p:nvSpPr>
        <p:spPr>
          <a:xfrm>
            <a:off x="5562600" y="62566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smac-group.github.io</a:t>
            </a:r>
            <a:r>
              <a:rPr lang="ru-RU" dirty="0"/>
              <a:t>/</a:t>
            </a:r>
            <a:r>
              <a:rPr lang="ru-RU" dirty="0" err="1"/>
              <a:t>ts</a:t>
            </a:r>
            <a:r>
              <a:rPr lang="ru-RU" dirty="0"/>
              <a:t>/</a:t>
            </a:r>
            <a:r>
              <a:rPr lang="ru-RU" dirty="0" err="1"/>
              <a:t>fundtimeseries.html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E620BB-993D-69EB-37A9-4653940405A5}"/>
              </a:ext>
            </a:extLst>
          </p:cNvPr>
          <p:cNvSpPr txBox="1"/>
          <p:nvPr/>
        </p:nvSpPr>
        <p:spPr>
          <a:xfrm>
            <a:off x="5517572" y="5767773"/>
            <a:ext cx="63557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</a:t>
            </a:r>
            <a:r>
              <a:rPr lang="en-US" dirty="0" err="1"/>
              <a:t>ри</a:t>
            </a:r>
            <a:r>
              <a:rPr lang="ru-RU" dirty="0"/>
              <a:t>меры различных зависимостей с одинаковой корреляцией</a:t>
            </a:r>
          </a:p>
        </p:txBody>
      </p:sp>
    </p:spTree>
    <p:extLst>
      <p:ext uri="{BB962C8B-B14F-4D97-AF65-F5344CB8AC3E}">
        <p14:creationId xmlns:p14="http://schemas.microsoft.com/office/powerpoint/2010/main" val="1652755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920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47D957-91ED-4DFD-BF38-CD0297336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4120"/>
            <a:ext cx="10515600" cy="782357"/>
          </a:xfrm>
        </p:spPr>
        <p:txBody>
          <a:bodyPr/>
          <a:lstStyle/>
          <a:p>
            <a:pPr algn="ctr"/>
            <a:r>
              <a:rPr lang="ru-RU" b="1" dirty="0"/>
              <a:t>Анализ стационарности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718F5E-C23C-4099-A406-E529666DE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072" y="1006477"/>
            <a:ext cx="11222182" cy="58174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/>
              <a:t>Нестационарный ряд </a:t>
            </a:r>
            <a:r>
              <a:rPr lang="ru-RU" sz="2400" dirty="0"/>
              <a:t>- временной ряд считается нестационарным, если некоторые из его статистических свойств меняются с течением времени. </a:t>
            </a:r>
          </a:p>
          <a:p>
            <a:pPr marL="0" indent="0">
              <a:buNone/>
            </a:pPr>
            <a:r>
              <a:rPr lang="ru-RU" sz="2400" dirty="0"/>
              <a:t>Другими словами, ВР имеет переменную среднего времени, дисперсию или другие статистические характеристики.</a:t>
            </a:r>
            <a:endParaRPr lang="en-US" sz="3200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E4B016-46C5-1BFB-262D-5EBB825C0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15</a:t>
            </a:fld>
            <a:endParaRPr lang="en-US"/>
          </a:p>
        </p:txBody>
      </p:sp>
      <p:pic>
        <p:nvPicPr>
          <p:cNvPr id="7170" name="Picture 2" descr="image.png">
            <a:extLst>
              <a:ext uri="{FF2B5EF4-FFF2-40B4-BE49-F238E27FC236}">
                <a16:creationId xmlns:a16="http://schemas.microsoft.com/office/drawing/2014/main" id="{0FBAF8A5-46C7-4F6E-B148-B2008975F9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135"/>
          <a:stretch/>
        </p:blipFill>
        <p:spPr bwMode="auto">
          <a:xfrm>
            <a:off x="2366105" y="2938311"/>
            <a:ext cx="6992302" cy="3132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2" descr="Stationarity in time series analysis | by Shay Palachy | Towards Data  Science"/>
          <p:cNvSpPr>
            <a:spLocks noChangeAspect="1" noChangeArrowheads="1"/>
          </p:cNvSpPr>
          <p:nvPr/>
        </p:nvSpPr>
        <p:spPr bwMode="auto">
          <a:xfrm>
            <a:off x="-1368425" y="-14446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1351"/>
          </a:p>
        </p:txBody>
      </p:sp>
    </p:spTree>
    <p:extLst>
      <p:ext uri="{BB962C8B-B14F-4D97-AF65-F5344CB8AC3E}">
        <p14:creationId xmlns:p14="http://schemas.microsoft.com/office/powerpoint/2010/main" val="164417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30CA84-E3AD-B7BB-82C3-9F98F663E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624" y="365125"/>
            <a:ext cx="10946176" cy="604359"/>
          </a:xfrm>
        </p:spPr>
        <p:txBody>
          <a:bodyPr>
            <a:normAutofit fontScale="90000"/>
          </a:bodyPr>
          <a:lstStyle/>
          <a:p>
            <a:r>
              <a:rPr lang="ru-RU" dirty="0"/>
              <a:t>Стационарность 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8EA5FD-8A38-5591-1AF1-A2953088A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624" y="946446"/>
            <a:ext cx="11673540" cy="4965108"/>
          </a:xfrm>
        </p:spPr>
        <p:txBody>
          <a:bodyPr>
            <a:normAutofit/>
          </a:bodyPr>
          <a:lstStyle/>
          <a:p>
            <a:r>
              <a:rPr lang="ru-RU" sz="2200" b="1" dirty="0"/>
              <a:t>В узком смысле, </a:t>
            </a:r>
            <a:r>
              <a:rPr lang="ru-RU" sz="2200" dirty="0"/>
              <a:t>при сдвиге в любой момент времени ВР на одном и </a:t>
            </a:r>
            <a:r>
              <a:rPr lang="ru-RU" sz="2200" dirty="0" err="1"/>
              <a:t>томже</a:t>
            </a:r>
            <a:r>
              <a:rPr lang="ru-RU" sz="2200" dirty="0"/>
              <a:t> размер. Выборки имеет одно и тоже распределение </a:t>
            </a:r>
          </a:p>
          <a:p>
            <a:pPr lvl="1"/>
            <a:r>
              <a:rPr lang="ru-RU" sz="2200" dirty="0"/>
              <a:t>если для любых  </a:t>
            </a:r>
            <a:r>
              <a:rPr lang="en" sz="2200" dirty="0"/>
              <a:t>t</a:t>
            </a:r>
            <a:r>
              <a:rPr lang="en" sz="2200" baseline="-25000" dirty="0"/>
              <a:t>1</a:t>
            </a:r>
            <a:r>
              <a:rPr lang="en" sz="2200" dirty="0"/>
              <a:t>,...,</a:t>
            </a:r>
            <a:r>
              <a:rPr lang="en" sz="2200" dirty="0" err="1"/>
              <a:t>t</a:t>
            </a:r>
            <a:r>
              <a:rPr lang="en" sz="2200" baseline="-25000" dirty="0" err="1"/>
              <a:t>n</a:t>
            </a:r>
            <a:r>
              <a:rPr lang="en" sz="2200" dirty="0"/>
              <a:t>,</a:t>
            </a:r>
            <a:r>
              <a:rPr lang="ru-RU" sz="2200" dirty="0"/>
              <a:t> и </a:t>
            </a:r>
            <a:r>
              <a:rPr lang="el-GR" sz="2200" dirty="0"/>
              <a:t>τ </a:t>
            </a:r>
            <a:r>
              <a:rPr lang="ru-RU" sz="2200" dirty="0"/>
              <a:t>вектор (</a:t>
            </a:r>
            <a:r>
              <a:rPr lang="en" sz="2200" dirty="0"/>
              <a:t>y</a:t>
            </a:r>
            <a:r>
              <a:rPr lang="en" sz="2200" baseline="-25000" dirty="0"/>
              <a:t>t1+</a:t>
            </a:r>
            <a:r>
              <a:rPr lang="el-GR" sz="2200" baseline="-25000" dirty="0"/>
              <a:t>τ</a:t>
            </a:r>
            <a:r>
              <a:rPr lang="el-GR" sz="2200" dirty="0"/>
              <a:t>,...,</a:t>
            </a:r>
            <a:r>
              <a:rPr lang="en" sz="2200" dirty="0" err="1"/>
              <a:t>y</a:t>
            </a:r>
            <a:r>
              <a:rPr lang="en" sz="2200" baseline="-25000" dirty="0" err="1"/>
              <a:t>tn</a:t>
            </a:r>
            <a:r>
              <a:rPr lang="en" sz="2200" baseline="-25000" dirty="0"/>
              <a:t>+</a:t>
            </a:r>
            <a:r>
              <a:rPr lang="el-GR" sz="2200" baseline="-25000" dirty="0"/>
              <a:t>τ</a:t>
            </a:r>
            <a:r>
              <a:rPr lang="el-GR" sz="2200" dirty="0"/>
              <a:t>)</a:t>
            </a:r>
            <a:r>
              <a:rPr lang="ru-RU" sz="2200" dirty="0"/>
              <a:t> совпадает по распределению с (</a:t>
            </a:r>
            <a:r>
              <a:rPr lang="en" sz="2200" dirty="0"/>
              <a:t>y</a:t>
            </a:r>
            <a:r>
              <a:rPr lang="en" sz="2200" baseline="-25000" dirty="0"/>
              <a:t>t1</a:t>
            </a:r>
            <a:r>
              <a:rPr lang="en" sz="2200" dirty="0"/>
              <a:t>,...,</a:t>
            </a:r>
            <a:r>
              <a:rPr lang="en" sz="2200" dirty="0" err="1"/>
              <a:t>y</a:t>
            </a:r>
            <a:r>
              <a:rPr lang="en" sz="2200" baseline="-25000" dirty="0" err="1"/>
              <a:t>tn</a:t>
            </a:r>
            <a:r>
              <a:rPr lang="ru-RU" sz="2200" dirty="0"/>
              <a:t>)</a:t>
            </a:r>
          </a:p>
          <a:p>
            <a:r>
              <a:rPr lang="ru-RU" sz="2200" b="1" dirty="0"/>
              <a:t>В широком смысле: </a:t>
            </a:r>
            <a:r>
              <a:rPr lang="ru-RU" sz="2200" dirty="0"/>
              <a:t>если статистические свойства ВР не меняются с течением времени. </a:t>
            </a:r>
            <a:endParaRPr lang="en-US" sz="2200" dirty="0"/>
          </a:p>
          <a:p>
            <a:r>
              <a:rPr lang="ru-RU" sz="2200" dirty="0"/>
              <a:t>Другими словами, </a:t>
            </a:r>
            <a:r>
              <a:rPr lang="en-US" sz="2200" dirty="0" err="1"/>
              <a:t>ряд</a:t>
            </a:r>
            <a:r>
              <a:rPr lang="ru-RU" sz="2200" dirty="0"/>
              <a:t> имеет постоянное среднее значение и дисперсию, а ковариация зависит только от разницы индексов лагов. </a:t>
            </a:r>
          </a:p>
          <a:p>
            <a:pPr lvl="1"/>
            <a:r>
              <a:rPr lang="ru-RU" sz="2200" dirty="0"/>
              <a:t>указанные статистические характеристики не должны быть бесконечными.</a:t>
            </a:r>
          </a:p>
          <a:p>
            <a:pPr lvl="1"/>
            <a:r>
              <a:rPr lang="en" sz="1800" dirty="0"/>
              <a:t>E</a:t>
            </a:r>
            <a:r>
              <a:rPr lang="en" sz="1800" i="1" dirty="0"/>
              <a:t>y</a:t>
            </a:r>
            <a:r>
              <a:rPr lang="en" sz="1800" i="1" baseline="-25000" dirty="0"/>
              <a:t>t</a:t>
            </a:r>
            <a:r>
              <a:rPr lang="en" sz="1800" baseline="30000" dirty="0"/>
              <a:t>2</a:t>
            </a:r>
            <a:r>
              <a:rPr lang="en" sz="1800" dirty="0"/>
              <a:t>​&lt;+∞ </a:t>
            </a:r>
            <a:r>
              <a:rPr lang="ru-RU" sz="1800" dirty="0"/>
              <a:t>для любого </a:t>
            </a:r>
            <a:r>
              <a:rPr lang="en" sz="1800" i="1" dirty="0"/>
              <a:t>t</a:t>
            </a:r>
            <a:r>
              <a:rPr lang="en" sz="1800" dirty="0"/>
              <a:t>.</a:t>
            </a:r>
            <a:r>
              <a:rPr lang="ru-RU" sz="1800" dirty="0"/>
              <a:t> </a:t>
            </a:r>
            <a:r>
              <a:rPr lang="en" sz="1800" dirty="0" err="1"/>
              <a:t>E</a:t>
            </a:r>
            <a:r>
              <a:rPr lang="en" sz="1800" i="1" dirty="0" err="1"/>
              <a:t>y</a:t>
            </a:r>
            <a:r>
              <a:rPr lang="en" sz="1800" i="1" baseline="-25000" dirty="0" err="1"/>
              <a:t>t</a:t>
            </a:r>
            <a:r>
              <a:rPr lang="ru-RU" sz="1800" i="1" baseline="30000" dirty="0"/>
              <a:t> </a:t>
            </a:r>
            <a:r>
              <a:rPr lang="ru-RU" sz="1800" dirty="0"/>
              <a:t>не зависит от </a:t>
            </a:r>
            <a:r>
              <a:rPr lang="en" sz="1800" i="1" dirty="0"/>
              <a:t>t</a:t>
            </a:r>
            <a:r>
              <a:rPr lang="en" sz="1800" dirty="0"/>
              <a:t>, </a:t>
            </a:r>
            <a:r>
              <a:rPr lang="ru-RU" sz="1800" dirty="0"/>
              <a:t>то есть в среднем значение временного ряда постоянно. </a:t>
            </a:r>
            <a:r>
              <a:rPr lang="en" sz="1800" dirty="0"/>
              <a:t>C</a:t>
            </a:r>
            <a:r>
              <a:rPr lang="ru-RU" sz="1800" dirty="0" err="1"/>
              <a:t>ov</a:t>
            </a:r>
            <a:r>
              <a:rPr lang="en-US" sz="1800" dirty="0"/>
              <a:t>(t)=</a:t>
            </a:r>
            <a:r>
              <a:rPr lang="en-US" sz="1800" dirty="0" err="1"/>
              <a:t>Cov</a:t>
            </a:r>
            <a:r>
              <a:rPr lang="en-US" sz="1800" dirty="0"/>
              <a:t>(</a:t>
            </a:r>
            <a:r>
              <a:rPr lang="en-US" sz="1800" dirty="0" err="1"/>
              <a:t>t+tau</a:t>
            </a:r>
            <a:r>
              <a:rPr lang="en-US" sz="1800" dirty="0"/>
              <a:t>)</a:t>
            </a:r>
            <a:r>
              <a:rPr lang="ru-RU" sz="1800" dirty="0"/>
              <a:t> , то есть значение автокорреляции зависит только от длины отрезка времени между двумя значениями</a:t>
            </a:r>
            <a:endParaRPr lang="en-US" sz="1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829CDCF-CA89-B716-5BCC-F64969F31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2" descr="image.png">
            <a:extLst>
              <a:ext uri="{FF2B5EF4-FFF2-40B4-BE49-F238E27FC236}">
                <a16:creationId xmlns:a16="http://schemas.microsoft.com/office/drawing/2014/main" id="{348A59E2-301A-DD23-5BAD-1E073DDA6E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15" b="56037"/>
          <a:stretch>
            <a:fillRect/>
          </a:stretch>
        </p:blipFill>
        <p:spPr bwMode="auto">
          <a:xfrm>
            <a:off x="4655127" y="4134452"/>
            <a:ext cx="6975222" cy="2477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52008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A8996F-4EBF-4A42-B1B0-6C20D2DFE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889935"/>
          </a:xfrm>
        </p:spPr>
        <p:txBody>
          <a:bodyPr/>
          <a:lstStyle/>
          <a:p>
            <a:pPr algn="ctr"/>
            <a:r>
              <a:rPr lang="ru-RU" b="1" dirty="0"/>
              <a:t>Анализ </a:t>
            </a:r>
            <a:r>
              <a:rPr lang="ru-RU" b="1" dirty="0" err="1"/>
              <a:t>нестационарности</a:t>
            </a:r>
            <a:endParaRPr lang="en-US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E5F075-BD33-4A64-9615-916178391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254" y="1060024"/>
            <a:ext cx="11952107" cy="46037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sz="2000" dirty="0"/>
              <a:t>Если ВР имеет тренд, выраженную сезонность или переменную дисперсию (</a:t>
            </a:r>
            <a:r>
              <a:rPr lang="ru-RU" sz="2000" dirty="0" err="1"/>
              <a:t>гетеросекдостичность</a:t>
            </a:r>
            <a:r>
              <a:rPr lang="ru-RU" sz="2000" dirty="0"/>
              <a:t>), то ВР </a:t>
            </a:r>
            <a:r>
              <a:rPr lang="ru-RU" sz="2000" dirty="0" err="1"/>
              <a:t>нестационарен</a:t>
            </a:r>
            <a:endParaRPr lang="en-US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5DF02A9-1A1F-AE07-E202-839063BE9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17</a:t>
            </a:fld>
            <a:endParaRPr lang="en-US"/>
          </a:p>
        </p:txBody>
      </p:sp>
      <p:pic>
        <p:nvPicPr>
          <p:cNvPr id="10242" name="Picture 2" descr="image.png">
            <a:extLst>
              <a:ext uri="{FF2B5EF4-FFF2-40B4-BE49-F238E27FC236}">
                <a16:creationId xmlns:a16="http://schemas.microsoft.com/office/drawing/2014/main" id="{DD8C898C-2BC4-4CDA-A79D-0C28B3CBB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6930" y="1427559"/>
            <a:ext cx="7632415" cy="5021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20B24B-03C1-7306-AE22-AAC0C9E9B8D4}"/>
              </a:ext>
            </a:extLst>
          </p:cNvPr>
          <p:cNvSpPr txBox="1"/>
          <p:nvPr/>
        </p:nvSpPr>
        <p:spPr>
          <a:xfrm>
            <a:off x="1607127" y="6356350"/>
            <a:ext cx="8742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education.yandex.ru</a:t>
            </a:r>
            <a:r>
              <a:rPr lang="ru-RU" dirty="0"/>
              <a:t>/</a:t>
            </a:r>
            <a:r>
              <a:rPr lang="ru-RU" dirty="0" err="1"/>
              <a:t>handbook</a:t>
            </a:r>
            <a:r>
              <a:rPr lang="ru-RU" dirty="0"/>
              <a:t>/</a:t>
            </a:r>
            <a:r>
              <a:rPr lang="ru-RU" dirty="0" err="1"/>
              <a:t>ml</a:t>
            </a:r>
            <a:r>
              <a:rPr lang="ru-RU" dirty="0"/>
              <a:t>/</a:t>
            </a:r>
            <a:r>
              <a:rPr lang="ru-RU" dirty="0" err="1"/>
              <a:t>article</a:t>
            </a:r>
            <a:r>
              <a:rPr lang="ru-RU" dirty="0"/>
              <a:t>/</a:t>
            </a:r>
            <a:r>
              <a:rPr lang="ru-RU" dirty="0" err="1"/>
              <a:t>analitika-vremennyh-ryadov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0938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C7A29-C3A0-7522-0DAC-32BF46F93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F2E7AB-E7E7-215B-AFB5-C6656CE07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624" y="365125"/>
            <a:ext cx="10946176" cy="604359"/>
          </a:xfrm>
        </p:spPr>
        <p:txBody>
          <a:bodyPr>
            <a:normAutofit fontScale="90000"/>
          </a:bodyPr>
          <a:lstStyle/>
          <a:p>
            <a:r>
              <a:rPr lang="ru-RU" dirty="0"/>
              <a:t>Стационарность ВР. Замечания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84A7FB-FF48-C141-958F-6FB372C03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236" y="868764"/>
            <a:ext cx="11665527" cy="4965108"/>
          </a:xfrm>
        </p:spPr>
        <p:txBody>
          <a:bodyPr>
            <a:normAutofit/>
          </a:bodyPr>
          <a:lstStyle/>
          <a:p>
            <a:r>
              <a:rPr lang="en-US" sz="2200" dirty="0" err="1"/>
              <a:t>Если</a:t>
            </a:r>
            <a:r>
              <a:rPr lang="ru-RU" sz="2200" dirty="0"/>
              <a:t> ряд регулярный он может не быть </a:t>
            </a:r>
            <a:r>
              <a:rPr lang="ru-RU" sz="2200" dirty="0" err="1"/>
              <a:t>стационарым</a:t>
            </a:r>
            <a:r>
              <a:rPr lang="ru-RU" sz="2200" dirty="0"/>
              <a:t> (но не наоборот)</a:t>
            </a:r>
          </a:p>
          <a:p>
            <a:r>
              <a:rPr lang="ru-RU" sz="2200" dirty="0"/>
              <a:t>Временной ряд в ряде случаев сводится к стационарному простыми преобразованиями</a:t>
            </a:r>
          </a:p>
          <a:p>
            <a:r>
              <a:rPr lang="ru-RU" sz="2200" dirty="0"/>
              <a:t>Не все методы предсказания ВР требуют сведения ВР к стационарному, но основные требуют </a:t>
            </a:r>
          </a:p>
          <a:p>
            <a:endParaRPr lang="ru-RU" sz="22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4CC8B1-1A3E-A562-1797-A6262E4A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18</a:t>
            </a:fld>
            <a:endParaRPr lang="en-US"/>
          </a:p>
        </p:txBody>
      </p:sp>
      <p:pic>
        <p:nvPicPr>
          <p:cNvPr id="3074" name="Picture 2" descr="stationary">
            <a:extLst>
              <a:ext uri="{FF2B5EF4-FFF2-40B4-BE49-F238E27FC236}">
                <a16:creationId xmlns:a16="http://schemas.microsoft.com/office/drawing/2014/main" id="{CC32CBF0-6BD1-B7CD-8361-92A51F4C3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7042" y="2105075"/>
            <a:ext cx="6227116" cy="4471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F1B7D9-7F27-C0BA-1A6B-FDC96CEC9608}"/>
              </a:ext>
            </a:extLst>
          </p:cNvPr>
          <p:cNvSpPr txBox="1"/>
          <p:nvPr/>
        </p:nvSpPr>
        <p:spPr>
          <a:xfrm>
            <a:off x="410813" y="3013364"/>
            <a:ext cx="5569526" cy="2655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5"/>
              </a:lnSpc>
              <a:spcBef>
                <a:spcPts val="1800"/>
              </a:spcBef>
              <a:spcAft>
                <a:spcPts val="600"/>
              </a:spcAft>
            </a:pPr>
            <a:r>
              <a:rPr lang="ru-RU" sz="2400" b="0" i="0" dirty="0">
                <a:solidFill>
                  <a:srgbClr val="323232"/>
                </a:solidFill>
                <a:effectLst/>
              </a:rPr>
              <a:t>Примеры</a:t>
            </a:r>
          </a:p>
          <a:p>
            <a:pPr algn="l">
              <a:lnSpc>
                <a:spcPts val="1755"/>
              </a:lnSpc>
              <a:spcBef>
                <a:spcPts val="18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323232"/>
                </a:solidFill>
                <a:effectLst/>
              </a:rPr>
              <a:t>ряды а, </a:t>
            </a:r>
            <a:r>
              <a:rPr lang="en" sz="2400" b="0" i="0" dirty="0">
                <a:solidFill>
                  <a:srgbClr val="323232"/>
                </a:solidFill>
                <a:effectLst/>
              </a:rPr>
              <a:t>c, d, e, f, </a:t>
            </a:r>
            <a:r>
              <a:rPr lang="en" sz="2400" b="0" i="0" dirty="0" err="1">
                <a:solidFill>
                  <a:srgbClr val="323232"/>
                </a:solidFill>
                <a:effectLst/>
              </a:rPr>
              <a:t>i</a:t>
            </a:r>
            <a:r>
              <a:rPr lang="en" sz="2400" b="0" i="0" dirty="0">
                <a:solidFill>
                  <a:srgbClr val="323232"/>
                </a:solidFill>
                <a:effectLst/>
              </a:rPr>
              <a:t> </a:t>
            </a:r>
            <a:r>
              <a:rPr lang="ru-RU" sz="2400" b="0" i="0" dirty="0">
                <a:solidFill>
                  <a:srgbClr val="323232"/>
                </a:solidFill>
                <a:effectLst/>
              </a:rPr>
              <a:t>не стационарны, поскольку они имеют тренд;</a:t>
            </a:r>
          </a:p>
          <a:p>
            <a:pPr algn="l">
              <a:lnSpc>
                <a:spcPts val="1755"/>
              </a:lnSpc>
              <a:spcBef>
                <a:spcPts val="18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323232"/>
                </a:solidFill>
                <a:effectLst/>
              </a:rPr>
              <a:t>ряд </a:t>
            </a:r>
            <a:r>
              <a:rPr lang="en" sz="2400" b="0" i="0" dirty="0">
                <a:solidFill>
                  <a:srgbClr val="323232"/>
                </a:solidFill>
                <a:effectLst/>
              </a:rPr>
              <a:t>b </a:t>
            </a:r>
            <a:r>
              <a:rPr lang="ru-RU" sz="2400" b="0" i="0" dirty="0">
                <a:solidFill>
                  <a:srgbClr val="323232"/>
                </a:solidFill>
                <a:effectLst/>
              </a:rPr>
              <a:t>скорее всего стационарный, имеется выброс;</a:t>
            </a:r>
          </a:p>
          <a:p>
            <a:pPr algn="l">
              <a:lnSpc>
                <a:spcPts val="1755"/>
              </a:lnSpc>
              <a:spcBef>
                <a:spcPts val="18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323232"/>
                </a:solidFill>
                <a:effectLst/>
              </a:rPr>
              <a:t>ряды </a:t>
            </a:r>
            <a:r>
              <a:rPr lang="en" sz="2400" b="0" i="0" dirty="0">
                <a:solidFill>
                  <a:srgbClr val="323232"/>
                </a:solidFill>
                <a:effectLst/>
              </a:rPr>
              <a:t>d, g, h, </a:t>
            </a:r>
            <a:r>
              <a:rPr lang="en" sz="2400" b="0" i="0" dirty="0" err="1">
                <a:solidFill>
                  <a:srgbClr val="323232"/>
                </a:solidFill>
                <a:effectLst/>
              </a:rPr>
              <a:t>i</a:t>
            </a:r>
            <a:r>
              <a:rPr lang="en" sz="2400" b="0" i="0" dirty="0">
                <a:solidFill>
                  <a:srgbClr val="323232"/>
                </a:solidFill>
                <a:effectLst/>
              </a:rPr>
              <a:t> </a:t>
            </a:r>
            <a:r>
              <a:rPr lang="ru-RU" sz="2400" b="0" i="0" dirty="0">
                <a:solidFill>
                  <a:srgbClr val="323232"/>
                </a:solidFill>
                <a:effectLst/>
              </a:rPr>
              <a:t>не стационарны, потому что имеют сезонность.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BFB870-F0D3-4BE0-3CEC-865570E80239}"/>
              </a:ext>
            </a:extLst>
          </p:cNvPr>
          <p:cNvSpPr txBox="1"/>
          <p:nvPr/>
        </p:nvSpPr>
        <p:spPr>
          <a:xfrm>
            <a:off x="263236" y="6492875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education.yandex.ru</a:t>
            </a:r>
            <a:r>
              <a:rPr lang="ru-RU" sz="1400" dirty="0"/>
              <a:t>/</a:t>
            </a:r>
            <a:r>
              <a:rPr lang="ru-RU" sz="1400" dirty="0" err="1"/>
              <a:t>handbook</a:t>
            </a:r>
            <a:r>
              <a:rPr lang="ru-RU" sz="1400" dirty="0"/>
              <a:t>/</a:t>
            </a:r>
            <a:r>
              <a:rPr lang="ru-RU" sz="1400" dirty="0" err="1"/>
              <a:t>ml</a:t>
            </a:r>
            <a:r>
              <a:rPr lang="ru-RU" sz="1400" dirty="0"/>
              <a:t>/</a:t>
            </a:r>
            <a:r>
              <a:rPr lang="ru-RU" sz="1400" dirty="0" err="1"/>
              <a:t>article</a:t>
            </a:r>
            <a:r>
              <a:rPr lang="ru-RU" sz="1400" dirty="0"/>
              <a:t>/</a:t>
            </a:r>
            <a:r>
              <a:rPr lang="ru-RU" sz="1400" dirty="0" err="1"/>
              <a:t>analitika-vremennyh-ryadov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295918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A8996F-4EBF-4A42-B1B0-6C20D2DFE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889935"/>
          </a:xfrm>
        </p:spPr>
        <p:txBody>
          <a:bodyPr/>
          <a:lstStyle/>
          <a:p>
            <a:pPr algn="ctr"/>
            <a:r>
              <a:rPr lang="ru-RU" b="1" dirty="0"/>
              <a:t>Анализ стационарности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E5F075-BD33-4A64-9615-916178391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242922"/>
            <a:ext cx="9614647" cy="254187"/>
          </a:xfrm>
        </p:spPr>
        <p:txBody>
          <a:bodyPr>
            <a:normAutofit fontScale="85000" lnSpcReduction="20000"/>
          </a:bodyPr>
          <a:lstStyle/>
          <a:p>
            <a:r>
              <a:rPr lang="ru-RU" sz="1600" dirty="0"/>
              <a:t>Пример нестационарности линии тренда</a:t>
            </a:r>
            <a:endParaRPr lang="en-US" sz="1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EE1B8AB-F6A2-B209-F59C-484D26A94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19</a:t>
            </a:fld>
            <a:endParaRPr lang="en-US"/>
          </a:p>
        </p:txBody>
      </p:sp>
      <p:pic>
        <p:nvPicPr>
          <p:cNvPr id="9218" name="Picture 2" descr="image.png">
            <a:extLst>
              <a:ext uri="{FF2B5EF4-FFF2-40B4-BE49-F238E27FC236}">
                <a16:creationId xmlns:a16="http://schemas.microsoft.com/office/drawing/2014/main" id="{052CE546-38C8-4545-9CE9-3131E7560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395" y="1414418"/>
            <a:ext cx="4705351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Объект 2">
            <a:extLst>
              <a:ext uri="{FF2B5EF4-FFF2-40B4-BE49-F238E27FC236}">
                <a16:creationId xmlns:a16="http://schemas.microsoft.com/office/drawing/2014/main" id="{45038227-696C-41D4-9A08-38060580E5A9}"/>
              </a:ext>
            </a:extLst>
          </p:cNvPr>
          <p:cNvSpPr txBox="1">
            <a:spLocks/>
          </p:cNvSpPr>
          <p:nvPr/>
        </p:nvSpPr>
        <p:spPr>
          <a:xfrm>
            <a:off x="5086672" y="1242922"/>
            <a:ext cx="5790557" cy="29872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/>
              <a:t>Пример сезонной нестационарности (в смысле дисперсии)</a:t>
            </a:r>
            <a:endParaRPr lang="en-US" sz="1600" dirty="0"/>
          </a:p>
        </p:txBody>
      </p:sp>
      <p:pic>
        <p:nvPicPr>
          <p:cNvPr id="9220" name="Picture 4" descr="image.png">
            <a:extLst>
              <a:ext uri="{FF2B5EF4-FFF2-40B4-BE49-F238E27FC236}">
                <a16:creationId xmlns:a16="http://schemas.microsoft.com/office/drawing/2014/main" id="{128D129D-DCD4-4354-8157-9D2680DA5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3646" y="1605040"/>
            <a:ext cx="3876675" cy="212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7226A53E-F261-4312-BAF5-E1890408B123}"/>
              </a:ext>
            </a:extLst>
          </p:cNvPr>
          <p:cNvSpPr txBox="1">
            <a:spLocks/>
          </p:cNvSpPr>
          <p:nvPr/>
        </p:nvSpPr>
        <p:spPr>
          <a:xfrm>
            <a:off x="1524000" y="3820835"/>
            <a:ext cx="9480176" cy="415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Пример сезонной нестационарности (в смысле периода сезонности)</a:t>
            </a:r>
            <a:endParaRPr lang="en-US" sz="2000" dirty="0"/>
          </a:p>
        </p:txBody>
      </p:sp>
      <p:pic>
        <p:nvPicPr>
          <p:cNvPr id="9222" name="Picture 6" descr="image.png">
            <a:extLst>
              <a:ext uri="{FF2B5EF4-FFF2-40B4-BE49-F238E27FC236}">
                <a16:creationId xmlns:a16="http://schemas.microsoft.com/office/drawing/2014/main" id="{C99BD1AB-58BB-4B8A-925E-27D840368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1791" y="4281209"/>
            <a:ext cx="5391151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9520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F537B0-7966-4E39-93FF-9C938D867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857" y="204181"/>
            <a:ext cx="9081887" cy="701675"/>
          </a:xfrm>
        </p:spPr>
        <p:txBody>
          <a:bodyPr>
            <a:normAutofit/>
          </a:bodyPr>
          <a:lstStyle/>
          <a:p>
            <a:r>
              <a:rPr lang="ru-RU" dirty="0"/>
              <a:t>Белый Гауссов шум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D042F3-0F09-4E1C-8D08-588BCFBDD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545" y="905855"/>
            <a:ext cx="11693237" cy="2348974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Одним из наиболее важных случаев стационарного ВР является стационарность шума.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Шум стационарности с независимыми выборками во времени (с автокорреляцией 0) называется шумом белого гаусса (WGN).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Таким образом, WGN - это ряд с </a:t>
            </a:r>
            <a:br>
              <a:rPr lang="ru-RU" dirty="0"/>
            </a:br>
            <a:r>
              <a:rPr lang="ru-RU" dirty="0"/>
              <a:t>𝑒𝑣 = 0; 𝑣𝑎𝑟 &lt;∞; 𝑐𝑜𝑣 (𝑛) = 𝑠𝑡𝑑⋅𝛿 (𝑘 − 𝑛), </a:t>
            </a:r>
            <a:br>
              <a:rPr lang="ru-RU" dirty="0"/>
            </a:br>
            <a:r>
              <a:rPr lang="ru-RU" dirty="0"/>
              <a:t>где 𝛿 (𝑘 − 𝑛) = 1, если 𝑘 = 𝑛, и 0 в остальных случаях.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АКФ БГШ будет иметь некоторые ненулевые случайные значения – это эффект ограниченной выборки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69C633B-7933-0002-AE7E-DFCCA196E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20</a:t>
            </a:fld>
            <a:endParaRPr lang="en-US"/>
          </a:p>
        </p:txBody>
      </p:sp>
      <p:pic>
        <p:nvPicPr>
          <p:cNvPr id="11268" name="Picture 4" descr="image.png">
            <a:extLst>
              <a:ext uri="{FF2B5EF4-FFF2-40B4-BE49-F238E27FC236}">
                <a16:creationId xmlns:a16="http://schemas.microsoft.com/office/drawing/2014/main" id="{421DC3E5-7CB6-4B47-B931-566FF314F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2797" y="4104844"/>
            <a:ext cx="2887437" cy="2111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A7E8075-377F-4827-AB95-E074F6D4F7F7}"/>
              </a:ext>
            </a:extLst>
          </p:cNvPr>
          <p:cNvSpPr/>
          <p:nvPr/>
        </p:nvSpPr>
        <p:spPr>
          <a:xfrm>
            <a:off x="1790701" y="3603172"/>
            <a:ext cx="85997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Пример</a:t>
            </a:r>
            <a:r>
              <a:rPr lang="ru-RU" sz="1600" dirty="0"/>
              <a:t> </a:t>
            </a:r>
            <a:r>
              <a:rPr lang="ru-RU" sz="1600" dirty="0" err="1"/>
              <a:t>wgn</a:t>
            </a:r>
            <a:r>
              <a:rPr lang="ru-RU" sz="1600" dirty="0"/>
              <a:t> - это когда вы выключаете антенну с телевизора и увидеть так называемый «снег» </a:t>
            </a:r>
          </a:p>
        </p:txBody>
      </p:sp>
      <p:pic>
        <p:nvPicPr>
          <p:cNvPr id="11270" name="Picture 6" descr="image.png">
            <a:extLst>
              <a:ext uri="{FF2B5EF4-FFF2-40B4-BE49-F238E27FC236}">
                <a16:creationId xmlns:a16="http://schemas.microsoft.com/office/drawing/2014/main" id="{8635D9C6-FAAA-48AF-B36E-41034DB9A0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00" y="4170025"/>
            <a:ext cx="5264746" cy="2111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DA6652-22B8-97B5-C1CF-515D1A7E07A0}"/>
              </a:ext>
            </a:extLst>
          </p:cNvPr>
          <p:cNvSpPr txBox="1"/>
          <p:nvPr/>
        </p:nvSpPr>
        <p:spPr>
          <a:xfrm>
            <a:off x="1705857" y="3117262"/>
            <a:ext cx="9397573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20000"/>
              </a:lnSpc>
            </a:pPr>
            <a:r>
              <a:rPr lang="ru-RU" dirty="0"/>
              <a:t>Обратите внимание, что дисперсия также может быть названа мощностью шума.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4955585-ABAB-C413-AECE-CABA2C5077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5180" y="3972504"/>
            <a:ext cx="3726820" cy="2348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06070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7D6645-D83B-4FCE-A2EB-4C47F1622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496" y="384102"/>
            <a:ext cx="9013371" cy="885002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/>
              <a:t>Преобразования нестационарных </a:t>
            </a:r>
            <a:r>
              <a:rPr lang="en-US" sz="3600" b="1" dirty="0"/>
              <a:t/>
            </a:r>
            <a:br>
              <a:rPr lang="en-US" sz="3600" b="1" dirty="0"/>
            </a:br>
            <a:r>
              <a:rPr lang="ru-RU" sz="3600" b="1" dirty="0"/>
              <a:t>временных рядов</a:t>
            </a:r>
            <a:endParaRPr lang="en-US" sz="36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C5E1D3-FBD7-4B7D-96DC-57F6A3BF3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381141"/>
            <a:ext cx="11671300" cy="534033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ru-RU" dirty="0"/>
              <a:t>На самом деле почти все временные ряды нестационарны (в той или иной степени). </a:t>
            </a:r>
          </a:p>
          <a:p>
            <a:pPr lvl="1">
              <a:lnSpc>
                <a:spcPct val="110000"/>
              </a:lnSpc>
            </a:pPr>
            <a:r>
              <a:rPr lang="ru-RU" dirty="0"/>
              <a:t>Однако, в зависимости от требований к точности в некоторых случаях мы можем сделать допущение, что ВР является стационарным для нашей задачи если он удовлетворяет каким либо нашим условиям.</a:t>
            </a:r>
          </a:p>
          <a:p>
            <a:pPr lvl="1">
              <a:lnSpc>
                <a:spcPct val="110000"/>
              </a:lnSpc>
            </a:pPr>
            <a:r>
              <a:rPr lang="ru-RU" dirty="0"/>
              <a:t>Нестационарные ВР могут содержать ложные корреляции (тренда, сезонность, аномалии)</a:t>
            </a:r>
          </a:p>
          <a:p>
            <a:pPr>
              <a:lnSpc>
                <a:spcPct val="110000"/>
              </a:lnSpc>
            </a:pPr>
            <a:endParaRPr lang="ru-RU" dirty="0"/>
          </a:p>
          <a:p>
            <a:pPr>
              <a:lnSpc>
                <a:spcPct val="110000"/>
              </a:lnSpc>
            </a:pPr>
            <a:r>
              <a:rPr lang="ru-RU" dirty="0"/>
              <a:t>Ряд можно проверить на стационарность визуально (напр. Резкий спад АКФ)</a:t>
            </a:r>
          </a:p>
          <a:p>
            <a:pPr>
              <a:lnSpc>
                <a:spcPct val="110000"/>
              </a:lnSpc>
            </a:pPr>
            <a:r>
              <a:rPr lang="ru-RU" dirty="0"/>
              <a:t>Ряд можно проверить строго на </a:t>
            </a:r>
            <a:r>
              <a:rPr lang="ru-RU" dirty="0" err="1"/>
              <a:t>станционарность</a:t>
            </a:r>
            <a:r>
              <a:rPr lang="ru-RU" dirty="0"/>
              <a:t> с помощью различных статистических критериев. Наиболее популярны следующие критерии:</a:t>
            </a:r>
          </a:p>
          <a:p>
            <a:pPr lvl="1">
              <a:lnSpc>
                <a:spcPct val="110000"/>
              </a:lnSpc>
            </a:pPr>
            <a:r>
              <a:rPr lang="ru-RU" dirty="0"/>
              <a:t>критерий </a:t>
            </a:r>
            <a:r>
              <a:rPr lang="en" dirty="0"/>
              <a:t>KPSS (Kwiatkowski–Phillips–Schmidt–Shin): </a:t>
            </a:r>
            <a:r>
              <a:rPr lang="ru-RU" dirty="0"/>
              <a:t>если </a:t>
            </a:r>
            <a:r>
              <a:rPr lang="en" dirty="0"/>
              <a:t>p-value ⩽0.05, </a:t>
            </a:r>
            <a:r>
              <a:rPr lang="ru-RU" dirty="0"/>
              <a:t>то отвергаем стационарность;</a:t>
            </a:r>
          </a:p>
          <a:p>
            <a:pPr lvl="1">
              <a:lnSpc>
                <a:spcPct val="110000"/>
              </a:lnSpc>
            </a:pPr>
            <a:r>
              <a:rPr lang="ru-RU" dirty="0"/>
              <a:t>критерий Дики-Фуллера: если </a:t>
            </a:r>
            <a:r>
              <a:rPr lang="en" dirty="0"/>
              <a:t>p-value ⩽0.05, </a:t>
            </a:r>
            <a:r>
              <a:rPr lang="ru-RU" dirty="0"/>
              <a:t>то отвергаем </a:t>
            </a:r>
            <a:r>
              <a:rPr lang="ru-RU" b="1" dirty="0" err="1"/>
              <a:t>НЕ</a:t>
            </a:r>
            <a:r>
              <a:rPr lang="ru-RU" dirty="0" err="1"/>
              <a:t>стационарность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492D756-4C63-429B-9DFF-16F0D57FD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2872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7D6645-D83B-4FCE-A2EB-4C47F1622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496" y="384102"/>
            <a:ext cx="9013371" cy="885002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/>
              <a:t>Преобразования нестационарных </a:t>
            </a:r>
            <a:r>
              <a:rPr lang="en-US" sz="3600" b="1" dirty="0"/>
              <a:t/>
            </a:r>
            <a:br>
              <a:rPr lang="en-US" sz="3600" b="1" dirty="0"/>
            </a:br>
            <a:r>
              <a:rPr lang="ru-RU" sz="3600" b="1" dirty="0"/>
              <a:t>временных рядов</a:t>
            </a:r>
            <a:endParaRPr lang="en-US" sz="36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C5E1D3-FBD7-4B7D-96DC-57F6A3BF3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740" y="1563703"/>
            <a:ext cx="11630819" cy="497520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ru-RU" sz="2200" dirty="0"/>
              <a:t>Можно ввести несколько градаций </a:t>
            </a:r>
            <a:r>
              <a:rPr lang="ru-RU" sz="2200" dirty="0" err="1"/>
              <a:t>нестационарности</a:t>
            </a:r>
            <a:r>
              <a:rPr lang="ru-RU" sz="2200" dirty="0"/>
              <a:t> ВР: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ru-RU" sz="2200" dirty="0"/>
              <a:t>Сильная стационарность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ru-RU" sz="2200" dirty="0"/>
              <a:t>Слабая стационарность (2 порядка)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200" dirty="0"/>
              <a:t>DS-</a:t>
            </a:r>
            <a:r>
              <a:rPr lang="ru-RU" sz="2200" dirty="0"/>
              <a:t>ряд разностно-стационарный ВР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200" dirty="0"/>
              <a:t>TS-</a:t>
            </a:r>
            <a:r>
              <a:rPr lang="ru-RU" sz="2200" dirty="0"/>
              <a:t>ряд</a:t>
            </a:r>
            <a:r>
              <a:rPr lang="en-US" sz="2200" dirty="0"/>
              <a:t> – </a:t>
            </a:r>
            <a:r>
              <a:rPr lang="ru-RU" sz="2200" dirty="0"/>
              <a:t>сводится к стационарному путем удаления тренда и\или сезонности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ru-RU" sz="2200" dirty="0" err="1"/>
              <a:t>Гетеросекдостичный</a:t>
            </a:r>
            <a:r>
              <a:rPr lang="ru-RU" sz="2200" dirty="0"/>
              <a:t> ВР – может сводится к стационарному путем логарифмирования</a:t>
            </a:r>
            <a:r>
              <a:rPr lang="en-US" sz="2200" dirty="0"/>
              <a:t> </a:t>
            </a:r>
            <a:r>
              <a:rPr lang="ru-RU" sz="2200" dirty="0"/>
              <a:t>(степенного преобразования)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ru-RU" sz="2200" dirty="0"/>
              <a:t>Регулярный ВР – нестационарный ВР, имеющий явные паттерны поведения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ru-RU" sz="2200" dirty="0" err="1"/>
              <a:t>Неформализуемый</a:t>
            </a:r>
            <a:r>
              <a:rPr lang="ru-RU" sz="2200" dirty="0"/>
              <a:t> ВР – паттерны поведения не явны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492D756-4C63-429B-9DFF-16F0D57FD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22</a:t>
            </a:fld>
            <a:endParaRPr lang="en-US"/>
          </a:p>
        </p:txBody>
      </p:sp>
      <p:cxnSp>
        <p:nvCxnSpPr>
          <p:cNvPr id="6" name="Прямая со стрелкой 5"/>
          <p:cNvCxnSpPr/>
          <p:nvPr/>
        </p:nvCxnSpPr>
        <p:spPr>
          <a:xfrm>
            <a:off x="268941" y="1552175"/>
            <a:ext cx="30736" cy="4741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2" descr="https://miro.medium.com/v2/resize:fit:875/1*aRHZEc1hxOXYLHDnBVaKdA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70715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C9BAA-6E94-D4B8-B3C8-2821CABD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8ABA1A-E0BD-E207-CE58-719070338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346" y="131535"/>
            <a:ext cx="11346872" cy="662781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/>
              <a:t>Преобразования нестационарных ВР</a:t>
            </a: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64205F-EC7C-FCE6-C3F5-3989C7225E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1782" y="794316"/>
                <a:ext cx="7640900" cy="5784284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ru-RU" sz="2200" dirty="0"/>
                  <a:t>Можно ввести модель ВР стационарную по отношению к тренду или сезонности </a:t>
                </a:r>
                <a:r>
                  <a:rPr lang="en-US" sz="2200" dirty="0"/>
                  <a:t>(TS </a:t>
                </a:r>
                <a:r>
                  <a:rPr lang="ru-RU" sz="2200" dirty="0"/>
                  <a:t>модель</a:t>
                </a:r>
                <a:r>
                  <a:rPr lang="en-US" sz="2200" dirty="0"/>
                  <a:t>)</a:t>
                </a:r>
                <a:r>
                  <a:rPr lang="ru-RU" sz="2200" dirty="0"/>
                  <a:t>. То есть: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000" dirty="0">
                        <a:latin typeface="Cambria Math" panose="02040503050406030204" pitchFamily="18" charset="0"/>
                      </a:rPr>
                      <m:t>y</m:t>
                    </m:r>
                    <m:d>
                      <m:d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000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altLang="en-US" sz="2000" dirty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altLang="en-US" sz="2000" dirty="0">
                        <a:latin typeface="Cambria Math" panose="02040503050406030204" pitchFamily="18" charset="0"/>
                      </a:rPr>
                      <m:t>trend</m:t>
                    </m:r>
                    <m:d>
                      <m:d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000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altLang="en-US" sz="2000" dirty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en-US" sz="2000" dirty="0">
                        <a:latin typeface="Cambria Math" panose="02040503050406030204" pitchFamily="18" charset="0"/>
                      </a:rPr>
                      <m:t>seasonal</m:t>
                    </m:r>
                    <m:d>
                      <m:dPr>
                        <m:ctrlPr>
                          <a:rPr lang="en-US" alt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en-US" sz="2000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altLang="en-US" sz="2000" b="0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en-US" sz="2000" b="0" i="0" dirty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altLang="en-US" sz="2000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000" dirty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altLang="en-US" sz="2000" dirty="0"/>
                  <a:t>)</a:t>
                </a:r>
                <a:endParaRPr lang="ru-RU" altLang="en-US" sz="2000" dirty="0"/>
              </a:p>
              <a:p>
                <a:pPr marL="319088" indent="0">
                  <a:buNone/>
                </a:pPr>
                <a:r>
                  <a:rPr lang="ru-RU" sz="2200" dirty="0"/>
                  <a:t>где</a:t>
                </a:r>
                <a:r>
                  <a:rPr lang="en-US" alt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400" dirty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altLang="en-US" sz="2400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 sz="2400" dirty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altLang="en-US" sz="2400" dirty="0"/>
                  <a:t>) – </a:t>
                </a:r>
                <a:r>
                  <a:rPr lang="ru-RU" altLang="en-US" sz="2400" dirty="0"/>
                  <a:t>стационарная часть ВР. </a:t>
                </a:r>
              </a:p>
              <a:p>
                <a:pPr marL="319088" indent="0">
                  <a:buNone/>
                </a:pPr>
                <a:r>
                  <a:rPr lang="ru-RU" altLang="en-US" sz="2400" dirty="0"/>
                  <a:t>Тогда можно убрать тренд и стационарность их вычитанием. </a:t>
                </a:r>
              </a:p>
              <a:p>
                <a:pPr marL="0" indent="0">
                  <a:buNone/>
                </a:pPr>
                <a:r>
                  <a:rPr lang="ru-RU" altLang="en-US" sz="2400" dirty="0"/>
                  <a:t>Или преобразованиями типа </a:t>
                </a:r>
                <a:r>
                  <a:rPr lang="en-US" altLang="en-US" sz="2400" dirty="0"/>
                  <a:t>(DS </a:t>
                </a:r>
                <a:r>
                  <a:rPr lang="ru-RU" altLang="en-US" sz="2400" dirty="0"/>
                  <a:t>модель):</a:t>
                </a:r>
                <a:endParaRPr lang="ru-RU" sz="2200" dirty="0"/>
              </a:p>
              <a:p>
                <a:r>
                  <a:rPr lang="ru-RU" sz="2200" dirty="0"/>
                  <a:t>Дифференцирование ряда (для снятие тренда) </a:t>
                </a:r>
              </a:p>
              <a:p>
                <a:pPr marL="0" indent="0" algn="ctr">
                  <a:buNone/>
                </a:pPr>
                <a:r>
                  <a:rPr lang="ru-RU" sz="2200" dirty="0"/>
                  <a:t> </a:t>
                </a:r>
                <a:r>
                  <a:rPr lang="en" sz="2200" dirty="0" err="1"/>
                  <a:t>y</a:t>
                </a:r>
                <a:r>
                  <a:rPr lang="en" sz="2200" baseline="-25000" dirty="0" err="1"/>
                  <a:t>t</a:t>
                </a:r>
                <a:r>
                  <a:rPr lang="en" sz="2200" dirty="0"/>
                  <a:t>′=y</a:t>
                </a:r>
                <a:r>
                  <a:rPr lang="en" sz="2200" baseline="-25000" dirty="0"/>
                  <a:t>t</a:t>
                </a:r>
                <a:r>
                  <a:rPr lang="en" sz="2200" dirty="0"/>
                  <a:t>−y</a:t>
                </a:r>
                <a:r>
                  <a:rPr lang="en" sz="2200" baseline="-25000" dirty="0"/>
                  <a:t>t−1</a:t>
                </a:r>
                <a:r>
                  <a:rPr lang="en" sz="2200" dirty="0"/>
                  <a:t>. </a:t>
                </a:r>
                <a:endParaRPr lang="ru-RU" sz="2200" dirty="0"/>
              </a:p>
              <a:p>
                <a:pPr marL="0" indent="0">
                  <a:buNone/>
                </a:pPr>
                <a:endParaRPr lang="ru-RU" sz="2200" dirty="0"/>
              </a:p>
              <a:p>
                <a:r>
                  <a:rPr lang="ru-RU" sz="2200" dirty="0"/>
                  <a:t>Сезонное дифференцирование (снятие сезонности)</a:t>
                </a:r>
              </a:p>
              <a:p>
                <a:pPr marL="0" indent="0" algn="ctr">
                  <a:buNone/>
                </a:pPr>
                <a:r>
                  <a:rPr lang="ru-RU" sz="2200" dirty="0"/>
                  <a:t> 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sSub>
                      <m:sSubPr>
                        <m:ctrlPr>
                          <a:rPr lang="en-US" sz="24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" sz="2200" dirty="0"/>
                  <a:t>=</a:t>
                </a:r>
                <a:r>
                  <a:rPr lang="en" sz="2200" i="1" dirty="0" err="1"/>
                  <a:t>y</a:t>
                </a:r>
                <a:r>
                  <a:rPr lang="en" sz="2200" i="1" baseline="-25000" dirty="0" err="1"/>
                  <a:t>t</a:t>
                </a:r>
                <a:r>
                  <a:rPr lang="en" sz="2200" dirty="0"/>
                  <a:t>​−</a:t>
                </a:r>
                <a:r>
                  <a:rPr lang="en" sz="2200" i="1" dirty="0" err="1"/>
                  <a:t>y</a:t>
                </a:r>
                <a:r>
                  <a:rPr lang="en" sz="2200" i="1" baseline="-25000" dirty="0" err="1"/>
                  <a:t>t</a:t>
                </a:r>
                <a:r>
                  <a:rPr lang="en" sz="2200" baseline="-25000" dirty="0"/>
                  <a:t>−</a:t>
                </a:r>
                <a:r>
                  <a:rPr lang="en" sz="2200" i="1" baseline="-25000" dirty="0"/>
                  <a:t>s</a:t>
                </a:r>
                <a:r>
                  <a:rPr lang="en" sz="2200" baseline="-25000" dirty="0"/>
                  <a:t>​</a:t>
                </a:r>
                <a:r>
                  <a:rPr lang="en" sz="2200" dirty="0"/>
                  <a:t>, </a:t>
                </a:r>
                <a:r>
                  <a:rPr lang="ru-RU" sz="2200" dirty="0"/>
                  <a:t/>
                </a:r>
                <a:br>
                  <a:rPr lang="ru-RU" sz="2200" dirty="0"/>
                </a:br>
                <a:endParaRPr lang="ru-RU" sz="2200" dirty="0"/>
              </a:p>
              <a:p>
                <a:pPr marL="0" indent="0" algn="ctr">
                  <a:buNone/>
                </a:pPr>
                <a:r>
                  <a:rPr lang="en" sz="2200" i="1" dirty="0"/>
                  <a:t>s</a:t>
                </a:r>
                <a:r>
                  <a:rPr lang="en" sz="2200" dirty="0"/>
                  <a:t> – </a:t>
                </a:r>
                <a:r>
                  <a:rPr lang="ru-RU" sz="2200" dirty="0"/>
                  <a:t>длина сезона.</a:t>
                </a:r>
              </a:p>
              <a:p>
                <a:pPr marL="0" indent="0">
                  <a:buNone/>
                </a:pPr>
                <a:endParaRPr lang="ru-RU" sz="2200" dirty="0"/>
              </a:p>
              <a:p>
                <a:r>
                  <a:rPr lang="ru-RU" sz="2200" dirty="0"/>
                  <a:t>Преобразования можно применять несколько раз. </a:t>
                </a:r>
              </a:p>
              <a:p>
                <a:r>
                  <a:rPr lang="ru-RU" sz="2200" dirty="0"/>
                  <a:t>Обычно сначала применяют сезонное дифференцирование.</a:t>
                </a:r>
                <a:br>
                  <a:rPr lang="ru-RU" sz="2200" dirty="0"/>
                </a:br>
                <a:endParaRPr lang="en-US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64205F-EC7C-FCE6-C3F5-3989C7225E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1782" y="794316"/>
                <a:ext cx="7640900" cy="5784284"/>
              </a:xfrm>
              <a:blipFill>
                <a:blip r:embed="rId2"/>
                <a:stretch>
                  <a:fillRect l="-995" t="-197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3D23F6C-7410-4C33-A167-CD4C43941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23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3743E2-8C7A-261B-FAA7-DD4F1D0B815C}"/>
              </a:ext>
            </a:extLst>
          </p:cNvPr>
          <p:cNvSpPr txBox="1"/>
          <p:nvPr/>
        </p:nvSpPr>
        <p:spPr>
          <a:xfrm>
            <a:off x="2885208" y="6352143"/>
            <a:ext cx="807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education.yandex.ru</a:t>
            </a:r>
            <a:r>
              <a:rPr lang="ru-RU" dirty="0"/>
              <a:t>/</a:t>
            </a:r>
            <a:r>
              <a:rPr lang="ru-RU" dirty="0" err="1"/>
              <a:t>handbook</a:t>
            </a:r>
            <a:r>
              <a:rPr lang="ru-RU" dirty="0"/>
              <a:t>/</a:t>
            </a:r>
            <a:r>
              <a:rPr lang="ru-RU" dirty="0" err="1"/>
              <a:t>ml</a:t>
            </a:r>
            <a:r>
              <a:rPr lang="ru-RU" dirty="0"/>
              <a:t>/</a:t>
            </a:r>
            <a:r>
              <a:rPr lang="ru-RU" dirty="0" err="1"/>
              <a:t>article</a:t>
            </a:r>
            <a:r>
              <a:rPr lang="ru-RU" dirty="0"/>
              <a:t>/</a:t>
            </a:r>
            <a:r>
              <a:rPr lang="ru-RU" dirty="0" err="1"/>
              <a:t>analitika-vremennyh-ryadov</a:t>
            </a:r>
            <a:endParaRPr lang="ru-RU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287B935A-7DEC-7B26-64EF-E7C9757251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7" b="68104"/>
          <a:stretch>
            <a:fillRect/>
          </a:stretch>
        </p:blipFill>
        <p:spPr bwMode="auto">
          <a:xfrm>
            <a:off x="7925297" y="626007"/>
            <a:ext cx="3737753" cy="1955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image.png">
            <a:extLst>
              <a:ext uri="{FF2B5EF4-FFF2-40B4-BE49-F238E27FC236}">
                <a16:creationId xmlns:a16="http://schemas.microsoft.com/office/drawing/2014/main" id="{842AE8AE-5091-CA10-4BC3-9F9B9EA49D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71" t="37973" r="3671" b="33202"/>
          <a:stretch>
            <a:fillRect/>
          </a:stretch>
        </p:blipFill>
        <p:spPr bwMode="auto">
          <a:xfrm>
            <a:off x="7808033" y="2581322"/>
            <a:ext cx="3855017" cy="1955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image.png">
            <a:extLst>
              <a:ext uri="{FF2B5EF4-FFF2-40B4-BE49-F238E27FC236}">
                <a16:creationId xmlns:a16="http://schemas.microsoft.com/office/drawing/2014/main" id="{3ADD4940-D8B5-C15B-5B54-B156C06B54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t="71872" r="-9"/>
          <a:stretch>
            <a:fillRect/>
          </a:stretch>
        </p:blipFill>
        <p:spPr bwMode="auto">
          <a:xfrm>
            <a:off x="8007938" y="4536637"/>
            <a:ext cx="3855017" cy="1908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002EFE9-3A0B-19DC-D6A7-BF85FFBFA7F3}"/>
                  </a:ext>
                </a:extLst>
              </p:cNvPr>
              <p:cNvSpPr txBox="1"/>
              <p:nvPr/>
            </p:nvSpPr>
            <p:spPr>
              <a:xfrm>
                <a:off x="8242588" y="3890470"/>
                <a:ext cx="114040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dirty="0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sSub>
                        <m:sSubPr>
                          <m:ctrlPr>
                            <a:rPr lang="en-US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002EFE9-3A0B-19DC-D6A7-BF85FFBFA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2588" y="3890470"/>
                <a:ext cx="1140402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174579F-E142-AA3B-ECFA-68DF44DC0FFB}"/>
                  </a:ext>
                </a:extLst>
              </p:cNvPr>
              <p:cNvSpPr txBox="1"/>
              <p:nvPr/>
            </p:nvSpPr>
            <p:spPr>
              <a:xfrm>
                <a:off x="7925297" y="5796042"/>
                <a:ext cx="19834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dirty="0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800" dirty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18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 err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i="1" dirty="0" err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174579F-E142-AA3B-ECFA-68DF44DC0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5297" y="5796042"/>
                <a:ext cx="1983429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22433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F65B6-B96E-1E76-3705-2650BC1F7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2E32E8-5EA8-F99F-F926-A6D3A2CE7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609" y="0"/>
            <a:ext cx="10515600" cy="1325563"/>
          </a:xfrm>
        </p:spPr>
        <p:txBody>
          <a:bodyPr/>
          <a:lstStyle/>
          <a:p>
            <a:r>
              <a:rPr lang="ru-RU" b="1" dirty="0" err="1"/>
              <a:t>Гетероскедастичность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5A25868-226B-96F2-D5CF-B4C1B7318A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7907" y="995709"/>
                <a:ext cx="11346872" cy="4351339"/>
              </a:xfrm>
            </p:spPr>
            <p:txBody>
              <a:bodyPr/>
              <a:lstStyle/>
              <a:p>
                <a:pPr marL="179384" lvl="1" indent="-179384"/>
                <a:r>
                  <a:rPr lang="ru-RU" dirty="0"/>
                  <a:t>Можно избавиться при помощи Бокса-Кокса или например как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5A25868-226B-96F2-D5CF-B4C1B7318A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7907" y="995709"/>
                <a:ext cx="11346872" cy="4351339"/>
              </a:xfrm>
              <a:blipFill>
                <a:blip r:embed="rId2"/>
                <a:stretch>
                  <a:fillRect l="-6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714AA5B-B022-4081-70C1-DDB7650EE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24</a:t>
            </a:fld>
            <a:endParaRPr lang="en-US"/>
          </a:p>
        </p:txBody>
      </p:sp>
      <p:pic>
        <p:nvPicPr>
          <p:cNvPr id="1026" name="Picture 2" descr="Временные ряды - презентация онлайн">
            <a:extLst>
              <a:ext uri="{FF2B5EF4-FFF2-40B4-BE49-F238E27FC236}">
                <a16:creationId xmlns:a16="http://schemas.microsoft.com/office/drawing/2014/main" id="{81306493-953A-D497-DA2E-508EFC8F09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20"/>
          <a:stretch/>
        </p:blipFill>
        <p:spPr bwMode="auto">
          <a:xfrm>
            <a:off x="303375" y="2846121"/>
            <a:ext cx="6573280" cy="3785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Box-Cox Transformation.. The real-world data is not always… | by Ronak  Chhatbar | Medium">
            <a:extLst>
              <a:ext uri="{FF2B5EF4-FFF2-40B4-BE49-F238E27FC236}">
                <a16:creationId xmlns:a16="http://schemas.microsoft.com/office/drawing/2014/main" id="{4946CB98-F55D-FFFC-BFD3-D30D3C07C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6385" y="1565234"/>
            <a:ext cx="2744047" cy="1309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219D55-A210-A6C7-AE41-0EE7928EE31F}"/>
              </a:ext>
            </a:extLst>
          </p:cNvPr>
          <p:cNvSpPr txBox="1"/>
          <p:nvPr/>
        </p:nvSpPr>
        <p:spPr>
          <a:xfrm>
            <a:off x="121262" y="1645793"/>
            <a:ext cx="42013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Логарифмические преобразования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Полиномиальные преобразования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Преобразования Бокса-Кокса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Комбинации с другими темами</a:t>
            </a:r>
            <a:endParaRPr lang="en-US" dirty="0"/>
          </a:p>
        </p:txBody>
      </p:sp>
      <p:pic>
        <p:nvPicPr>
          <p:cNvPr id="8" name="Picture 2" descr="ex">
            <a:extLst>
              <a:ext uri="{FF2B5EF4-FFF2-40B4-BE49-F238E27FC236}">
                <a16:creationId xmlns:a16="http://schemas.microsoft.com/office/drawing/2014/main" id="{E67ADA8F-567B-E771-9B76-21F75C70E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569" y="1672024"/>
            <a:ext cx="4636846" cy="5049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57BB38-5F7F-B029-5AE5-AB1AB1AF5BC9}"/>
              </a:ext>
            </a:extLst>
          </p:cNvPr>
          <p:cNvSpPr txBox="1"/>
          <p:nvPr/>
        </p:nvSpPr>
        <p:spPr>
          <a:xfrm>
            <a:off x="7288357" y="3531107"/>
            <a:ext cx="972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/>
              <a:t>y’=ln(</a:t>
            </a:r>
            <a:r>
              <a:rPr lang="en-US" dirty="0"/>
              <a:t>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041D3B-127A-326E-7788-364AC2699EF5}"/>
                  </a:ext>
                </a:extLst>
              </p:cNvPr>
              <p:cNvSpPr txBox="1"/>
              <p:nvPr/>
            </p:nvSpPr>
            <p:spPr>
              <a:xfrm>
                <a:off x="7774565" y="5185976"/>
                <a:ext cx="23474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" dirty="0"/>
                  <a:t>y’’=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" dirty="0"/>
                  <a:t>ln(</a:t>
                </a:r>
                <a:r>
                  <a:rPr lang="en-US" dirty="0"/>
                  <a:t>y)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041D3B-127A-326E-7788-364AC2699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4565" y="5185976"/>
                <a:ext cx="2347480" cy="369332"/>
              </a:xfrm>
              <a:prstGeom prst="rect">
                <a:avLst/>
              </a:prstGeom>
              <a:blipFill>
                <a:blip r:embed="rId6"/>
                <a:stretch>
                  <a:fillRect l="-2162" t="-6667" b="-2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98042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483" y="934356"/>
            <a:ext cx="10932920" cy="2334624"/>
          </a:xfrm>
        </p:spPr>
        <p:txBody>
          <a:bodyPr>
            <a:normAutofit/>
          </a:bodyPr>
          <a:lstStyle/>
          <a:p>
            <a:r>
              <a:rPr lang="ru-RU" sz="8000" b="1" dirty="0"/>
              <a:t>Предсказания ВР с явной </a:t>
            </a:r>
            <a:r>
              <a:rPr lang="en-US" sz="8000" b="1" dirty="0"/>
              <a:t>TS </a:t>
            </a:r>
            <a:r>
              <a:rPr lang="ru-RU" sz="8000" b="1" dirty="0"/>
              <a:t>моделью</a:t>
            </a:r>
            <a:endParaRPr lang="en-US" sz="8000" b="1" dirty="0"/>
          </a:p>
        </p:txBody>
      </p:sp>
    </p:spTree>
    <p:extLst>
      <p:ext uri="{BB962C8B-B14F-4D97-AF65-F5344CB8AC3E}">
        <p14:creationId xmlns:p14="http://schemas.microsoft.com/office/powerpoint/2010/main" val="37196421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0"/>
            <a:ext cx="10515600" cy="1325563"/>
          </a:xfrm>
        </p:spPr>
        <p:txBody>
          <a:bodyPr/>
          <a:lstStyle/>
          <a:p>
            <a:r>
              <a:rPr lang="ru-RU" dirty="0"/>
              <a:t>Методы предсказания в курсе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799" y="4717062"/>
            <a:ext cx="11563350" cy="1924051"/>
          </a:xfrm>
        </p:spPr>
        <p:txBody>
          <a:bodyPr>
            <a:normAutofit/>
          </a:bodyPr>
          <a:lstStyle/>
          <a:p>
            <a:r>
              <a:rPr lang="ru-RU" sz="2200" dirty="0"/>
              <a:t>Методы всегда выбираются</a:t>
            </a:r>
            <a:r>
              <a:rPr lang="en-US" sz="2200" dirty="0"/>
              <a:t> </a:t>
            </a:r>
            <a:r>
              <a:rPr lang="ru-RU" sz="2200" dirty="0"/>
              <a:t>от простых (слева) к самым сложным.</a:t>
            </a:r>
          </a:p>
          <a:p>
            <a:r>
              <a:rPr lang="ru-RU" sz="2200" dirty="0"/>
              <a:t>Выбор метода зависит от сложности ВР (число и связи компонент, </a:t>
            </a:r>
            <a:r>
              <a:rPr lang="ru-RU" sz="2200" dirty="0" err="1"/>
              <a:t>формализуемость</a:t>
            </a:r>
            <a:r>
              <a:rPr lang="ru-RU" sz="2200" dirty="0"/>
              <a:t> ВР) и требований к предсказанию (горизонт, точность)</a:t>
            </a:r>
          </a:p>
          <a:p>
            <a:r>
              <a:rPr lang="ru-RU" sz="2200" dirty="0"/>
              <a:t>Чем сложнее метод, тем он шире применим, но менее точен/менее устойчив/более склонен к переобучению, а также тем больше данных для обучения необходимо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26</a:t>
            </a:fld>
            <a:endParaRPr lang="en-US"/>
          </a:p>
        </p:txBody>
      </p:sp>
      <p:sp>
        <p:nvSpPr>
          <p:cNvPr id="5" name="Прямоугольник 4"/>
          <p:cNvSpPr/>
          <p:nvPr/>
        </p:nvSpPr>
        <p:spPr>
          <a:xfrm>
            <a:off x="73799" y="6582975"/>
            <a:ext cx="806055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https://fastercapital.com/content/Time-series-analysis-using-nonparametric-techniques--A-Fresh-Perspective.html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649" y="1001486"/>
            <a:ext cx="8024157" cy="363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8147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5988"/>
          </a:xfrm>
        </p:spPr>
        <p:txBody>
          <a:bodyPr>
            <a:normAutofit fontScale="90000"/>
          </a:bodyPr>
          <a:lstStyle/>
          <a:p>
            <a:r>
              <a:rPr lang="ru-RU" dirty="0"/>
              <a:t>Подходы к предсказанию временных рядов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27</a:t>
            </a:fld>
            <a:endParaRPr lang="en-US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29" y="1366839"/>
            <a:ext cx="11542743" cy="340459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838200" y="4905999"/>
            <a:ext cx="1067752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Encoding (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</a:rPr>
              <a:t>кодирование) — это процесс преобразования данных (в том числе категориальных или временных признаков) в числовую форму, удобную для обработки алгоритмами машинного обучения или статистическими методами.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4285" y="5773400"/>
            <a:ext cx="5450702" cy="86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8791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0040" y="258445"/>
            <a:ext cx="11033760" cy="587375"/>
          </a:xfrm>
        </p:spPr>
        <p:txBody>
          <a:bodyPr>
            <a:noAutofit/>
          </a:bodyPr>
          <a:lstStyle/>
          <a:p>
            <a:pPr algn="ctr"/>
            <a:r>
              <a:rPr lang="ru-RU" b="1" dirty="0"/>
              <a:t>Статистические методы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0020" y="4038601"/>
            <a:ext cx="5545455" cy="2560320"/>
          </a:xfrm>
        </p:spPr>
        <p:txBody>
          <a:bodyPr>
            <a:normAutofit/>
          </a:bodyPr>
          <a:lstStyle/>
          <a:p>
            <a:r>
              <a:rPr lang="ru-RU" sz="2000" dirty="0"/>
              <a:t>Точность на коротких горизонтах предсказания</a:t>
            </a:r>
          </a:p>
          <a:p>
            <a:r>
              <a:rPr lang="ru-RU" sz="2000" dirty="0"/>
              <a:t>Высокая скорость обучения и переобучения</a:t>
            </a:r>
          </a:p>
          <a:p>
            <a:r>
              <a:rPr lang="ru-RU" sz="2000" dirty="0"/>
              <a:t>Высокая интерпретируемость</a:t>
            </a:r>
            <a:endParaRPr lang="en-US" sz="2000" dirty="0"/>
          </a:p>
          <a:p>
            <a:r>
              <a:rPr lang="ru-RU" sz="2000" dirty="0"/>
              <a:t>Важно соответствие данных модели </a:t>
            </a:r>
          </a:p>
          <a:p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550" y="747822"/>
            <a:ext cx="7796825" cy="3426877"/>
          </a:xfrm>
          <a:prstGeom prst="rect">
            <a:avLst/>
          </a:prstGeom>
        </p:spPr>
      </p:pic>
      <p:sp>
        <p:nvSpPr>
          <p:cNvPr id="5" name="Объект 2"/>
          <p:cNvSpPr txBox="1">
            <a:spLocks/>
          </p:cNvSpPr>
          <p:nvPr/>
        </p:nvSpPr>
        <p:spPr>
          <a:xfrm>
            <a:off x="5836920" y="4076700"/>
            <a:ext cx="6174105" cy="2560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/>
              <a:t>Требуется значительная предобработка данных</a:t>
            </a:r>
          </a:p>
          <a:p>
            <a:r>
              <a:rPr lang="ru-RU" sz="2000" dirty="0"/>
              <a:t>Очень важна настройка модели</a:t>
            </a:r>
          </a:p>
          <a:p>
            <a:r>
              <a:rPr lang="ru-RU" sz="2000" dirty="0"/>
              <a:t>Чувствительность к новизне, выбросам, пропускам и другим нерегулярностям данных</a:t>
            </a:r>
          </a:p>
          <a:p>
            <a:r>
              <a:rPr lang="ru-RU" sz="2000" dirty="0"/>
              <a:t> Частое обновление модели в процессе работы</a:t>
            </a:r>
          </a:p>
          <a:p>
            <a:endParaRPr lang="ru-RU" sz="2000" dirty="0"/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5214267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0443" y="102210"/>
            <a:ext cx="10927080" cy="557984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Бенчмарки</a:t>
            </a:r>
            <a:r>
              <a:rPr lang="ru-RU" dirty="0"/>
              <a:t> предсказания временных рядов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</p:nvPr>
        </p:nvGraphicFramePr>
        <p:xfrm>
          <a:off x="228598" y="1401333"/>
          <a:ext cx="11671666" cy="45767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5472">
                  <a:extLst>
                    <a:ext uri="{9D8B030D-6E8A-4147-A177-3AD203B41FA5}">
                      <a16:colId xmlns:a16="http://schemas.microsoft.com/office/drawing/2014/main" val="361956609"/>
                    </a:ext>
                  </a:extLst>
                </a:gridCol>
                <a:gridCol w="2770616">
                  <a:extLst>
                    <a:ext uri="{9D8B030D-6E8A-4147-A177-3AD203B41FA5}">
                      <a16:colId xmlns:a16="http://schemas.microsoft.com/office/drawing/2014/main" val="334373324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153032671"/>
                    </a:ext>
                  </a:extLst>
                </a:gridCol>
                <a:gridCol w="1619794">
                  <a:extLst>
                    <a:ext uri="{9D8B030D-6E8A-4147-A177-3AD203B41FA5}">
                      <a16:colId xmlns:a16="http://schemas.microsoft.com/office/drawing/2014/main" val="2248710687"/>
                    </a:ext>
                  </a:extLst>
                </a:gridCol>
                <a:gridCol w="1245326">
                  <a:extLst>
                    <a:ext uri="{9D8B030D-6E8A-4147-A177-3AD203B41FA5}">
                      <a16:colId xmlns:a16="http://schemas.microsoft.com/office/drawing/2014/main" val="1572364774"/>
                    </a:ext>
                  </a:extLst>
                </a:gridCol>
                <a:gridCol w="1140823">
                  <a:extLst>
                    <a:ext uri="{9D8B030D-6E8A-4147-A177-3AD203B41FA5}">
                      <a16:colId xmlns:a16="http://schemas.microsoft.com/office/drawing/2014/main" val="428262337"/>
                    </a:ext>
                  </a:extLst>
                </a:gridCol>
                <a:gridCol w="2137955">
                  <a:extLst>
                    <a:ext uri="{9D8B030D-6E8A-4147-A177-3AD203B41FA5}">
                      <a16:colId xmlns:a16="http://schemas.microsoft.com/office/drawing/2014/main" val="584638817"/>
                    </a:ext>
                  </a:extLst>
                </a:gridCol>
              </a:tblGrid>
              <a:tr h="1990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+mn-ea"/>
                          <a:cs typeface="+mn-cs"/>
                        </a:rPr>
                        <a:t>bench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+mn-ea"/>
                          <a:cs typeface="+mn-cs"/>
                        </a:rPr>
                        <a:t>Данные/задачи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Цель бенчмарка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Модели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Метрики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Победители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Выводы </a:t>
                      </a: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178824914"/>
                  </a:ext>
                </a:extLst>
              </a:tr>
              <a:tr h="39191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M1 (1982)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1001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r>
                        <a:rPr lang="ru-RU" sz="1600" dirty="0">
                          <a:effectLst/>
                        </a:rPr>
                        <a:t> финансы, демография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Сравнение классических моделей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ARIMA, ETS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MAPE, RMSE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ETS, ARIMA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Baseline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univariate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348426979"/>
                  </a:ext>
                </a:extLst>
              </a:tr>
              <a:tr h="57614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M2 (1993)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29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r>
                        <a:rPr lang="en-US" sz="1600" dirty="0">
                          <a:effectLst/>
                        </a:rPr>
                        <a:t>, real-time forecasting</a:t>
                      </a:r>
                      <a:r>
                        <a:rPr lang="ru-RU" sz="1600" dirty="0">
                          <a:effectLst/>
                        </a:rPr>
                        <a:t>,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Анализ экспертных суждений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Влияние экспертных прогнозов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 err="1">
                          <a:effectLst/>
                        </a:rPr>
                        <a:t>Judgment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r>
                        <a:rPr lang="ru-RU" sz="1700" dirty="0" err="1">
                          <a:effectLst/>
                        </a:rPr>
                        <a:t>vs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r>
                        <a:rPr lang="ru-RU" sz="1700" dirty="0" err="1">
                          <a:effectLst/>
                        </a:rPr>
                        <a:t>models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RMSE, MAE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Experts</a:t>
                      </a:r>
                      <a:r>
                        <a:rPr lang="ru-RU" sz="1600" dirty="0">
                          <a:effectLst/>
                        </a:rPr>
                        <a:t> ≈ </a:t>
                      </a:r>
                      <a:r>
                        <a:rPr lang="en-US" sz="1600" dirty="0">
                          <a:effectLst/>
                        </a:rPr>
                        <a:t>ETS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Модели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не хуже экспертов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062539383"/>
                  </a:ext>
                </a:extLst>
              </a:tr>
              <a:tr h="4160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M3 (2000)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3003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универсальная модель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ARIMA,</a:t>
                      </a:r>
                      <a:r>
                        <a:rPr lang="en-US" sz="1700" dirty="0">
                          <a:effectLst/>
                        </a:rPr>
                        <a:t> ETS,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r>
                        <a:rPr lang="ru-RU" sz="1700" dirty="0" err="1">
                          <a:effectLst/>
                        </a:rPr>
                        <a:t>Theta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SMAPE, MAPE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ARIMA,</a:t>
                      </a:r>
                      <a:r>
                        <a:rPr lang="en-US" sz="1600" dirty="0">
                          <a:effectLst/>
                        </a:rPr>
                        <a:t> ETS,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Theta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Baseline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univariate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972350284"/>
                  </a:ext>
                </a:extLst>
              </a:tr>
              <a:tr h="5847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M4 (2018)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10</a:t>
                      </a:r>
                      <a:r>
                        <a:rPr lang="ru-RU" sz="1600" baseline="0" dirty="0">
                          <a:effectLst/>
                        </a:rPr>
                        <a:t> 000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r>
                        <a:rPr lang="ru-RU" sz="1600" dirty="0">
                          <a:effectLst/>
                        </a:rPr>
                        <a:t> на разных масштабах</a:t>
                      </a:r>
                      <a:r>
                        <a:rPr lang="ru-RU" sz="1600" baseline="0" dirty="0">
                          <a:effectLst/>
                        </a:rPr>
                        <a:t> (год, месяц, и </a:t>
                      </a:r>
                      <a:r>
                        <a:rPr lang="ru-RU" sz="1600" baseline="0" dirty="0" err="1">
                          <a:effectLst/>
                        </a:rPr>
                        <a:t>тд</a:t>
                      </a:r>
                      <a:r>
                        <a:rPr lang="ru-RU" sz="1600" baseline="0" dirty="0">
                          <a:effectLst/>
                        </a:rPr>
                        <a:t>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Масштабная проверка стратегий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ETS + RNN, </a:t>
                      </a:r>
                      <a:r>
                        <a:rPr lang="ru-RU" sz="1700" dirty="0" err="1">
                          <a:effectLst/>
                        </a:rPr>
                        <a:t>Theta</a:t>
                      </a:r>
                      <a:r>
                        <a:rPr lang="ru-RU" sz="1700" dirty="0">
                          <a:effectLst/>
                        </a:rPr>
                        <a:t>,</a:t>
                      </a:r>
                      <a:r>
                        <a:rPr lang="ru-RU" sz="1700" baseline="0" dirty="0">
                          <a:effectLst/>
                        </a:rPr>
                        <a:t> </a:t>
                      </a:r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Prophet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SMAPE, MASE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ETS + RNN,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Theta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Гибрид 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DL+stat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лучшие, 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Theta – runner up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3166983177"/>
                  </a:ext>
                </a:extLst>
              </a:tr>
              <a:tr h="62090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M5 (2020)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err="1">
                          <a:effectLst/>
                        </a:rPr>
                        <a:t>Hierarchical</a:t>
                      </a:r>
                      <a:r>
                        <a:rPr lang="ru-RU" sz="1600" dirty="0">
                          <a:effectLst/>
                        </a:rPr>
                        <a:t>, </a:t>
                      </a:r>
                      <a:r>
                        <a:rPr lang="ru-RU" sz="1600" dirty="0" err="1">
                          <a:effectLst/>
                        </a:rPr>
                        <a:t>Multivariate</a:t>
                      </a:r>
                      <a:r>
                        <a:rPr lang="ru-RU" sz="1600" dirty="0">
                          <a:effectLst/>
                        </a:rPr>
                        <a:t> Продажи </a:t>
                      </a:r>
                      <a:r>
                        <a:rPr lang="ru-RU" sz="1600" dirty="0" err="1">
                          <a:effectLst/>
                        </a:rPr>
                        <a:t>Walmart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на</a:t>
                      </a:r>
                      <a:r>
                        <a:rPr lang="ru-RU" sz="1600" baseline="0" dirty="0">
                          <a:effectLst/>
                        </a:rPr>
                        <a:t> месяц</a:t>
                      </a:r>
                      <a:r>
                        <a:rPr lang="ru-RU" sz="1600" dirty="0">
                          <a:effectLst/>
                        </a:rPr>
                        <a:t>, с категориальными признаками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Сложные огромные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en-US" sz="1600" baseline="0" dirty="0">
                          <a:effectLst/>
                        </a:rPr>
                        <a:t>industrial</a:t>
                      </a:r>
                      <a:r>
                        <a:rPr lang="ru-RU" sz="1600" baseline="0" dirty="0">
                          <a:effectLst/>
                        </a:rPr>
                        <a:t> ВР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LightGBM</a:t>
                      </a:r>
                      <a:r>
                        <a:rPr lang="ru-RU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7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  <a:r>
                        <a:rPr lang="ru-RU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Transformer</a:t>
                      </a:r>
                      <a:endParaRPr lang="ru-RU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WRMSSE,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pinball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loss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LightGBM</a:t>
                      </a:r>
                      <a:r>
                        <a:rPr lang="en-US" sz="1600" dirty="0">
                          <a:effectLst/>
                        </a:rPr>
                        <a:t>+feature engineering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Продвинутый </a:t>
                      </a:r>
                      <a:r>
                        <a:rPr lang="ru-RU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фичи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-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 хуже 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DL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3531242361"/>
                  </a:ext>
                </a:extLst>
              </a:tr>
              <a:tr h="5847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M6 (2024)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Multivariate</a:t>
                      </a:r>
                      <a:endParaRPr lang="ru-RU" sz="16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Probabilistic</a:t>
                      </a:r>
                      <a:r>
                        <a:rPr lang="ru-RU" sz="1600" dirty="0">
                          <a:effectLst/>
                        </a:rPr>
                        <a:t>, Финансовые данные, 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Вероятностное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Прогнозирование фин.</a:t>
                      </a:r>
                      <a:r>
                        <a:rPr lang="ru-RU" sz="1600" baseline="0" dirty="0">
                          <a:effectLst/>
                        </a:rPr>
                        <a:t> сектор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 err="1">
                          <a:effectLst/>
                        </a:rPr>
                        <a:t>DeepAR</a:t>
                      </a:r>
                      <a:r>
                        <a:rPr lang="ru-RU" sz="1700" dirty="0">
                          <a:effectLst/>
                        </a:rPr>
                        <a:t>, </a:t>
                      </a:r>
                      <a:r>
                        <a:rPr lang="en-US" sz="17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AutoTS</a:t>
                      </a:r>
                      <a:r>
                        <a:rPr lang="ru-RU" sz="1700" dirty="0">
                          <a:effectLst/>
                        </a:rPr>
                        <a:t>, </a:t>
                      </a:r>
                      <a:r>
                        <a:rPr lang="en-US" sz="1700" dirty="0" err="1">
                          <a:effectLst/>
                        </a:rPr>
                        <a:t>TimeGPT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CRPS, </a:t>
                      </a:r>
                      <a:r>
                        <a:rPr lang="ru-RU" sz="1600" dirty="0" err="1">
                          <a:effectLst/>
                        </a:rPr>
                        <a:t>pinball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loss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еще</a:t>
                      </a:r>
                      <a:r>
                        <a:rPr lang="ru-RU" sz="1600" baseline="0" dirty="0">
                          <a:effectLst/>
                        </a:rPr>
                        <a:t> идет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еще</a:t>
                      </a:r>
                      <a:r>
                        <a:rPr lang="ru-RU" sz="1600" baseline="0" dirty="0">
                          <a:effectLst/>
                        </a:rPr>
                        <a:t> идет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2449646058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29</a:t>
            </a:fld>
            <a:endParaRPr lang="en-US"/>
          </a:p>
        </p:txBody>
      </p:sp>
      <p:sp>
        <p:nvSpPr>
          <p:cNvPr id="6" name="Прямоугольник 5"/>
          <p:cNvSpPr/>
          <p:nvPr/>
        </p:nvSpPr>
        <p:spPr>
          <a:xfrm>
            <a:off x="0" y="7051740"/>
            <a:ext cx="1182188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M6: </a:t>
            </a:r>
            <a:r>
              <a:rPr lang="ru-RU" sz="1400" dirty="0">
                <a:hlinkClick r:id="rId3"/>
              </a:rPr>
              <a:t>https://www.sciencedirect.com/science/article/pii/S0169207024001079</a:t>
            </a:r>
            <a:r>
              <a:rPr lang="en-US" sz="1400" dirty="0"/>
              <a:t> </a:t>
            </a:r>
            <a:r>
              <a:rPr lang="en-US" sz="1400" dirty="0">
                <a:hlinkClick r:id="rId4"/>
              </a:rPr>
              <a:t>https://m-e-gorelli.medium.com/how-i-won-6-000-in-the-m6-forecasting-competition-888df68bf132</a:t>
            </a:r>
            <a:r>
              <a:rPr lang="en-US" sz="1400" dirty="0"/>
              <a:t> </a:t>
            </a:r>
            <a:endParaRPr lang="ru-RU" sz="14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6940274"/>
            <a:ext cx="1361149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M5: </a:t>
            </a:r>
            <a:r>
              <a:rPr lang="ru-RU" sz="1200" dirty="0">
                <a:hlinkClick r:id="rId5"/>
              </a:rPr>
              <a:t>https://statmodeling.stat.columbia.edu/wp-content/uploads/2021/10/M5_accuracy_competition.pdf</a:t>
            </a:r>
            <a:r>
              <a:rPr lang="en-US" sz="1200" dirty="0"/>
              <a:t> , https://cienciadedatos.net/documentos/py61-m5-forecasting-competition</a:t>
            </a:r>
            <a:endParaRPr lang="ru-RU" sz="12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00443" y="673479"/>
            <a:ext cx="1178705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Соревнования </a:t>
            </a:r>
            <a:r>
              <a:rPr lang="ru-RU" sz="2000" dirty="0" err="1"/>
              <a:t>Макридакиса</a:t>
            </a:r>
            <a:r>
              <a:rPr lang="ru-RU" sz="2000" dirty="0"/>
              <a:t> (M-</a:t>
            </a:r>
            <a:r>
              <a:rPr lang="ru-RU" sz="2000" dirty="0" err="1"/>
              <a:t>Competitions</a:t>
            </a:r>
            <a:r>
              <a:rPr lang="ru-RU" sz="2000" dirty="0"/>
              <a:t>) - открытые соревнования по оценке и сравнению точности различных методов прогнозирования временных рядов.</a:t>
            </a:r>
            <a:r>
              <a:rPr lang="en-US" sz="2000" dirty="0"/>
              <a:t> </a:t>
            </a:r>
            <a:r>
              <a:rPr lang="en-US" sz="2000" dirty="0">
                <a:hlinkClick r:id="rId6"/>
              </a:rPr>
              <a:t>en.wikipedia.org/wiki/</a:t>
            </a:r>
            <a:r>
              <a:rPr lang="en-US" sz="2000" dirty="0" err="1">
                <a:hlinkClick r:id="rId6"/>
              </a:rPr>
              <a:t>Makridakis_Competitions</a:t>
            </a:r>
            <a:r>
              <a:rPr lang="en-US" sz="2000" dirty="0"/>
              <a:t> </a:t>
            </a:r>
            <a:endParaRPr lang="ru-RU" sz="20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296089" y="6207821"/>
            <a:ext cx="110577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https://www.sciencedirect.com/science/article/pii/S0169207024001079 https://statmodeling.stat.columbia.edu/wp-content/uploads/2021/10/M5_accuracy_competition.pdf  https://cienciadedatos.net/documentos/py61-m5-forecasting-competition https://forecasters.org/resources/time-series-data/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6017608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0443" y="102210"/>
            <a:ext cx="10927080" cy="557984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Бенчмарки</a:t>
            </a:r>
            <a:r>
              <a:rPr lang="ru-RU" dirty="0"/>
              <a:t> предсказания временных рядов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</p:nvPr>
        </p:nvGraphicFramePr>
        <p:xfrm>
          <a:off x="300443" y="587484"/>
          <a:ext cx="11521444" cy="58624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72197">
                  <a:extLst>
                    <a:ext uri="{9D8B030D-6E8A-4147-A177-3AD203B41FA5}">
                      <a16:colId xmlns:a16="http://schemas.microsoft.com/office/drawing/2014/main" val="361956609"/>
                    </a:ext>
                  </a:extLst>
                </a:gridCol>
                <a:gridCol w="2090057">
                  <a:extLst>
                    <a:ext uri="{9D8B030D-6E8A-4147-A177-3AD203B41FA5}">
                      <a16:colId xmlns:a16="http://schemas.microsoft.com/office/drawing/2014/main" val="3343733240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val="1153032671"/>
                    </a:ext>
                  </a:extLst>
                </a:gridCol>
                <a:gridCol w="1619924">
                  <a:extLst>
                    <a:ext uri="{9D8B030D-6E8A-4147-A177-3AD203B41FA5}">
                      <a16:colId xmlns:a16="http://schemas.microsoft.com/office/drawing/2014/main" val="2248710687"/>
                    </a:ext>
                  </a:extLst>
                </a:gridCol>
                <a:gridCol w="1210362">
                  <a:extLst>
                    <a:ext uri="{9D8B030D-6E8A-4147-A177-3AD203B41FA5}">
                      <a16:colId xmlns:a16="http://schemas.microsoft.com/office/drawing/2014/main" val="1572364774"/>
                    </a:ext>
                  </a:extLst>
                </a:gridCol>
                <a:gridCol w="1532709">
                  <a:extLst>
                    <a:ext uri="{9D8B030D-6E8A-4147-A177-3AD203B41FA5}">
                      <a16:colId xmlns:a16="http://schemas.microsoft.com/office/drawing/2014/main" val="428262337"/>
                    </a:ext>
                  </a:extLst>
                </a:gridCol>
                <a:gridCol w="1859281">
                  <a:extLst>
                    <a:ext uri="{9D8B030D-6E8A-4147-A177-3AD203B41FA5}">
                      <a16:colId xmlns:a16="http://schemas.microsoft.com/office/drawing/2014/main" val="584638817"/>
                    </a:ext>
                  </a:extLst>
                </a:gridCol>
              </a:tblGrid>
              <a:tr h="25998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bench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Данные/задачи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Цель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Модели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Метрики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Победители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Выводы </a:t>
                      </a: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178824914"/>
                  </a:ext>
                </a:extLst>
              </a:tr>
              <a:tr h="102708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Температура трансформатора</a:t>
                      </a:r>
                      <a:r>
                        <a:rPr lang="ru-RU" sz="1800" b="1" baseline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ETT (h/m) 2021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Multivariate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(час,</a:t>
                      </a:r>
                      <a:r>
                        <a:rPr lang="ru-RU" sz="1800" baseline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15 минут и </a:t>
                      </a:r>
                      <a:r>
                        <a:rPr lang="ru-RU" sz="1800" baseline="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тд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), 39 ВР+4 </a:t>
                      </a: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экзоген</a:t>
                      </a:r>
                      <a:r>
                        <a:rPr lang="ru-RU" sz="1800" baseline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парам.  горизонты (</a:t>
                      </a:r>
                      <a:r>
                        <a:rPr lang="ru-RU" sz="1800" dirty="0"/>
                        <a:t>96-720)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DL-прогноз сложных ВР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LSTM,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N-BEATS, </a:t>
                      </a: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DLinear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MAE, MSE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+mn-lt"/>
                        </a:rPr>
                        <a:t>PatchTST</a:t>
                      </a:r>
                      <a:r>
                        <a:rPr lang="en-US" sz="1800" dirty="0">
                          <a:latin typeface="+mn-lt"/>
                        </a:rPr>
                        <a:t>, </a:t>
                      </a:r>
                      <a:r>
                        <a:rPr lang="en-US" sz="1800" dirty="0" err="1">
                          <a:latin typeface="+mn-lt"/>
                        </a:rPr>
                        <a:t>DLinear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Трансформер</a:t>
                      </a: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работает на </a:t>
                      </a: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long</a:t>
                      </a:r>
                      <a:r>
                        <a:rPr lang="en-US" sz="1800" baseline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horzon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82936149"/>
                  </a:ext>
                </a:extLst>
              </a:tr>
              <a:tr h="5217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/>
                        <a:t>Electricity</a:t>
                      </a:r>
                      <a:r>
                        <a:rPr lang="en-US" sz="1800" baseline="0" dirty="0"/>
                        <a:t> Load E</a:t>
                      </a:r>
                      <a:r>
                        <a:rPr lang="en-US" sz="1800" dirty="0"/>
                        <a:t>CL</a:t>
                      </a:r>
                      <a:r>
                        <a:rPr lang="ru-RU" sz="1800" dirty="0"/>
                        <a:t> 2012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/>
                        <a:t>Multivariate</a:t>
                      </a:r>
                      <a:r>
                        <a:rPr lang="ru-RU" sz="1800" dirty="0"/>
                        <a:t> 370 клиентов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DL-прогноз сложных ВР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/>
                        <a:t>CNN, LSTM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MAE, MSE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/>
                        <a:t>CNN, LSTM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DL </a:t>
                      </a: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набольших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industrial 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наборах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64545700"/>
                  </a:ext>
                </a:extLst>
              </a:tr>
              <a:tr h="7744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TimeRecipe</a:t>
                      </a:r>
                      <a:r>
                        <a:rPr lang="ru-RU" sz="1800" dirty="0">
                          <a:effectLst/>
                        </a:rPr>
                        <a:t> (2025)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Univariate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Multivariate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Long-horizon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Эксперименты с </a:t>
                      </a:r>
                      <a:r>
                        <a:rPr lang="en-US" sz="1800" dirty="0">
                          <a:effectLst/>
                        </a:rPr>
                        <a:t>DL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ru-RU" sz="1800" baseline="0" dirty="0">
                          <a:effectLst/>
                        </a:rPr>
                        <a:t>моделями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NHITS, </a:t>
                      </a:r>
                      <a:r>
                        <a:rPr lang="ru-RU" sz="1800" dirty="0" err="1">
                          <a:effectLst/>
                        </a:rPr>
                        <a:t>NBEATSx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PatchTST</a:t>
                      </a:r>
                      <a:r>
                        <a:rPr lang="ru-RU" sz="1800" dirty="0">
                          <a:effectLst/>
                        </a:rPr>
                        <a:t>, LSTM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MAE, MSE, </a:t>
                      </a:r>
                      <a:r>
                        <a:rPr lang="ru-RU" sz="1800" dirty="0" err="1">
                          <a:effectLst/>
                        </a:rPr>
                        <a:t>sMAPE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N-HITS, </a:t>
                      </a:r>
                      <a:r>
                        <a:rPr lang="ru-RU" sz="1700" dirty="0" err="1">
                          <a:effectLst/>
                        </a:rPr>
                        <a:t>PatchTST</a:t>
                      </a:r>
                      <a:r>
                        <a:rPr lang="ru-RU" sz="1700" dirty="0">
                          <a:effectLst/>
                        </a:rPr>
                        <a:t>, </a:t>
                      </a:r>
                      <a:r>
                        <a:rPr lang="ru-RU" sz="1700" dirty="0" err="1">
                          <a:effectLst/>
                        </a:rPr>
                        <a:t>DLinear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Нет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универсального победителя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48426979"/>
                  </a:ext>
                </a:extLst>
              </a:tr>
              <a:tr h="7744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ProbTS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Probabilistic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Multivariate</a:t>
                      </a:r>
                      <a:r>
                        <a:rPr lang="en-US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Univariate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Бенчмаркинг</a:t>
                      </a:r>
                      <a:r>
                        <a:rPr lang="ru-RU" sz="1800" dirty="0">
                          <a:effectLst/>
                        </a:rPr>
                        <a:t> вероятностных моделей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DeepAR</a:t>
                      </a:r>
                      <a:r>
                        <a:rPr lang="ru-RU" sz="1800" dirty="0">
                          <a:effectLst/>
                        </a:rPr>
                        <a:t>, TFT, </a:t>
                      </a:r>
                      <a:r>
                        <a:rPr lang="ru-RU" sz="1800" dirty="0" err="1">
                          <a:effectLst/>
                        </a:rPr>
                        <a:t>Prophet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Copula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CRPS, </a:t>
                      </a:r>
                      <a:r>
                        <a:rPr lang="ru-RU" sz="1800" dirty="0" err="1">
                          <a:effectLst/>
                        </a:rPr>
                        <a:t>Quantile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loss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DL</a:t>
                      </a:r>
                      <a:r>
                        <a:rPr lang="en-US" sz="18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умеет делать вероятностное прогнозирование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62539383"/>
                  </a:ext>
                </a:extLst>
              </a:tr>
              <a:tr h="9149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Monash</a:t>
                      </a:r>
                      <a:r>
                        <a:rPr lang="ru-RU" sz="1800" dirty="0">
                          <a:effectLst/>
                        </a:rPr>
                        <a:t> TS </a:t>
                      </a:r>
                      <a:r>
                        <a:rPr lang="ru-RU" sz="1800" dirty="0" err="1">
                          <a:effectLst/>
                        </a:rPr>
                        <a:t>Forecasting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M1-M4, Tourism,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Trafic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Weather,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Electricity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тд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academic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бенчмарк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+mn-ea"/>
                          <a:cs typeface="+mn-cs"/>
                        </a:rPr>
                        <a:t>ARIMA,</a:t>
                      </a:r>
                      <a:r>
                        <a:rPr lang="en-US" sz="16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Prophet, N-BEATS, D-Linear, </a:t>
                      </a:r>
                      <a:r>
                        <a:rPr lang="en-US" sz="1600" baseline="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PatchTST</a:t>
                      </a:r>
                      <a:r>
                        <a:rPr lang="en-US" sz="16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00" baseline="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TimesFM</a:t>
                      </a:r>
                      <a:r>
                        <a:rPr lang="en-US" sz="16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1600" baseline="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zs</a:t>
                      </a:r>
                      <a:r>
                        <a:rPr lang="en-US" sz="16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en-US" sz="1600" baseline="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catboost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MASE,</a:t>
                      </a:r>
                      <a:r>
                        <a:rPr lang="en-US" sz="1800" baseline="0" dirty="0">
                          <a:effectLst/>
                        </a:rPr>
                        <a:t> MAE, SMAPE,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RMSE</a:t>
                      </a:r>
                      <a:r>
                        <a:rPr lang="ru-RU" sz="1800" baseline="0" dirty="0">
                          <a:effectLst/>
                        </a:rPr>
                        <a:t> 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31242361"/>
                  </a:ext>
                </a:extLst>
              </a:tr>
              <a:tr h="7744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gift-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eval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err="1">
                          <a:effectLst/>
                        </a:rPr>
                        <a:t>Monash</a:t>
                      </a:r>
                      <a:r>
                        <a:rPr lang="en-US" sz="1800" dirty="0">
                          <a:effectLst/>
                        </a:rPr>
                        <a:t>+3 </a:t>
                      </a:r>
                      <a:r>
                        <a:rPr lang="ru-RU" sz="1800" dirty="0">
                          <a:effectLst/>
                        </a:rPr>
                        <a:t>бенча</a:t>
                      </a:r>
                      <a:br>
                        <a:rPr lang="ru-RU" sz="1800" dirty="0">
                          <a:effectLst/>
                        </a:rPr>
                      </a:br>
                      <a:r>
                        <a:rPr lang="ru-RU" sz="1800" dirty="0">
                          <a:effectLst/>
                        </a:rPr>
                        <a:t>Разные задачи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Тест </a:t>
                      </a:r>
                      <a:r>
                        <a:rPr lang="ru-RU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современ</a:t>
                      </a: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 Моделей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TS LLM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RNN, Transformers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MASE,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CRPS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xLSTM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Moria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800" baseline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zs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), </a:t>
                      </a:r>
                      <a:r>
                        <a:rPr lang="en-US" sz="1800" baseline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Chronos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LLM 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на очень больших данных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9962123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30</a:t>
            </a:fld>
            <a:endParaRPr lang="en-US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4486" y="6502660"/>
            <a:ext cx="29142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https://github.com/microsoft/ProbTS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3008745" y="6514123"/>
            <a:ext cx="22362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https://forecastingdata.org/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5185965" y="6548681"/>
            <a:ext cx="28873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https://arxiv.org/html/2506.06482v1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8190370" y="6550223"/>
            <a:ext cx="31634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https://paperswithcode.com/dataset/ett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94486" y="6337308"/>
            <a:ext cx="43863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https://paperswithcode.com/task/time-series-forecasting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4439524" y="6321918"/>
            <a:ext cx="39167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https://github.com/SalesforceAIResearch/gift-eval/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8522233" y="6352696"/>
            <a:ext cx="34062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https://huggingface.co/spaces/Salesforce/GIFT-Eval</a:t>
            </a:r>
          </a:p>
        </p:txBody>
      </p:sp>
    </p:spTree>
    <p:extLst>
      <p:ext uri="{BB962C8B-B14F-4D97-AF65-F5344CB8AC3E}">
        <p14:creationId xmlns:p14="http://schemas.microsoft.com/office/powerpoint/2010/main" val="36569284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3509" y="365126"/>
            <a:ext cx="11040291" cy="601526"/>
          </a:xfrm>
        </p:spPr>
        <p:txBody>
          <a:bodyPr>
            <a:normAutofit fontScale="90000"/>
          </a:bodyPr>
          <a:lstStyle/>
          <a:p>
            <a:r>
              <a:rPr lang="ru-RU" dirty="0"/>
              <a:t>Основные выводы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31</a:t>
            </a:fld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13509" y="966652"/>
            <a:ext cx="11040291" cy="5210311"/>
          </a:xfrm>
        </p:spPr>
        <p:txBody>
          <a:bodyPr/>
          <a:lstStyle/>
          <a:p>
            <a:r>
              <a:rPr lang="en-US" dirty="0"/>
              <a:t>ARIMA, ETS</a:t>
            </a:r>
            <a:r>
              <a:rPr lang="en-US"/>
              <a:t>, Prophet  </a:t>
            </a:r>
            <a:r>
              <a:rPr lang="ru-RU" dirty="0" err="1"/>
              <a:t>бейзлайны</a:t>
            </a:r>
            <a:r>
              <a:rPr lang="ru-RU" dirty="0"/>
              <a:t> + </a:t>
            </a:r>
            <a:r>
              <a:rPr lang="en-US" dirty="0"/>
              <a:t>LSTM </a:t>
            </a:r>
            <a:r>
              <a:rPr lang="ru-RU" dirty="0"/>
              <a:t>(для многомерных ВР)</a:t>
            </a:r>
          </a:p>
          <a:p>
            <a:r>
              <a:rPr lang="ru-RU" dirty="0"/>
              <a:t>Часто необходимо вероятностное </a:t>
            </a:r>
            <a:r>
              <a:rPr lang="ru-RU" dirty="0" err="1"/>
              <a:t>прогназирование</a:t>
            </a:r>
            <a:endParaRPr lang="ru-RU" dirty="0"/>
          </a:p>
          <a:p>
            <a:r>
              <a:rPr lang="ru-RU" dirty="0"/>
              <a:t>Для коротких горизонтов и простых ВР стат. Методы работают отлично даже для </a:t>
            </a:r>
            <a:r>
              <a:rPr lang="ru-RU" dirty="0" err="1"/>
              <a:t>многопеременных</a:t>
            </a:r>
            <a:r>
              <a:rPr lang="ru-RU" dirty="0"/>
              <a:t> ВР</a:t>
            </a:r>
          </a:p>
          <a:p>
            <a:r>
              <a:rPr lang="ru-RU" dirty="0"/>
              <a:t>Для более сложных ВР гибридные методы: </a:t>
            </a:r>
            <a:r>
              <a:rPr lang="ru-RU" dirty="0" err="1"/>
              <a:t>стат.методы</a:t>
            </a:r>
            <a:r>
              <a:rPr lang="ru-RU" dirty="0"/>
              <a:t> + </a:t>
            </a:r>
            <a:r>
              <a:rPr lang="en-US" dirty="0"/>
              <a:t>DL </a:t>
            </a:r>
          </a:p>
          <a:p>
            <a:r>
              <a:rPr lang="ru-RU" dirty="0"/>
              <a:t>Для средних горизонтов </a:t>
            </a:r>
            <a:r>
              <a:rPr lang="en-US" dirty="0"/>
              <a:t>DL </a:t>
            </a:r>
            <a:r>
              <a:rPr lang="ru-RU" dirty="0"/>
              <a:t>можно заменить на </a:t>
            </a:r>
            <a:r>
              <a:rPr lang="en-US" dirty="0"/>
              <a:t>ML </a:t>
            </a:r>
            <a:r>
              <a:rPr lang="ru-RU" dirty="0"/>
              <a:t>с инженерией признаков</a:t>
            </a:r>
          </a:p>
          <a:p>
            <a:r>
              <a:rPr lang="ru-RU" dirty="0"/>
              <a:t>Для длинных горизонтов и сложных ВР – </a:t>
            </a:r>
            <a:r>
              <a:rPr lang="en-US" dirty="0"/>
              <a:t>DL </a:t>
            </a:r>
            <a:r>
              <a:rPr lang="ru-RU" dirty="0"/>
              <a:t>(</a:t>
            </a:r>
            <a:r>
              <a:rPr lang="ru-RU" dirty="0" err="1"/>
              <a:t>трансфомеры</a:t>
            </a:r>
            <a:r>
              <a:rPr lang="ru-RU" dirty="0"/>
              <a:t>, современные </a:t>
            </a:r>
            <a:r>
              <a:rPr lang="en-US" dirty="0"/>
              <a:t>RNN)</a:t>
            </a:r>
          </a:p>
          <a:p>
            <a:r>
              <a:rPr lang="ru-RU" dirty="0"/>
              <a:t>Для больших объемов ВР и длинных горизонтов </a:t>
            </a:r>
            <a:r>
              <a:rPr lang="en-US" dirty="0"/>
              <a:t>LLM</a:t>
            </a:r>
            <a:endParaRPr lang="ru-RU" dirty="0"/>
          </a:p>
          <a:p>
            <a:r>
              <a:rPr lang="en-US" dirty="0"/>
              <a:t>SOTA: </a:t>
            </a:r>
            <a:r>
              <a:rPr lang="ru-RU" dirty="0"/>
              <a:t>вероятностное прогнозирование при помощи </a:t>
            </a:r>
            <a:r>
              <a:rPr lang="en-US" dirty="0"/>
              <a:t>LLM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21697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161366"/>
            <a:ext cx="10515600" cy="80645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Наивное предсказание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9849" y="771957"/>
                <a:ext cx="11685271" cy="577945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Наивное предсказание – это некоторая база, точностью меньше которого любой другой алгоритм не должен обладать.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Цель наивного предсказания </a:t>
                </a:r>
                <a:r>
                  <a:rPr lang="ru-RU" sz="2400" dirty="0"/>
                  <a:t>- проверка адекватности более сложных моделей и оценка необходимости сложных моделей, а также поиск проблемных мест в процедуре предсказания</a:t>
                </a:r>
              </a:p>
              <a:p>
                <a:pPr marL="0" indent="0" defTabSz="268288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Наивные методы работают даже если ряд нарушает теорему дискретизации </a:t>
                </a:r>
              </a:p>
              <a:p>
                <a:pPr marL="0" indent="0" defTabSz="268288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 не требует 	гипотез о 	модели</a:t>
                </a:r>
              </a:p>
              <a:p>
                <a:pPr marL="0" indent="0" defTabSz="268288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	</a:t>
                </a:r>
                <a:r>
                  <a:rPr lang="ru-RU" sz="2400" b="1" dirty="0"/>
                  <a:t>Пример</a:t>
                </a:r>
                <a:r>
                  <a:rPr lang="ru-RU" sz="2400" dirty="0"/>
                  <a:t> прогноз продаж новогодних ёлок такой же как и год назад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Простое наивное предсказание</a:t>
                </a:r>
                <a14:m>
                  <m:oMath xmlns:m="http://schemas.openxmlformats.org/officeDocument/2006/math">
                    <m:r>
                      <a:rPr lang="ru-RU" sz="2400" b="1" i="0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Где h -</a:t>
                </a:r>
                <a:r>
                  <a:rPr lang="en-US" sz="2400" dirty="0"/>
                  <a:t> </a:t>
                </a:r>
                <a:r>
                  <a:rPr lang="ru-RU" sz="2400" dirty="0"/>
                  <a:t>горизонт предсказания (число шагов)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Сезонное наивное предсказание</a:t>
                </a:r>
                <a14:m>
                  <m:oMath xmlns:m="http://schemas.openxmlformats.org/officeDocument/2006/math">
                    <m:r>
                      <a:rPr lang="ru-RU" sz="2400" b="1" i="0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+1)).</m:t>
                    </m:r>
                  </m:oMath>
                </a14:m>
                <a:endParaRPr lang="en-US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Где </a:t>
                </a:r>
                <a:r>
                  <a:rPr lang="en-US" sz="2400" dirty="0"/>
                  <a:t>m</a:t>
                </a:r>
                <a:r>
                  <a:rPr lang="ru-RU" sz="2400" dirty="0"/>
                  <a:t> -</a:t>
                </a:r>
                <a:r>
                  <a:rPr lang="en-US" sz="2400" dirty="0"/>
                  <a:t> </a:t>
                </a:r>
                <a:r>
                  <a:rPr lang="ru-RU" sz="2400" dirty="0"/>
                  <a:t>период сезонности</a:t>
                </a:r>
                <a:r>
                  <a:rPr lang="en-US" sz="2400" dirty="0"/>
                  <a:t>,  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sz="240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⌊"/>
                        <m:endChr m:val="⌋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−1)/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endParaRPr lang="ru-RU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Среднее наивное предсказание/скользящее среднее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ru-RU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2400" i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Также может быть, например среднее сезонное предсказание,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Предсказание с дрейфом</a:t>
                </a:r>
                <a14:m>
                  <m:oMath xmlns:m="http://schemas.openxmlformats.org/officeDocument/2006/math">
                    <m:r>
                      <a:rPr lang="en-US" sz="2400" b="1" i="0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ru-RU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ru-RU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h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(1)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  <a:endParaRPr lang="ru-RU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9849" y="771957"/>
                <a:ext cx="11685271" cy="5779450"/>
              </a:xfrm>
              <a:blipFill>
                <a:blip r:embed="rId3"/>
                <a:stretch>
                  <a:fillRect l="-678" t="-5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455611" y="6410088"/>
            <a:ext cx="11099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http://www.machinelearning.ru/wiki/images/archive/e/ec/20150415134755%21Psad_ts_ets.pdf</a:t>
            </a:r>
          </a:p>
        </p:txBody>
      </p:sp>
    </p:spTree>
    <p:extLst>
      <p:ext uri="{BB962C8B-B14F-4D97-AF65-F5344CB8AC3E}">
        <p14:creationId xmlns:p14="http://schemas.microsoft.com/office/powerpoint/2010/main" val="2368820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161366"/>
            <a:ext cx="10515600" cy="80645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Наивное предсказание </a:t>
            </a:r>
          </a:p>
        </p:txBody>
      </p:sp>
      <p:pic>
        <p:nvPicPr>
          <p:cNvPr id="1026" name="Picture 2" descr="Forecasts of Australian quarterly beer production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25" y="967816"/>
            <a:ext cx="6661150" cy="333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orecasts based on Google's daily closing stock price in 2015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37" y="3660085"/>
            <a:ext cx="5779022" cy="2889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4023072" y="6364930"/>
            <a:ext cx="45546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https://otexts.com/fpp3/simple-methods.html</a:t>
            </a:r>
          </a:p>
        </p:txBody>
      </p:sp>
    </p:spTree>
    <p:extLst>
      <p:ext uri="{BB962C8B-B14F-4D97-AF65-F5344CB8AC3E}">
        <p14:creationId xmlns:p14="http://schemas.microsoft.com/office/powerpoint/2010/main" val="304304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0040" y="258445"/>
            <a:ext cx="11033760" cy="587375"/>
          </a:xfrm>
        </p:spPr>
        <p:txBody>
          <a:bodyPr>
            <a:noAutofit/>
          </a:bodyPr>
          <a:lstStyle/>
          <a:p>
            <a:pPr algn="ctr"/>
            <a:r>
              <a:rPr lang="ru-RU" b="1" dirty="0"/>
              <a:t>Статистические методы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/>
          </p:nvPr>
        </p:nvGraphicFramePr>
        <p:xfrm>
          <a:off x="193245" y="1045845"/>
          <a:ext cx="11723176" cy="50349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78555">
                  <a:extLst>
                    <a:ext uri="{9D8B030D-6E8A-4147-A177-3AD203B41FA5}">
                      <a16:colId xmlns:a16="http://schemas.microsoft.com/office/drawing/2014/main" val="498965216"/>
                    </a:ext>
                  </a:extLst>
                </a:gridCol>
                <a:gridCol w="1947137">
                  <a:extLst>
                    <a:ext uri="{9D8B030D-6E8A-4147-A177-3AD203B41FA5}">
                      <a16:colId xmlns:a16="http://schemas.microsoft.com/office/drawing/2014/main" val="1588187195"/>
                    </a:ext>
                  </a:extLst>
                </a:gridCol>
                <a:gridCol w="2208508">
                  <a:extLst>
                    <a:ext uri="{9D8B030D-6E8A-4147-A177-3AD203B41FA5}">
                      <a16:colId xmlns:a16="http://schemas.microsoft.com/office/drawing/2014/main" val="1986663327"/>
                    </a:ext>
                  </a:extLst>
                </a:gridCol>
                <a:gridCol w="2688956">
                  <a:extLst>
                    <a:ext uri="{9D8B030D-6E8A-4147-A177-3AD203B41FA5}">
                      <a16:colId xmlns:a16="http://schemas.microsoft.com/office/drawing/2014/main" val="2758287352"/>
                    </a:ext>
                  </a:extLst>
                </a:gridCol>
                <a:gridCol w="2100020">
                  <a:extLst>
                    <a:ext uri="{9D8B030D-6E8A-4147-A177-3AD203B41FA5}">
                      <a16:colId xmlns:a16="http://schemas.microsoft.com/office/drawing/2014/main" val="3490581788"/>
                    </a:ext>
                  </a:extLst>
                </a:gridCol>
              </a:tblGrid>
              <a:tr h="227361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Критерий</a:t>
                      </a:r>
                      <a:endParaRPr lang="ru-RU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Стат</a:t>
                      </a:r>
                      <a: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модели </a:t>
                      </a: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(ARIMA,ETS,</a:t>
                      </a:r>
                      <a:r>
                        <a:rPr lang="en-US" sz="1600" b="1" u="none" strike="noStrike" baseline="0" dirty="0">
                          <a:solidFill>
                            <a:schemeClr val="bg1"/>
                          </a:solidFill>
                          <a:effectLst/>
                        </a:rPr>
                        <a:t> Prophet)</a:t>
                      </a:r>
                      <a:r>
                        <a:rPr lang="ru-RU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endParaRPr lang="ru-RU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ML</a:t>
                      </a:r>
                      <a:b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(</a:t>
                      </a:r>
                      <a:r>
                        <a:rPr lang="ru-RU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XGBoost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KNN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ru-RU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etc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.)</a:t>
                      </a:r>
                      <a:endParaRPr lang="ru-RU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Глубокие </a:t>
                      </a:r>
                      <a:r>
                        <a:rPr lang="ru-RU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нейросети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(</a:t>
                      </a:r>
                      <a: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LSTM, Transformer)</a:t>
                      </a:r>
                      <a:endParaRPr lang="en-US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Генеративные модели (LLM, </a:t>
                      </a:r>
                      <a:r>
                        <a:rPr lang="en-US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Dif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ru-RU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12808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Интерпретируемость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Очень высока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 Умеренная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Низкая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 Очень низкая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974802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Объем данных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Минимум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Средний</a:t>
                      </a: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Большой 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Огромные данные, 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333269"/>
                  </a:ext>
                </a:extLst>
              </a:tr>
              <a:tr h="227361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Точность</a:t>
                      </a: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b="1" u="none" strike="noStrike" baseline="0" dirty="0">
                          <a:effectLst/>
                        </a:rPr>
                        <a:t>При соответствии модели и данных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u="none" strike="noStrike" dirty="0">
                          <a:effectLst/>
                        </a:rPr>
                        <a:t>Зависит от выбора</a:t>
                      </a:r>
                      <a:r>
                        <a:rPr lang="ru-RU" sz="1900" u="none" strike="noStrike" baseline="0" dirty="0">
                          <a:effectLst/>
                        </a:rPr>
                        <a:t> признаков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Средняя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Низкая</a:t>
                      </a: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434037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Скорость обучения/прогноза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Очень быстро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Быстро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Медленно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Очень медленно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67367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Учет сезонности и тренда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effectLst/>
                        </a:rPr>
                        <a:t>Зависит от модели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В признаках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Средне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149069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экзогенные факторы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Ограничен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Отлично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Отлично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Через контекст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277165"/>
                  </a:ext>
                </a:extLst>
              </a:tr>
              <a:tr h="172992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Длина горизонта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Короткий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Средний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Средний-длинный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Очень длинный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18622"/>
                  </a:ext>
                </a:extLst>
              </a:tr>
              <a:tr h="227361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Работа с шумом и выбросами, пропусками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Плохо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 (особенно ансамбли)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Средне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2439854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err="1">
                          <a:effectLst/>
                        </a:rPr>
                        <a:t>Нестационарность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Учет</a:t>
                      </a:r>
                      <a:r>
                        <a:rPr lang="ru-RU" sz="1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в модели 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Возможна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75328"/>
                  </a:ext>
                </a:extLst>
              </a:tr>
              <a:tr h="29071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err="1">
                          <a:effectLst/>
                        </a:rPr>
                        <a:t>Многосезонность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Ограничена 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u="none" strike="noStrike" dirty="0">
                          <a:effectLst/>
                        </a:rPr>
                        <a:t>Средне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471243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Многомерные данные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Ограниченная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 Хорошо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Отлично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Отлично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631537"/>
                  </a:ext>
                </a:extLst>
              </a:tr>
              <a:tr h="172992"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1" u="none" strike="noStrike" dirty="0">
                          <a:effectLst/>
                        </a:rPr>
                        <a:t>Автоматизация</a:t>
                      </a:r>
                      <a:r>
                        <a:rPr lang="en-US" sz="1800" b="1" u="none" strike="noStrike" dirty="0">
                          <a:effectLst/>
                        </a:rPr>
                        <a:t> </a:t>
                      </a:r>
                      <a:r>
                        <a:rPr lang="ru-RU" sz="1800" b="1" u="none" strike="noStrike" dirty="0">
                          <a:effectLst/>
                        </a:rPr>
                        <a:t>настройки</a:t>
                      </a:r>
                      <a:endParaRPr lang="ru-RU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Средняя 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Высокая </a:t>
                      </a:r>
                      <a:endParaRPr lang="en-US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Высокая </a:t>
                      </a:r>
                      <a:endParaRPr lang="en-US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 err="1">
                          <a:effectLst/>
                        </a:rPr>
                        <a:t>prompt</a:t>
                      </a:r>
                      <a:r>
                        <a:rPr lang="ru-RU" sz="1900" u="none" strike="noStrike" dirty="0">
                          <a:effectLst/>
                        </a:rPr>
                        <a:t> </a:t>
                      </a:r>
                      <a:r>
                        <a:rPr lang="ru-RU" sz="1900" u="none" strike="noStrike" dirty="0" err="1">
                          <a:effectLst/>
                        </a:rPr>
                        <a:t>engineering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322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758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6700" y="91649"/>
            <a:ext cx="11087100" cy="54292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Статистические методы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/>
          </p:nvPr>
        </p:nvGraphicFramePr>
        <p:xfrm>
          <a:off x="266700" y="642193"/>
          <a:ext cx="11658600" cy="486456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1676522518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1330675205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139985245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1190715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91642554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3182744035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2899264462"/>
                    </a:ext>
                  </a:extLst>
                </a:gridCol>
                <a:gridCol w="725805">
                  <a:extLst>
                    <a:ext uri="{9D8B030D-6E8A-4147-A177-3AD203B41FA5}">
                      <a16:colId xmlns:a16="http://schemas.microsoft.com/office/drawing/2014/main" val="1265331857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1124316682"/>
                    </a:ext>
                  </a:extLst>
                </a:gridCol>
                <a:gridCol w="2647950">
                  <a:extLst>
                    <a:ext uri="{9D8B030D-6E8A-4147-A177-3AD203B41FA5}">
                      <a16:colId xmlns:a16="http://schemas.microsoft.com/office/drawing/2014/main" val="2870456483"/>
                    </a:ext>
                  </a:extLst>
                </a:gridCol>
              </a:tblGrid>
              <a:tr h="473229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Метод</a:t>
                      </a:r>
                      <a:endParaRPr lang="ru-RU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Тренд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Сезонность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 err="1">
                          <a:effectLst/>
                        </a:rPr>
                        <a:t>Нестационарность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Шумы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Выбросы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Объем Данных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horizon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Настройка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kern="1200" dirty="0">
                          <a:effectLst/>
                        </a:rPr>
                        <a:t>Использование</a:t>
                      </a:r>
                      <a:endParaRPr lang="ru-RU" sz="1800" b="1" u="none" strike="noStrike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2511378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 Naïve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Нет, </a:t>
                      </a:r>
                      <a:r>
                        <a:rPr lang="en-US" sz="1600" u="none" strike="noStrike" dirty="0">
                          <a:effectLst/>
                        </a:rPr>
                        <a:t>Random-walk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Одна и простая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TS-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Почти нет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Почти нет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10-10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endParaRPr lang="ru-RU" sz="18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Очень быстро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Нет тренда, данных мало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1857451959"/>
                  </a:ext>
                </a:extLst>
              </a:tr>
              <a:tr h="4732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STL</a:t>
                      </a:r>
                      <a:r>
                        <a:rPr lang="ru-RU" sz="1800" u="none" strike="noStrike" dirty="0">
                          <a:effectLst/>
                        </a:rPr>
                        <a:t>+</a:t>
                      </a:r>
                      <a:br>
                        <a:rPr lang="ru-RU" sz="1800" u="none" strike="noStrike" dirty="0">
                          <a:effectLst/>
                        </a:rPr>
                      </a:br>
                      <a:r>
                        <a:rPr lang="ru-RU" sz="1800" u="none" strike="noStrike" dirty="0">
                          <a:effectLst/>
                        </a:rPr>
                        <a:t>любой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Цикличный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Одна или </a:t>
                      </a:r>
                      <a:r>
                        <a:rPr lang="en-US" sz="1600" u="none" strike="noStrike" dirty="0">
                          <a:effectLst/>
                        </a:rPr>
                        <a:t/>
                      </a:r>
                      <a:br>
                        <a:rPr lang="en-US" sz="1600" u="none" strike="noStrike" dirty="0">
                          <a:effectLst/>
                        </a:rPr>
                      </a:br>
                      <a:r>
                        <a:rPr lang="ru-RU" sz="1600" u="none" strike="noStrike" dirty="0">
                          <a:effectLst/>
                        </a:rPr>
                        <a:t>более (</a:t>
                      </a:r>
                      <a:r>
                        <a:rPr lang="en-US" sz="1600" u="none" strike="noStrike" dirty="0">
                          <a:effectLst/>
                        </a:rPr>
                        <a:t>MSTL)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TS-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Почти нет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Очень мало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10-10</a:t>
                      </a:r>
                      <a:r>
                        <a:rPr lang="ru-RU" sz="1800" u="none" strike="noStrike" baseline="30000" dirty="0">
                          <a:effectLst/>
                        </a:rPr>
                        <a:t>4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20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Очень быстро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Когда проще</a:t>
                      </a:r>
                      <a:r>
                        <a:rPr lang="ru-RU" sz="1800" u="none" strike="noStrike" baseline="0" dirty="0">
                          <a:effectLst/>
                        </a:rPr>
                        <a:t> убрать компоненты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3020200849"/>
                  </a:ext>
                </a:extLst>
              </a:tr>
              <a:tr h="4732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ETS</a:t>
                      </a:r>
                      <a:r>
                        <a:rPr lang="ru-RU" sz="1800" u="none" strike="noStrike" dirty="0">
                          <a:effectLst/>
                        </a:rPr>
                        <a:t> </a:t>
                      </a:r>
                      <a:r>
                        <a:rPr lang="en-US" sz="1800" u="none" strike="noStrike" dirty="0">
                          <a:effectLst/>
                        </a:rPr>
                        <a:t>(HW)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Почти монотонный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Одна </a:t>
                      </a:r>
                      <a:br>
                        <a:rPr lang="ru-RU" sz="1800" u="none" strike="noStrike" dirty="0">
                          <a:effectLst/>
                        </a:rPr>
                      </a:br>
                      <a:r>
                        <a:rPr lang="ru-RU" sz="1800" u="none" strike="noStrike" dirty="0">
                          <a:effectLst/>
                        </a:rPr>
                        <a:t>или 1-2 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TS-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l-GR" sz="1800" u="none" strike="noStrike" dirty="0">
                          <a:effectLst/>
                        </a:rPr>
                        <a:t>σ-</a:t>
                      </a:r>
                      <a:r>
                        <a:rPr lang="en-US" sz="1800" u="none" strike="noStrike" dirty="0" err="1">
                          <a:effectLst/>
                        </a:rPr>
                        <a:t>var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Очень мало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r>
                        <a:rPr lang="ru-RU" sz="1800" u="none" strike="noStrike" dirty="0">
                          <a:effectLst/>
                        </a:rPr>
                        <a:t>-10</a:t>
                      </a:r>
                      <a:r>
                        <a:rPr lang="ru-RU" sz="1800" u="none" strike="noStrike" baseline="30000" dirty="0">
                          <a:effectLst/>
                        </a:rPr>
                        <a:t>3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30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 err="1">
                          <a:effectLst/>
                        </a:rPr>
                        <a:t>AutoETS</a:t>
                      </a:r>
                      <a:r>
                        <a:rPr lang="en-US" sz="1800" u="none" strike="noStrike" dirty="0">
                          <a:effectLst/>
                        </a:rPr>
                        <a:t> </a:t>
                      </a:r>
                      <a:r>
                        <a:rPr lang="ru-RU" sz="1800" u="none" strike="noStrike" dirty="0">
                          <a:effectLst/>
                        </a:rPr>
                        <a:t>быстр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Простая модель,</a:t>
                      </a:r>
                      <a:r>
                        <a:rPr lang="ru-RU" sz="1800" u="none" strike="noStrike" baseline="0" dirty="0">
                          <a:effectLst/>
                        </a:rPr>
                        <a:t> 1 сезон, шумы, данных мало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1239940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TBATS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Почти монотонный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1-4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TS-</a:t>
                      </a:r>
                      <a:r>
                        <a:rPr lang="ru-RU" sz="1800" u="none" strike="noStrike">
                          <a:effectLst/>
                        </a:rPr>
                        <a:t>стац.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Окрашенный шум, </a:t>
                      </a:r>
                      <a:r>
                        <a:rPr lang="el-GR" sz="1600" u="none" strike="noStrike" dirty="0">
                          <a:effectLst/>
                        </a:rPr>
                        <a:t>σ-</a:t>
                      </a:r>
                      <a:r>
                        <a:rPr lang="en-US" sz="1600" u="none" strike="noStrike" dirty="0" err="1">
                          <a:effectLst/>
                        </a:rPr>
                        <a:t>var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Очень мало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r>
                        <a:rPr lang="ru-RU" sz="1800" u="none" strike="noStrike" dirty="0">
                          <a:effectLst/>
                        </a:rPr>
                        <a:t>-10</a:t>
                      </a:r>
                      <a:r>
                        <a:rPr lang="ru-RU" sz="1800" u="none" strike="noStrike" baseline="30000" dirty="0">
                          <a:effectLst/>
                        </a:rPr>
                        <a:t>4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30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 err="1">
                          <a:effectLst/>
                        </a:rPr>
                        <a:t>Автонастройка</a:t>
                      </a:r>
                      <a:r>
                        <a:rPr lang="ru-RU" sz="1800" u="none" strike="noStrike" dirty="0">
                          <a:effectLst/>
                        </a:rPr>
                        <a:t> быстро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Простая модель, шумы, несколько сезонностей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2285523777"/>
                  </a:ext>
                </a:extLst>
              </a:tr>
              <a:tr h="7087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ARIMA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Полином, </a:t>
                      </a:r>
                      <a:r>
                        <a:rPr lang="en-US" sz="1600" u="none" strike="noStrike" dirty="0">
                          <a:effectLst/>
                        </a:rPr>
                        <a:t>Random-walk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Любые, в т.ч. Не стационарные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DS-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Окрашенный шум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Мало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r>
                        <a:rPr lang="ru-RU" sz="1800" u="none" strike="noStrike" dirty="0">
                          <a:effectLst/>
                        </a:rPr>
                        <a:t>-10</a:t>
                      </a:r>
                      <a:r>
                        <a:rPr lang="ru-RU" sz="1800" u="none" strike="noStrike" baseline="30000" dirty="0">
                          <a:effectLst/>
                        </a:rPr>
                        <a:t>5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ctr"/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 err="1">
                          <a:effectLst/>
                        </a:rPr>
                        <a:t>AutoARIMA</a:t>
                      </a:r>
                      <a:r>
                        <a:rPr lang="en-US" sz="1800" u="none" strike="noStrike" dirty="0">
                          <a:effectLst/>
                        </a:rPr>
                        <a:t>+</a:t>
                      </a:r>
                      <a:r>
                        <a:rPr lang="ru-RU" sz="1800" u="none" strike="noStrike" dirty="0">
                          <a:effectLst/>
                        </a:rPr>
                        <a:t/>
                      </a:r>
                      <a:br>
                        <a:rPr lang="ru-RU" sz="1800" u="none" strike="noStrike" dirty="0">
                          <a:effectLst/>
                        </a:rPr>
                      </a:br>
                      <a:r>
                        <a:rPr lang="ru-RU" sz="1800" u="none" strike="noStrike" dirty="0">
                          <a:effectLst/>
                        </a:rPr>
                        <a:t>руками - долго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Сложная </a:t>
                      </a:r>
                      <a:r>
                        <a:rPr lang="en-US" sz="1800" u="none" strike="noStrike" dirty="0">
                          <a:effectLst/>
                        </a:rPr>
                        <a:t>DS-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</a:p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модель, важно</a:t>
                      </a:r>
                      <a:r>
                        <a:rPr lang="ru-RU" sz="1800" u="none" strike="noStrike" baseline="0" dirty="0">
                          <a:effectLst/>
                        </a:rPr>
                        <a:t> корреляция – по факту </a:t>
                      </a:r>
                      <a:r>
                        <a:rPr lang="en-US" sz="1800" u="none" strike="noStrike" baseline="0" dirty="0">
                          <a:effectLst/>
                        </a:rPr>
                        <a:t>Baseline</a:t>
                      </a:r>
                      <a:endParaRPr lang="ru-RU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3760524402"/>
                  </a:ext>
                </a:extLst>
              </a:tr>
              <a:tr h="7087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Prophet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Сложный перегибы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Любые, + </a:t>
                      </a:r>
                      <a:r>
                        <a:rPr lang="en-US" sz="1800" u="none" strike="noStrike" dirty="0">
                          <a:effectLst/>
                        </a:rPr>
                        <a:t>holidays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TS-</a:t>
                      </a:r>
                      <a:r>
                        <a:rPr lang="ru-RU" sz="1800" u="none" strike="noStrike">
                          <a:effectLst/>
                        </a:rPr>
                        <a:t>стац.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Слабый БГШ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Могут быть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r>
                        <a:rPr lang="ru-RU" sz="1800" u="none" strike="noStrike" dirty="0">
                          <a:effectLst/>
                        </a:rPr>
                        <a:t>-10</a:t>
                      </a:r>
                      <a:r>
                        <a:rPr lang="ru-RU" sz="1800" u="none" strike="noStrike" baseline="30000" dirty="0">
                          <a:effectLst/>
                        </a:rPr>
                        <a:t>6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100+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выбор точек перегиба, </a:t>
                      </a:r>
                      <a:br>
                        <a:rPr lang="ru-RU" sz="1800" u="none" strike="noStrike" dirty="0">
                          <a:effectLst/>
                        </a:rPr>
                      </a:br>
                      <a:r>
                        <a:rPr lang="ru-RU" sz="1800" u="none" strike="noStrike" dirty="0">
                          <a:effectLst/>
                        </a:rPr>
                        <a:t>ост. быстро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Длинный ВР</a:t>
                      </a:r>
                      <a:r>
                        <a:rPr lang="ru-RU" sz="1800" u="none" strike="noStrike" baseline="0" dirty="0">
                          <a:effectLst/>
                        </a:rPr>
                        <a:t> и горизонт, </a:t>
                      </a:r>
                      <a:r>
                        <a:rPr lang="ru-RU" sz="1800" u="none" strike="noStrike" baseline="0" dirty="0" err="1">
                          <a:effectLst/>
                        </a:rPr>
                        <a:t>бизнесс</a:t>
                      </a:r>
                      <a:r>
                        <a:rPr lang="ru-RU" sz="1800" u="none" strike="noStrike" baseline="0" dirty="0">
                          <a:effectLst/>
                        </a:rPr>
                        <a:t>-процессы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346448844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201927" y="5670173"/>
                <a:ext cx="5608323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STL</a:t>
                </a:r>
                <a:r>
                  <a:rPr lang="ru-RU" sz="1600" dirty="0"/>
                  <a:t> – разложение сезон-тренд методом локальной регрессии</a:t>
                </a:r>
              </a:p>
              <a:p>
                <a:r>
                  <a:rPr lang="ru-RU" sz="1600" dirty="0"/>
                  <a:t>БГШ – равномерно-распределенный белый гауссов шум</a:t>
                </a:r>
              </a:p>
              <a:p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𝑣𝑎𝑟</m:t>
                    </m:r>
                  </m:oMath>
                </a14:m>
                <a:r>
                  <a:rPr lang="ru-RU" sz="1600" dirty="0"/>
                  <a:t> – </a:t>
                </a:r>
                <a:r>
                  <a:rPr lang="ru-RU" sz="1600" dirty="0" err="1"/>
                  <a:t>гетеросекдостичный</a:t>
                </a:r>
                <a:r>
                  <a:rPr lang="ru-RU" sz="1600" dirty="0"/>
                  <a:t> шум</a:t>
                </a:r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27" y="5670173"/>
                <a:ext cx="5608323" cy="830997"/>
              </a:xfrm>
              <a:prstGeom prst="rect">
                <a:avLst/>
              </a:prstGeom>
              <a:blipFill>
                <a:blip r:embed="rId2"/>
                <a:stretch>
                  <a:fillRect l="-543" t="-2206" b="-88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5633085" y="5670173"/>
            <a:ext cx="636841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Окрашенный шум – шум, имеющий корреляционную зависимость </a:t>
            </a:r>
          </a:p>
          <a:p>
            <a:r>
              <a:rPr lang="en-US" sz="1600" dirty="0"/>
              <a:t>TS-</a:t>
            </a:r>
            <a:r>
              <a:rPr lang="ru-RU" sz="1600" dirty="0" err="1"/>
              <a:t>стац</a:t>
            </a:r>
            <a:r>
              <a:rPr lang="ru-RU" sz="1600" dirty="0"/>
              <a:t>. – стационарность по отношению к тренду (и сезонности)</a:t>
            </a:r>
          </a:p>
          <a:p>
            <a:r>
              <a:rPr lang="en-US" sz="1600" dirty="0"/>
              <a:t>DS-</a:t>
            </a:r>
            <a:r>
              <a:rPr lang="ru-RU" sz="1600" dirty="0" err="1"/>
              <a:t>стац</a:t>
            </a:r>
            <a:r>
              <a:rPr lang="ru-RU" sz="1600" dirty="0"/>
              <a:t>. – стационарность к дифференцированию (</a:t>
            </a:r>
            <a:r>
              <a:rPr lang="en-US" sz="1600" dirty="0"/>
              <a:t>usual, seasonal </a:t>
            </a:r>
            <a:r>
              <a:rPr lang="en-US" sz="1600" dirty="0" err="1"/>
              <a:t>dif</a:t>
            </a:r>
            <a:r>
              <a:rPr lang="en-US" sz="1600" dirty="0"/>
              <a:t>)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7209126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2" y="25399"/>
            <a:ext cx="10515600" cy="80645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 Экспоненциальное сглаживание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FDC76D-90F0-4FD7-8BA6-954D6D2E6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25" y="840761"/>
            <a:ext cx="11449049" cy="56201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400" dirty="0"/>
              <a:t>Часто требуется предсказание будущих значений достаточно простых временных рядов, состоящий преимущественно из одной трендовой и сезонной составляющих понятного вида.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400" dirty="0"/>
              <a:t>Данные кажутся достаточно шумными, возникает необходимость сглаживания</a:t>
            </a:r>
            <a:endParaRPr lang="en-US" sz="2400" dirty="0"/>
          </a:p>
        </p:txBody>
      </p:sp>
      <p:pic>
        <p:nvPicPr>
          <p:cNvPr id="2050" name="Picture 2" descr="Forecasting international visitor nights in Australia using the Holt-Winters method with both additive and multiplicative seasonality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889" t="30766" r="279" b="36461"/>
          <a:stretch/>
        </p:blipFill>
        <p:spPr bwMode="auto">
          <a:xfrm>
            <a:off x="5164108" y="2531961"/>
            <a:ext cx="2028826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Forecasts of daily pageviews on the Hyndsight blog.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1" r="22857"/>
          <a:stretch/>
        </p:blipFill>
        <p:spPr bwMode="auto">
          <a:xfrm>
            <a:off x="109842" y="3498799"/>
            <a:ext cx="4322284" cy="2933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Forecasts of daily pageviews on the Hyndsight blog.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43" t="39470" r="158" b="39260"/>
          <a:stretch/>
        </p:blipFill>
        <p:spPr bwMode="auto">
          <a:xfrm>
            <a:off x="523875" y="2860940"/>
            <a:ext cx="1676400" cy="785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Forecasting international visitor nights in Australia using the Holt-Winters method with both additive and multiplicative seasonality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" t="257" r="30252" b="864"/>
          <a:stretch/>
        </p:blipFill>
        <p:spPr bwMode="auto">
          <a:xfrm>
            <a:off x="4249131" y="3564797"/>
            <a:ext cx="4158410" cy="2959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96001" y="3414394"/>
            <a:ext cx="443388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22222"/>
                </a:solidFill>
                <a:latin typeface="Fira Sans"/>
              </a:rPr>
              <a:t>Forecasts of daily </a:t>
            </a:r>
            <a:r>
              <a:rPr lang="en-US" sz="1400" dirty="0" err="1">
                <a:solidFill>
                  <a:srgbClr val="222222"/>
                </a:solidFill>
                <a:latin typeface="Fira Sans"/>
              </a:rPr>
              <a:t>pageviews</a:t>
            </a:r>
            <a:r>
              <a:rPr lang="en-US" sz="1400" dirty="0">
                <a:solidFill>
                  <a:srgbClr val="222222"/>
                </a:solidFill>
                <a:latin typeface="Fira Sans"/>
              </a:rPr>
              <a:t> on the </a:t>
            </a:r>
            <a:r>
              <a:rPr lang="en-US" sz="1400" dirty="0" err="1">
                <a:solidFill>
                  <a:srgbClr val="222222"/>
                </a:solidFill>
                <a:latin typeface="Fira Sans"/>
              </a:rPr>
              <a:t>Hyndsight</a:t>
            </a:r>
            <a:r>
              <a:rPr lang="en-US" sz="1400" dirty="0">
                <a:solidFill>
                  <a:srgbClr val="222222"/>
                </a:solidFill>
                <a:latin typeface="Fira Sans"/>
              </a:rPr>
              <a:t> blog.</a:t>
            </a:r>
            <a:endParaRPr lang="ru-RU" sz="1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23849" y="6501786"/>
            <a:ext cx="41781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https://otexts.com/fpp2/holt-winters.html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092753" y="6460924"/>
            <a:ext cx="78200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https://education.yandex.ru/handbook/ml/article/analitika-vremennyh-ryadov</a:t>
            </a:r>
          </a:p>
        </p:txBody>
      </p:sp>
      <p:sp>
        <p:nvSpPr>
          <p:cNvPr id="9" name="AutoShape 6" descr="es0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4"/>
          <a:srcRect r="36289"/>
          <a:stretch/>
        </p:blipFill>
        <p:spPr>
          <a:xfrm>
            <a:off x="8133048" y="3783857"/>
            <a:ext cx="3828620" cy="2521394"/>
          </a:xfrm>
          <a:prstGeom prst="rect">
            <a:avLst/>
          </a:prstGeom>
        </p:spPr>
      </p:pic>
      <p:sp>
        <p:nvSpPr>
          <p:cNvPr id="15" name="Прямоугольник 14"/>
          <p:cNvSpPr/>
          <p:nvPr/>
        </p:nvSpPr>
        <p:spPr>
          <a:xfrm>
            <a:off x="8848621" y="3498799"/>
            <a:ext cx="32155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222222"/>
                </a:solidFill>
                <a:latin typeface="Fira Sans"/>
              </a:rPr>
              <a:t>Температурные показания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6391943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4860" y="60325"/>
            <a:ext cx="10515600" cy="854075"/>
          </a:xfrm>
        </p:spPr>
        <p:txBody>
          <a:bodyPr/>
          <a:lstStyle/>
          <a:p>
            <a:pPr algn="ctr"/>
            <a:r>
              <a:rPr lang="ru-RU" dirty="0"/>
              <a:t>Классический подход</a:t>
            </a:r>
            <a:r>
              <a:rPr lang="en-US" dirty="0"/>
              <a:t> </a:t>
            </a:r>
            <a:r>
              <a:rPr lang="ru-RU" dirty="0"/>
              <a:t>к декомпозиции ВР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50520" y="784860"/>
                <a:ext cx="11551920" cy="5341620"/>
              </a:xfrm>
            </p:spPr>
            <p:txBody>
              <a:bodyPr>
                <a:normAutofit/>
              </a:bodyPr>
              <a:lstStyle/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400" dirty="0">
                    <a:cs typeface="Times New Roman" panose="02020603050405020304" pitchFamily="18" charset="0"/>
                  </a:rPr>
                  <a:t>Рассмотрим временной с аддитивной моделью Тренд-Сезонность-остаток:</a:t>
                </a:r>
                <a:endParaRPr lang="en-US" altLang="ru-RU" sz="2400" dirty="0">
                  <a:cs typeface="Times New Roman" panose="02020603050405020304" pitchFamily="18" charset="0"/>
                </a:endParaRPr>
              </a:p>
              <a:p>
                <a:pPr marL="0" indent="0"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altLang="ru-RU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altLang="ru-RU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</m:t>
                    </m:r>
                    <m:sSub>
                      <m:sSubPr>
                        <m:ctrlPr>
                          <a:rPr lang="en-US" altLang="ru-RU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2400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altLang="ru-RU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sSub>
                      <m:sSubPr>
                        <m:ctrlPr>
                          <a:rPr lang="en-US" altLang="ru-RU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2400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altLang="ru-RU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sSub>
                      <m:sSubPr>
                        <m:ctrlPr>
                          <a:rPr lang="en-US" altLang="ru-RU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altLang="ru-RU" sz="2400" dirty="0">
                    <a:cs typeface="Times New Roman" panose="02020603050405020304" pitchFamily="18" charset="0"/>
                  </a:rPr>
                  <a:t>, </a:t>
                </a:r>
                <a:endParaRPr lang="en-US" altLang="ru-RU" sz="2400" dirty="0">
                  <a:cs typeface="Times New Roman" panose="02020603050405020304" pitchFamily="18" charset="0"/>
                </a:endParaRP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1800" dirty="0"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1800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ru-RU" sz="1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altLang="ru-RU" sz="1800" dirty="0">
                    <a:cs typeface="Times New Roman" panose="02020603050405020304" pitchFamily="18" charset="0"/>
                  </a:rPr>
                  <a:t> – это тренд,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1800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ru-RU" sz="1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altLang="ru-RU" sz="1800" dirty="0">
                    <a:cs typeface="Times New Roman" panose="02020603050405020304" pitchFamily="18" charset="0"/>
                  </a:rPr>
                  <a:t> – это сезонность со значением периода </a:t>
                </a:r>
                <a14:m>
                  <m:oMath xmlns:m="http://schemas.openxmlformats.org/officeDocument/2006/math">
                    <m:r>
                      <a:rPr lang="ru-RU" altLang="ru-RU" sz="18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ru-RU" altLang="ru-RU" sz="1800" dirty="0">
                    <a:cs typeface="Times New Roman" panose="02020603050405020304" pitchFamily="18" charset="0"/>
                  </a:rPr>
                  <a:t> (например 4 для квартала, 12 для 1 года, 7 для дней недели – если шаг 1 день),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ru-RU" sz="1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ru-RU" sz="1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altLang="ru-RU" sz="1800" dirty="0">
                    <a:cs typeface="Times New Roman" panose="02020603050405020304" pitchFamily="18" charset="0"/>
                  </a:rPr>
                  <a:t> – это остаточная часть (шумы), </a:t>
                </a:r>
                <a:r>
                  <a:rPr lang="en-US" altLang="ru-RU" sz="1800" dirty="0">
                    <a:cs typeface="Times New Roman" panose="02020603050405020304" pitchFamily="18" charset="0"/>
                  </a:rPr>
                  <a:t/>
                </a:r>
                <a:br>
                  <a:rPr lang="en-US" altLang="ru-RU" sz="1800" dirty="0"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ru-RU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ru-RU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=0,…,</m:t>
                    </m:r>
                    <m:r>
                      <a:rPr lang="en-US" altLang="ru-RU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ru-RU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en-US" altLang="ru-RU" sz="1800" dirty="0">
                    <a:cs typeface="Times New Roman" panose="02020603050405020304" pitchFamily="18" charset="0"/>
                  </a:rPr>
                  <a:t> – </a:t>
                </a:r>
                <a:r>
                  <a:rPr lang="ru-RU" altLang="ru-RU" sz="1800" dirty="0">
                    <a:cs typeface="Times New Roman" panose="02020603050405020304" pitchFamily="18" charset="0"/>
                  </a:rPr>
                  <a:t>набор наблюдений с заданным шагом (напр. 365 набл. С шагом 1 день –год).</a:t>
                </a:r>
              </a:p>
              <a:p>
                <a:pPr marL="0" indent="0"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200" dirty="0">
                    <a:cs typeface="Times New Roman" panose="02020603050405020304" pitchFamily="18" charset="0"/>
                  </a:rPr>
                  <a:t>В модели мы считаем, что скорость изменения тренда много меньше</a:t>
                </a:r>
                <a:r>
                  <a:rPr lang="en-US" altLang="ru-RU" sz="2200" dirty="0">
                    <a:cs typeface="Times New Roman" panose="02020603050405020304" pitchFamily="18" charset="0"/>
                  </a:rPr>
                  <a:t>,</a:t>
                </a:r>
                <a:r>
                  <a:rPr lang="ru-RU" altLang="ru-RU" sz="2200" dirty="0">
                    <a:cs typeface="Times New Roman" panose="02020603050405020304" pitchFamily="18" charset="0"/>
                  </a:rPr>
                  <a:t> чем скорость изменения сезонности</a:t>
                </a:r>
                <a:r>
                  <a:rPr lang="en-US" altLang="ru-RU" sz="2200" dirty="0">
                    <a:cs typeface="Times New Roman" panose="02020603050405020304" pitchFamily="18" charset="0"/>
                  </a:rPr>
                  <a:t>:</a:t>
                </a:r>
                <a:r>
                  <a:rPr lang="ru-RU" altLang="ru-RU" sz="2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|∆</m:t>
                        </m:r>
                        <m:sSub>
                          <m:sSubPr>
                            <m:ctrlPr>
                              <a:rPr lang="en-US" alt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nary>
                    <m:r>
                      <a:rPr lang="en-US" altLang="ru-RU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≪</m:t>
                    </m:r>
                    <m:f>
                      <m:fPr>
                        <m:ctrlP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altLang="ru-RU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ru-RU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nary>
                  </m:oMath>
                </a14:m>
                <a:endParaRPr lang="en-US" altLang="ru-RU" sz="2200" dirty="0">
                  <a:cs typeface="Times New Roman" panose="02020603050405020304" pitchFamily="18" charset="0"/>
                </a:endParaRPr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200" dirty="0">
                    <a:cs typeface="Times New Roman" panose="02020603050405020304" pitchFamily="18" charset="0"/>
                  </a:rPr>
                  <a:t>Тогда если по ВР провести усредняющее окно с шириной </a:t>
                </a:r>
                <a14:m>
                  <m:oMath xmlns:m="http://schemas.openxmlformats.org/officeDocument/2006/math">
                    <m:r>
                      <a:rPr lang="en-US" altLang="ru-RU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altLang="ru-RU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ru-RU" sz="2200" dirty="0">
                    <a:cs typeface="Times New Roman" panose="02020603050405020304" pitchFamily="18" charset="0"/>
                  </a:rPr>
                  <a:t> </a:t>
                </a:r>
                <a:r>
                  <a:rPr lang="ru-RU" altLang="ru-RU" sz="2200" dirty="0">
                    <a:cs typeface="Times New Roman" panose="02020603050405020304" pitchFamily="18" charset="0"/>
                  </a:rPr>
                  <a:t>(в т.ч. Усреднить каждый период), то в модели останется только тренд и некоторая промоделированная ошибка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ru-RU" sz="2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ru-RU" sz="2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ru-RU" altLang="ru-RU" sz="22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0520" y="784860"/>
                <a:ext cx="11551920" cy="5341620"/>
              </a:xfrm>
              <a:blipFill>
                <a:blip r:embed="rId2"/>
                <a:stretch>
                  <a:fillRect l="-844" t="-913" r="-4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Residential electricity sales (black) along with the 5-MA estimate of the trend-cycle (red)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6038" y="3892216"/>
            <a:ext cx="5427681" cy="2713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260508" y="3892216"/>
                <a:ext cx="6355715" cy="10461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algn="ctr"/>
                <a:r>
                  <a:rPr lang="ru-RU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 - оценка тренда,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ширина окна</a:t>
                </a:r>
              </a:p>
              <a:p>
                <a:pPr algn="ctr"/>
                <a:r>
                  <a:rPr lang="ru-RU" dirty="0"/>
                  <a:t>Такая операция будет называться </a:t>
                </a:r>
                <a:r>
                  <a:rPr lang="en-US" dirty="0"/>
                  <a:t>W-MA </a:t>
                </a:r>
                <a:r>
                  <a:rPr lang="ru-RU" dirty="0"/>
                  <a:t>(скользящее среднее)</a:t>
                </a: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508" y="3892216"/>
                <a:ext cx="6355715" cy="1046184"/>
              </a:xfrm>
              <a:prstGeom prst="rect">
                <a:avLst/>
              </a:prstGeom>
              <a:blipFill>
                <a:blip r:embed="rId4"/>
                <a:stretch>
                  <a:fillRect l="-480" t="-36628" r="-384" b="-81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Прямоугольник 5"/>
          <p:cNvSpPr/>
          <p:nvPr/>
        </p:nvSpPr>
        <p:spPr>
          <a:xfrm>
            <a:off x="719117" y="4938400"/>
            <a:ext cx="5746921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altLang="ru-RU" sz="1700" b="0" i="1" dirty="0">
                <a:latin typeface="+mj-lt"/>
                <a:cs typeface="Times New Roman" panose="02020603050405020304" pitchFamily="18" charset="0"/>
              </a:rPr>
              <a:t>можно делать </a:t>
            </a:r>
            <a:r>
              <a:rPr lang="en-US" altLang="ru-RU" sz="1700" b="0" i="1" dirty="0">
                <a:latin typeface="+mj-lt"/>
                <a:cs typeface="Times New Roman" panose="02020603050405020304" pitchFamily="18" charset="0"/>
              </a:rPr>
              <a:t>MA </a:t>
            </a:r>
            <a:r>
              <a:rPr lang="ru-RU" altLang="ru-RU" sz="1700" b="0" i="1" dirty="0">
                <a:latin typeface="+mj-lt"/>
                <a:cs typeface="Times New Roman" panose="02020603050405020304" pitchFamily="18" charset="0"/>
              </a:rPr>
              <a:t>над </a:t>
            </a:r>
            <a:r>
              <a:rPr lang="en-US" altLang="ru-RU" sz="1700" b="0" i="1" dirty="0">
                <a:latin typeface="+mj-lt"/>
                <a:cs typeface="Times New Roman" panose="02020603050405020304" pitchFamily="18" charset="0"/>
              </a:rPr>
              <a:t>MA </a:t>
            </a:r>
            <a:r>
              <a:rPr lang="ru-RU" altLang="ru-RU" sz="1700" b="0" i="1" dirty="0">
                <a:latin typeface="+mj-lt"/>
                <a:cs typeface="Times New Roman" panose="02020603050405020304" pitchFamily="18" charset="0"/>
              </a:rPr>
              <a:t>или ввести взвешенный </a:t>
            </a:r>
            <a:r>
              <a:rPr lang="en-US" altLang="ru-RU" sz="1700" b="0" i="1" dirty="0">
                <a:latin typeface="+mj-lt"/>
                <a:cs typeface="Times New Roman" panose="02020603050405020304" pitchFamily="18" charset="0"/>
              </a:rPr>
              <a:t>MA (WMA) – </a:t>
            </a:r>
            <a:r>
              <a:rPr lang="ru-RU" altLang="ru-RU" sz="1700" b="0" i="1" dirty="0">
                <a:latin typeface="+mj-lt"/>
                <a:cs typeface="Times New Roman" panose="02020603050405020304" pitchFamily="18" charset="0"/>
              </a:rPr>
              <a:t>выбор коэффициентов таких операций будет влиять на результат сглаживания. В том числе можно синтезировать сглаживание сезонности до определенных компонент или не мене определенных компонент (фильтрация Временного ряда)</a:t>
            </a:r>
            <a:endParaRPr lang="ru-RU" sz="1700" i="1" dirty="0"/>
          </a:p>
        </p:txBody>
      </p:sp>
    </p:spTree>
    <p:extLst>
      <p:ext uri="{BB962C8B-B14F-4D97-AF65-F5344CB8AC3E}">
        <p14:creationId xmlns:p14="http://schemas.microsoft.com/office/powerpoint/2010/main" val="7820727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4860" y="60325"/>
            <a:ext cx="10515600" cy="854075"/>
          </a:xfrm>
        </p:spPr>
        <p:txBody>
          <a:bodyPr/>
          <a:lstStyle/>
          <a:p>
            <a:pPr algn="ctr"/>
            <a:r>
              <a:rPr lang="ru-RU" dirty="0"/>
              <a:t>Классический подход</a:t>
            </a:r>
            <a:r>
              <a:rPr lang="en-US" dirty="0"/>
              <a:t> </a:t>
            </a:r>
            <a:r>
              <a:rPr lang="ru-RU" dirty="0"/>
              <a:t>к декомпозиции ВР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60020" y="680085"/>
                <a:ext cx="12031980" cy="5341620"/>
              </a:xfrm>
            </p:spPr>
            <p:txBody>
              <a:bodyPr>
                <a:normAutofit/>
              </a:bodyPr>
              <a:lstStyle/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dirty="0">
                    <a:cs typeface="Times New Roman" panose="02020603050405020304" pitchFamily="18" charset="0"/>
                  </a:rPr>
                  <a:t>Используя скользящее среднее проще всего разложить временной ряд на компоненты.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1 – вычисление тренда методом скользящего среднего 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(MA)</a:t>
                </a:r>
                <a:r>
                  <a:rPr lang="ru-RU" altLang="ru-RU" sz="2000" b="1" i="1" dirty="0">
                    <a:cs typeface="Times New Roman" panose="02020603050405020304" pitchFamily="18" charset="0"/>
                  </a:rPr>
                  <a:t> с окном размера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ru-RU" sz="20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w</m:t>
                    </m:r>
                    <m:r>
                      <a:rPr lang="ru-RU" altLang="ru-RU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ru-RU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ru-RU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𝒘</m:t>
                    </m:r>
                    <m:r>
                      <a:rPr lang="en-US" altLang="ru-RU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нечетное)</m:t>
                    </m:r>
                  </m:oMath>
                </a14:m>
                <a:endParaRPr lang="ru-RU" altLang="ru-RU" sz="2000" b="1" i="1" dirty="0">
                  <a:cs typeface="Times New Roman" panose="02020603050405020304" pitchFamily="18" charset="0"/>
                </a:endParaRPr>
              </a:p>
              <a:p>
                <a:pPr marL="914400" lvl="2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−1)/2</m:t>
                        </m:r>
                      </m:sub>
                      <m:sup>
                        <m:f>
                          <m:fPr>
                            <m:type m:val="lin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</m:d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e>
                    </m:nary>
                  </m:oMath>
                </a14:m>
                <a:r>
                  <a:rPr lang="en-US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  - </a:t>
                </a:r>
                <a:r>
                  <a:rPr lang="ru-RU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центрированное скользящее среднее позволяет избежать эффекта запаздывания </a:t>
                </a:r>
              </a:p>
              <a:p>
                <a:pPr marL="914400" lvl="2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Если </a:t>
                </a:r>
                <a:r>
                  <a:rPr lang="en-US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m </a:t>
                </a:r>
                <a:r>
                  <a:rPr lang="ru-RU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четное - (можно заменить на 2х</a:t>
                </a:r>
                <a:r>
                  <a:rPr lang="en-US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ma</a:t>
                </a:r>
                <a:r>
                  <a:rPr lang="ru-RU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 или на другую схему</a:t>
                </a: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2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 – </a:t>
                </a:r>
                <a:r>
                  <a:rPr lang="ru-RU" altLang="ru-RU" sz="2000" b="1" i="1" dirty="0">
                    <a:cs typeface="Times New Roman" panose="02020603050405020304" pitchFamily="18" charset="0"/>
                  </a:rPr>
                  <a:t>вычисление сезонности </a:t>
                </a:r>
                <a:endParaRPr lang="en-US" altLang="ru-RU" sz="2000" b="1" i="1" dirty="0"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	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20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ru-RU" sz="20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ru-RU" sz="2000" b="0" i="0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</m:sub>
                    </m:sSub>
                    <m:r>
                      <a:rPr lang="en-US" altLang="ru-RU" sz="2000" b="0" i="0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ru-RU" sz="20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200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ru-RU" sz="20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altLang="ru-RU" sz="200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ru-RU" sz="2000" b="1" i="1" dirty="0"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3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  – 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Оценка значений одного периода сезонной составляющей </a:t>
                </a:r>
                <a:r>
                  <a:rPr lang="en-US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c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заданной сезонностью</a:t>
                </a:r>
                <a:r>
                  <a:rPr lang="en-US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ru-RU" sz="200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endParaRPr lang="en-US" altLang="ru-RU" sz="2000" b="1" i="1" dirty="0"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ru-RU" sz="2000" b="1" i="1" dirty="0"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ru-RU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</m:acc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ru-RU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a:rPr lang="ru-RU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1/</m:t>
                        </m:r>
                        <m:r>
                          <a:rPr lang="en-US" alt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ctrlP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∆−1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nary>
                          <m:naryPr>
                            <m:chr m:val="∑"/>
                            <m:ctrlP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∆</m:t>
                            </m:r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,…,</m:t>
                            </m:r>
                            <m:nary>
                              <m:naryPr>
                                <m:chr m:val="∑"/>
                                <m:ctrlP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∆</m:t>
                                </m:r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⋅</m:t>
                                    </m:r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ru-RU" sz="2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nary>
                          </m:e>
                        </m:nary>
                      </m:e>
                    </m:d>
                  </m:oMath>
                </a14:m>
                <a:r>
                  <a:rPr lang="en-US" altLang="ru-RU" sz="2000" i="1" dirty="0">
                    <a:cs typeface="Times New Roman" panose="02020603050405020304" pitchFamily="18" charset="0"/>
                  </a:rPr>
                  <a:t>,</a:t>
                </a:r>
                <a:r>
                  <a:rPr lang="ru-RU" altLang="ru-RU" sz="2000" i="1" dirty="0">
                    <a:cs typeface="Times New Roman" panose="02020603050405020304" pitchFamily="18" charset="0"/>
                  </a:rPr>
                  <a:t/>
                </a:r>
                <a:br>
                  <a:rPr lang="ru-RU" altLang="ru-RU" sz="2000" i="1" dirty="0">
                    <a:cs typeface="Times New Roman" panose="02020603050405020304" pitchFamily="18" charset="0"/>
                  </a:rPr>
                </a:br>
                <a:r>
                  <a:rPr lang="ru-RU" altLang="ru-RU" sz="2000" i="1" dirty="0">
                    <a:cs typeface="Times New Roman" panose="02020603050405020304" pitchFamily="18" charset="0"/>
                  </a:rPr>
                  <a:t> где</a:t>
                </a:r>
                <a:r>
                  <a:rPr lang="en-US" altLang="ru-RU" sz="2000" i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ru-RU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𝑚𝑜𝑑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ru-RU" sz="2000" b="0" i="0" dirty="0">
                    <a:latin typeface="+mj-lt"/>
                    <a:cs typeface="Times New Roman" panose="02020603050405020304" pitchFamily="18" charset="0"/>
                  </a:rPr>
                  <a:t>-</a:t>
                </a:r>
                <a:r>
                  <a:rPr lang="ru-RU" altLang="ru-RU" sz="2000" b="0" i="0" dirty="0">
                    <a:latin typeface="+mj-lt"/>
                    <a:cs typeface="Times New Roman" panose="02020603050405020304" pitchFamily="18" charset="0"/>
                  </a:rPr>
                  <a:t>целое число периодов сезона во ВР</a:t>
                </a:r>
                <a:endParaRPr lang="ru-RU" altLang="ru-RU" sz="2000" i="1" dirty="0">
                  <a:cs typeface="Times New Roman" panose="02020603050405020304" pitchFamily="18" charset="0"/>
                </a:endParaRPr>
              </a:p>
              <a:p>
                <a:pPr marL="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4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  –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Интерполяция сезонной составляющей на весь</a:t>
                </a:r>
                <a:r>
                  <a:rPr lang="en-US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объем выборки ВР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altLang="ru-RU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sz="20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en-US" altLang="ru-RU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ru-RU" altLang="ru-RU" sz="2000" dirty="0">
                  <a:solidFill>
                    <a:srgbClr val="333333"/>
                  </a:solidFill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5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  –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Вычисление остатка как</a:t>
                </a:r>
                <a14:m>
                  <m:oMath xmlns:m="http://schemas.openxmlformats.org/officeDocument/2006/math">
                    <m:r>
                      <a:rPr lang="en-US" altLang="ru-RU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ru-RU" sz="2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ru-RU" sz="2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ru-RU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ru-RU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ru-RU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ru-RU" altLang="ru-RU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sz="20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en-US" altLang="ru-RU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ru-RU" altLang="ru-RU" sz="1800" dirty="0">
                  <a:solidFill>
                    <a:srgbClr val="333333"/>
                  </a:solidFill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1600" dirty="0">
                  <a:solidFill>
                    <a:srgbClr val="333333"/>
                  </a:solidFill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1600" dirty="0">
                  <a:solidFill>
                    <a:srgbClr val="333333"/>
                  </a:solidFill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1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0020" y="680085"/>
                <a:ext cx="12031980" cy="5341620"/>
              </a:xfrm>
              <a:blipFill>
                <a:blip r:embed="rId2"/>
                <a:stretch>
                  <a:fillRect l="-507" t="-685" r="-91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160020" y="6442055"/>
            <a:ext cx="1139952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hlinkClick r:id="rId3"/>
              </a:rPr>
              <a:t>https://otexts.com/fpp2/classical-decomposition.html</a:t>
            </a:r>
            <a:r>
              <a:rPr lang="ru-RU" sz="1200" dirty="0"/>
              <a:t> </a:t>
            </a:r>
            <a:r>
              <a:rPr lang="en-US" sz="1200" dirty="0">
                <a:hlinkClick r:id="rId4"/>
              </a:rPr>
              <a:t>https://www.openforecast.org/adam/classical-seasonal-decomposition.html</a:t>
            </a:r>
            <a:r>
              <a:rPr lang="ru-RU" sz="1200" dirty="0"/>
              <a:t> </a:t>
            </a:r>
            <a:r>
              <a:rPr lang="en-US" sz="1200" dirty="0">
                <a:hlinkClick r:id="rId5"/>
              </a:rPr>
              <a:t>http://www.gardner.fyi/blog/STL-Part-II/</a:t>
            </a:r>
            <a:endParaRPr lang="ru-RU" sz="1200" dirty="0"/>
          </a:p>
        </p:txBody>
      </p:sp>
      <p:pic>
        <p:nvPicPr>
          <p:cNvPr id="3074" name="Picture 2" descr="Screenshot-2023-10-16-1641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888" y="4368429"/>
            <a:ext cx="4231005" cy="1136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trend-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219" y="5165625"/>
            <a:ext cx="2942273" cy="1050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632460" y="6297076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>
                <a:hlinkClick r:id="rId8"/>
              </a:rPr>
              <a:t>https://www.geeksforgeeks.org/python/time-series-decomposition-techniques/</a:t>
            </a:r>
            <a:r>
              <a:rPr lang="ru-RU" sz="1200" dirty="0"/>
              <a:t> </a:t>
            </a:r>
          </a:p>
        </p:txBody>
      </p:sp>
      <p:pic>
        <p:nvPicPr>
          <p:cNvPr id="3078" name="Picture 6" descr="seasonal--min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700" y="5191490"/>
            <a:ext cx="3003233" cy="1065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04236" y="3508807"/>
            <a:ext cx="4488554" cy="331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4549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4860" y="60325"/>
            <a:ext cx="10515600" cy="854075"/>
          </a:xfrm>
        </p:spPr>
        <p:txBody>
          <a:bodyPr/>
          <a:lstStyle/>
          <a:p>
            <a:pPr algn="ctr"/>
            <a:r>
              <a:rPr lang="ru-RU" dirty="0"/>
              <a:t>Классический подход</a:t>
            </a:r>
            <a:r>
              <a:rPr lang="en-US" dirty="0"/>
              <a:t> </a:t>
            </a:r>
            <a:r>
              <a:rPr lang="ru-RU" dirty="0"/>
              <a:t>к </a:t>
            </a:r>
            <a:r>
              <a:rPr lang="en-US" dirty="0" err="1"/>
              <a:t>Detrender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0020" y="882967"/>
            <a:ext cx="12031980" cy="5341620"/>
          </a:xfrm>
        </p:spPr>
        <p:txBody>
          <a:bodyPr>
            <a:normAutofit/>
          </a:bodyPr>
          <a:lstStyle/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dirty="0"/>
              <a:t>Если тренд простой, то можно аппроксимировать тренд </a:t>
            </a:r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Полиномиальной регрессией </a:t>
            </a:r>
            <a:endParaRPr lang="en-US" altLang="ru-RU" dirty="0"/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Ядерной функцией (ядерное сглаживание)</a:t>
            </a:r>
            <a:endParaRPr lang="en-US" altLang="ru-RU" dirty="0"/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Сплайнами (</a:t>
            </a:r>
            <a:r>
              <a:rPr lang="en-US" dirty="0"/>
              <a:t>Smoothing splines</a:t>
            </a:r>
            <a:r>
              <a:rPr lang="ru-RU" dirty="0"/>
              <a:t>)</a:t>
            </a:r>
            <a:endParaRPr lang="en-US" dirty="0"/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dirty="0"/>
              <a:t>Методом локальной регрессии </a:t>
            </a:r>
            <a:r>
              <a:rPr lang="en-US" dirty="0"/>
              <a:t>(LOESS)</a:t>
            </a:r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dirty="0"/>
              <a:t>Экспоненциальным сглаживанием</a:t>
            </a:r>
            <a:endParaRPr lang="en-US" dirty="0"/>
          </a:p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000" dirty="0"/>
              <a:t>И т.д.</a:t>
            </a:r>
          </a:p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000" dirty="0"/>
              <a:t>По сути – это все методы низкочастотной фильтрации ВР.</a:t>
            </a:r>
          </a:p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60020" y="6442055"/>
            <a:ext cx="1139952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https://link.springer.com/chapter/10.1007/978-3-031-11432-8_4</a:t>
            </a:r>
            <a:endParaRPr lang="ru-RU" sz="12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32460" y="6297076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https://readmedium.com/why-differencing-works-to-detrend-a-time-series-838fd875ff9d</a:t>
            </a:r>
            <a:endParaRPr lang="ru-RU" sz="1200" dirty="0"/>
          </a:p>
        </p:txBody>
      </p:sp>
      <p:pic>
        <p:nvPicPr>
          <p:cNvPr id="4098" name="Picture 2" descr="https://cdn-images-1.readmedium.com/v2/resize:fit:800/1*zUpPWuRfJIeVFLgr16atO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2232" y="4414077"/>
            <a:ext cx="2812442" cy="1810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cdn-images-1.readmedium.com/v2/resize:fit:800/1*HXd9zt-RnDCg0rWvOaFTu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8875" y="4373625"/>
            <a:ext cx="2842629" cy="1794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052" y="4342730"/>
            <a:ext cx="4540640" cy="2026836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4610100" y="6508064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https://www.r-bloggers.com/2018/07/smoothing-time-series-data/</a:t>
            </a:r>
          </a:p>
        </p:txBody>
      </p:sp>
      <p:pic>
        <p:nvPicPr>
          <p:cNvPr id="4102" name="Picture 6" descr="Running line smoother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8857" y="2571868"/>
            <a:ext cx="3457575" cy="1859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Прямоугольник 9"/>
          <p:cNvSpPr/>
          <p:nvPr/>
        </p:nvSpPr>
        <p:spPr>
          <a:xfrm>
            <a:off x="9235510" y="2931036"/>
            <a:ext cx="2233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b="1" dirty="0">
                <a:solidFill>
                  <a:srgbClr val="000000"/>
                </a:solidFill>
                <a:latin typeface="Open Sans" panose="020B0606030504020204" pitchFamily="34" charset="0"/>
              </a:rPr>
              <a:t>Kernel smoothers</a:t>
            </a:r>
            <a:endParaRPr lang="en-US" b="1" i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</p:txBody>
      </p:sp>
      <p:pic>
        <p:nvPicPr>
          <p:cNvPr id="4108" name="Picture 12" descr="Smoothing splin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8875" y="779267"/>
            <a:ext cx="3210451" cy="170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Прямоугольник 10"/>
          <p:cNvSpPr/>
          <p:nvPr/>
        </p:nvSpPr>
        <p:spPr>
          <a:xfrm>
            <a:off x="9763115" y="914400"/>
            <a:ext cx="881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b="1" dirty="0">
                <a:solidFill>
                  <a:srgbClr val="000000"/>
                </a:solidFill>
                <a:latin typeface="Open Sans" panose="020B0606030504020204" pitchFamily="34" charset="0"/>
              </a:rPr>
              <a:t>LOESS</a:t>
            </a:r>
            <a:endParaRPr lang="en-US" b="1" i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82851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63EB16-C35E-202E-8536-7792933BB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517" y="365126"/>
            <a:ext cx="11041284" cy="61872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Проверка на тренд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5328E7-EB78-2758-0370-70EE4D9D9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344" y="983848"/>
            <a:ext cx="11470512" cy="5590572"/>
          </a:xfrm>
        </p:spPr>
        <p:txBody>
          <a:bodyPr/>
          <a:lstStyle/>
          <a:p>
            <a:r>
              <a:rPr lang="ru-RU" sz="2200" dirty="0"/>
              <a:t>Тренд может быть</a:t>
            </a:r>
          </a:p>
          <a:p>
            <a:pPr lvl="1"/>
            <a:r>
              <a:rPr lang="ru-RU" sz="2200" dirty="0"/>
              <a:t>детерминированным</a:t>
            </a:r>
          </a:p>
          <a:p>
            <a:pPr lvl="2"/>
            <a:r>
              <a:rPr lang="ru-RU" sz="2200" dirty="0" err="1"/>
              <a:t>Мнотонный</a:t>
            </a:r>
            <a:r>
              <a:rPr lang="ru-RU" sz="2200" dirty="0"/>
              <a:t> ( в т.ч. с насыщением)</a:t>
            </a:r>
          </a:p>
          <a:p>
            <a:pPr lvl="2"/>
            <a:r>
              <a:rPr lang="ru-RU" sz="2200" dirty="0"/>
              <a:t>Цикличным</a:t>
            </a:r>
          </a:p>
          <a:p>
            <a:pPr lvl="2"/>
            <a:r>
              <a:rPr lang="ru-RU" sz="2200" dirty="0"/>
              <a:t>Иметь точки перегиба</a:t>
            </a:r>
          </a:p>
          <a:p>
            <a:pPr lvl="1"/>
            <a:r>
              <a:rPr lang="ru-RU" sz="2200" dirty="0"/>
              <a:t>Или может быть случайным</a:t>
            </a:r>
          </a:p>
          <a:p>
            <a:pPr lvl="1"/>
            <a:r>
              <a:rPr lang="ru-RU" sz="2200" dirty="0"/>
              <a:t>комбинированным</a:t>
            </a:r>
          </a:p>
          <a:p>
            <a:r>
              <a:rPr lang="ru-RU" sz="2200" dirty="0"/>
              <a:t>Тренд важно понимать, так как он виляет на </a:t>
            </a:r>
          </a:p>
          <a:p>
            <a:pPr lvl="1"/>
            <a:r>
              <a:rPr lang="ru-RU" sz="2200" dirty="0"/>
              <a:t>стационарность (TS</a:t>
            </a:r>
            <a:r>
              <a:rPr lang="en-US" sz="2200" dirty="0"/>
              <a:t>, DS </a:t>
            </a:r>
            <a:r>
              <a:rPr lang="ru-RU" sz="2200" dirty="0"/>
              <a:t>тренды), </a:t>
            </a:r>
          </a:p>
          <a:p>
            <a:pPr lvl="1"/>
            <a:r>
              <a:rPr lang="ru-RU" sz="2200" dirty="0"/>
              <a:t>выбор модели (напр. В моделях </a:t>
            </a:r>
            <a:r>
              <a:rPr lang="en-US" sz="2200" dirty="0"/>
              <a:t>ARIMA</a:t>
            </a:r>
            <a:r>
              <a:rPr lang="ru-RU" sz="2200" dirty="0"/>
              <a:t> порядок дифференцирования это параметр)</a:t>
            </a:r>
          </a:p>
          <a:p>
            <a:pPr lvl="1"/>
            <a:r>
              <a:rPr lang="ru-RU" sz="2200" dirty="0"/>
              <a:t>Интерпретацию данных – тренд + цикличность могут маскировать сезонность и другие факторы</a:t>
            </a:r>
          </a:p>
          <a:p>
            <a:pPr lvl="1"/>
            <a:r>
              <a:rPr lang="ru-RU" sz="2200" dirty="0"/>
              <a:t>Часто тренд – это основной источник изменений во ВР, правильный учет тренда – это львиная доля высокой точности предсказания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06811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B69DE-F34F-0E45-FF63-CADE8DB4D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EFE655-C84E-B3C4-A33C-00B65DAD5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517" y="111018"/>
            <a:ext cx="11041284" cy="61872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Проверка на тренд Тесты на наличие тренда: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43880A-ED24-EAB9-9093-23A12A73D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517" y="729740"/>
            <a:ext cx="11566967" cy="5774709"/>
          </a:xfrm>
        </p:spPr>
        <p:txBody>
          <a:bodyPr>
            <a:normAutofit/>
          </a:bodyPr>
          <a:lstStyle/>
          <a:p>
            <a:r>
              <a:rPr lang="ru-RU" sz="2200" b="1" dirty="0"/>
              <a:t>Тест Дика-Фуллера (</a:t>
            </a:r>
            <a:r>
              <a:rPr lang="en" sz="2200" b="1" dirty="0"/>
              <a:t>Augmented Dickey–Fuller test</a:t>
            </a:r>
            <a:r>
              <a:rPr lang="en-US" sz="2200" b="1" dirty="0"/>
              <a:t>, ADF) </a:t>
            </a:r>
            <a:r>
              <a:rPr lang="en-US" sz="2200" dirty="0"/>
              <a:t>– </a:t>
            </a:r>
            <a:r>
              <a:rPr lang="ru-RU" sz="2200" dirty="0"/>
              <a:t>стохастический тренд</a:t>
            </a:r>
          </a:p>
          <a:p>
            <a:pPr lvl="1"/>
            <a:r>
              <a:rPr lang="ru-RU" sz="2200" dirty="0"/>
              <a:t>Идея: текущее изменение значений ВР связано с дрейфом или предыдущими изменениями значений ВР</a:t>
            </a:r>
          </a:p>
          <a:p>
            <a:pPr lvl="1"/>
            <a:r>
              <a:rPr lang="en-US" sz="2200" b="1" dirty="0"/>
              <a:t>H</a:t>
            </a:r>
            <a:r>
              <a:rPr lang="ru-RU" sz="2200" b="1" dirty="0"/>
              <a:t>0</a:t>
            </a:r>
            <a:r>
              <a:rPr lang="ru-RU" sz="2200" dirty="0"/>
              <a:t>​: Ряд не стационарен (стохастический тренд).</a:t>
            </a:r>
          </a:p>
          <a:p>
            <a:pPr lvl="1"/>
            <a:r>
              <a:rPr lang="en" sz="2200" b="1" i="1" dirty="0"/>
              <a:t>H1</a:t>
            </a:r>
            <a:r>
              <a:rPr lang="en" sz="2200" dirty="0"/>
              <a:t>​: </a:t>
            </a:r>
            <a:r>
              <a:rPr lang="ru-RU" sz="2200" dirty="0"/>
              <a:t>Ряд стационарен (тренда нет).</a:t>
            </a:r>
          </a:p>
          <a:p>
            <a:r>
              <a:rPr lang="ru-RU" sz="2200" b="1" dirty="0"/>
              <a:t>Тест Квятковского-Филлипса-Шмидта-Шина (</a:t>
            </a:r>
            <a:r>
              <a:rPr lang="en" sz="2200" b="1" dirty="0"/>
              <a:t>KPSS)</a:t>
            </a:r>
            <a:r>
              <a:rPr lang="ru-RU" sz="2200" b="1" dirty="0"/>
              <a:t> </a:t>
            </a:r>
            <a:r>
              <a:rPr lang="ru-RU" sz="2200" dirty="0"/>
              <a:t>– детерминированный тренд (кроме циклического)</a:t>
            </a:r>
          </a:p>
          <a:p>
            <a:pPr lvl="1"/>
            <a:r>
              <a:rPr lang="ru-RU" sz="2200" dirty="0"/>
              <a:t>Идея: остатки от описания ВР регрессией колеблются вокруг нуля</a:t>
            </a:r>
          </a:p>
          <a:p>
            <a:pPr lvl="1"/>
            <a:r>
              <a:rPr lang="en-US" sz="2200" b="1" i="1" dirty="0"/>
              <a:t>H</a:t>
            </a:r>
            <a:r>
              <a:rPr lang="ru-RU" sz="2200" b="1" dirty="0"/>
              <a:t>0</a:t>
            </a:r>
            <a:r>
              <a:rPr lang="ru-RU" sz="2200" dirty="0"/>
              <a:t>​: Ряд стационарен (нет тренда или тренд колеблется вокруг нуля).</a:t>
            </a:r>
          </a:p>
          <a:p>
            <a:pPr lvl="1"/>
            <a:r>
              <a:rPr lang="en" sz="2200" b="1" dirty="0"/>
              <a:t>H1</a:t>
            </a:r>
            <a:r>
              <a:rPr lang="en" sz="2200" dirty="0"/>
              <a:t>​: </a:t>
            </a:r>
            <a:r>
              <a:rPr lang="ru-RU" sz="2200" dirty="0"/>
              <a:t>Ряд не стационарен (тренд детерминирован).</a:t>
            </a:r>
          </a:p>
          <a:p>
            <a:r>
              <a:rPr lang="ru-RU" sz="2200" dirty="0"/>
              <a:t>ADF</a:t>
            </a:r>
            <a:r>
              <a:rPr lang="en-US" sz="2200" dirty="0"/>
              <a:t> </a:t>
            </a:r>
            <a:r>
              <a:rPr lang="ru-RU" sz="2200" dirty="0"/>
              <a:t>+ KPSS</a:t>
            </a:r>
            <a:r>
              <a:rPr lang="en-US" sz="2200" dirty="0"/>
              <a:t> </a:t>
            </a:r>
            <a:r>
              <a:rPr lang="ru-RU" sz="2200" dirty="0"/>
              <a:t>лучше вместе использовать, если есть противоречие, используйте доп. Визуальный анализ или </a:t>
            </a:r>
            <a:r>
              <a:rPr lang="ru-RU" sz="2200" b="1" dirty="0"/>
              <a:t>альтернативные тесты</a:t>
            </a:r>
            <a:r>
              <a:rPr lang="ru-RU" sz="2200" dirty="0"/>
              <a:t>:</a:t>
            </a:r>
          </a:p>
          <a:p>
            <a:pPr lvl="1"/>
            <a:r>
              <a:rPr lang="ru-RU" sz="2200" u="sng" dirty="0" err="1"/>
              <a:t>гетеросекдостичность</a:t>
            </a:r>
            <a:r>
              <a:rPr lang="ru-RU" sz="2200" u="sng" dirty="0"/>
              <a:t>, шумы</a:t>
            </a:r>
            <a:r>
              <a:rPr lang="ru-RU" sz="2200" dirty="0"/>
              <a:t>: тест Филлипса-Перрона (</a:t>
            </a:r>
            <a:r>
              <a:rPr lang="en" sz="2200" dirty="0"/>
              <a:t>PP Test)</a:t>
            </a:r>
            <a:r>
              <a:rPr lang="ru-RU" sz="2200" dirty="0"/>
              <a:t> - модификация </a:t>
            </a:r>
            <a:r>
              <a:rPr lang="en-US" sz="2200" dirty="0"/>
              <a:t>ADF</a:t>
            </a:r>
          </a:p>
          <a:p>
            <a:pPr lvl="1"/>
            <a:r>
              <a:rPr lang="ru-RU" sz="2200" u="sng" dirty="0"/>
              <a:t>выбросы и </a:t>
            </a:r>
            <a:r>
              <a:rPr lang="ru-RU" sz="2200" u="sng" dirty="0" err="1"/>
              <a:t>тд</a:t>
            </a:r>
            <a:r>
              <a:rPr lang="ru-RU" sz="2200" dirty="0"/>
              <a:t>: тест  Манна-</a:t>
            </a:r>
            <a:r>
              <a:rPr lang="ru-RU" sz="2200" dirty="0" err="1"/>
              <a:t>Кенделла</a:t>
            </a:r>
            <a:r>
              <a:rPr lang="ru-RU" sz="2200" dirty="0"/>
              <a:t> дополняет </a:t>
            </a:r>
            <a:r>
              <a:rPr lang="en-US" sz="2200" dirty="0"/>
              <a:t>KPSS </a:t>
            </a:r>
            <a:r>
              <a:rPr lang="ru-RU" sz="2200" dirty="0"/>
              <a:t>(тест на монотонный тренд)</a:t>
            </a:r>
          </a:p>
          <a:p>
            <a:pPr lvl="1"/>
            <a:r>
              <a:rPr lang="ru-RU" sz="2200" u="sng" dirty="0"/>
              <a:t>В случае сложной цикличности </a:t>
            </a:r>
            <a:r>
              <a:rPr lang="ru-RU" sz="2200" dirty="0"/>
              <a:t>нужно использовать время-частотный анализ или тест Бартлетта (проверка значимости сглаженных частотных компонент)</a:t>
            </a:r>
            <a:endParaRPr lang="en" sz="2200" dirty="0"/>
          </a:p>
          <a:p>
            <a:pPr lvl="1"/>
            <a:endParaRPr lang="ru-RU" sz="2200" dirty="0"/>
          </a:p>
          <a:p>
            <a:pPr lvl="1"/>
            <a:endParaRPr lang="ru-RU" sz="2200" dirty="0"/>
          </a:p>
          <a:p>
            <a:pPr lvl="1"/>
            <a:endParaRPr lang="en" sz="2200" dirty="0"/>
          </a:p>
          <a:p>
            <a:pPr marL="0" indent="0">
              <a:buNone/>
            </a:pPr>
            <a:endParaRPr lang="ru-RU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D73711-1273-54BF-D631-0C53D2AC9A0C}"/>
              </a:ext>
            </a:extLst>
          </p:cNvPr>
          <p:cNvSpPr txBox="1"/>
          <p:nvPr/>
        </p:nvSpPr>
        <p:spPr>
          <a:xfrm>
            <a:off x="227082" y="6504449"/>
            <a:ext cx="5464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ДЗ: Постройте разные типы ВР, проверьте их на тестах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817F06-257B-EBEE-7ED6-D54B68D8FADF}"/>
              </a:ext>
            </a:extLst>
          </p:cNvPr>
          <p:cNvSpPr txBox="1"/>
          <p:nvPr/>
        </p:nvSpPr>
        <p:spPr>
          <a:xfrm>
            <a:off x="8060902" y="2966542"/>
            <a:ext cx="3904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Обратите внимание, </a:t>
            </a:r>
            <a:r>
              <a:rPr lang="ru-RU" dirty="0" err="1"/>
              <a:t>H</a:t>
            </a:r>
            <a:r>
              <a:rPr lang="en-US" dirty="0"/>
              <a:t>0,H1 </a:t>
            </a:r>
            <a:r>
              <a:rPr lang="en-US" dirty="0" err="1"/>
              <a:t>на</a:t>
            </a:r>
            <a:r>
              <a:rPr lang="ru-RU" dirty="0"/>
              <a:t>оборот!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05AEF8-83B6-F2E9-D73D-8333FE7CF253}"/>
              </a:ext>
            </a:extLst>
          </p:cNvPr>
          <p:cNvSpPr txBox="1"/>
          <p:nvPr/>
        </p:nvSpPr>
        <p:spPr>
          <a:xfrm>
            <a:off x="5870848" y="6504449"/>
            <a:ext cx="60940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err="1"/>
              <a:t>https</a:t>
            </a:r>
            <a:r>
              <a:rPr lang="ru-RU" sz="1100" dirty="0"/>
              <a:t>://</a:t>
            </a:r>
            <a:r>
              <a:rPr lang="ru-RU" sz="1100" dirty="0" err="1"/>
              <a:t>www.eviews.com</a:t>
            </a:r>
            <a:r>
              <a:rPr lang="ru-RU" sz="1100" dirty="0"/>
              <a:t>/</a:t>
            </a:r>
            <a:r>
              <a:rPr lang="ru-RU" sz="1100" dirty="0" err="1"/>
              <a:t>help</a:t>
            </a:r>
            <a:r>
              <a:rPr lang="ru-RU" sz="1100" dirty="0"/>
              <a:t>/</a:t>
            </a:r>
            <a:r>
              <a:rPr lang="ru-RU" sz="1100" dirty="0" err="1"/>
              <a:t>helpintro.html#page</a:t>
            </a:r>
            <a:r>
              <a:rPr lang="ru-RU" sz="1100" dirty="0"/>
              <a:t>/content%2Fadvtimeser-Unit_Root_Testing.html</a:t>
            </a:r>
          </a:p>
        </p:txBody>
      </p:sp>
    </p:spTree>
    <p:extLst>
      <p:ext uri="{BB962C8B-B14F-4D97-AF65-F5344CB8AC3E}">
        <p14:creationId xmlns:p14="http://schemas.microsoft.com/office/powerpoint/2010/main" val="27256691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3380" y="113785"/>
            <a:ext cx="10858500" cy="861695"/>
          </a:xfrm>
        </p:spPr>
        <p:txBody>
          <a:bodyPr/>
          <a:lstStyle/>
          <a:p>
            <a:r>
              <a:rPr lang="ru-RU" dirty="0"/>
              <a:t>Классический подход</a:t>
            </a:r>
            <a:r>
              <a:rPr lang="en-US" dirty="0"/>
              <a:t> </a:t>
            </a:r>
            <a:r>
              <a:rPr lang="ru-RU" dirty="0"/>
              <a:t>к</a:t>
            </a:r>
            <a:r>
              <a:rPr lang="en-US" dirty="0"/>
              <a:t> </a:t>
            </a:r>
            <a:r>
              <a:rPr lang="en-US" dirty="0" err="1"/>
              <a:t>Deseasonalizer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0970" y="795277"/>
            <a:ext cx="11910060" cy="4843463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сезон регулярный – можно удалить его для упрощения данных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известно, что сезонность переменная (например, месяцы в году), то каждый сезон можно учесть отдельно по каждому месяцу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Напр. потребление </a:t>
            </a:r>
            <a:r>
              <a:rPr lang="ru-RU" sz="2200" dirty="0" err="1"/>
              <a:t>электроэенегрии</a:t>
            </a:r>
            <a:r>
              <a:rPr lang="ru-RU" sz="2200" dirty="0"/>
              <a:t> в зимой больше чем летом.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Выходные </a:t>
            </a:r>
            <a:r>
              <a:rPr lang="en-US" sz="2200" dirty="0"/>
              <a:t>(weekends) </a:t>
            </a:r>
            <a:r>
              <a:rPr lang="ru-RU" sz="2200" dirty="0"/>
              <a:t>могут быть промоделированы как недельная сезонность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Праздники могут быть промоделированы как годовая сезонность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есть несколько очень разных сезонностей – их можно разрешить (напр. неделя и год).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сезонность гармоническая лучше всего использовать ряды Фурье ( в курсе не рассматриваем)</a:t>
            </a:r>
          </a:p>
          <a:p>
            <a:pPr marL="685800" lvl="2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Часто описание рядами – компактное, простое, не требует целочисленной сезонности.</a:t>
            </a:r>
          </a:p>
          <a:p>
            <a:pPr marL="685800" lvl="2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сезонность сложная и нестационарная лучше использовать время-частотные преобразования (в курсе не рассматриваем)</a:t>
            </a:r>
          </a:p>
          <a:p>
            <a:pPr marL="685800" lvl="2">
              <a:lnSpc>
                <a:spcPct val="100000"/>
              </a:lnSpc>
              <a:spcBef>
                <a:spcPts val="0"/>
              </a:spcBef>
            </a:pPr>
            <a:endParaRPr lang="ru-RU" sz="1800" dirty="0"/>
          </a:p>
          <a:p>
            <a:endParaRPr lang="ru-RU" sz="2200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b="52375"/>
          <a:stretch/>
        </p:blipFill>
        <p:spPr>
          <a:xfrm>
            <a:off x="3390900" y="5086138"/>
            <a:ext cx="4297680" cy="139614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990600" y="6550223"/>
            <a:ext cx="78562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https://www.blog.trainindata.com/multi-seasonal-time-series-decomposition-using-mstl-in-python/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/>
          <a:srcRect l="-1064" t="50947" r="1064" b="1428"/>
          <a:stretch/>
        </p:blipFill>
        <p:spPr>
          <a:xfrm>
            <a:off x="7688580" y="5086138"/>
            <a:ext cx="4297680" cy="139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7067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1D8807-A2BA-7E65-7866-02687C922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770" y="365126"/>
            <a:ext cx="11157030" cy="491402"/>
          </a:xfrm>
        </p:spPr>
        <p:txBody>
          <a:bodyPr>
            <a:normAutofit fontScale="90000"/>
          </a:bodyPr>
          <a:lstStyle/>
          <a:p>
            <a:r>
              <a:rPr lang="ru-RU" dirty="0"/>
              <a:t>Тесты на сезонность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CEB802-C960-8359-EB65-D8FFEC9C1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771" y="949124"/>
            <a:ext cx="11620982" cy="5227839"/>
          </a:xfrm>
        </p:spPr>
        <p:txBody>
          <a:bodyPr>
            <a:normAutofit/>
          </a:bodyPr>
          <a:lstStyle/>
          <a:p>
            <a:r>
              <a:rPr lang="ru-RU" sz="2200" dirty="0"/>
              <a:t>Сезонность не всегда очевидна, </a:t>
            </a:r>
          </a:p>
          <a:p>
            <a:pPr lvl="1"/>
            <a:r>
              <a:rPr lang="ru-RU" sz="2200" dirty="0"/>
              <a:t>компоненты сезонности могут быть визуально скрыты другими компонентами</a:t>
            </a:r>
          </a:p>
          <a:p>
            <a:pPr lvl="1"/>
            <a:r>
              <a:rPr lang="ru-RU" sz="2200" dirty="0"/>
              <a:t>Сезонность важно не спутать с цикличностью особенно для коротких ВР</a:t>
            </a:r>
          </a:p>
          <a:p>
            <a:r>
              <a:rPr lang="ru-RU" sz="2200" dirty="0"/>
              <a:t>Сезонность можно определить </a:t>
            </a:r>
          </a:p>
          <a:p>
            <a:pPr lvl="1"/>
            <a:r>
              <a:rPr lang="ru-RU" sz="1800" dirty="0"/>
              <a:t>при сравнении сегментов размером с 1 или несколько сезонов (визуально</a:t>
            </a:r>
            <a:r>
              <a:rPr lang="en-US" sz="1800" dirty="0"/>
              <a:t> </a:t>
            </a:r>
            <a:r>
              <a:rPr lang="ru-RU" sz="1800" dirty="0"/>
              <a:t>разброс, </a:t>
            </a:r>
            <a:r>
              <a:rPr lang="ru-RU" sz="1800" dirty="0" err="1"/>
              <a:t>box</a:t>
            </a:r>
            <a:r>
              <a:rPr lang="en-US" sz="1800" dirty="0"/>
              <a:t>plot,</a:t>
            </a:r>
            <a:r>
              <a:rPr lang="ru-RU" sz="1800" dirty="0"/>
              <a:t> сравнение остатков вычитания сезонностей)</a:t>
            </a:r>
          </a:p>
          <a:p>
            <a:pPr lvl="1"/>
            <a:r>
              <a:rPr lang="ru-RU" sz="1800" dirty="0"/>
              <a:t>Анализом ВР после сезонного дифференцирования</a:t>
            </a:r>
          </a:p>
          <a:p>
            <a:pPr lvl="1"/>
            <a:r>
              <a:rPr lang="ru-RU" sz="1800" dirty="0"/>
              <a:t>Путем разложения ВР на сезонные компоненты</a:t>
            </a:r>
          </a:p>
          <a:p>
            <a:r>
              <a:rPr lang="ru-RU" sz="2200" dirty="0"/>
              <a:t>Сезонность видна по графикам ACF</a:t>
            </a:r>
            <a:r>
              <a:rPr lang="en-US" sz="2200" dirty="0"/>
              <a:t>/PACF </a:t>
            </a:r>
            <a:r>
              <a:rPr lang="ru-RU" sz="2200" dirty="0"/>
              <a:t>как всплески лагов на соответствующих периодах</a:t>
            </a:r>
          </a:p>
          <a:p>
            <a:pPr lvl="1"/>
            <a:r>
              <a:rPr lang="ru-RU" sz="2200" dirty="0"/>
              <a:t>Чтобы не спутать с цикличностью можно провести </a:t>
            </a:r>
            <a:r>
              <a:rPr lang="ru-RU" sz="2200" dirty="0" err="1"/>
              <a:t>модицфицированный</a:t>
            </a:r>
            <a:r>
              <a:rPr lang="ru-RU" sz="2200" dirty="0"/>
              <a:t> тест </a:t>
            </a:r>
            <a:r>
              <a:rPr lang="ru-RU" sz="2200" dirty="0" err="1"/>
              <a:t>Льюнга</a:t>
            </a:r>
            <a:r>
              <a:rPr lang="ru-RU" sz="2200" dirty="0"/>
              <a:t>-Бокса. Основная идея – нормировка для лагов сезонности (</a:t>
            </a:r>
            <a:r>
              <a:rPr lang="ru-RU" sz="2200" dirty="0" err="1"/>
              <a:t>напр</a:t>
            </a:r>
            <a:r>
              <a:rPr lang="ru-RU" sz="2200" dirty="0"/>
              <a:t> 12,24)</a:t>
            </a:r>
          </a:p>
          <a:p>
            <a:pPr lvl="1"/>
            <a:r>
              <a:rPr lang="ru-RU" sz="1800" b="1" dirty="0"/>
              <a:t>QS</a:t>
            </a:r>
            <a:r>
              <a:rPr lang="en-US" sz="1800" b="1" dirty="0"/>
              <a:t> </a:t>
            </a:r>
            <a:r>
              <a:rPr lang="en-US" sz="1800" b="1" dirty="0" err="1"/>
              <a:t>те</a:t>
            </a:r>
            <a:r>
              <a:rPr lang="ru-RU" sz="1800" b="1" dirty="0" err="1"/>
              <a:t>ст</a:t>
            </a:r>
            <a:r>
              <a:rPr lang="ru-RU" sz="1800" b="1" dirty="0"/>
              <a:t>: вариант </a:t>
            </a:r>
            <a:r>
              <a:rPr lang="ru-RU" sz="1800" dirty="0"/>
              <a:t>тест </a:t>
            </a:r>
            <a:r>
              <a:rPr lang="ru-RU" sz="1800" dirty="0" err="1"/>
              <a:t>Льюнга</a:t>
            </a:r>
            <a:r>
              <a:rPr lang="ru-RU" sz="1800" dirty="0"/>
              <a:t>-Бокса только на позитивных лага</a:t>
            </a:r>
            <a:endParaRPr lang="ru-RU" sz="1800" b="1" dirty="0"/>
          </a:p>
          <a:p>
            <a:pPr lvl="1"/>
            <a:r>
              <a:rPr lang="ru-RU" sz="1800" b="1" dirty="0"/>
              <a:t>Тест Кановы-Хансена (</a:t>
            </a:r>
            <a:r>
              <a:rPr lang="en" sz="1800" b="1" dirty="0"/>
              <a:t>Canova-Hansen Test</a:t>
            </a:r>
            <a:r>
              <a:rPr lang="ru-RU" sz="1800" b="1" dirty="0"/>
              <a:t>, </a:t>
            </a:r>
            <a:r>
              <a:rPr lang="en" b="1" dirty="0" err="1"/>
              <a:t>CHTest</a:t>
            </a:r>
            <a:r>
              <a:rPr lang="en" sz="1800" b="1" dirty="0"/>
              <a:t>)</a:t>
            </a:r>
            <a:r>
              <a:rPr lang="ru-RU" sz="1800" b="1" dirty="0"/>
              <a:t>:</a:t>
            </a:r>
          </a:p>
          <a:p>
            <a:pPr lvl="2"/>
            <a:r>
              <a:rPr lang="ru-RU" sz="1400" b="1" dirty="0"/>
              <a:t>Стабильность сезонных компонент во времени – отбор нужных компонент и анализ их изменчивости</a:t>
            </a:r>
            <a:endParaRPr lang="en" sz="1400" dirty="0"/>
          </a:p>
          <a:p>
            <a:endParaRPr lang="ru-RU" sz="2200" dirty="0"/>
          </a:p>
          <a:p>
            <a:endParaRPr lang="ru-RU" sz="2200" dirty="0"/>
          </a:p>
          <a:p>
            <a:endParaRPr lang="ru-RU" sz="2200" dirty="0"/>
          </a:p>
          <a:p>
            <a:endParaRPr lang="ru-RU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23BF57-7151-38B7-A636-B65F4C1D9F93}"/>
              </a:ext>
            </a:extLst>
          </p:cNvPr>
          <p:cNvSpPr txBox="1"/>
          <p:nvPr/>
        </p:nvSpPr>
        <p:spPr>
          <a:xfrm>
            <a:off x="196770" y="6415302"/>
            <a:ext cx="6105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palatej.github.io</a:t>
            </a:r>
            <a:r>
              <a:rPr lang="ru-RU" dirty="0"/>
              <a:t>/</a:t>
            </a:r>
            <a:r>
              <a:rPr lang="ru-RU" dirty="0" err="1"/>
              <a:t>pages</a:t>
            </a:r>
            <a:r>
              <a:rPr lang="ru-RU" dirty="0"/>
              <a:t>/</a:t>
            </a:r>
            <a:r>
              <a:rPr lang="ru-RU" dirty="0" err="1"/>
              <a:t>stats</a:t>
            </a:r>
            <a:r>
              <a:rPr lang="ru-RU" dirty="0"/>
              <a:t>/</a:t>
            </a:r>
            <a:r>
              <a:rPr lang="ru-RU" dirty="0" err="1"/>
              <a:t>tests</a:t>
            </a:r>
            <a:r>
              <a:rPr lang="ru-RU" dirty="0"/>
              <a:t>/</a:t>
            </a:r>
            <a:r>
              <a:rPr lang="ru-RU" dirty="0" err="1"/>
              <a:t>seasonality</a:t>
            </a:r>
            <a:r>
              <a:rPr lang="ru-RU" dirty="0"/>
              <a:t>/</a:t>
            </a:r>
            <a:r>
              <a:rPr lang="ru-RU" dirty="0" err="1"/>
              <a:t>qs.html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008E14-AB86-A0CC-3C84-7F4555AC3A50}"/>
              </a:ext>
            </a:extLst>
          </p:cNvPr>
          <p:cNvSpPr txBox="1"/>
          <p:nvPr/>
        </p:nvSpPr>
        <p:spPr>
          <a:xfrm>
            <a:off x="145166" y="5807631"/>
            <a:ext cx="1190166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50" dirty="0"/>
              <a:t>https://</a:t>
            </a:r>
            <a:r>
              <a:rPr lang="en" sz="1050" dirty="0" err="1"/>
              <a:t>www.hse.ru</a:t>
            </a:r>
            <a:r>
              <a:rPr lang="en" sz="1050" dirty="0"/>
              <a:t>/data/2014/11/13/1311639964/%D0%9C%D0%B5%D1%82%D0%BE%D0%B4%D1%8B%20%D1%81%D0%BE%D1%86%D0%B8%D0%B0%D0%BB%D1%8C%D0%BD%D0%BE-%D1%8D%D0%BA%D0%BE%D0%BD%D0%BE%D0%BC%D0%B8%D1%87%D0%B5%D1%81%D0%BA%D0%BE%D0%B3%D0%BE%20%D0%BF%D1%80%D0%BE%D0%B3%D0%BD%D0%BE%D0%B7%D0%B8%D1%80%D0%BE%D0%B2%D0%B0%D0%BD%D0%B8%D1%8F%20%D0%B2%202%D1%82.%20%D1%82.2%20-%20%D0%A1%D0%B2%D0%B5%D1%82%D1%83%D0%BD%D1%8C%D0%BA%D0%BE%D0%B2%20-%20%D0%B1%D1%82.pdf</a:t>
            </a:r>
            <a:endParaRPr lang="ru-RU" sz="1050" dirty="0"/>
          </a:p>
        </p:txBody>
      </p:sp>
    </p:spTree>
    <p:extLst>
      <p:ext uri="{BB962C8B-B14F-4D97-AF65-F5344CB8AC3E}">
        <p14:creationId xmlns:p14="http://schemas.microsoft.com/office/powerpoint/2010/main" val="29452879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8150" y="250826"/>
            <a:ext cx="10915650" cy="5588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STL</a:t>
            </a:r>
            <a:r>
              <a:rPr lang="en-US" b="1" dirty="0"/>
              <a:t> </a:t>
            </a:r>
            <a:r>
              <a:rPr lang="ru-RU" b="1" dirty="0"/>
              <a:t>разложение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7176" y="809627"/>
            <a:ext cx="11677650" cy="4162423"/>
          </a:xfrm>
        </p:spPr>
        <p:txBody>
          <a:bodyPr>
            <a:noAutofit/>
          </a:bodyPr>
          <a:lstStyle/>
          <a:p>
            <a:r>
              <a:rPr lang="ru-RU" sz="2000" b="1" dirty="0"/>
              <a:t>Проблема классических методов:</a:t>
            </a:r>
            <a:endParaRPr lang="ru-RU" sz="2000" dirty="0"/>
          </a:p>
          <a:p>
            <a:pPr lvl="1"/>
            <a:r>
              <a:rPr lang="ru-RU" sz="2000" dirty="0"/>
              <a:t>Классическое разложение (например, метод скользящего среднего) предполагает </a:t>
            </a:r>
            <a:r>
              <a:rPr lang="ru-RU" sz="2000" b="1" dirty="0"/>
              <a:t>строгую периодичность</a:t>
            </a:r>
            <a:r>
              <a:rPr lang="ru-RU" sz="2000" dirty="0"/>
              <a:t> (например, 12 месяцев для годовых данных).</a:t>
            </a:r>
          </a:p>
          <a:p>
            <a:pPr lvl="1"/>
            <a:r>
              <a:rPr lang="ru-RU" sz="2000" dirty="0"/>
              <a:t>Если сезонность </a:t>
            </a:r>
            <a:r>
              <a:rPr lang="ru-RU" sz="2000" b="1" dirty="0"/>
              <a:t>изменяется во времени</a:t>
            </a:r>
            <a:r>
              <a:rPr lang="ru-RU" sz="2000" dirty="0"/>
              <a:t> (например, амплитуда или форма сезонных колебаний непостоянна), классические методы дают плохие результаты.</a:t>
            </a:r>
          </a:p>
          <a:p>
            <a:pPr lvl="1"/>
            <a:r>
              <a:rPr lang="ru-RU" sz="2000" dirty="0"/>
              <a:t>Если есть </a:t>
            </a:r>
            <a:r>
              <a:rPr lang="ru-RU" sz="2000" b="1" dirty="0"/>
              <a:t>выбросы</a:t>
            </a:r>
            <a:r>
              <a:rPr lang="ru-RU" sz="2000" dirty="0"/>
              <a:t> – это смещает результат скользящего среднего</a:t>
            </a:r>
          </a:p>
          <a:p>
            <a:pPr lvl="1"/>
            <a:r>
              <a:rPr lang="ru-RU" sz="2000" dirty="0"/>
              <a:t>Сложная форма </a:t>
            </a:r>
            <a:r>
              <a:rPr lang="ru-RU" sz="2000" b="1" dirty="0"/>
              <a:t>цикличности тренда </a:t>
            </a:r>
            <a:r>
              <a:rPr lang="ru-RU" sz="2000" dirty="0"/>
              <a:t>может быть искажена скользящим средним</a:t>
            </a:r>
          </a:p>
          <a:p>
            <a:r>
              <a:rPr lang="ru-RU" sz="2000" dirty="0"/>
              <a:t>Решение:</a:t>
            </a:r>
          </a:p>
          <a:p>
            <a:pPr lvl="1"/>
            <a:r>
              <a:rPr lang="ru-RU" sz="2000" dirty="0"/>
              <a:t>Использование рекуррентной процедуры позволяет постепенно оптимизировать параметры разложения</a:t>
            </a:r>
            <a:r>
              <a:rPr lang="en-US" sz="2000" dirty="0"/>
              <a:t> </a:t>
            </a:r>
            <a:r>
              <a:rPr lang="ru-RU" sz="2000" dirty="0"/>
              <a:t>и сделать </a:t>
            </a:r>
            <a:r>
              <a:rPr lang="ru-RU" sz="2000" dirty="0" err="1"/>
              <a:t>уго</a:t>
            </a:r>
            <a:r>
              <a:rPr lang="ru-RU" sz="2000" dirty="0"/>
              <a:t> устойчивым к выбросам и другим проблемам ВР</a:t>
            </a:r>
          </a:p>
          <a:p>
            <a:pPr lvl="1"/>
            <a:r>
              <a:rPr lang="ru-RU" sz="2000" dirty="0"/>
              <a:t>Процедуры локальной (непараметрической) регрессии позволяют аппроксимировать сложный тренд без его описания.</a:t>
            </a:r>
          </a:p>
          <a:p>
            <a:r>
              <a:rPr lang="ru-RU" sz="2000" b="1" dirty="0"/>
              <a:t>STL </a:t>
            </a:r>
            <a:r>
              <a:rPr lang="en-US" sz="2000" b="1" dirty="0"/>
              <a:t>(Seasonal-Trend-Loess) </a:t>
            </a:r>
            <a:r>
              <a:rPr lang="ru-RU" sz="2000" dirty="0"/>
              <a:t>— метод сезонной и трендовой декомпозиции с помощью оценки нелинейных взаимосвязей (</a:t>
            </a:r>
            <a:r>
              <a:rPr lang="en-US" sz="2000" dirty="0"/>
              <a:t>Loess</a:t>
            </a:r>
            <a:r>
              <a:rPr lang="ru-RU" sz="2000" dirty="0"/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5629538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8150" y="250826"/>
            <a:ext cx="10915650" cy="5588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STL</a:t>
            </a:r>
            <a:r>
              <a:rPr lang="en-US" b="1" dirty="0"/>
              <a:t> </a:t>
            </a:r>
            <a:r>
              <a:rPr lang="ru-RU" b="1" dirty="0"/>
              <a:t>разложение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7176" y="809627"/>
            <a:ext cx="11677650" cy="4162423"/>
          </a:xfrm>
        </p:spPr>
        <p:txBody>
          <a:bodyPr>
            <a:noAutofit/>
          </a:bodyPr>
          <a:lstStyle/>
          <a:p>
            <a:r>
              <a:rPr lang="ru-RU" sz="2000" b="1" dirty="0"/>
              <a:t>STL </a:t>
            </a:r>
            <a:r>
              <a:rPr lang="en-US" sz="2000" b="1" dirty="0"/>
              <a:t>(Seasonal-Trend-Loess) </a:t>
            </a:r>
            <a:r>
              <a:rPr lang="ru-RU" sz="2000" dirty="0"/>
              <a:t>— метод сезонной и трендовой декомпозиции с помощью оценки нелинейных взаимосвязей (</a:t>
            </a:r>
            <a:r>
              <a:rPr lang="en-US" sz="2000" dirty="0"/>
              <a:t>Loess</a:t>
            </a:r>
            <a:r>
              <a:rPr lang="ru-RU" sz="2000" dirty="0"/>
              <a:t>). </a:t>
            </a:r>
          </a:p>
        </p:txBody>
      </p:sp>
      <p:pic>
        <p:nvPicPr>
          <p:cNvPr id="6148" name="Picture 4" descr="https://otexts.com/fpppy/nbs/03-decomposition_files/figure-html/fig-classical-empl-output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6" y="1943100"/>
            <a:ext cx="4879152" cy="367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https://otexts.com/fpppy/nbs/03-decomposition_files/figure-html/fig-empl-stl2-output-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079" y="1754979"/>
            <a:ext cx="5300345" cy="399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583680" y="5829300"/>
            <a:ext cx="460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Остаток в среднем меньше, видны выбросы,</a:t>
            </a:r>
          </a:p>
        </p:txBody>
      </p:sp>
    </p:spTree>
    <p:extLst>
      <p:ext uri="{BB962C8B-B14F-4D97-AF65-F5344CB8AC3E}">
        <p14:creationId xmlns:p14="http://schemas.microsoft.com/office/powerpoint/2010/main" val="34660688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8150" y="250826"/>
            <a:ext cx="10915650" cy="5588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STL</a:t>
            </a:r>
            <a:r>
              <a:rPr lang="en-US" b="1" dirty="0"/>
              <a:t> </a:t>
            </a:r>
            <a:r>
              <a:rPr lang="ru-RU" b="1" dirty="0"/>
              <a:t>разложение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82881" y="809627"/>
                <a:ext cx="11675744" cy="4029074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ru-RU" sz="2600" dirty="0"/>
                  <a:t>Этап 1 – подготовка – линейная аппроксимация тренда, классическая оценка сезонности.</a:t>
                </a:r>
              </a:p>
              <a:p>
                <a:pPr lvl="1"/>
                <a:r>
                  <a:rPr lang="ru-RU" sz="2200" dirty="0"/>
                  <a:t>Выбор параметров (сезонность, окно сглаживания, окон низкочастотного сглаживания)</a:t>
                </a:r>
              </a:p>
              <a:p>
                <a:r>
                  <a:rPr lang="ru-RU" sz="2600" dirty="0"/>
                  <a:t>Этап 2 – внутренний цикл (Разложение на тренд и сезонность)</a:t>
                </a:r>
              </a:p>
              <a:p>
                <a:pPr lvl="1"/>
                <a:r>
                  <a:rPr lang="ru-RU" sz="2600" dirty="0"/>
                  <a:t>Вычисление тренда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600" dirty="0"/>
                  <a:t>при помощи </a:t>
                </a:r>
                <a:r>
                  <a:rPr lang="en-US" sz="2600" b="1" dirty="0"/>
                  <a:t>LOESS-</a:t>
                </a:r>
                <a:r>
                  <a:rPr lang="ru-RU" sz="2600" b="1" dirty="0"/>
                  <a:t>сглаживания</a:t>
                </a:r>
                <a:r>
                  <a:rPr lang="ru-RU" sz="2600" dirty="0"/>
                  <a:t> ВР</a:t>
                </a:r>
              </a:p>
              <a:p>
                <a:pPr lvl="1"/>
                <a:r>
                  <a:rPr lang="ru-RU" sz="2600" dirty="0"/>
                  <a:t>Разбиение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600" dirty="0"/>
                  <a:t> </a:t>
                </a:r>
                <a:r>
                  <a:rPr lang="ru-RU" sz="2600" dirty="0"/>
                  <a:t>на </a:t>
                </a:r>
                <a:r>
                  <a:rPr lang="ru-RU" sz="2600" dirty="0" err="1"/>
                  <a:t>подциклы</a:t>
                </a:r>
                <a:r>
                  <a:rPr lang="ru-RU" sz="2600" dirty="0"/>
                  <a:t> с заданной сезонностью, сглаживание каждого </a:t>
                </a:r>
                <a:r>
                  <a:rPr lang="ru-RU" sz="2600" dirty="0" err="1"/>
                  <a:t>подцикла</a:t>
                </a:r>
                <a:r>
                  <a:rPr lang="ru-RU" sz="2600" dirty="0"/>
                  <a:t> </a:t>
                </a:r>
                <a:r>
                  <a:rPr lang="en-US" sz="2600" dirty="0"/>
                  <a:t>LOESS</a:t>
                </a:r>
                <a:r>
                  <a:rPr lang="ru-RU" sz="2600" dirty="0"/>
                  <a:t> сезонным, удаление из сезонности </a:t>
                </a:r>
                <a:r>
                  <a:rPr lang="en-US" sz="2600" dirty="0"/>
                  <a:t>LOESS</a:t>
                </a:r>
                <a:r>
                  <a:rPr lang="ru-RU" sz="2600" dirty="0"/>
                  <a:t> низкочастотного и нормировка</a:t>
                </a:r>
              </a:p>
              <a:p>
                <a:pPr lvl="1"/>
                <a:r>
                  <a:rPr lang="ru-RU" sz="2600" dirty="0" err="1"/>
                  <a:t>Формироирование</a:t>
                </a:r>
                <a:r>
                  <a:rPr lang="ru-RU" sz="2600" dirty="0"/>
                  <a:t> оценки сезонной компоненты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  <m:r>
                      <a:rPr lang="en-US" sz="26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sz="2600" b="1" dirty="0"/>
              </a:p>
              <a:p>
                <a:pPr lvl="1"/>
                <a:r>
                  <a:rPr lang="ru-RU" sz="2600" dirty="0"/>
                  <a:t>Корректировка тренда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600" dirty="0"/>
                  <a:t> </a:t>
                </a:r>
                <a:r>
                  <a:rPr lang="ru-RU" sz="2600" dirty="0"/>
                  <a:t>и </a:t>
                </a:r>
                <a:r>
                  <a:rPr lang="en-US" sz="2600" b="1" dirty="0"/>
                  <a:t>LOESS-</a:t>
                </a:r>
                <a:r>
                  <a:rPr lang="ru-RU" sz="2600" b="1" dirty="0"/>
                  <a:t>сглаживание тренда</a:t>
                </a:r>
              </a:p>
              <a:p>
                <a:pPr marL="228600" lvl="1">
                  <a:spcBef>
                    <a:spcPts val="1000"/>
                  </a:spcBef>
                </a:pPr>
                <a:r>
                  <a:rPr lang="ru-RU" sz="2600" b="1" dirty="0"/>
                  <a:t>Этап 3 - Внешний цикл (итерации робастности)</a:t>
                </a:r>
                <a:r>
                  <a:rPr lang="ru-RU" sz="2600" dirty="0"/>
                  <a:t>: Для устойчивости к выбросам (1-3 итерации).</a:t>
                </a:r>
              </a:p>
              <a:p>
                <a:pPr lvl="1"/>
                <a:r>
                  <a:rPr lang="ru-RU" sz="2600" dirty="0"/>
                  <a:t>Вычисление остатка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600" dirty="0"/>
              </a:p>
              <a:p>
                <a:pPr lvl="1"/>
                <a:r>
                  <a:rPr lang="ru-RU" sz="2600" dirty="0"/>
                  <a:t>Устранение выбросов в остатке.</a:t>
                </a:r>
              </a:p>
              <a:p>
                <a:pPr lvl="1"/>
                <a:r>
                  <a:rPr lang="ru-RU" sz="2600" dirty="0"/>
                  <a:t>Если еще итерации: Восстановление нового ряда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600" dirty="0"/>
                  <a:t>и переход к этапу 2.</a:t>
                </a:r>
              </a:p>
              <a:p>
                <a:pPr lvl="1"/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2881" y="809627"/>
                <a:ext cx="11675744" cy="4029074"/>
              </a:xfrm>
              <a:blipFill>
                <a:blip r:embed="rId2"/>
                <a:stretch>
                  <a:fillRect l="-574" t="-3177" r="-157" b="-6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182881" y="4838701"/>
            <a:ext cx="7345679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dirty="0"/>
              <a:t>Может также быть вариант </a:t>
            </a:r>
            <a:r>
              <a:rPr lang="ru-RU" sz="2000" dirty="0" err="1"/>
              <a:t>многосезонного</a:t>
            </a:r>
            <a:r>
              <a:rPr lang="ru-RU" sz="2000" dirty="0"/>
              <a:t> </a:t>
            </a:r>
            <a:r>
              <a:rPr lang="en-US" sz="2000" dirty="0"/>
              <a:t>STL  - MSTL</a:t>
            </a:r>
            <a:endParaRPr lang="ru-RU" sz="20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dirty="0"/>
              <a:t>Может также быть </a:t>
            </a:r>
            <a:r>
              <a:rPr lang="en-US" sz="2000" dirty="0" err="1"/>
              <a:t>STLForecast</a:t>
            </a:r>
            <a:r>
              <a:rPr lang="ru-RU" sz="2000" dirty="0"/>
              <a:t>: предсказание тренда заданной моделью и экстраполяция сезонной компоненты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6390055"/>
            <a:ext cx="72009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https://www.statsmodels.org/dev/examples/notebooks/generated/stl_decomposition.html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006340" y="6543943"/>
            <a:ext cx="70180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https://www.statsmodels.org/dev/examples/notebooks/generated/mstl_decomposition.html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541" y="5357460"/>
            <a:ext cx="3799653" cy="741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49541" y="4711129"/>
            <a:ext cx="4815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Loess – </a:t>
            </a:r>
            <a:r>
              <a:rPr lang="ru-RU" dirty="0"/>
              <a:t>взвешенная локальная регрессия с коном вида: для точки </a:t>
            </a:r>
            <a:r>
              <a:rPr lang="en-US" dirty="0"/>
              <a:t>x’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8356129" y="6136910"/>
            <a:ext cx="32485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Где </a:t>
            </a:r>
            <a:r>
              <a:rPr lang="en-US" dirty="0"/>
              <a:t>d – </a:t>
            </a:r>
            <a:r>
              <a:rPr lang="ru-RU" dirty="0"/>
              <a:t>расстояние между </a:t>
            </a:r>
            <a:r>
              <a:rPr lang="en-US" dirty="0"/>
              <a:t>x </a:t>
            </a:r>
            <a:r>
              <a:rPr lang="ru-RU" dirty="0"/>
              <a:t>и </a:t>
            </a:r>
            <a:r>
              <a:rPr lang="en-US" dirty="0"/>
              <a:t>x’</a:t>
            </a:r>
            <a:endParaRPr lang="ru-RU" dirty="0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7528560" y="4770120"/>
            <a:ext cx="0" cy="16104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381000" y="4770120"/>
            <a:ext cx="113385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47773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8150" y="250826"/>
            <a:ext cx="10915650" cy="5588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другие</a:t>
            </a:r>
            <a:r>
              <a:rPr lang="en-US" b="1" dirty="0"/>
              <a:t> </a:t>
            </a:r>
            <a:r>
              <a:rPr lang="ru-RU" b="1" dirty="0"/>
              <a:t>разложения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2881" y="809626"/>
            <a:ext cx="11675744" cy="5293993"/>
          </a:xfrm>
        </p:spPr>
        <p:txBody>
          <a:bodyPr>
            <a:normAutofit/>
          </a:bodyPr>
          <a:lstStyle/>
          <a:p>
            <a:r>
              <a:rPr lang="en-US" sz="2200" dirty="0"/>
              <a:t>STL – </a:t>
            </a:r>
            <a:r>
              <a:rPr lang="ru-RU" sz="2200" dirty="0"/>
              <a:t>универсальный метод разложения ВР, устойчивый к выбросам и сложным трендам. Однако, </a:t>
            </a:r>
          </a:p>
          <a:p>
            <a:pPr lvl="1"/>
            <a:r>
              <a:rPr lang="ru-RU" sz="2200" b="1" dirty="0"/>
              <a:t>Вычислительная сложность</a:t>
            </a:r>
            <a:r>
              <a:rPr lang="ru-RU" sz="2200" dirty="0"/>
              <a:t>: Требует больше ресурсов, чем скользящее среднее особенно для длинных ВР.</a:t>
            </a:r>
          </a:p>
          <a:p>
            <a:pPr lvl="1"/>
            <a:r>
              <a:rPr lang="ru-RU" sz="2200" b="1" dirty="0"/>
              <a:t>Настройка параметров</a:t>
            </a:r>
            <a:r>
              <a:rPr lang="ru-RU" sz="2200" dirty="0"/>
              <a:t>: Неправильный выбор окон может исказить компоненты.</a:t>
            </a:r>
          </a:p>
          <a:p>
            <a:pPr lvl="1"/>
            <a:r>
              <a:rPr lang="ru-RU" sz="2200" dirty="0"/>
              <a:t>Для </a:t>
            </a:r>
            <a:r>
              <a:rPr lang="en-US" sz="2200" dirty="0"/>
              <a:t>MSTL </a:t>
            </a:r>
            <a:r>
              <a:rPr lang="ru-RU" sz="2200" dirty="0"/>
              <a:t>настройка еще сложнее</a:t>
            </a:r>
          </a:p>
          <a:p>
            <a:pPr lvl="1"/>
            <a:r>
              <a:rPr lang="ru-RU" sz="2200" b="1" dirty="0" err="1"/>
              <a:t>Нестационарность</a:t>
            </a:r>
            <a:r>
              <a:rPr lang="ru-RU" sz="2200" dirty="0"/>
              <a:t>: Если тренд слишком резкий, LOESS может отставать.</a:t>
            </a:r>
          </a:p>
          <a:p>
            <a:pPr lvl="1"/>
            <a:r>
              <a:rPr lang="en-US" sz="2200" dirty="0"/>
              <a:t>STL </a:t>
            </a:r>
            <a:r>
              <a:rPr lang="ru-RU" sz="2200" dirty="0"/>
              <a:t> может воспринимать </a:t>
            </a:r>
            <a:r>
              <a:rPr lang="en-US" sz="2200" dirty="0"/>
              <a:t>holidays</a:t>
            </a:r>
            <a:r>
              <a:rPr lang="ru-RU" sz="2200" dirty="0"/>
              <a:t> за выбросы</a:t>
            </a:r>
          </a:p>
          <a:p>
            <a:pPr lvl="1"/>
            <a:r>
              <a:rPr lang="ru-RU" sz="2200" dirty="0"/>
              <a:t>Высокочастотные шумы (зашумленность) может затмить выбросы.</a:t>
            </a:r>
            <a:endParaRPr lang="en-US" sz="2200" dirty="0"/>
          </a:p>
          <a:p>
            <a:r>
              <a:rPr lang="ru-RU" sz="2200" dirty="0"/>
              <a:t>Если модель ВР уточнена, например </a:t>
            </a:r>
            <a:r>
              <a:rPr lang="en-US" sz="2200" dirty="0"/>
              <a:t>holidays</a:t>
            </a:r>
            <a:r>
              <a:rPr lang="ru-RU" sz="2200" dirty="0"/>
              <a:t>, четкая </a:t>
            </a:r>
            <a:r>
              <a:rPr lang="ru-RU" sz="2200" dirty="0" err="1"/>
              <a:t>структра</a:t>
            </a:r>
            <a:r>
              <a:rPr lang="ru-RU" sz="2200" dirty="0"/>
              <a:t> могут быть более точные методы, например</a:t>
            </a:r>
          </a:p>
          <a:p>
            <a:pPr lvl="1"/>
            <a:r>
              <a:rPr lang="en-US" sz="2200" dirty="0"/>
              <a:t>SETA (</a:t>
            </a:r>
            <a:r>
              <a:rPr lang="en-US" sz="2200" b="1" dirty="0"/>
              <a:t>X-13ARIMA-SEATS</a:t>
            </a:r>
            <a:r>
              <a:rPr lang="en-US" sz="2200" dirty="0"/>
              <a:t>) – </a:t>
            </a:r>
            <a:r>
              <a:rPr lang="ru-RU" sz="2200" dirty="0"/>
              <a:t>для </a:t>
            </a:r>
            <a:r>
              <a:rPr lang="ru-RU" sz="2200" dirty="0" err="1"/>
              <a:t>бизнесс</a:t>
            </a:r>
            <a:r>
              <a:rPr lang="ru-RU" sz="2200" dirty="0"/>
              <a:t>-процессов ВР</a:t>
            </a:r>
          </a:p>
          <a:p>
            <a:pPr lvl="1"/>
            <a:r>
              <a:rPr lang="en-US" sz="2200" dirty="0"/>
              <a:t>X11 </a:t>
            </a:r>
            <a:r>
              <a:rPr lang="ru-RU" sz="2200" dirty="0"/>
              <a:t>для сезонной корректировки в экономических данных (глобальная экономика)</a:t>
            </a:r>
            <a:endParaRPr lang="en-US" sz="2200" dirty="0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281940" y="3985260"/>
            <a:ext cx="96697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8054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0"/>
            <a:ext cx="10515600" cy="1325563"/>
          </a:xfrm>
        </p:spPr>
        <p:txBody>
          <a:bodyPr/>
          <a:lstStyle/>
          <a:p>
            <a:r>
              <a:rPr lang="ru-RU" dirty="0"/>
              <a:t>Методы предсказания </a:t>
            </a:r>
            <a:r>
              <a:rPr lang="ru-RU" dirty="0" smtClean="0"/>
              <a:t>ВР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799" y="4717062"/>
            <a:ext cx="11563350" cy="1924051"/>
          </a:xfrm>
        </p:spPr>
        <p:txBody>
          <a:bodyPr>
            <a:normAutofit/>
          </a:bodyPr>
          <a:lstStyle/>
          <a:p>
            <a:endParaRPr lang="ru-RU" sz="2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48</a:t>
            </a:fld>
            <a:endParaRPr lang="en-US"/>
          </a:p>
        </p:txBody>
      </p:sp>
      <p:pic>
        <p:nvPicPr>
          <p:cNvPr id="7" name="Picture 2" descr="https://i0.wp.com/semiengineering.com/wp-content/uploads/Fraunhofer_data-augmentation-industrial-AI-fig1.jpg?resize=605%2C155&amp;ssl=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9380" y="1098101"/>
            <a:ext cx="5762625" cy="147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2007646" y="607514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https://semiengineering.com/enhancing-datasets-for-artificial-intelligence-through-model-based-methods/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6517342" y="2389473"/>
            <a:ext cx="3172609" cy="461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Бизнес процесс – </a:t>
            </a:r>
            <a:r>
              <a:rPr lang="en-US" sz="1400" dirty="0"/>
              <a:t>Prophet, </a:t>
            </a:r>
            <a:r>
              <a:rPr lang="ru-RU" sz="1400" dirty="0"/>
              <a:t> разложение и процесс</a:t>
            </a:r>
            <a:r>
              <a:rPr lang="en-US" sz="1400" dirty="0"/>
              <a:t>;</a:t>
            </a:r>
            <a:endParaRPr lang="ru-RU" sz="14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4030516" y="2775989"/>
            <a:ext cx="3172609" cy="461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Neural Prophet</a:t>
            </a:r>
            <a:endParaRPr lang="ru-RU" sz="14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2090621" y="3102525"/>
            <a:ext cx="3172609" cy="461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Neural Network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2006933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Тема Office 2013–2022">
  <a:themeElements>
    <a:clrScheme name="Тема Office 2013–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8808</TotalTime>
  <Words>3289</Words>
  <Application>Microsoft Office PowerPoint</Application>
  <PresentationFormat>Широкоэкранный</PresentationFormat>
  <Paragraphs>673</Paragraphs>
  <Slides>48</Slides>
  <Notes>15</Notes>
  <HiddenSlides>2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48</vt:i4>
      </vt:variant>
    </vt:vector>
  </HeadingPairs>
  <TitlesOfParts>
    <vt:vector size="58" baseType="lpstr">
      <vt:lpstr>__YSText_10659f</vt:lpstr>
      <vt:lpstr>Arial</vt:lpstr>
      <vt:lpstr>Calibri</vt:lpstr>
      <vt:lpstr>Calibri Light</vt:lpstr>
      <vt:lpstr>Cambria Math</vt:lpstr>
      <vt:lpstr>Fira Sans</vt:lpstr>
      <vt:lpstr>Open Sans</vt:lpstr>
      <vt:lpstr>quote-cjk-patch</vt:lpstr>
      <vt:lpstr>Times New Roman</vt:lpstr>
      <vt:lpstr>Тема Office 2013–2022</vt:lpstr>
      <vt:lpstr>Статистический подход к анализу  временных рядов.</vt:lpstr>
      <vt:lpstr>Модели временных рядов</vt:lpstr>
      <vt:lpstr>Особенности модели временных рядов</vt:lpstr>
      <vt:lpstr>Белый Гауссов шум</vt:lpstr>
      <vt:lpstr>Статистические сво йства ВР</vt:lpstr>
      <vt:lpstr>Автокорреляция ВР</vt:lpstr>
      <vt:lpstr>Замечания к автокорреляции</vt:lpstr>
      <vt:lpstr>Пример дорожно-транспортных происшествий за 14 лет с дискретностью 1 месяц,</vt:lpstr>
      <vt:lpstr>Корреляция</vt:lpstr>
      <vt:lpstr>Замечания </vt:lpstr>
      <vt:lpstr>Частичная автокорреляция</vt:lpstr>
      <vt:lpstr>Частичная автокорреляция</vt:lpstr>
      <vt:lpstr>Презентация PowerPoint</vt:lpstr>
      <vt:lpstr>Презентация PowerPoint</vt:lpstr>
      <vt:lpstr>Анализ стационарности</vt:lpstr>
      <vt:lpstr>Стационарность ВР</vt:lpstr>
      <vt:lpstr>Анализ нестационарности</vt:lpstr>
      <vt:lpstr>Стационарность ВР. Замечания</vt:lpstr>
      <vt:lpstr>Анализ стационарности</vt:lpstr>
      <vt:lpstr>Белый Гауссов шум</vt:lpstr>
      <vt:lpstr>Преобразования нестационарных  временных рядов</vt:lpstr>
      <vt:lpstr>Преобразования нестационарных  временных рядов</vt:lpstr>
      <vt:lpstr>Преобразования нестационарных ВР</vt:lpstr>
      <vt:lpstr>Гетероскедастичность</vt:lpstr>
      <vt:lpstr>Предсказания ВР с явной TS моделью</vt:lpstr>
      <vt:lpstr>Методы предсказания в курсе</vt:lpstr>
      <vt:lpstr>Подходы к предсказанию временных рядов</vt:lpstr>
      <vt:lpstr>Статистические методы</vt:lpstr>
      <vt:lpstr>Бенчмарки предсказания временных рядов</vt:lpstr>
      <vt:lpstr>Бенчмарки предсказания временных рядов</vt:lpstr>
      <vt:lpstr>Основные выводы</vt:lpstr>
      <vt:lpstr>Наивное предсказание </vt:lpstr>
      <vt:lpstr>Наивное предсказание </vt:lpstr>
      <vt:lpstr>Статистические методы</vt:lpstr>
      <vt:lpstr>Статистические методы</vt:lpstr>
      <vt:lpstr> Экспоненциальное сглаживание</vt:lpstr>
      <vt:lpstr>Классический подход к декомпозиции ВР</vt:lpstr>
      <vt:lpstr>Классический подход к декомпозиции ВР</vt:lpstr>
      <vt:lpstr>Классический подход к Detrender</vt:lpstr>
      <vt:lpstr>Проверка на тренд</vt:lpstr>
      <vt:lpstr>Проверка на тренд Тесты на наличие тренда:</vt:lpstr>
      <vt:lpstr>Классический подход к Deseasonalizer</vt:lpstr>
      <vt:lpstr>Тесты на сезонность</vt:lpstr>
      <vt:lpstr>STL разложение</vt:lpstr>
      <vt:lpstr>STL разложение</vt:lpstr>
      <vt:lpstr>STL разложение</vt:lpstr>
      <vt:lpstr>другие разложения</vt:lpstr>
      <vt:lpstr>Методы предсказания ВР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Series Analysis</dc:title>
  <dc:creator>Ронкин Михаил Владимирович</dc:creator>
  <cp:lastModifiedBy>Ронкин Михаил Владимирович</cp:lastModifiedBy>
  <cp:revision>266</cp:revision>
  <dcterms:created xsi:type="dcterms:W3CDTF">2021-10-31T10:57:36Z</dcterms:created>
  <dcterms:modified xsi:type="dcterms:W3CDTF">2025-07-23T11:35:52Z</dcterms:modified>
</cp:coreProperties>
</file>