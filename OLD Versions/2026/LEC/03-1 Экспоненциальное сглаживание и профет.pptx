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462" r:id="rId3"/>
    <p:sldId id="463" r:id="rId4"/>
    <p:sldId id="417" r:id="rId5"/>
    <p:sldId id="453" r:id="rId6"/>
    <p:sldId id="414" r:id="rId7"/>
    <p:sldId id="431" r:id="rId8"/>
    <p:sldId id="415" r:id="rId9"/>
    <p:sldId id="418" r:id="rId10"/>
    <p:sldId id="426" r:id="rId11"/>
    <p:sldId id="416" r:id="rId12"/>
    <p:sldId id="419" r:id="rId13"/>
    <p:sldId id="421" r:id="rId14"/>
    <p:sldId id="434" r:id="rId15"/>
    <p:sldId id="422" r:id="rId16"/>
    <p:sldId id="423" r:id="rId17"/>
    <p:sldId id="425" r:id="rId18"/>
    <p:sldId id="427" r:id="rId19"/>
    <p:sldId id="424" r:id="rId20"/>
    <p:sldId id="428" r:id="rId21"/>
    <p:sldId id="429" r:id="rId22"/>
    <p:sldId id="430" r:id="rId23"/>
    <p:sldId id="456" r:id="rId24"/>
    <p:sldId id="459" r:id="rId25"/>
    <p:sldId id="442" r:id="rId26"/>
    <p:sldId id="443" r:id="rId27"/>
    <p:sldId id="444" r:id="rId28"/>
    <p:sldId id="460" r:id="rId29"/>
    <p:sldId id="4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2"/>
            <p14:sldId id="463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42"/>
            <p14:sldId id="443"/>
            <p14:sldId id="444"/>
            <p14:sldId id="460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6301"/>
  </p:normalViewPr>
  <p:slideViewPr>
    <p:cSldViewPr snapToGrid="0">
      <p:cViewPr varScale="1">
        <p:scale>
          <a:sx n="126" d="100"/>
          <a:sy n="126" d="100"/>
        </p:scale>
        <p:origin x="16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https://www.ritchievink.com/blog/2018/10/09/build-facebooks-prophet-in-pymc3-bayesian-time-series-analyis-with-generalized-additive-models/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71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43" y="728616"/>
            <a:ext cx="10932920" cy="863964"/>
          </a:xfrm>
        </p:spPr>
        <p:txBody>
          <a:bodyPr>
            <a:normAutofit fontScale="90000"/>
          </a:bodyPr>
          <a:lstStyle/>
          <a:p>
            <a:r>
              <a:rPr lang="en-US" sz="8000" b="1" dirty="0" smtClean="0"/>
              <a:t>TS </a:t>
            </a:r>
            <a:r>
              <a:rPr lang="ru-RU" sz="8000" b="1" dirty="0" smtClean="0"/>
              <a:t>модель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89555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TS-</a:t>
            </a:r>
            <a:r>
              <a:rPr lang="ru-RU" b="1" dirty="0" smtClean="0"/>
              <a:t>Модели </a:t>
            </a:r>
            <a:r>
              <a:rPr lang="ru-RU" b="1" dirty="0"/>
              <a:t>временных рядов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550" y="1114427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200" i="1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200" i="1" dirty="0"/>
                  <a:t>Модель </a:t>
                </a:r>
                <a:r>
                  <a:rPr lang="ru-RU" altLang="en-US" sz="2200" i="1" dirty="0" smtClean="0"/>
                  <a:t>для которых явно можно выделить тренд, но также и другие составляющие</a:t>
                </a:r>
                <a:endParaRPr lang="ru-RU" altLang="en-US" sz="2200" i="1" dirty="0"/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alt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𝑠𝑒𝑎𝑠𝑜𝑛𝑎𝑙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altLang="en-US" sz="2000" dirty="0">
                  <a:latin typeface="Open Sans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>
                    <a:latin typeface="Open Sans"/>
                  </a:rPr>
                  <a:t>Или </a:t>
                </a:r>
                <a:r>
                  <a:rPr lang="ru-RU" altLang="en-US" sz="2000" dirty="0" smtClean="0">
                    <a:latin typeface="Open Sans"/>
                  </a:rPr>
                  <a:t>мультипликативная модель</a:t>
                </a:r>
                <a:endParaRPr lang="ru-RU" altLang="en-US" sz="2000" dirty="0">
                  <a:latin typeface="Open Sans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𝑡𝑟𝑒𝑛𝑑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ru-RU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𝑠𝑒𝑎𝑠𝑜𝑛𝑎𝑙</m:t>
                            </m:r>
                            <m:d>
                              <m:dPr>
                                <m:ctrlPr>
                                  <a:rPr lang="en-US" alt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nary>
                      </m:e>
                    </m:d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𝑟𝑒𝑠𝑖𝑑𝑢𝑎𝑙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2000" i="1" dirty="0"/>
                  <a:t>). </a:t>
                </a:r>
                <a:endParaRPr lang="en-US" altLang="en-US" sz="2000" i="1" dirty="0" smtClean="0"/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i="1" dirty="0" smtClean="0"/>
                  <a:t>Могут быть и более сложные модели</a:t>
                </a:r>
                <a:endParaRPr lang="en-US" altLang="en-US" sz="2000" i="1" dirty="0"/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dirty="0">
                  <a:latin typeface="Open Sans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550" y="1114427"/>
                <a:ext cx="11525249" cy="5545789"/>
              </a:xfrm>
              <a:blipFill>
                <a:blip r:embed="rId2"/>
                <a:stretch>
                  <a:fillRect l="-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9550" y="6290884"/>
            <a:ext cx="5065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https://openforecast.org/adam/tsComponents.html</a:t>
            </a:r>
          </a:p>
        </p:txBody>
      </p:sp>
    </p:spTree>
    <p:extLst>
      <p:ext uri="{BB962C8B-B14F-4D97-AF65-F5344CB8AC3E}">
        <p14:creationId xmlns:p14="http://schemas.microsoft.com/office/powerpoint/2010/main" val="260595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 </a:t>
            </a:r>
            <a:br>
              <a:rPr lang="ru-RU" sz="4000" b="1" dirty="0"/>
            </a:br>
            <a:r>
              <a:rPr lang="ru-RU" sz="4000" dirty="0"/>
              <a:t>SES (</a:t>
            </a:r>
            <a:r>
              <a:rPr lang="ru-RU" sz="4000" dirty="0" err="1"/>
              <a:t>Single</a:t>
            </a:r>
            <a:r>
              <a:rPr lang="ru-RU" sz="4000" dirty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предсказанное значение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т.д.)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Дополнительно 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5755840" y="3470739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5581650" y="3433327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/>
                  <a:t>Таким образом влияние «давних» шумов и выбросов сглаживается </a:t>
                </a:r>
                <a:endParaRPr lang="en-US" sz="2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оптимального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привести к потере информации или смещению.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/>
                  <a:t>Напр. 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Иногда коэффициенты модель меняют в процессе работы модели – </a:t>
                </a:r>
                <a:r>
                  <a:rPr lang="ru-RU" sz="2000" b="1" dirty="0"/>
                  <a:t>адаптивное сглаживание</a:t>
                </a:r>
                <a:endParaRPr lang="en-US" sz="20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 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тренда! Если во ВР есть сезонность ее можно убрать </a:t>
                </a:r>
                <a:r>
                  <a:rPr lang="en-US" sz="2000" dirty="0"/>
                  <a:t>STL </a:t>
                </a:r>
                <a:r>
                  <a:rPr lang="ru-RU" sz="2000" dirty="0"/>
                  <a:t>и работать только с трендом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Deseasonalizer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SES – </a:t>
                </a:r>
                <a:r>
                  <a:rPr lang="ru-RU" sz="2000" dirty="0"/>
                  <a:t>предсказанный по 1 отсчету, но фильтрованный </a:t>
                </a:r>
                <a:r>
                  <a:rPr lang="en-US" sz="2000" dirty="0"/>
                  <a:t>SES </a:t>
                </a:r>
                <a:r>
                  <a:rPr lang="ru-RU" sz="2000" dirty="0"/>
                  <a:t>тренд можно предсказывать другими методами, например регрессией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endParaRPr lang="en-US" sz="2000" b="0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Комбинация </a:t>
                </a:r>
                <a:r>
                  <a:rPr lang="en-US" sz="2000" dirty="0" err="1"/>
                  <a:t>Deseasonalizer</a:t>
                </a:r>
                <a:r>
                  <a:rPr lang="ru-RU" sz="2000" dirty="0"/>
                  <a:t>+Короткий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и быстрый </a:t>
                </a:r>
                <a:r>
                  <a:rPr lang="en-US" sz="2000" dirty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/>
                  <a:t>) + </a:t>
                </a:r>
                <a:r>
                  <a:rPr lang="ru-RU" sz="2000" b="0" dirty="0"/>
                  <a:t>регрессии для предсказаний  - называется метод </a:t>
                </a:r>
                <a:r>
                  <a:rPr lang="en-US" sz="2000" b="1" dirty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комбинация – это скользящее среднее, </a:t>
                </a:r>
                <a:r>
                  <a:rPr lang="en-US" sz="2000" dirty="0" err="1"/>
                  <a:t>ThetaOptimized</a:t>
                </a:r>
                <a:r>
                  <a:rPr lang="en-US" sz="2000" dirty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/>
                  <a:t> может быт больше чем 2</a:t>
                </a:r>
                <a:endParaRPr lang="ru-RU" sz="2000" b="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необходим прогноз на </a:t>
                </a:r>
                <a:r>
                  <a:rPr lang="en-US" sz="2200" dirty="0"/>
                  <a:t>h </a:t>
                </a:r>
                <a:r>
                  <a:rPr lang="ru-RU" sz="2200" dirty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/>
                  <a:t>, </a:t>
                </a:r>
                <a:r>
                  <a:rPr lang="ru-RU" sz="2200" dirty="0"/>
                  <a:t>чтобы был горизонт предсказания) как линейную систему (уровень меняется не сильно)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– параметр сглаживания уровня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 </a:t>
                </a:r>
                <a:br>
                  <a:rPr lang="ru-RU" dirty="0"/>
                </a:br>
                <a:r>
                  <a:rPr lang="ru-RU" dirty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SES</a:t>
                </a:r>
                <a:r>
                  <a:rPr lang="ru-RU" dirty="0"/>
                  <a:t>)</a:t>
                </a: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считаем небольшим (условно линейным),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)  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>
                    <a:latin typeface="__YSText_8fb396"/>
                  </a:rPr>
                  <a:t>Могут быть также </a:t>
                </a:r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 с затухающим трендом</a:t>
                </a:r>
                <a:endParaRPr lang="en-US" sz="2400" dirty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latin typeface="__YSText_8fb396"/>
                  </a:rPr>
                  <a:t> – </a:t>
                </a:r>
                <a:r>
                  <a:rPr lang="ru-RU" sz="2400" dirty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) </a:t>
                </a:r>
                <a:r>
                  <a:rPr lang="ru-RU" sz="2200" dirty="0"/>
                  <a:t>введем компоненты сглаживания.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/>
                  <a:t> – коэффициент сезонного сглаживания,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– смещение относительного последнего полного сезона в данных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Сезон – сравнительно быстрые изменения с одинаковым периодом!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Могут быть также мультипликативная и затухающая модели тренда и сезонности.</a:t>
            </a:r>
          </a:p>
          <a:p>
            <a:pPr algn="just"/>
            <a:r>
              <a:rPr lang="ru-RU" sz="2000" dirty="0"/>
              <a:t>	напр. спрос на </a:t>
            </a:r>
            <a:r>
              <a:rPr lang="ru-RU" sz="2000" dirty="0" err="1"/>
              <a:t>электроэенерги</a:t>
            </a:r>
            <a:r>
              <a:rPr lang="ru-RU" sz="2000" dirty="0"/>
              <a:t>.</a:t>
            </a:r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/>
              <a:t>SES - </a:t>
            </a:r>
            <a:r>
              <a:rPr lang="ru-RU" sz="2100" dirty="0"/>
              <a:t>Для небольшого периода и одношагового прогноза.</a:t>
            </a:r>
          </a:p>
          <a:p>
            <a:pPr lvl="1"/>
            <a:r>
              <a:rPr lang="ru-RU" sz="2100" dirty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/>
              <a:t>Напр. 2 месяца, горизонт 1-2 дня.</a:t>
            </a:r>
          </a:p>
          <a:p>
            <a:r>
              <a:rPr lang="en-US" sz="2100" dirty="0"/>
              <a:t>Holt (DES) – </a:t>
            </a:r>
            <a:r>
              <a:rPr lang="ru-RU" sz="2100" dirty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/>
              <a:t>Напр. 1 год, горизонт 1-4 недели</a:t>
            </a:r>
          </a:p>
          <a:p>
            <a:r>
              <a:rPr lang="en-US" sz="2100" dirty="0"/>
              <a:t>HW (TES) – </a:t>
            </a:r>
            <a:r>
              <a:rPr lang="ru-RU" sz="2100" dirty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/>
              <a:t>Возможен сложный</a:t>
            </a:r>
            <a:r>
              <a:rPr lang="en-US" sz="1700" dirty="0"/>
              <a:t> </a:t>
            </a:r>
            <a:r>
              <a:rPr lang="ru-RU" sz="1700" dirty="0"/>
              <a:t>(не </a:t>
            </a:r>
            <a:r>
              <a:rPr lang="ru-RU" sz="1700" dirty="0" err="1"/>
              <a:t>гаронический</a:t>
            </a:r>
            <a:r>
              <a:rPr lang="ru-RU" sz="1700" dirty="0"/>
              <a:t>) паттерн но с одним известным периодом</a:t>
            </a:r>
            <a:r>
              <a:rPr lang="en-US" sz="1700" dirty="0"/>
              <a:t> </a:t>
            </a:r>
            <a:r>
              <a:rPr lang="ru-RU" sz="1700" dirty="0"/>
              <a:t>(регулярная сезонность)</a:t>
            </a:r>
          </a:p>
          <a:p>
            <a:pPr lvl="1"/>
            <a:r>
              <a:rPr lang="ru-RU" sz="2100" dirty="0"/>
              <a:t> напр. 10 лет, горизонт 1-2 месяца</a:t>
            </a:r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/>
                  <a:t> </a:t>
                </a:r>
                <a:r>
                  <a:rPr lang="ru-RU" sz="2200" dirty="0"/>
                  <a:t>Рассмотрим </a:t>
                </a:r>
                <a:r>
                  <a:rPr lang="en-US" sz="2200" dirty="0"/>
                  <a:t>SES </a:t>
                </a:r>
                <a:r>
                  <a:rPr lang="ru-RU" sz="2200" dirty="0"/>
                  <a:t>в виде части модели </a:t>
                </a:r>
                <a:r>
                  <a:rPr lang="en-US" sz="2200" dirty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endParaRPr lang="en-US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Тогда можно ввести модель </a:t>
                </a:r>
                <a:r>
                  <a:rPr lang="en-US" sz="2200" dirty="0"/>
                  <a:t>Error-Trend-Seasonality</a:t>
                </a:r>
                <a:r>
                  <a:rPr lang="ru-RU" sz="2200" b="1" dirty="0"/>
                  <a:t> </a:t>
                </a:r>
                <a:r>
                  <a:rPr lang="en-US" sz="2200" dirty="0"/>
                  <a:t>ETS(T, S, E)</a:t>
                </a:r>
                <a:r>
                  <a:rPr lang="ru-RU" sz="2200" dirty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, сезонность</a:t>
                </a:r>
                <a:r>
                  <a:rPr lang="en-US" sz="2200" dirty="0"/>
                  <a:t> (S)</a:t>
                </a:r>
                <a:r>
                  <a:rPr lang="ru-RU" sz="2200" dirty="0"/>
                  <a:t> , ошибка модели</a:t>
                </a:r>
                <a:r>
                  <a:rPr lang="en-US" sz="2200" dirty="0"/>
                  <a:t> (E)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соотношениях </a:t>
                </a:r>
                <a:endParaRPr lang="en-US" sz="22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 – </a:t>
                </a:r>
                <a:r>
                  <a:rPr lang="ru-RU" sz="2000" dirty="0"/>
                  <a:t>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Ad 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Напр. </a:t>
                </a:r>
                <a:r>
                  <a:rPr lang="en-US" sz="2000" dirty="0"/>
                  <a:t>ETS (A, A, A) – </a:t>
                </a:r>
                <a:r>
                  <a:rPr lang="ru-RU" sz="2000" dirty="0"/>
                  <a:t>модель </a:t>
                </a:r>
                <a:r>
                  <a:rPr lang="ru-RU" sz="2000" dirty="0" err="1"/>
                  <a:t>Холта-Винтерса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Аналогично мультипликативный тренд</a:t>
            </a:r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/>
                  <a:t>ETS </a:t>
                </a:r>
                <a:r>
                  <a:rPr lang="ru-RU" sz="2400" dirty="0"/>
                  <a:t>является обобщением </a:t>
                </a:r>
                <a:r>
                  <a:rPr lang="en-US" sz="2400" dirty="0"/>
                  <a:t>HW + </a:t>
                </a:r>
                <a:r>
                  <a:rPr lang="ru-RU" sz="2400" dirty="0"/>
                  <a:t>унификация процедуры оценки 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/>
                  <a:t>Также 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/>
                  <a:t>ETS </a:t>
                </a:r>
                <a:r>
                  <a:rPr lang="ru-RU" sz="2000" dirty="0"/>
                  <a:t>имеет до 30 вариантов + </a:t>
                </a:r>
                <a:r>
                  <a:rPr lang="ru-RU" sz="2000" dirty="0" err="1"/>
                  <a:t>многосезонный</a:t>
                </a:r>
                <a:r>
                  <a:rPr lang="ru-RU" sz="2000" dirty="0"/>
                  <a:t> </a:t>
                </a:r>
                <a:r>
                  <a:rPr lang="en-US" sz="2000" dirty="0"/>
                  <a:t>ETS </a:t>
                </a:r>
                <a:r>
                  <a:rPr lang="ru-RU" sz="2000" dirty="0"/>
                  <a:t>и </a:t>
                </a:r>
                <a:r>
                  <a:rPr lang="en-US" sz="2000" dirty="0"/>
                  <a:t>ETS c </a:t>
                </a:r>
                <a:r>
                  <a:rPr lang="ru-RU" sz="2000" dirty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Чем 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ниже вероятность переобучения 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Формализации выбора моделей вводятся как мини-</a:t>
                </a:r>
                <a:r>
                  <a:rPr lang="ru-RU" sz="2400" dirty="0" err="1"/>
                  <a:t>максная</a:t>
                </a:r>
                <a:r>
                  <a:rPr lang="ru-RU" sz="2400" dirty="0"/>
                  <a:t> задача (минимум дисперсии остатков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/>
              <a:t>Формализации выбора моделей вводятся как мини-</a:t>
            </a:r>
            <a:r>
              <a:rPr lang="ru-RU" sz="2400" dirty="0" err="1"/>
              <a:t>максная</a:t>
            </a:r>
            <a:r>
              <a:rPr lang="ru-RU" sz="2400" dirty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/>
              <a:t>На основе </a:t>
            </a:r>
            <a:r>
              <a:rPr lang="ru-RU" sz="2400" b="1" dirty="0"/>
              <a:t>ИК</a:t>
            </a:r>
            <a:r>
              <a:rPr lang="ru-RU" sz="2400" dirty="0"/>
              <a:t> делают процедуру </a:t>
            </a:r>
            <a:r>
              <a:rPr lang="en-US" sz="2400" dirty="0" err="1"/>
              <a:t>AutoETS</a:t>
            </a:r>
            <a:endParaRPr lang="en-US" sz="2400" dirty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Процедура </a:t>
            </a:r>
            <a:r>
              <a:rPr lang="en-US" sz="2000" dirty="0" err="1"/>
              <a:t>AutoETS</a:t>
            </a:r>
            <a:r>
              <a:rPr lang="ru-RU" sz="2000" dirty="0"/>
              <a:t> 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Проверка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Анализ остатков модели, </a:t>
            </a:r>
            <a:endParaRPr lang="en-US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также можно</a:t>
            </a:r>
            <a:r>
              <a:rPr lang="en-US" dirty="0"/>
              <a:t> </a:t>
            </a:r>
            <a:r>
              <a:rPr lang="ru-RU" dirty="0"/>
              <a:t>добавить оценку по </a:t>
            </a:r>
            <a:r>
              <a:rPr lang="en-US" dirty="0"/>
              <a:t>R2 adj.</a:t>
            </a:r>
            <a:endParaRPr lang="ru-RU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/>
          </a:p>
          <a:p>
            <a:pPr marL="342900" indent="-342900"/>
            <a:endParaRPr lang="ru-RU" sz="2400" dirty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. 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/>
                  <a:t>Информационный Критерий </a:t>
                </a:r>
                <a:r>
                  <a:rPr lang="ru-RU" sz="2300" i="1" dirty="0" err="1"/>
                  <a:t>Акайке</a:t>
                </a:r>
                <a:r>
                  <a:rPr lang="ru-RU" sz="2300" i="1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	</a:t>
                </a:r>
                <a:r>
                  <a:rPr lang="ru-RU" dirty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/>
                  <a:t>	</a:t>
                </a:r>
                <a:r>
                  <a:rPr lang="ru-RU" sz="2300" dirty="0"/>
                  <a:t>	Для остатков модели в виде </a:t>
                </a:r>
                <a:r>
                  <a:rPr lang="en-US" sz="2300" dirty="0" err="1"/>
                  <a:t>i.i.d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/>
                  <a:t>Критерий дает мини-</a:t>
                </a:r>
                <a:r>
                  <a:rPr lang="ru-RU" sz="2300" dirty="0" err="1"/>
                  <a:t>максную</a:t>
                </a:r>
                <a:r>
                  <a:rPr lang="ru-RU" sz="2300" dirty="0"/>
                  <a:t> оценку между дисперсией и числом параметров модели -</a:t>
                </a:r>
                <a:r>
                  <a:rPr lang="en-US" sz="2300" dirty="0"/>
                  <a:t>&gt; </a:t>
                </a:r>
                <a:r>
                  <a:rPr lang="ru-RU" sz="2300" dirty="0"/>
                  <a:t>снижает сложность модели, чем меньше </a:t>
                </a:r>
                <a:r>
                  <a:rPr lang="en-US" sz="2300" dirty="0"/>
                  <a:t>AIC – </a:t>
                </a:r>
                <a:r>
                  <a:rPr lang="ru-RU" sz="2300" dirty="0"/>
                  <a:t>тем </a:t>
                </a:r>
                <a:r>
                  <a:rPr lang="ru-RU" sz="2300" dirty="0" err="1"/>
                  <a:t>луше</a:t>
                </a:r>
                <a:endParaRPr lang="ru-RU" sz="2300" dirty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/>
                  <a:t> – более точная оценка числа параметров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AIC </a:t>
                </a:r>
                <a:r>
                  <a:rPr lang="ru-RU" sz="2400" dirty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/>
              <a:t>Проблемы ETS: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месячная).</a:t>
            </a:r>
          </a:p>
          <a:p>
            <a:pPr marL="742950" lvl="1" indent="-285750"/>
            <a:r>
              <a:rPr lang="ru-RU" sz="2200" dirty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/>
              <a:t>Напр. Годовые 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/>
              <a:t>Жёсткие параметры тренда (аддитивная/мультипликативная).</a:t>
            </a:r>
          </a:p>
          <a:p>
            <a:pPr marL="742950" lvl="1" indent="-285750"/>
            <a:r>
              <a:rPr lang="ru-RU" sz="2200" dirty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/>
              <a:t>Почти нет учета переменной волатильности – переменной дисперсии</a:t>
            </a:r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</a:t>
            </a:r>
            <a:r>
              <a:rPr lang="ru-RU" sz="1400" dirty="0" smtClean="0"/>
              <a:t>://</a:t>
            </a:r>
            <a:r>
              <a:rPr lang="en-US" sz="1400" dirty="0" smtClean="0"/>
              <a:t>read</a:t>
            </a:r>
            <a:r>
              <a:rPr lang="ru-RU" sz="1400" dirty="0" smtClean="0"/>
              <a:t>medium.com/</a:t>
            </a:r>
            <a:r>
              <a:rPr lang="ru-RU" sz="1400" dirty="0" err="1" smtClean="0"/>
              <a:t>intive-developers</a:t>
            </a:r>
            <a:r>
              <a:rPr lang="ru-RU" sz="1400" dirty="0" smtClean="0"/>
              <a:t>/forecasting-time-series-with-multiple-seasonalities-using-tbats-in-python-398a00ac0e8a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метод для двух компонент сезонности и 1 точки предсказания вперед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- </a:t>
                </a:r>
                <a:r>
                  <a:rPr lang="ru-RU" sz="2200" dirty="0"/>
                  <a:t>для каждой компоненты сезонности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Такая система решается!, </a:t>
            </a:r>
          </a:p>
          <a:p>
            <a:r>
              <a:rPr lang="ru-RU" dirty="0"/>
              <a:t>но </a:t>
            </a:r>
          </a:p>
          <a:p>
            <a:r>
              <a:rPr lang="ru-RU" dirty="0"/>
              <a:t>1 много параметров в модели (каждый сезон имеет </a:t>
            </a:r>
            <a:r>
              <a:rPr lang="en-US" dirty="0"/>
              <a:t>m </a:t>
            </a:r>
            <a:r>
              <a:rPr lang="ru-RU" dirty="0"/>
              <a:t>начальных паромеров)</a:t>
            </a:r>
          </a:p>
          <a:p>
            <a:r>
              <a:rPr lang="ru-RU" dirty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как выбрать правильное преобразование?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:r>
                  <a:rPr lang="en-US" sz="2200" dirty="0"/>
                  <a:t>P </a:t>
                </a:r>
                <a:r>
                  <a:rPr lang="ru-RU" sz="2200" dirty="0"/>
                  <a:t>сезонных компонент сезонности</a:t>
                </a:r>
                <a:r>
                  <a:rPr lang="en-US" sz="2200" dirty="0"/>
                  <a:t> </a:t>
                </a:r>
                <a:r>
                  <a:rPr lang="ru-RU" sz="2200" dirty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 </a:t>
                </a:r>
                <a:r>
                  <a:rPr lang="ru-RU" sz="2200" dirty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для всех компонент? Очень много начальных параметров?</a:t>
                </a:r>
              </a:p>
              <a:p>
                <a:r>
                  <a:rPr lang="ru-RU" sz="2200" dirty="0"/>
                  <a:t>Как понять, что нет ложных сезонностей?</a:t>
                </a:r>
              </a:p>
              <a:p>
                <a:r>
                  <a:rPr lang="ru-RU" sz="2200" dirty="0"/>
                  <a:t>Как понять что нет </a:t>
                </a:r>
                <a:r>
                  <a:rPr lang="ru-RU" sz="2200" dirty="0" err="1"/>
                  <a:t>гетероскдостичных</a:t>
                </a:r>
                <a:r>
                  <a:rPr lang="ru-RU" sz="2200" dirty="0"/>
                  <a:t> составляющих?</a:t>
                </a:r>
              </a:p>
              <a:p>
                <a:r>
                  <a:rPr lang="ru-RU" sz="2200" dirty="0"/>
                  <a:t>Весь ли временной ряд разложен, информативен ли остаток модели?</a:t>
                </a: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Нужен общий метод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/>
              <a:t>Напр. несколько лет с шагом в 1 день.</a:t>
            </a:r>
          </a:p>
          <a:p>
            <a:pPr lvl="1"/>
            <a:r>
              <a:rPr lang="ru-RU" sz="2100" i="1" dirty="0"/>
              <a:t>Что делать, если сезонность непостоянная или сложная?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/>
              <a:t>Если данные </a:t>
            </a:r>
            <a:r>
              <a:rPr lang="ru-RU" sz="2100" b="1" dirty="0" err="1"/>
              <a:t>гетеросекдостичные</a:t>
            </a:r>
            <a:r>
              <a:rPr lang="ru-RU" sz="2100" b="1" dirty="0"/>
              <a:t>, тренд не имеет «хорошего паттерна» </a:t>
            </a:r>
          </a:p>
          <a:p>
            <a:pPr lvl="1"/>
            <a:r>
              <a:rPr lang="ru-RU" sz="2100" dirty="0"/>
              <a:t>Нужно </a:t>
            </a:r>
            <a:r>
              <a:rPr lang="ru-RU" sz="2100" dirty="0" err="1"/>
              <a:t>преорбазовать</a:t>
            </a:r>
            <a:r>
              <a:rPr lang="ru-RU" sz="2100" dirty="0"/>
              <a:t> ряд (напр. степенное преобразование, Бокс-Кокс) </a:t>
            </a:r>
          </a:p>
          <a:p>
            <a:pPr lvl="1"/>
            <a:r>
              <a:rPr lang="ru-RU" sz="2100" dirty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2" y="3612119"/>
            <a:ext cx="9781970" cy="28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*Могут быть также комбинации этих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сезонных компонент сезонности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отдельным методом </a:t>
                </a:r>
                <a:r>
                  <a:rPr lang="en-US" sz="2200" dirty="0"/>
                  <a:t>ARMA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)</a:t>
                </a:r>
                <a:r>
                  <a:rPr lang="en-US" sz="2200" dirty="0"/>
                  <a:t> </a:t>
                </a:r>
                <a:r>
                  <a:rPr lang="ru-RU" sz="2200" dirty="0"/>
                  <a:t>(Узенем о нем на следующем занятии)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en-US" sz="2200" dirty="0"/>
                  <a:t>BATS </a:t>
                </a:r>
                <a:r>
                  <a:rPr lang="ru-RU" sz="1900" dirty="0"/>
                  <a:t>(</a:t>
                </a:r>
                <a:r>
                  <a:rPr lang="en-US" sz="1900" b="1" dirty="0"/>
                  <a:t>B</a:t>
                </a:r>
                <a:r>
                  <a:rPr lang="en-US" sz="1900" dirty="0"/>
                  <a:t>ox-Cox 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components</a:t>
                </a:r>
                <a:r>
                  <a:rPr lang="ru-RU" sz="1900" dirty="0"/>
                  <a:t>)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ru-RU" sz="2200" dirty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Модель позволяет обрабатывать нелинейные тренды </a:t>
                </a:r>
                <a:r>
                  <a:rPr lang="en-US" sz="2200" dirty="0"/>
                  <a:t>(BOX-COX),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 сложные зависимости в данных </a:t>
                </a:r>
                <a:r>
                  <a:rPr lang="en-US" sz="2200" dirty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/>
                  <a:t>Модель </a:t>
                </a:r>
                <a:r>
                  <a:rPr lang="en-US" sz="2100" dirty="0"/>
                  <a:t>BATS </a:t>
                </a:r>
                <a:r>
                  <a:rPr lang="ru-RU" sz="2100" dirty="0"/>
                  <a:t>требует </a:t>
                </a:r>
              </a:p>
              <a:p>
                <a:r>
                  <a:rPr lang="ru-RU" sz="2100" dirty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r>
                  <a:rPr lang="ru-RU" sz="2100" dirty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проблем разложим 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ru-RU" dirty="0"/>
                  <a:t> 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Если сезонность не стохастическая, параметр сглаживания выставляем в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Сложная сезонность раскладывается на набор простых сезонностей. Избегаем ложных корреляций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/>
              <a:t>Модель </a:t>
            </a:r>
            <a:r>
              <a:rPr lang="en-US" sz="2100" dirty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281565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04" y="1237796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составляющим.</a:t>
            </a:r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634954"/>
            <a:ext cx="108108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3298" y="3413465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Модели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Если ВР имеет сложный тренд со структурными изменениями </a:t>
            </a:r>
            <a:r>
              <a:rPr lang="ru-RU" sz="1800" b="1" dirty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 – </a:t>
            </a:r>
            <a:r>
              <a:rPr lang="ru-RU" sz="1800" dirty="0"/>
              <a:t>сложность разложения зависит от объема выборки, работает преимущественно </a:t>
            </a:r>
            <a:r>
              <a:rPr lang="en-US" sz="1800" dirty="0"/>
              <a:t>offline</a:t>
            </a:r>
            <a:r>
              <a:rPr lang="ru-RU" sz="18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ETS, TBATS</a:t>
            </a:r>
            <a:r>
              <a:rPr lang="ru-RU" sz="1800" dirty="0"/>
              <a:t>, </a:t>
            </a:r>
            <a:r>
              <a:rPr lang="en-US" sz="1800" dirty="0"/>
              <a:t>Theta – </a:t>
            </a:r>
            <a:r>
              <a:rPr lang="ru-RU" sz="1800" dirty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STL, ETS, Theta – </a:t>
            </a:r>
            <a:r>
              <a:rPr lang="ru-RU" sz="1800" dirty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TBATS – </a:t>
            </a:r>
            <a:r>
              <a:rPr lang="ru-RU" sz="1800" dirty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Можно напрямую формализовать модель со сложным поведением</a:t>
            </a:r>
            <a:r>
              <a:rPr lang="ru-RU" sz="2000" dirty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Нарушение модельных условий сильно влияет на </a:t>
            </a:r>
            <a:r>
              <a:rPr lang="ru-RU" sz="1800" dirty="0" err="1"/>
              <a:t>результа</a:t>
            </a:r>
            <a:endParaRPr lang="ru-RU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/>
              <a:t>Generalized</a:t>
            </a:r>
            <a:r>
              <a:rPr lang="ru-RU" sz="2000" b="1" dirty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рядами, GAR-методы позволяют гибко учитывать сложные зависимости,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Обозначенные факторы могут быть заданы следующей моделью</a:t>
                </a:r>
                <a:r>
                  <a:rPr 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h𝑜𝑙𝑦𝑑𝑎𝑦𝑠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или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непериодический кусочно-линейный тренд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скорость роста;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настройки скорости, а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параметр смещения.  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логистически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й тренд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уменьшение и увеличение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с насыщением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 𝐶, 𝑘, 𝑏 - обучаемые параметры: </a:t>
                </a:r>
                <a:br>
                  <a:rPr lang="ru-RU" sz="2000" dirty="0"/>
                </a:br>
                <a:r>
                  <a:rPr lang="ru-RU" sz="2000" dirty="0"/>
                  <a:t>𝐶 – коэффициент подъема;</a:t>
                </a:r>
                <a:br>
                  <a:rPr lang="ru-RU" sz="2000" dirty="0"/>
                </a:br>
                <a:r>
                  <a:rPr lang="ru-RU" sz="2000" dirty="0"/>
                  <a:t>𝑘 - скорость роста; </a:t>
                </a:r>
                <a:br>
                  <a:rPr lang="ru-RU" sz="2000" dirty="0"/>
                </a:br>
                <a:r>
                  <a:rPr lang="ru-RU" sz="2000" dirty="0"/>
                  <a:t>𝑏 - параметр смещения. </a:t>
                </a:r>
                <a:r>
                  <a:rPr lang="en-US" sz="1200" dirty="0"/>
                  <a:t/>
                </a:r>
                <a:br>
                  <a:rPr lang="en-US" sz="1200" dirty="0"/>
                </a:br>
                <a:r>
                  <a:rPr lang="en-US" sz="1200" dirty="0"/>
                  <a:t> </a:t>
                </a:r>
                <a:br>
                  <a:rPr lang="en-US" sz="1200" dirty="0"/>
                </a:br>
                <a:endParaRPr lang="en-US" sz="1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  <a:blipFill>
                <a:blip r:embed="rId3"/>
                <a:stretch>
                  <a:fillRect l="-463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ime Series Forecasting with Prophet - David T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57" y="4140200"/>
            <a:ext cx="4363917" cy="25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310976" y="6375796"/>
            <a:ext cx="28786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https://xang1234.github.io/prophet/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0080" y="6296932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</a:t>
            </a:r>
            <a:r>
              <a:rPr lang="ru-RU" sz="1200" dirty="0" smtClean="0"/>
              <a:t>mlcourse.ai/book/topic09/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0080" y="6072141"/>
            <a:ext cx="26310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https://github.com/Anagatam/Chronos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20080" y="5876952"/>
            <a:ext cx="36307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https://juanitorduz.github.io/short_time_series_pymc/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20080" y="6529684"/>
            <a:ext cx="2904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https://github.com/luke14free/pm-prophet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049893" y="6081488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/>
              <a:t>https://www.pymc.io/projects/examples/en/latest/time_series/Air_passengers-Prophet_with_Bayesian_workflow.html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969597" y="6573931"/>
            <a:ext cx="23839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https://github.com/wwrechard/pydlm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750818" y="5876951"/>
            <a:ext cx="28547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https://github.com/jmschrei/pomegranate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702280" y="566622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https://neuralprophet.com/science-behind/model-overview.html</a:t>
            </a:r>
          </a:p>
        </p:txBody>
      </p:sp>
    </p:spTree>
    <p:extLst>
      <p:ext uri="{BB962C8B-B14F-4D97-AF65-F5344CB8AC3E}">
        <p14:creationId xmlns:p14="http://schemas.microsoft.com/office/powerpoint/2010/main" val="40595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регулярное периодическое изменение. 6-х дневные сезонности (понедельник, вторник, среда, четверг, пятница, суббота) моделируются как 0 и 1, воскресенье моделируются как линейная комбинация дней предыдущих размеров. неделя, месяц и годы, несколько сезонностей, смоделированных в виде ряда Фурье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cos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sin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период в днях </a:t>
                </a:r>
                <a:r>
                  <a:rPr lang="en-US" sz="2000" dirty="0"/>
                  <a:t>(365.25 </a:t>
                </a:r>
                <a:r>
                  <a:rPr lang="ru-RU" sz="2000" dirty="0"/>
                  <a:t>для года</a:t>
                </a:r>
                <a:r>
                  <a:rPr lang="en-US" sz="2000" dirty="0"/>
                  <a:t>, 7 </a:t>
                </a:r>
                <a:r>
                  <a:rPr lang="ru-RU" sz="2000" dirty="0"/>
                  <a:t>для недели</a:t>
                </a:r>
                <a:r>
                  <a:rPr lang="en-US" sz="2000" dirty="0"/>
                  <a:t>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оцениваемые параметры</a:t>
                </a:r>
                <a:r>
                  <a:rPr lang="en-US" sz="2000" dirty="0"/>
                  <a:t>. </a:t>
                </a:r>
              </a:p>
              <a:p>
                <a:pPr lvl="1"/>
                <a:r>
                  <a:rPr lang="ru-RU" sz="1600" dirty="0"/>
                  <a:t>Отметим, что важно выбрать правильно число компонент иначе можно переобучить модель.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редкие, но регулярные события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h𝑜𝑙𝑦𝑑𝑎𝑦𝑠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[1(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),…)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продолжительность выходных; k - нормальное распределение с СКО как параметр и нулевым сдернем значением; 𝑛𝑜𝑖𝑠𝑒 (𝑥)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. - </a:t>
                </a:r>
                <a:r>
                  <a:rPr lang="ru-RU" sz="2000" dirty="0" err="1"/>
                  <a:t>Гауссовсы</a:t>
                </a:r>
                <a:r>
                  <a:rPr lang="ru-RU" sz="2000" dirty="0"/>
                  <a:t> шумы.</a:t>
                </a:r>
              </a:p>
              <a:p>
                <a:r>
                  <a:rPr lang="ru-RU" sz="2000" dirty="0"/>
                  <a:t>Примечание. В некоторых источниках вы можете увидеть следующее обозначение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являются регрессорами, которые не описываются другими моделями (в уравнении в большинстве источников компонент включает неявно).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ru-RU" sz="1600" dirty="0"/>
                  <a:t>В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предыд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ущей нотации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часть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 </a:t>
                </a:r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  <a:blipFill>
                <a:blip r:embed="rId2"/>
                <a:stretch>
                  <a:fillRect l="-463" t="-1279" b="-1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931492"/>
            <a:ext cx="11835925" cy="5512037"/>
          </a:xfrm>
        </p:spPr>
        <p:txBody>
          <a:bodyPr>
            <a:noAutofit/>
          </a:bodyPr>
          <a:lstStyle/>
          <a:p>
            <a:r>
              <a:rPr lang="ru-RU" sz="2000" b="1" dirty="0"/>
              <a:t>Преимущества пророка</a:t>
            </a:r>
            <a:endParaRPr lang="ru-RU" sz="2000" dirty="0"/>
          </a:p>
          <a:p>
            <a:pPr lvl="1"/>
            <a:r>
              <a:rPr lang="en-US" sz="2000" b="1" dirty="0"/>
              <a:t>Prophet</a:t>
            </a:r>
            <a:r>
              <a:rPr lang="ru-RU" sz="2000" dirty="0"/>
              <a:t> может учесть несколько линейных и нелинейных признаков ряда в качестве компонент.</a:t>
            </a:r>
          </a:p>
          <a:p>
            <a:pPr lvl="1"/>
            <a:r>
              <a:rPr lang="ru-RU" sz="2000" dirty="0"/>
              <a:t>Возможность легко моделировать любое количество сезонностей.</a:t>
            </a:r>
          </a:p>
          <a:p>
            <a:pPr lvl="1"/>
            <a:r>
              <a:rPr lang="ru-RU" sz="2000" dirty="0"/>
              <a:t>Возможность работы с пропущенными датами во временных рядах.</a:t>
            </a:r>
          </a:p>
          <a:p>
            <a:pPr lvl="1"/>
            <a:r>
              <a:rPr lang="ru-RU" sz="2000" dirty="0"/>
              <a:t>Легко интегрирует праздники в модель.</a:t>
            </a:r>
          </a:p>
          <a:p>
            <a:pPr lvl="1"/>
            <a:r>
              <a:rPr lang="ru-RU" sz="2000" dirty="0"/>
              <a:t>Прозрачность модели.</a:t>
            </a:r>
          </a:p>
          <a:p>
            <a:pPr lvl="1"/>
            <a:r>
              <a:rPr lang="ru-RU" sz="2000" dirty="0"/>
              <a:t>Гибкость моделирования тренда.</a:t>
            </a:r>
          </a:p>
          <a:p>
            <a:r>
              <a:rPr lang="ru-RU" sz="2000" b="1" dirty="0"/>
              <a:t>Недостатки пророка</a:t>
            </a:r>
            <a:endParaRPr lang="ru-RU" sz="2000" dirty="0"/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допускает </a:t>
            </a:r>
            <a:r>
              <a:rPr lang="ru-RU" sz="2000" dirty="0" err="1"/>
              <a:t>негауссовского</a:t>
            </a:r>
            <a:r>
              <a:rPr lang="ru-RU" sz="2000" dirty="0"/>
              <a:t> распределения шума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принимает во внимание автокорреляцию по невязке (поэтому требуется только распределение гауссова шума).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предполагает поведения стохастического тренда (случайного блуждания).</a:t>
            </a:r>
          </a:p>
          <a:p>
            <a:pPr lvl="1"/>
            <a:r>
              <a:rPr lang="ru-RU" sz="2000" dirty="0"/>
              <a:t>Долгосрочное прогнозирование может быть нестабильным с автоматическим выбором точки изменения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0724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193" y="365125"/>
            <a:ext cx="11111607" cy="828675"/>
          </a:xfrm>
        </p:spPr>
        <p:txBody>
          <a:bodyPr/>
          <a:lstStyle/>
          <a:p>
            <a:r>
              <a:rPr lang="en-US" dirty="0"/>
              <a:t>Prophet pros and cons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622809"/>
            <a:ext cx="6715125" cy="1530350"/>
          </a:xfrm>
        </p:spPr>
        <p:txBody>
          <a:bodyPr>
            <a:normAutofit/>
          </a:bodyPr>
          <a:lstStyle/>
          <a:p>
            <a:r>
              <a:rPr lang="ru-RU" sz="2400" dirty="0"/>
              <a:t>Быстрая работа на длинных горизонтах</a:t>
            </a:r>
          </a:p>
          <a:p>
            <a:r>
              <a:rPr lang="ru-RU" sz="2400" dirty="0"/>
              <a:t>Учет бизнес процессов с шагом до 1 дня</a:t>
            </a:r>
          </a:p>
          <a:p>
            <a:r>
              <a:rPr lang="ru-RU" sz="2400" dirty="0"/>
              <a:t>Устойчивость к шумам и выбросам</a:t>
            </a:r>
          </a:p>
        </p:txBody>
      </p:sp>
      <p:pic>
        <p:nvPicPr>
          <p:cNvPr id="4098" name="Picture 2" descr="DataTechNotes: Forecasting Time Series Data with FbProphet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1" y="2976114"/>
            <a:ext cx="5779291" cy="34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575300" y="654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https://www.datatechnotes.com/2022/06/forecasting-time-series-data-with.html</a:t>
            </a:r>
          </a:p>
        </p:txBody>
      </p:sp>
      <p:sp>
        <p:nvSpPr>
          <p:cNvPr id="5" name="AutoShape 4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4" y="3085280"/>
            <a:ext cx="5354837" cy="326697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2193" y="628679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https://h1ros.github.io/posts/prophet-101-a-time-series-forecasting-module/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967611" y="1620773"/>
            <a:ext cx="5881489" cy="153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Работает для шума БГШ</a:t>
            </a:r>
          </a:p>
          <a:p>
            <a:r>
              <a:rPr lang="ru-RU" sz="2400" dirty="0"/>
              <a:t>Тренд только детерминированный</a:t>
            </a:r>
            <a:endParaRPr lang="en-US" sz="2400" dirty="0"/>
          </a:p>
          <a:p>
            <a:r>
              <a:rPr lang="ru-RU" sz="2400" dirty="0"/>
              <a:t>Модель только бизнес процессы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2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9103" y="365125"/>
            <a:ext cx="11054697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103" y="1042586"/>
            <a:ext cx="11690647" cy="5614587"/>
          </a:xfrm>
        </p:spPr>
        <p:txBody>
          <a:bodyPr/>
          <a:lstStyle/>
          <a:p>
            <a:pPr lvl="0"/>
            <a:r>
              <a:rPr lang="ru-RU" dirty="0"/>
              <a:t>Объясните основные подходы к экспоненциальному сглаживанию. Какая интуиция сопутствует таким подходам. Где подходы применимы. В каких задачах подходов будет недостаточно и как решить эту проблему?  </a:t>
            </a:r>
          </a:p>
          <a:p>
            <a:r>
              <a:rPr lang="ru-RU" dirty="0" smtClean="0"/>
              <a:t>Объясните почему </a:t>
            </a:r>
            <a:r>
              <a:rPr lang="en-US" dirty="0" smtClean="0"/>
              <a:t>SES-based </a:t>
            </a:r>
            <a:r>
              <a:rPr lang="ru-RU" dirty="0" smtClean="0"/>
              <a:t>подходы имеют особое место среди других подходов на основе скользящего среднего. Почему </a:t>
            </a:r>
            <a:r>
              <a:rPr lang="en-US" dirty="0" smtClean="0"/>
              <a:t>SES – </a:t>
            </a:r>
            <a:r>
              <a:rPr lang="ru-RU" dirty="0" smtClean="0"/>
              <a:t>итерационный подход? Какая интуиция соответствует переходу от </a:t>
            </a:r>
            <a:r>
              <a:rPr lang="en-US" dirty="0" smtClean="0"/>
              <a:t>SES </a:t>
            </a:r>
            <a:r>
              <a:rPr lang="ru-RU" dirty="0" smtClean="0"/>
              <a:t>к </a:t>
            </a:r>
            <a:r>
              <a:rPr lang="en-US" dirty="0" smtClean="0"/>
              <a:t>DES </a:t>
            </a:r>
            <a:r>
              <a:rPr lang="ru-RU" dirty="0" smtClean="0"/>
              <a:t>и к </a:t>
            </a:r>
            <a:r>
              <a:rPr lang="en-US" dirty="0" smtClean="0"/>
              <a:t>TES. </a:t>
            </a:r>
            <a:endParaRPr lang="ru-RU" dirty="0" smtClean="0"/>
          </a:p>
          <a:p>
            <a:r>
              <a:rPr lang="ru-RU" dirty="0" smtClean="0"/>
              <a:t>Объясните подход </a:t>
            </a:r>
            <a:r>
              <a:rPr lang="en-US" dirty="0" smtClean="0"/>
              <a:t>TBATS, </a:t>
            </a:r>
            <a:r>
              <a:rPr lang="ru-RU" dirty="0" smtClean="0"/>
              <a:t>где он используется? Приведите примеры задач где недостаточно </a:t>
            </a:r>
            <a:r>
              <a:rPr lang="en-US" dirty="0" smtClean="0"/>
              <a:t>ETS </a:t>
            </a:r>
            <a:r>
              <a:rPr lang="ru-RU" dirty="0" smtClean="0"/>
              <a:t>и нужно использовать </a:t>
            </a:r>
            <a:r>
              <a:rPr lang="en-US" dirty="0" smtClean="0"/>
              <a:t>TBATS. </a:t>
            </a:r>
            <a:r>
              <a:rPr lang="ru-RU" dirty="0" smtClean="0"/>
              <a:t>Предложите пути решения таких задач без </a:t>
            </a:r>
            <a:r>
              <a:rPr lang="en-US" dirty="0" smtClean="0"/>
              <a:t>TBATS</a:t>
            </a:r>
            <a:r>
              <a:rPr lang="ru-RU" dirty="0" smtClean="0"/>
              <a:t>, в чем их особенность.</a:t>
            </a:r>
            <a:endParaRPr lang="en-US" dirty="0" smtClean="0"/>
          </a:p>
          <a:p>
            <a:r>
              <a:rPr lang="ru-RU" dirty="0" smtClean="0"/>
              <a:t>Объясните цель использования подходов на основе адаптивной обобщенной регрессии. Какие у подходов достоинства и недостатки. Приведите примеры задач, где такие подходы использовать нельзя (почему такие подходы – не </a:t>
            </a:r>
            <a:r>
              <a:rPr lang="ru-RU" dirty="0" err="1" smtClean="0"/>
              <a:t>бейзлайн</a:t>
            </a:r>
            <a:r>
              <a:rPr lang="ru-RU" smtClean="0"/>
              <a:t>?).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36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4061</TotalTime>
  <Words>1754</Words>
  <Application>Microsoft Office PowerPoint</Application>
  <PresentationFormat>Широкоэкранный</PresentationFormat>
  <Paragraphs>316</Paragraphs>
  <Slides>29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__YSText_8fb396</vt:lpstr>
      <vt:lpstr>Arial</vt:lpstr>
      <vt:lpstr>Calibri</vt:lpstr>
      <vt:lpstr>Calibri Light</vt:lpstr>
      <vt:lpstr>Cambria Math</vt:lpstr>
      <vt:lpstr>Open Sans</vt:lpstr>
      <vt:lpstr>Times New Roman</vt:lpstr>
      <vt:lpstr>Тема Office</vt:lpstr>
      <vt:lpstr>Предсказания ВР с явной TS моделью</vt:lpstr>
      <vt:lpstr>TS модель</vt:lpstr>
      <vt:lpstr>TS-Модели временных рядов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Обобщенная адаптивная модель (регрессия). Prophet</vt:lpstr>
      <vt:lpstr>Обобщенная адаптивная модель (регрессия). Prophet</vt:lpstr>
      <vt:lpstr>Обобщенная адаптивная модель (регрессия). Prophet</vt:lpstr>
      <vt:lpstr>Prophet pros and cons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220</cp:revision>
  <dcterms:created xsi:type="dcterms:W3CDTF">2021-10-31T10:57:36Z</dcterms:created>
  <dcterms:modified xsi:type="dcterms:W3CDTF">2026-03-12T13:47:50Z</dcterms:modified>
</cp:coreProperties>
</file>